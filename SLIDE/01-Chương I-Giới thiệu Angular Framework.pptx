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9"/>
  </p:notesMasterIdLst>
  <p:sldIdLst>
    <p:sldId id="256" r:id="rId2"/>
    <p:sldId id="274" r:id="rId3"/>
    <p:sldId id="268" r:id="rId4"/>
    <p:sldId id="278" r:id="rId5"/>
    <p:sldId id="282" r:id="rId6"/>
    <p:sldId id="283" r:id="rId7"/>
    <p:sldId id="279" r:id="rId8"/>
    <p:sldId id="284" r:id="rId9"/>
    <p:sldId id="280" r:id="rId10"/>
    <p:sldId id="286" r:id="rId11"/>
    <p:sldId id="287" r:id="rId12"/>
    <p:sldId id="290" r:id="rId13"/>
    <p:sldId id="291" r:id="rId14"/>
    <p:sldId id="289" r:id="rId15"/>
    <p:sldId id="292" r:id="rId16"/>
    <p:sldId id="293" r:id="rId17"/>
    <p:sldId id="288" r:id="rId18"/>
    <p:sldId id="294" r:id="rId19"/>
    <p:sldId id="295" r:id="rId20"/>
    <p:sldId id="281" r:id="rId21"/>
    <p:sldId id="296" r:id="rId22"/>
    <p:sldId id="301" r:id="rId23"/>
    <p:sldId id="302" r:id="rId24"/>
    <p:sldId id="303" r:id="rId25"/>
    <p:sldId id="304" r:id="rId26"/>
    <p:sldId id="305" r:id="rId27"/>
    <p:sldId id="306" r:id="rId28"/>
    <p:sldId id="307" r:id="rId29"/>
    <p:sldId id="308" r:id="rId30"/>
    <p:sldId id="309" r:id="rId31"/>
    <p:sldId id="310" r:id="rId32"/>
    <p:sldId id="297" r:id="rId33"/>
    <p:sldId id="298" r:id="rId34"/>
    <p:sldId id="299" r:id="rId35"/>
    <p:sldId id="313" r:id="rId36"/>
    <p:sldId id="314" r:id="rId37"/>
    <p:sldId id="315" r:id="rId38"/>
    <p:sldId id="318" r:id="rId39"/>
    <p:sldId id="316" r:id="rId40"/>
    <p:sldId id="317" r:id="rId41"/>
    <p:sldId id="319" r:id="rId42"/>
    <p:sldId id="320" r:id="rId43"/>
    <p:sldId id="323" r:id="rId44"/>
    <p:sldId id="321" r:id="rId45"/>
    <p:sldId id="322" r:id="rId46"/>
    <p:sldId id="325" r:id="rId47"/>
    <p:sldId id="324" r:id="rId48"/>
    <p:sldId id="327" r:id="rId49"/>
    <p:sldId id="326" r:id="rId50"/>
    <p:sldId id="329" r:id="rId51"/>
    <p:sldId id="330" r:id="rId52"/>
    <p:sldId id="328" r:id="rId53"/>
    <p:sldId id="331" r:id="rId54"/>
    <p:sldId id="332" r:id="rId55"/>
    <p:sldId id="333" r:id="rId56"/>
    <p:sldId id="337" r:id="rId57"/>
    <p:sldId id="334" r:id="rId58"/>
    <p:sldId id="335" r:id="rId59"/>
    <p:sldId id="300" r:id="rId60"/>
    <p:sldId id="338" r:id="rId61"/>
    <p:sldId id="339" r:id="rId62"/>
    <p:sldId id="341" r:id="rId63"/>
    <p:sldId id="342" r:id="rId64"/>
    <p:sldId id="343" r:id="rId65"/>
    <p:sldId id="340" r:id="rId66"/>
    <p:sldId id="344" r:id="rId67"/>
    <p:sldId id="345" r:id="rId68"/>
    <p:sldId id="346" r:id="rId69"/>
    <p:sldId id="347" r:id="rId70"/>
    <p:sldId id="312" r:id="rId71"/>
    <p:sldId id="349" r:id="rId72"/>
    <p:sldId id="350" r:id="rId73"/>
    <p:sldId id="348" r:id="rId74"/>
    <p:sldId id="351" r:id="rId75"/>
    <p:sldId id="352" r:id="rId76"/>
    <p:sldId id="362" r:id="rId77"/>
    <p:sldId id="363" r:id="rId78"/>
    <p:sldId id="364" r:id="rId79"/>
    <p:sldId id="365" r:id="rId80"/>
    <p:sldId id="366" r:id="rId81"/>
    <p:sldId id="367" r:id="rId82"/>
    <p:sldId id="368" r:id="rId83"/>
    <p:sldId id="369" r:id="rId84"/>
    <p:sldId id="370" r:id="rId85"/>
    <p:sldId id="371" r:id="rId86"/>
    <p:sldId id="277" r:id="rId87"/>
    <p:sldId id="263" r:id="rId88"/>
  </p:sldIdLst>
  <p:sldSz cx="12192000" cy="6858000"/>
  <p:notesSz cx="6858000" cy="9144000"/>
  <p:embeddedFontLst>
    <p:embeddedFont>
      <p:font typeface="Cambria" panose="02040503050406030204" pitchFamily="18" charset="0"/>
      <p:regular r:id="rId90"/>
      <p:bold r:id="rId91"/>
      <p:italic r:id="rId92"/>
      <p:boldItalic r:id="rId93"/>
    </p:embeddedFont>
    <p:embeddedFont>
      <p:font typeface="Consolas" panose="020B0609020204030204" pitchFamily="49" charset="0"/>
      <p:regular r:id="rId94"/>
      <p:bold r:id="rId95"/>
      <p:italic r:id="rId96"/>
      <p:boldItalic r:id="rId97"/>
    </p:embeddedFont>
    <p:embeddedFont>
      <p:font typeface="Georgia" panose="02040502050405020303" pitchFamily="18" charset="0"/>
      <p:regular r:id="rId98"/>
      <p:bold r:id="rId99"/>
      <p:italic r:id="rId100"/>
      <p:boldItalic r:id="rId101"/>
    </p:embeddedFont>
    <p:embeddedFont>
      <p:font typeface="Lato" panose="020F0502020204030203" pitchFamily="34" charset="0"/>
      <p:regular r:id="rId102"/>
      <p:bold r:id="rId103"/>
      <p:italic r:id="rId104"/>
      <p:boldItalic r:id="rId105"/>
    </p:embeddedFont>
    <p:embeddedFont>
      <p:font typeface="Lato Black" panose="020F0502020204030203" pitchFamily="34" charset="0"/>
      <p:bold r:id="rId106"/>
      <p:boldItalic r:id="rId107"/>
    </p:embeddedFont>
    <p:embeddedFont>
      <p:font typeface="Times" panose="02020603050405020304" pitchFamily="18" charset="0"/>
      <p:regular r:id="rId108"/>
      <p:bold r:id="rId109"/>
      <p:italic r:id="rId110"/>
      <p:boldItalic r:id="rId1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2"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111" d="100"/>
          <a:sy n="111" d="100"/>
        </p:scale>
        <p:origin x="840" y="86"/>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12" Type="http://customschemas.google.com/relationships/presentationmetadata" Target="metadata"/><Relationship Id="rId16" Type="http://schemas.openxmlformats.org/officeDocument/2006/relationships/slide" Target="slides/slide15.xml"/><Relationship Id="rId107" Type="http://schemas.openxmlformats.org/officeDocument/2006/relationships/font" Target="fonts/font18.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3.fntdata"/><Relationship Id="rId5" Type="http://schemas.openxmlformats.org/officeDocument/2006/relationships/slide" Target="slides/slide4.xml"/><Relationship Id="rId90" Type="http://schemas.openxmlformats.org/officeDocument/2006/relationships/font" Target="fonts/font1.fntdata"/><Relationship Id="rId95" Type="http://schemas.openxmlformats.org/officeDocument/2006/relationships/font" Target="fonts/font6.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4.fntdata"/><Relationship Id="rId108" Type="http://schemas.openxmlformats.org/officeDocument/2006/relationships/font" Target="fonts/font19.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2.fntdata"/><Relationship Id="rId96"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17.fntdata"/><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5.fntdata"/><Relationship Id="rId99" Type="http://schemas.openxmlformats.org/officeDocument/2006/relationships/font" Target="fonts/font10.fntdata"/><Relationship Id="rId10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20.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8.fntdata"/><Relationship Id="rId104"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21.fntdata"/><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1.fntdata"/><Relationship Id="rId105"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4.fntdata"/><Relationship Id="rId98" Type="http://schemas.openxmlformats.org/officeDocument/2006/relationships/font" Target="fonts/font9.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581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9EAB82B-376E-5E4A-E02B-A64ECA00F6E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D9F9252-3D37-892B-D247-35DCF4E6B31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DA16AE6-AFBA-283C-6396-53E0D55583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4677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CB97CF3-C2FD-5DB4-E788-0D07DF58965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46E45C7-C032-5EB6-9DDC-1C92CDCEA0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94D9AF5-2217-B11B-A9CF-AA43FCFD6C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2895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23CF21A-40CF-B385-7E47-D0DF3299E3E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BE4D25B-7672-86A0-2B3B-5E713647BED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B08AFEA-79DB-E417-4165-233690229F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7226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73C7182-A150-53F6-A3C6-450C6797F81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828AA36-A026-7F1C-6395-E151B7B8A19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792DC41-C12B-FF6D-5019-28E9C8DA3E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2124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FC8CAB8-A6D8-99CC-42E8-03D210E25D4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5359819-0E63-C8DA-0CF1-9600829264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07DAA7E-0E81-CDE7-E09B-376562F695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2837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7DF59A8-F93E-38B4-C220-CE12D8F7D23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CC1F5E9-919C-C32F-3996-1ECCAEC4F74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CACC65D-4C33-2CE9-0752-2F9239EE1B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743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5D3C684-CB75-5AA5-F016-55A6A7EC7DA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96EA7AE-3937-71C4-CB9F-6CAAC82D6D6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11473A8-7102-92CF-EAD2-4E1FD0F0B5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80552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20DCA2F-915A-60C1-C8A1-7414E5174B7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BCCB0ED-7297-78F2-5C7A-C196A61F27B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4E7E33E-8D9E-5C50-BB2A-3A55E24D30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1724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CB46498-EBF6-2069-5FDF-1471C4F6DFD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8FC19BB-0EF3-5C85-4819-D9DD082BD63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DA3F71B-196A-8A99-37B7-3A26173E9C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4933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7360D83-F97E-9C3A-23C5-B7BB064A243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48DB21D-A785-7FCE-5F4A-85E85905F2F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2C7D415-EFC8-E3F1-07C6-4F401FE798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72121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170B563-6FEB-04AC-4D34-C385298437D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C6C4D8C-9618-B502-15B4-2863F6683D5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B615FFB-7A13-09B1-C814-2F36220321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3760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6D8A128-1435-66DE-A691-B8AFE90EFC3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FE94831-68B6-C9E3-F607-0AAA71A510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E75B7BF-9821-188C-6A7E-C9CAE3359F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19034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7C01579-8BBD-37EF-9852-24C2D5F348A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BF03BCB-E61E-41DF-6728-97DE6655B52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F272C1E-782B-B481-D418-28089362ED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09615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5B77F92-31DF-7594-F493-8D6C69ABE96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EA5646B-EEBF-BE4C-B71D-6EA350FE11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1A9731D-7033-6CD9-1AF2-88505DFCCD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7468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305AC5F-2F00-5DED-C762-BA917EF502B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72A4946-3984-8F34-7200-E3C5993B646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345D730-B31A-BAF4-1FB6-C87412B58E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81389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D1160C4-38A6-A485-D8C3-9668A74CE96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6C2F7B1-64C4-5679-DB96-9C28FB90CF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C29B947-0E26-472E-0F2C-3A6C47F4E7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88922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CB40D27-0DAF-F4C3-48BE-354461FBD03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A989134-AD37-9AC4-BBC8-7C028FD8816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E1DB8F8-777F-DA6F-79B7-6BD11E3D0D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77968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D70D2AA-513A-87C1-8C29-6A8A2F125B5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FC6C04B-0B7F-1E4D-C5E1-51A005ED5D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C4AFD45-F0E0-9818-4E68-2946DEF831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32074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FED2D03-D63B-3178-7ACA-D321BB75FB9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B93101B-D254-730A-05CE-A0FBA24238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120E284-C662-DA31-559B-3D8BABEAA3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41173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26162FE-9422-E221-19C8-E7F996D58F6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885CFB2-C243-B465-7B07-F4F202E9365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2BE434C-A604-1A8E-B408-1F06AD01D5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44285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CB97ADD-CB25-C0D1-254C-915A854F2B4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2227618-9593-F436-CF3C-AF82F17D09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7F1ED3D-CE64-C183-9765-FD4CC86C41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13547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0D52F53-A264-B460-2884-8B79402C3CC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1ACB158-1F9A-EA20-6DAA-0C8FCB83663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B017D89-440A-111C-8E3B-589FA584968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96124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D1CFF75-FD6E-D5F7-B0CC-2A550F46753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457F01B-BDC2-D16C-8AFE-EC297A0B148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87F79F3-ECE0-EE53-EB2E-1CF53160D4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21830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408B8D8-216E-D4F6-F5B8-82DB3570201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5D07E65-1CFA-03C9-06BC-30B1CD3AAD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0D1644C-AFC8-ACEC-70AF-3DB8FEA039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63640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AEABE35-FEA9-9746-4D9B-B22BA228CBF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FFC641E-0883-ABBD-588B-73E11F05DE0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B9C4FF5-21F0-0BF6-1E40-559F19770B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25750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68B1D12-6BD5-70BE-04B9-8C18009635D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83B9C52-E827-E52E-6E19-BC085B9917E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45A0E07-734B-5145-3FE2-21FC48B1DC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3863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7597051-AEE9-A9FB-BB59-6DE3C0F8D70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36FC9CF-A76D-1CD9-4B15-27F685FD5F2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4027B6A-2B65-7FF7-3176-EDC81FA5D6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31220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BF3AA98-89AC-C68C-A123-3E0CD1C5DDF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A46D94C-39E5-56C1-4C39-7C177848FB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8EA55EF-005F-AD59-80EF-BB65A71687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22114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34932C0-CAFD-07BA-544D-A1F0BC888CD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E95370F-ECE6-7591-BDD8-37CA1CECF53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927D468-A252-7E95-7AC5-EE2C2EE064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1360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E2CC3AF-8C4E-F409-5861-894AA31B80E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8DEA124-DC3A-2E7C-06E6-E1AEA1C4155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F517E8E-0985-C654-9395-69D40D24F4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38417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F882D43-6155-F3E3-4C31-C90ED84D2E3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614DE45-7CE6-8443-1354-615A8197A9B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5B7885C-B044-4EE7-955B-1774819F86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07039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36D9544-5EA4-3A01-57E4-24BD7370076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1685B0A-5EE6-B2AF-AC49-B6DB3307D11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2E46668-DAB0-154E-0F76-81CBBCA8CB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3489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82B44A3-A0C8-0686-8CAC-2418E43F48E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9A05057-1559-AA79-B531-85C9D758184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6CFE828-07C0-1F87-0897-1B6A61349B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85453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E01BB2F-70F3-658D-E1F1-484274E8FD3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8DACD8F-1BD6-BEA6-D377-850BD0BECE1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3D12A16-680B-ACAE-4692-48076EF484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65934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155C48A-CF56-6C29-0052-AA33C1F36F3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BEACC4C-5478-A08F-2D2A-1D5F923084C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6AE8260-E10A-5773-F2CD-E0D0D8F8E0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04772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0027D35-038A-83FF-4231-B1305805A58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2C640C0-9B72-A4E7-2A45-C0BA54802F5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3754FE7-751B-C433-FC8C-163F49FB28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19678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F56B697-46E2-BC89-3A2C-ACD6C93EAE8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19671B2-1BC0-579A-B773-F9A61A8BF9D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768993B-5ECF-77F5-E358-C5A84F7569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0704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C469D4A-0206-1490-C32E-BE7B9E2290D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6D4F1B1-DBE6-E4AA-A9E2-6D449DE9D6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8504987-0629-7280-82A0-178EFA8B12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48806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BDF28CC-EC64-C7C8-41F6-107314FEDD3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C8E48CE-AD06-B15E-B7DD-F6EE6EDD326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6DEB7FD-AB90-A604-23AD-1985601850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53806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ACB7EC6-1FAD-D061-9534-CA6A258A834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8BF3925-36F4-1AD0-E1C3-38F6F8B463E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EF790CC-A5B1-A6A4-2B41-E6C10080C4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1840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09E56E3-DB00-7735-13F1-54C9A773EF6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7E22F98-DFA8-C613-861A-D7219616C16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A935074-1325-4E22-5BF4-0B79DB7E6C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44592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71CF6E8-452E-7CB1-121B-C763022262A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A1AD800-9A1E-B0D9-6E46-F7B9719AC90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09884C4-8AD4-00B5-8002-CF3C5E70F7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34469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7FF6D2B-7C7B-EFAB-7EA9-67A99E87A95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70FB9F3-1631-D249-A27A-CDDC716CDBC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508F694-E773-0998-BF83-502DB78A59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6847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1C05FA1-DDD7-661A-30DA-296166CD5B2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727FE1C-5D46-7AD2-60B2-F785CDA669D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258BCCB-2A3C-5F4D-4709-1302A65F32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66800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55289CE-95E7-B912-676D-4A31A5828D6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A342AAB-D7E7-9F66-2ED3-E91045E52E2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49DDBDD-EE13-F2C5-8770-CD6BCA644E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72475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90B27A7-C9B6-6595-391E-C1C9C261D1D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20A1F95-3F03-2C7E-91A9-ACE081492D8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7AFC523-1459-EDF8-7A60-8976755A5C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10537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671838A-0744-503C-60A0-8DABCFB1533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2BD5DCE-67BE-9DDF-7A6B-DE3170315B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B6DE6C4-D0CB-6B6C-6D7B-34CA3E951D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61784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7CF4BF4-B1E0-5F64-21E4-45E5D9C0884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7C5E782-ECAC-C4E5-4A0A-AFEE42F82D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E961D25-8128-4E31-B514-D0C418514AA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34550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2343D49-B7C6-194C-1350-D4EAD375D02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6B871F8-D581-0D12-BA4B-DE54D1460EC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61ABB59-673F-5D6F-9EB7-53E4601645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22599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FC8A455-1742-E81B-3D4E-5DA5606191A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3B32D6D-8E28-E796-6278-A4DFF44FCF3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2BB41B6-29AA-F38F-FD8D-D1843AB952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74572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2ABCE31-2C59-267C-607A-0123931FB89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761EE84-1CF9-1B8B-7658-E1677DC03A9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B6CD5F3-FB1A-40A8-22BE-3398CE8BBF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36148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6E15AF0-2890-A3C8-1F81-9BA4CE08A58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AF25DE5-17FE-709B-0C0D-F0C2FB82990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155E6DE-A686-3DD7-1D9F-E553A6BF28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86654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83A927F-8E14-7869-13D2-AB6CEB3A1CB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F0331D4-E53D-11BB-01E0-37B8C1A851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5224F52-CED1-CA68-7A16-A2F1A02F76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01347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7732231-1B23-AA13-E049-DFC43831312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77055D2-8714-D849-51EA-E689050BE7E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43DB4B9-9AB7-D7CF-568D-FA529F7C0D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66445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C6A18D1-6AD4-C918-4D18-79167518D96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2D00F96-8D5D-038B-D678-3CFE62F883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FDC4883-B431-2D54-228D-59EFDBD4E2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61769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F6F08AC-68F8-6B88-ADF2-52CFFE69878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7562DBB-4CD2-12B9-D738-EC74076E2B3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CD845AF-EE77-8550-28D8-02FDEF7560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218189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6F43406-9C69-F4D1-AEC2-D0B5FDB90B4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AB1F786-19DC-648D-B12E-B338E304397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0B40C66-0DAC-761C-ED42-051B4D69C4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189281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7A24207-1D1C-FB3A-1219-DC9BC9C28C0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F2FDBEA-43CE-91B4-6424-D04387058BF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A98ACE8-F120-8A1A-4CB5-5EBE4F3247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588890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72452A6-A9F4-2569-ADB2-F618CBD47CC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654F010-FBE5-41B2-459B-8202C6D896B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9D1359E-7D68-42E5-77A2-E1CD21AB31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160393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2B1FF59-58A4-0B28-EEB8-62D8A6D2090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CC71A43-837B-150F-5F9D-AB91D31233D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0E8E40B-FC46-EC79-4740-5A9A814CF7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260413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5643CB9-EB07-6FDA-9B16-A4CFC7995BD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786C63-8BA3-050B-027B-4AD4938B6F7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6DFB1A8-4DAA-07FA-F893-395AA13306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309166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84682E1-2102-23DA-FC43-E475BDF6CC0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AC2B3EF-D640-12CA-E603-663A8C37A44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DC31631-FAFE-26CA-BF98-AA91CEE336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3119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5AFDED3-E198-B780-7964-ABE0CE8F3E2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013656A-C4FF-45CD-808C-E1CF0805FDE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9E38B42-1D0A-2448-401D-5923C5EE14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260921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739026E-2910-9E42-82CE-DE3E698BF69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4686BA9-7456-86DC-533B-37E6D3D71D9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0AF5801-110E-CD07-BAD4-8800B345EB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222515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0D51D1C-ED01-E00E-44BA-C4621D3D264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E84CD4F-2338-1E7F-385C-4704DB32F35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60C969D-7B30-F05C-14E0-00613BCD05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08460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084A293-D05D-B1A4-0813-30CB703CC0F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7981A57-EBA2-9BD3-D44B-162E69686CA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45E0152-7943-2B60-C4DD-0FE6DEC5A9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27251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A9C6721-0FCC-04A3-C919-1E1BE9EC76D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D1F5F8F-EAF0-C4F1-75B5-662B4C6B8B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CF6695A-EFFC-8721-D717-E9F85D02F7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959620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C417D30-B6CE-AF82-F623-FD6D93D4EF5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E4968C3-3DEF-D92D-0921-50B54FFE507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09EC90F-7C7F-08DF-48A5-E2A3E97615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207769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8160C9C-ED33-1E5E-BCCF-BC24E56D8E3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E91DA4C-CD81-3CE8-DFAB-D30053EC9D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67D65CA-B910-FE65-3687-4C49FDF27F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128552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6DBF719-99CF-0391-889F-70FB5ABD092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58A6D8B-4F6A-15F5-3093-B8BEF67BB3F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68FA599-66A8-6BA4-834A-D61BD150E7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514948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6F2286E-5996-7ED4-51E3-73CF928845B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E6DE862-D456-14B5-C908-D368AABBD38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A317F93-67D4-CC59-E552-8B46858FD2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409113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B611E7C-44AC-80DC-F881-29E7499A98F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A01C829-8C62-CD36-EBA6-B305372E9CD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6E9843B-156D-9580-5BCF-D888BDB3ED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897822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AE87E8D-AB4D-4F8E-9288-1110FCC2BCE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87DF6F9-214B-2687-17A0-027ADB92A38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BAD7B5C-5053-A6DC-1D7C-6A3843A7EE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235024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D947918-3B73-2051-C8B3-E8AC891B344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45CA93F-408E-1AEF-BFBD-5A18CFF72E6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A7F643B-7D09-8524-2B05-3C87DEA1BA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585336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BF65112-8516-BDB3-5717-AD839EF7D7F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AD406B3-0057-8F09-B787-0C30003A1D3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E610094-FDB4-3A92-F769-176BF9673E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72616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8AACEEB-C8A9-4B1D-34AC-F423B228CF6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D90E1F2-934C-AE11-E238-147571FC2BC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68686FB-4956-191C-1AEC-40F7BEBDAE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895630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D6DF5B8-AAF4-825A-24C6-7498AB2D227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D115F0D-82A5-9A15-AF9D-6AAB6AB5240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1B7F6A9-73A7-6E02-80C4-ECD4501C40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557556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47E5FCC-93CF-ADF2-DA77-B63297C78CD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999BE51-ED91-34D1-2573-DC703E4CC1F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BDDE6A9-5618-E48D-4ABF-B5D2A49BE6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453370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5AB6878-EF5E-6D75-AF7B-8FB2ABB83DD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0BCEB80-3863-0923-B829-9E6CD4612BB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FB31BBA-B4ED-1C4A-5ED3-797C200C27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489901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86114F9-0CF4-10E8-9143-34A95793CCE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9D19375-F1F2-C669-9899-7A710D3ACF4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8B0B4F4-0802-4281-DF73-ECEF7B73AD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546333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4596BDA-4688-DB3C-1633-8387DA50B6C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30C3B44-0245-23C0-B212-B00D8EB7007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C6D76D6-DE03-6477-B842-AC65F3C5EE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677056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E53EEDF-7A48-66B0-B5D5-AE25F653D5A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5B37E11-EB17-FE21-75FF-9F608C9E6BA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F566CE8-1D98-5070-B012-B59486D7F1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155313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7" name="Google Shape;17;p10"/>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10"/>
          <p:cNvSpPr txBox="1"/>
          <p:nvPr/>
        </p:nvSpPr>
        <p:spPr>
          <a:xfrm>
            <a:off x="1795462" y="1047420"/>
            <a:ext cx="9144000" cy="778583"/>
          </a:xfrm>
          <a:prstGeom prst="rect">
            <a:avLst/>
          </a:prstGeom>
          <a:noFill/>
          <a:ln>
            <a:noFill/>
          </a:ln>
        </p:spPr>
        <p:txBody>
          <a:bodyPr spcFirstLastPara="1" wrap="square" lIns="91425" tIns="45700" rIns="91425" bIns="45700" anchor="b"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sz="2200" dirty="0">
              <a:latin typeface="Cambria" panose="02040503050406030204" pitchFamily="18" charset="0"/>
              <a:ea typeface="Cambria" panose="02040503050406030204" pitchFamily="18" charset="0"/>
            </a:endParaRPr>
          </a:p>
        </p:txBody>
      </p:sp>
      <p:pic>
        <p:nvPicPr>
          <p:cNvPr id="9" name="Picture 8" descr="A black background with orange and blue letters&#10;&#10;AI-generated content may be incorrect.">
            <a:extLst>
              <a:ext uri="{FF2B5EF4-FFF2-40B4-BE49-F238E27FC236}">
                <a16:creationId xmlns:a16="http://schemas.microsoft.com/office/drawing/2014/main" id="{50547913-6722-D6E7-E44D-4E515D7A8FF4}"/>
              </a:ext>
            </a:extLst>
          </p:cNvPr>
          <p:cNvPicPr>
            <a:picLocks noChangeAspect="1"/>
          </p:cNvPicPr>
          <p:nvPr userDrawn="1"/>
        </p:nvPicPr>
        <p:blipFill>
          <a:blip r:embed="rId3"/>
          <a:stretch>
            <a:fillRect/>
          </a:stretch>
        </p:blipFill>
        <p:spPr>
          <a:xfrm>
            <a:off x="4810125" y="157529"/>
            <a:ext cx="3114675" cy="837297"/>
          </a:xfrm>
          <a:prstGeom prst="rect">
            <a:avLst/>
          </a:prstGeom>
        </p:spPr>
      </p:pic>
      <p:pic>
        <p:nvPicPr>
          <p:cNvPr id="3" name="Picture 2" descr="A building with trees in the background&#10;&#10;AI-generated content may be incorrect.">
            <a:extLst>
              <a:ext uri="{FF2B5EF4-FFF2-40B4-BE49-F238E27FC236}">
                <a16:creationId xmlns:a16="http://schemas.microsoft.com/office/drawing/2014/main" id="{6DB4ADA3-8D58-FD0D-1C18-5213711602FE}"/>
              </a:ext>
            </a:extLst>
          </p:cNvPr>
          <p:cNvPicPr>
            <a:picLocks noChangeAspect="1"/>
          </p:cNvPicPr>
          <p:nvPr userDrawn="1"/>
        </p:nvPicPr>
        <p:blipFill>
          <a:blip r:embed="rId4"/>
          <a:stretch>
            <a:fillRect/>
          </a:stretch>
        </p:blipFill>
        <p:spPr>
          <a:xfrm>
            <a:off x="0" y="3378635"/>
            <a:ext cx="8673016" cy="34793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
          <p:cNvSpPr txBox="1"/>
          <p:nvPr/>
        </p:nvSpPr>
        <p:spPr>
          <a:xfrm>
            <a:off x="2805445" y="1276338"/>
            <a:ext cx="6410498" cy="68841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dirty="0">
              <a:latin typeface="Cambria" panose="02040503050406030204" pitchFamily="18" charset="0"/>
              <a:ea typeface="Cambria" panose="02040503050406030204" pitchFamily="18" charset="0"/>
            </a:endParaRPr>
          </a:p>
        </p:txBody>
      </p:sp>
      <p:pic>
        <p:nvPicPr>
          <p:cNvPr id="2" name="Picture 1" descr="A black background with orange and blue letters&#10;&#10;AI-generated content may be incorrect.">
            <a:extLst>
              <a:ext uri="{FF2B5EF4-FFF2-40B4-BE49-F238E27FC236}">
                <a16:creationId xmlns:a16="http://schemas.microsoft.com/office/drawing/2014/main" id="{ED53AD9A-C69E-70AE-0C10-4BD9BD469474}"/>
              </a:ext>
            </a:extLst>
          </p:cNvPr>
          <p:cNvPicPr>
            <a:picLocks noChangeAspect="1"/>
          </p:cNvPicPr>
          <p:nvPr userDrawn="1"/>
        </p:nvPicPr>
        <p:blipFill>
          <a:blip r:embed="rId3"/>
          <a:stretch>
            <a:fillRect/>
          </a:stretch>
        </p:blipFill>
        <p:spPr>
          <a:xfrm>
            <a:off x="4810125" y="282112"/>
            <a:ext cx="3114675" cy="837297"/>
          </a:xfrm>
          <a:prstGeom prst="rect">
            <a:avLst/>
          </a:prstGeom>
        </p:spPr>
      </p:pic>
      <p:pic>
        <p:nvPicPr>
          <p:cNvPr id="4" name="Picture 3" descr="A building with many windows&#10;&#10;AI-generated content may be incorrect.">
            <a:extLst>
              <a:ext uri="{FF2B5EF4-FFF2-40B4-BE49-F238E27FC236}">
                <a16:creationId xmlns:a16="http://schemas.microsoft.com/office/drawing/2014/main" id="{EC1E6BDF-4BEB-2008-DF3B-361BBA44A129}"/>
              </a:ext>
            </a:extLst>
          </p:cNvPr>
          <p:cNvPicPr>
            <a:picLocks noChangeAspect="1"/>
          </p:cNvPicPr>
          <p:nvPr userDrawn="1"/>
        </p:nvPicPr>
        <p:blipFill>
          <a:blip r:embed="rId4"/>
          <a:stretch>
            <a:fillRect/>
          </a:stretch>
        </p:blipFill>
        <p:spPr>
          <a:xfrm>
            <a:off x="175386" y="4743155"/>
            <a:ext cx="11841227" cy="211484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6" r:id="rId3"/>
    <p:sldLayoutId id="2147483657" r:id="rId4"/>
    <p:sldLayoutId id="2147483658"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spectrum.ieee.org/top-programming-languages-2025"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code.visualstudio.com/"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hyperlink" Target="https://nodejs.org/en/download"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hyperlink" Target="https://nodejs.org/en/download"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hyperlink" Target="https://nodejs.org/en/download"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hyperlink" Target="https://nodejs.org/en/download"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hyperlink" Target="https://nodejs.org/en/download"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hyperlink" Target="https://nodejs.org/en/download"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hyperlink" Target="https://nodejs.org/en/download"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hyperlink" Target="https://nodejs.org/en/download"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6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6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003449" y="2025748"/>
            <a:ext cx="8763000" cy="1512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lnSpc>
                <a:spcPct val="150000"/>
              </a:lnSpc>
              <a:defRPr/>
            </a:pPr>
            <a:r>
              <a:rPr lang="en-US" sz="2800" b="0" kern="0" dirty="0" err="1">
                <a:solidFill>
                  <a:srgbClr val="002060"/>
                </a:solidFill>
                <a:latin typeface="Times New Roman" panose="02020603050405020304" pitchFamily="18" charset="0"/>
                <a:cs typeface="Times New Roman" panose="02020603050405020304" pitchFamily="18" charset="0"/>
              </a:rPr>
              <a:t>Chương</a:t>
            </a:r>
            <a:r>
              <a:rPr lang="en-US" sz="2800" b="0" kern="0" dirty="0">
                <a:solidFill>
                  <a:srgbClr val="002060"/>
                </a:solidFill>
                <a:latin typeface="Times New Roman" panose="02020603050405020304" pitchFamily="18" charset="0"/>
                <a:cs typeface="Times New Roman" panose="02020603050405020304" pitchFamily="18" charset="0"/>
              </a:rPr>
              <a:t> I:</a:t>
            </a:r>
            <a:endParaRPr lang="en-US" sz="2800" u="sng" dirty="0">
              <a:solidFill>
                <a:srgbClr val="002060"/>
              </a:solidFill>
              <a:latin typeface="Times New Roman" panose="02020603050405020304" pitchFamily="18" charset="0"/>
              <a:cs typeface="Times New Roman" panose="02020603050405020304" pitchFamily="18" charset="0"/>
            </a:endParaRPr>
          </a:p>
          <a:p>
            <a:pPr>
              <a:lnSpc>
                <a:spcPct val="150000"/>
              </a:lnSpc>
              <a:defRPr/>
            </a:pPr>
            <a:r>
              <a:rPr lang="vi-VN" sz="2800" kern="0" dirty="0">
                <a:solidFill>
                  <a:srgbClr val="002060"/>
                </a:solidFill>
                <a:latin typeface="Times New Roman" panose="02020603050405020304" pitchFamily="18" charset="0"/>
                <a:cs typeface="Times New Roman" panose="02020603050405020304" pitchFamily="18" charset="0"/>
              </a:rPr>
              <a:t>Giới thiệu Angular Framework</a:t>
            </a:r>
            <a:endParaRPr lang="en-US" sz="2800" kern="0"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9B20803-11F7-E1E5-2F3E-F97179298A37}"/>
              </a:ext>
            </a:extLst>
          </p:cNvPr>
          <p:cNvSpPr txBox="1"/>
          <p:nvPr/>
        </p:nvSpPr>
        <p:spPr>
          <a:xfrm>
            <a:off x="7720040" y="4262543"/>
            <a:ext cx="3852337" cy="1785104"/>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200" u="sng" dirty="0" err="1">
                <a:latin typeface="Times New Roman" panose="02020603050405020304" pitchFamily="18" charset="0"/>
                <a:cs typeface="Times New Roman" panose="02020603050405020304" pitchFamily="18" charset="0"/>
              </a:rPr>
              <a:t>Giảng</a:t>
            </a:r>
            <a:r>
              <a:rPr lang="en-US" sz="2200" u="sng" dirty="0">
                <a:latin typeface="Times New Roman" panose="02020603050405020304" pitchFamily="18" charset="0"/>
                <a:cs typeface="Times New Roman" panose="02020603050405020304" pitchFamily="18" charset="0"/>
              </a:rPr>
              <a:t> </a:t>
            </a:r>
            <a:r>
              <a:rPr lang="en-US" sz="2200" u="sng" dirty="0" err="1">
                <a:latin typeface="Times New Roman" panose="02020603050405020304" pitchFamily="18" charset="0"/>
                <a:cs typeface="Times New Roman" panose="02020603050405020304" pitchFamily="18" charset="0"/>
              </a:rPr>
              <a:t>viên</a:t>
            </a:r>
            <a:r>
              <a:rPr lang="en-US" sz="2200" u="sng" dirty="0">
                <a:latin typeface="Times New Roman" panose="02020603050405020304" pitchFamily="18" charset="0"/>
                <a:cs typeface="Times New Roman" panose="02020603050405020304" pitchFamily="18" charset="0"/>
              </a:rPr>
              <a:t>:</a:t>
            </a:r>
          </a:p>
          <a:p>
            <a:r>
              <a:rPr lang="en-US" sz="2200" b="1" dirty="0">
                <a:solidFill>
                  <a:srgbClr val="002060"/>
                </a:solidFill>
                <a:latin typeface="Times New Roman" panose="02020603050405020304" pitchFamily="18" charset="0"/>
                <a:cs typeface="Times New Roman" panose="02020603050405020304" pitchFamily="18" charset="0"/>
              </a:rPr>
              <a:t>TS. Trần Duy Thanh</a:t>
            </a:r>
          </a:p>
          <a:p>
            <a:r>
              <a:rPr lang="en-US" sz="2200" dirty="0">
                <a:latin typeface="Times New Roman" panose="02020603050405020304" pitchFamily="18" charset="0"/>
                <a:cs typeface="Times New Roman" panose="02020603050405020304" pitchFamily="18" charset="0"/>
              </a:rPr>
              <a:t>Email: </a:t>
            </a:r>
            <a:r>
              <a:rPr lang="en-US" sz="2200" dirty="0">
                <a:latin typeface="Times New Roman" panose="02020603050405020304" pitchFamily="18" charset="0"/>
                <a:cs typeface="Times New Roman" panose="02020603050405020304" pitchFamily="18" charset="0"/>
                <a:hlinkClick r:id="rId3"/>
              </a:rPr>
              <a:t>thanhtd@uel.edu.vn</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Phone: 0987773061</a:t>
            </a:r>
          </a:p>
          <a:p>
            <a:r>
              <a:rPr lang="en-US" sz="2200" dirty="0">
                <a:latin typeface="Times New Roman" panose="02020603050405020304" pitchFamily="18" charset="0"/>
                <a:cs typeface="Times New Roman" panose="02020603050405020304" pitchFamily="18" charset="0"/>
              </a:rPr>
              <a:t>Blog: </a:t>
            </a:r>
            <a:r>
              <a:rPr lang="en-US" sz="2200" dirty="0">
                <a:latin typeface="Times New Roman" panose="02020603050405020304" pitchFamily="18" charset="0"/>
                <a:cs typeface="Times New Roman" panose="02020603050405020304" pitchFamily="18" charset="0"/>
                <a:hlinkClick r:id="rId4"/>
              </a:rPr>
              <a:t>https://tranduythanh.com</a:t>
            </a:r>
            <a:r>
              <a:rPr lang="en-US" sz="22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62128" y="261944"/>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Mục tiêu của Chương 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381000" y="821802"/>
            <a:ext cx="11430000" cy="55038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vi-VN" sz="2400" dirty="0">
                <a:latin typeface="Cambria" panose="02040503050406030204" pitchFamily="18" charset="0"/>
              </a:rPr>
              <a:t>Chương I tập trung cung cấp cái nhìn tổng quan và nền tảng kỹ thuật về Angular Framework, giúp người học hiểu rõ từ định nghĩa, lịch sử phát triển đến hệ sinh thái do Google xây dựng. Mục tiêu chính là giúp </a:t>
            </a:r>
            <a:r>
              <a:rPr lang="en-US" sz="2400" dirty="0">
                <a:latin typeface="Cambria" panose="02040503050406030204" pitchFamily="18" charset="0"/>
              </a:rPr>
              <a:t>Sinh </a:t>
            </a:r>
            <a:r>
              <a:rPr lang="en-US" sz="2400" dirty="0" err="1">
                <a:latin typeface="Cambria" panose="02040503050406030204" pitchFamily="18" charset="0"/>
              </a:rPr>
              <a:t>viên</a:t>
            </a:r>
            <a:r>
              <a:rPr lang="vi-VN" sz="2400" dirty="0">
                <a:latin typeface="Cambria" panose="02040503050406030204" pitchFamily="18" charset="0"/>
              </a:rPr>
              <a:t> nắm vững kiến thức về kiến trúc thành phần, bao gồm sự phối hợp giữa Modules, Components và Services trong một ứng dụng thực tế. Bên cạnh lý thuyết, chương này còn hướng dẫn chi tiết kỹ năng thực hành từ khâu thiết lập môi trường, cài đặt Angular CLI, khởi tạo dự án cho đến việc tạo và thực thi các Component đầu tiên. Đây là bước đệm quan trọng để xây dựng tư duy lập trình hệ thống trước khi đi sâu vào các kỹ thuật phức tạp hơn.</a:t>
            </a:r>
            <a:endParaRPr lang="en-US" sz="2400" dirty="0">
              <a:latin typeface="Cambria" panose="02040503050406030204" pitchFamily="18" charset="0"/>
            </a:endParaRPr>
          </a:p>
        </p:txBody>
      </p:sp>
    </p:spTree>
    <p:extLst>
      <p:ext uri="{BB962C8B-B14F-4D97-AF65-F5344CB8AC3E}">
        <p14:creationId xmlns:p14="http://schemas.microsoft.com/office/powerpoint/2010/main" val="2703459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6565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D56F04-295F-5363-D417-108007E712F9}"/>
              </a:ext>
            </a:extLst>
          </p:cNvPr>
          <p:cNvSpPr txBox="1"/>
          <p:nvPr/>
        </p:nvSpPr>
        <p:spPr>
          <a:xfrm>
            <a:off x="415252" y="810009"/>
            <a:ext cx="11564547" cy="5262979"/>
          </a:xfrm>
          <a:prstGeom prst="rect">
            <a:avLst/>
          </a:prstGeom>
          <a:noFill/>
        </p:spPr>
        <p:txBody>
          <a:bodyPr wrap="square">
            <a:spAutoFit/>
          </a:bodyPr>
          <a:lstStyle/>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1.1. </a:t>
            </a:r>
            <a:r>
              <a:rPr lang="en-US" sz="2400" b="1" dirty="0">
                <a:latin typeface="Times New Roman" panose="02020603050405020304" pitchFamily="18" charset="0"/>
                <a:cs typeface="Times New Roman" panose="02020603050405020304" pitchFamily="18" charset="0"/>
              </a:rPr>
              <a:t> </a:t>
            </a:r>
            <a:r>
              <a:rPr lang="vi-VN" sz="2400" b="1" dirty="0">
                <a:latin typeface="Times New Roman" panose="02020603050405020304" pitchFamily="18" charset="0"/>
                <a:cs typeface="Times New Roman" panose="02020603050405020304" pitchFamily="18" charset="0"/>
              </a:rPr>
              <a:t>Angular là gì?</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1.2. </a:t>
            </a:r>
            <a:r>
              <a:rPr lang="en-US" sz="2400" b="1" dirty="0">
                <a:latin typeface="Times New Roman" panose="02020603050405020304" pitchFamily="18" charset="0"/>
                <a:cs typeface="Times New Roman" panose="02020603050405020304" pitchFamily="18" charset="0"/>
              </a:rPr>
              <a:t> </a:t>
            </a:r>
            <a:r>
              <a:rPr lang="vi-VN" sz="2400" b="1" dirty="0">
                <a:latin typeface="Times New Roman" panose="02020603050405020304" pitchFamily="18" charset="0"/>
                <a:cs typeface="Times New Roman" panose="02020603050405020304" pitchFamily="18" charset="0"/>
              </a:rPr>
              <a:t>Lịch sử hình thành và phát triển</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1.3. </a:t>
            </a:r>
            <a:r>
              <a:rPr lang="en-US" sz="2400" b="1" dirty="0">
                <a:latin typeface="Times New Roman" panose="02020603050405020304" pitchFamily="18" charset="0"/>
                <a:cs typeface="Times New Roman" panose="02020603050405020304" pitchFamily="18" charset="0"/>
              </a:rPr>
              <a:t> </a:t>
            </a:r>
            <a:r>
              <a:rPr lang="vi-VN" sz="2400" b="1" dirty="0">
                <a:latin typeface="Times New Roman" panose="02020603050405020304" pitchFamily="18" charset="0"/>
                <a:cs typeface="Times New Roman" panose="02020603050405020304" pitchFamily="18" charset="0"/>
              </a:rPr>
              <a:t>Kiến trúc thành phần trong Angular</a:t>
            </a:r>
          </a:p>
          <a:p>
            <a:pPr marL="457200" lvl="8"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1.3.1. Angular App</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1.3.2. Modules</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1.3.3. Components</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1.3.4. Services</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1.4. Cài đặt và thực thi dự án Angular</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1.4.1. Cách cài đặt và kiểm tra phiên bản Angular</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1.4.2. Tạo dự án Angular</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1.4.</a:t>
            </a:r>
            <a:r>
              <a:rPr lang="en-US" sz="2400" dirty="0">
                <a:latin typeface="Times New Roman" panose="02020603050405020304" pitchFamily="18" charset="0"/>
                <a:cs typeface="Times New Roman" panose="02020603050405020304" pitchFamily="18" charset="0"/>
              </a:rPr>
              <a:t>3</a:t>
            </a:r>
            <a:r>
              <a:rPr lang="vi-VN" sz="2400" dirty="0">
                <a:latin typeface="Times New Roman" panose="02020603050405020304" pitchFamily="18" charset="0"/>
                <a:cs typeface="Times New Roman" panose="02020603050405020304" pitchFamily="18" charset="0"/>
              </a:rPr>
              <a:t>. Thực thi dự án Angular</a:t>
            </a: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1.4.</a:t>
            </a:r>
            <a:r>
              <a:rPr lang="en-US" sz="2400" dirty="0">
                <a:latin typeface="Times New Roman" panose="02020603050405020304" pitchFamily="18" charset="0"/>
                <a:cs typeface="Times New Roman" panose="02020603050405020304" pitchFamily="18" charset="0"/>
              </a:rPr>
              <a:t>4</a:t>
            </a:r>
            <a:r>
              <a:rPr lang="vi-VN"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lỗi</a:t>
            </a:r>
            <a:r>
              <a:rPr lang="en-US" sz="2400" dirty="0">
                <a:latin typeface="Times New Roman" panose="02020603050405020304" pitchFamily="18" charset="0"/>
                <a:cs typeface="Times New Roman" panose="02020603050405020304" pitchFamily="18" charset="0"/>
              </a:rPr>
              <a:t> Security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t</a:t>
            </a:r>
            <a:r>
              <a:rPr lang="vi-VN" sz="2400" dirty="0">
                <a:latin typeface="Times New Roman" panose="02020603050405020304" pitchFamily="18" charset="0"/>
                <a:cs typeface="Times New Roman" panose="02020603050405020304" pitchFamily="18" charset="0"/>
              </a:rPr>
              <a:t>ạo dự án Angular</a:t>
            </a: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1.4.</a:t>
            </a:r>
            <a:r>
              <a:rPr lang="en-US" sz="2400" dirty="0">
                <a:latin typeface="Times New Roman" panose="02020603050405020304" pitchFamily="18" charset="0"/>
                <a:cs typeface="Times New Roman" panose="02020603050405020304" pitchFamily="18" charset="0"/>
              </a:rPr>
              <a:t>5</a:t>
            </a:r>
            <a:r>
              <a:rPr lang="vi-VN" sz="2400" dirty="0">
                <a:latin typeface="Times New Roman" panose="02020603050405020304" pitchFamily="18" charset="0"/>
                <a:cs typeface="Times New Roman" panose="02020603050405020304" pitchFamily="18" charset="0"/>
              </a:rPr>
              <a:t>. Tạo và sử dụng Component trong Angular</a:t>
            </a:r>
          </a:p>
          <a:p>
            <a:pPr marL="457200" indent="-4572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1.4.6. </a:t>
            </a:r>
            <a:r>
              <a:rPr lang="en-US" sz="2400" dirty="0" err="1">
                <a:latin typeface="Times New Roman" panose="02020603050405020304" pitchFamily="18" charset="0"/>
                <a:cs typeface="Times New Roman" panose="02020603050405020304" pitchFamily="18" charset="0"/>
              </a:rPr>
              <a:t>Cấu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trúc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Angular</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624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F62DB84-4487-0312-58D2-45E3895ABB8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5A81621-0C0A-6621-B028-0D826573A45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DA616C5-DE40-5D75-1BEC-20B82BD45AD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2" name="Group 1">
            <a:extLst>
              <a:ext uri="{FF2B5EF4-FFF2-40B4-BE49-F238E27FC236}">
                <a16:creationId xmlns:a16="http://schemas.microsoft.com/office/drawing/2014/main" id="{34D6BA8F-04E9-4B08-5B9D-BD49EAC7736E}"/>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E31B3864-2525-1CF2-F000-1C1D0E0D6DCD}"/>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1.1.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Angular là gì?</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10BF2A3-7A8D-297A-C9F9-C7D1F40C600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A15CD87-4E77-F46F-9924-619DEEC1E45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CFB3F47-4349-0473-F859-4CAF1DD423F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052575F-2E0F-DDD9-2595-195D284736A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A94CD23-80C5-9020-FEC2-A55D39026067}"/>
              </a:ext>
            </a:extLst>
          </p:cNvPr>
          <p:cNvSpPr txBox="1"/>
          <p:nvPr/>
        </p:nvSpPr>
        <p:spPr>
          <a:xfrm>
            <a:off x="415253" y="810009"/>
            <a:ext cx="11453660" cy="2597699"/>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vi-VN" sz="2800" dirty="0">
                <a:latin typeface="Cambria" panose="02040503050406030204" pitchFamily="18" charset="0"/>
                <a:ea typeface="Cambria" panose="02040503050406030204" pitchFamily="18" charset="0"/>
              </a:rPr>
              <a:t>Angular là một </a:t>
            </a:r>
            <a:r>
              <a:rPr lang="vi-VN" sz="2800" b="1" dirty="0">
                <a:latin typeface="Cambria" panose="02040503050406030204" pitchFamily="18" charset="0"/>
                <a:ea typeface="Cambria" panose="02040503050406030204" pitchFamily="18" charset="0"/>
              </a:rPr>
              <a:t>framework phát triển ứng dụng web</a:t>
            </a:r>
            <a:r>
              <a:rPr lang="vi-VN" sz="2800" dirty="0">
                <a:latin typeface="Cambria" panose="02040503050406030204" pitchFamily="18" charset="0"/>
                <a:ea typeface="Cambria" panose="02040503050406030204" pitchFamily="18" charset="0"/>
              </a:rPr>
              <a:t> mã nguồn mở, được phát triển và duy trì bởi Google. Nó được thiết kế để xây dựng các ứng dụng web một trang (Single Page Applications - </a:t>
            </a:r>
            <a:r>
              <a:rPr lang="vi-VN" sz="2800" b="1" dirty="0">
                <a:latin typeface="Cambria" panose="02040503050406030204" pitchFamily="18" charset="0"/>
                <a:ea typeface="Cambria" panose="02040503050406030204" pitchFamily="18" charset="0"/>
              </a:rPr>
              <a:t>SPA</a:t>
            </a:r>
            <a:r>
              <a:rPr lang="vi-VN" sz="2800" dirty="0">
                <a:latin typeface="Cambria" panose="02040503050406030204" pitchFamily="18" charset="0"/>
                <a:ea typeface="Cambria" panose="02040503050406030204" pitchFamily="18" charset="0"/>
              </a:rPr>
              <a:t>) có quy mô lớn, hiệu năng cao và dễ bảo trì.</a:t>
            </a:r>
            <a:endParaRPr lang="vi-VN" sz="2800" dirty="0">
              <a:latin typeface="Cambria" panose="02040503050406030204" pitchFamily="18" charset="0"/>
              <a:ea typeface="Cambria" panose="020405030504060302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6B24462-DAB2-E474-C967-CBED9D24B2D8}"/>
              </a:ext>
            </a:extLst>
          </p:cNvPr>
          <p:cNvPicPr>
            <a:picLocks noChangeAspect="1"/>
          </p:cNvPicPr>
          <p:nvPr/>
        </p:nvPicPr>
        <p:blipFill>
          <a:blip r:embed="rId3"/>
          <a:stretch>
            <a:fillRect/>
          </a:stretch>
        </p:blipFill>
        <p:spPr>
          <a:xfrm>
            <a:off x="6638809" y="3066441"/>
            <a:ext cx="2701856" cy="854035"/>
          </a:xfrm>
          <a:prstGeom prst="rect">
            <a:avLst/>
          </a:prstGeom>
        </p:spPr>
      </p:pic>
      <p:pic>
        <p:nvPicPr>
          <p:cNvPr id="1028" name="Picture 4" descr="undefined">
            <a:extLst>
              <a:ext uri="{FF2B5EF4-FFF2-40B4-BE49-F238E27FC236}">
                <a16:creationId xmlns:a16="http://schemas.microsoft.com/office/drawing/2014/main" id="{0A5E914E-EE89-CCA9-81BC-D16EC0771F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6749" y="3795305"/>
            <a:ext cx="7830483" cy="2447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7853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46224EE-0E88-CCF9-4B48-E44E2E6EFE2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1DBB7D6-77A9-F648-0879-5050381A070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622B0C9-FF76-70C8-2994-B4DC40C8A66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2" name="Group 1">
            <a:extLst>
              <a:ext uri="{FF2B5EF4-FFF2-40B4-BE49-F238E27FC236}">
                <a16:creationId xmlns:a16="http://schemas.microsoft.com/office/drawing/2014/main" id="{4BF044E1-BD54-5617-34AB-55E0346A508B}"/>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B8258523-0153-5E1A-4097-3A2E41B517B5}"/>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1.1.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Angular là gì?</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39338A4-9062-30D8-34B5-3CCFD48A7E8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15B4FD5-7A28-5F9F-1B7D-7733FBB0912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8167E17-CF92-5CB1-E285-E68F355D1B9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0AC9AA6-0143-94AF-FC9F-85E5D302BEB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9E6DF10-7A27-35A5-F79C-F79FDD9BC0CD}"/>
              </a:ext>
            </a:extLst>
          </p:cNvPr>
          <p:cNvSpPr txBox="1"/>
          <p:nvPr/>
        </p:nvSpPr>
        <p:spPr>
          <a:xfrm>
            <a:off x="415253" y="810009"/>
            <a:ext cx="11453660" cy="4536691"/>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vi-VN" sz="2800" dirty="0">
                <a:latin typeface="Cambria" panose="02040503050406030204" pitchFamily="18" charset="0"/>
                <a:ea typeface="Cambria" panose="02040503050406030204" pitchFamily="18" charset="0"/>
              </a:rPr>
              <a:t>Single Page Application (SPA) – hay Ứng dụng một trang – là một loại ứng dụng web hoặc trang web hoạt động bên trong một trình duyệt và không yêu cầu tải lại toàn bộ trang trong quá trình sử dụng.</a:t>
            </a:r>
          </a:p>
          <a:p>
            <a:pPr marL="457200" indent="-457200" algn="just">
              <a:lnSpc>
                <a:spcPct val="150000"/>
              </a:lnSpc>
              <a:buFont typeface="Wingdings" panose="05000000000000000000" pitchFamily="2" charset="2"/>
              <a:buChar char="v"/>
            </a:pPr>
            <a:r>
              <a:rPr lang="vi-VN" sz="2800" dirty="0">
                <a:latin typeface="Cambria" panose="02040503050406030204" pitchFamily="18" charset="0"/>
                <a:ea typeface="Cambria" panose="02040503050406030204" pitchFamily="18" charset="0"/>
              </a:rPr>
              <a:t>Thay vì gửi yêu cầu đến máy chủ để nhận về một trang HTML hoàn toàn mới mỗi khi </a:t>
            </a:r>
            <a:r>
              <a:rPr lang="en-US" sz="2800" dirty="0">
                <a:latin typeface="Cambria" panose="02040503050406030204" pitchFamily="18" charset="0"/>
                <a:ea typeface="Cambria" panose="02040503050406030204" pitchFamily="18" charset="0"/>
              </a:rPr>
              <a:t>ta</a:t>
            </a:r>
            <a:r>
              <a:rPr lang="vi-VN" sz="2800" dirty="0">
                <a:latin typeface="Cambria" panose="02040503050406030204" pitchFamily="18" charset="0"/>
                <a:ea typeface="Cambria" panose="02040503050406030204" pitchFamily="18" charset="0"/>
              </a:rPr>
              <a:t> nhấp vào một liên kết, SPA chỉ tải những dữ liệu cần thiết (thường dưới dạng JSON) và cập nhật trực tiếp vào trang hiện tại.</a:t>
            </a:r>
            <a:endParaRPr lang="vi-VN" sz="28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039776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968DD47-AF78-D872-58EC-7C32A57274F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0486AF4-7A09-A6D0-721A-198586BDC7D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D614495-D714-6165-C863-4029DF4B963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2" name="Group 1">
            <a:extLst>
              <a:ext uri="{FF2B5EF4-FFF2-40B4-BE49-F238E27FC236}">
                <a16:creationId xmlns:a16="http://schemas.microsoft.com/office/drawing/2014/main" id="{0E5F9123-05D6-FD28-F2AB-82A8146D5303}"/>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F93EEB92-10C7-D9F6-9B73-A1CC6999134A}"/>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1.1.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Angular là gì?</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A53E2A9-7759-720A-6504-8EB6D98C4B6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64D349C-3563-1ED6-F65B-756FB4BCBD5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7704AD8-4F12-6608-A51D-99994787F8B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6B457E0-0150-7568-0B96-052F023BABA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3F7CFE0A-A4A6-8943-75F7-24F744870EA0}"/>
              </a:ext>
            </a:extLst>
          </p:cNvPr>
          <p:cNvGraphicFramePr>
            <a:graphicFrameLocks noGrp="1"/>
          </p:cNvGraphicFramePr>
          <p:nvPr>
            <p:extLst>
              <p:ext uri="{D42A27DB-BD31-4B8C-83A1-F6EECF244321}">
                <p14:modId xmlns:p14="http://schemas.microsoft.com/office/powerpoint/2010/main" val="2226780519"/>
              </p:ext>
            </p:extLst>
          </p:nvPr>
        </p:nvGraphicFramePr>
        <p:xfrm>
          <a:off x="443887" y="877587"/>
          <a:ext cx="11304226" cy="4815840"/>
        </p:xfrm>
        <a:graphic>
          <a:graphicData uri="http://schemas.openxmlformats.org/drawingml/2006/table">
            <a:tbl>
              <a:tblPr>
                <a:tableStyleId>{5940675A-B579-460E-94D1-54222C63F5DA}</a:tableStyleId>
              </a:tblPr>
              <a:tblGrid>
                <a:gridCol w="1906121">
                  <a:extLst>
                    <a:ext uri="{9D8B030D-6E8A-4147-A177-3AD203B41FA5}">
                      <a16:colId xmlns:a16="http://schemas.microsoft.com/office/drawing/2014/main" val="2462196914"/>
                    </a:ext>
                  </a:extLst>
                </a:gridCol>
                <a:gridCol w="4416552">
                  <a:extLst>
                    <a:ext uri="{9D8B030D-6E8A-4147-A177-3AD203B41FA5}">
                      <a16:colId xmlns:a16="http://schemas.microsoft.com/office/drawing/2014/main" val="514515351"/>
                    </a:ext>
                  </a:extLst>
                </a:gridCol>
                <a:gridCol w="4981553">
                  <a:extLst>
                    <a:ext uri="{9D8B030D-6E8A-4147-A177-3AD203B41FA5}">
                      <a16:colId xmlns:a16="http://schemas.microsoft.com/office/drawing/2014/main" val="1848244724"/>
                    </a:ext>
                  </a:extLst>
                </a:gridCol>
              </a:tblGrid>
              <a:tr h="0">
                <a:tc>
                  <a:txBody>
                    <a:bodyPr/>
                    <a:lstStyle/>
                    <a:p>
                      <a:pPr rtl="0"/>
                      <a:r>
                        <a:rPr lang="en-US" sz="2400" b="1">
                          <a:solidFill>
                            <a:srgbClr val="1F1F1F"/>
                          </a:solidFill>
                          <a:effectLst/>
                          <a:latin typeface="Times New Roman" panose="02020603050405020304" pitchFamily="18" charset="0"/>
                          <a:cs typeface="Times New Roman" panose="02020603050405020304" pitchFamily="18" charset="0"/>
                        </a:rPr>
                        <a:t>Đặc điểm</a:t>
                      </a:r>
                      <a:endParaRPr lang="en-US" sz="2400">
                        <a:solidFill>
                          <a:srgbClr val="1F1F1F"/>
                        </a:solidFill>
                        <a:effectLst/>
                        <a:latin typeface="Times New Roman" panose="02020603050405020304" pitchFamily="18" charset="0"/>
                        <a:cs typeface="Times New Roman" panose="02020603050405020304" pitchFamily="18" charset="0"/>
                      </a:endParaRPr>
                    </a:p>
                  </a:txBody>
                  <a:tcPr marR="114300" marT="152400" marB="152400" anchor="ctr"/>
                </a:tc>
                <a:tc>
                  <a:txBody>
                    <a:bodyPr/>
                    <a:lstStyle/>
                    <a:p>
                      <a:pPr rtl="0"/>
                      <a:r>
                        <a:rPr lang="en-US" sz="2400" b="1" dirty="0" err="1">
                          <a:solidFill>
                            <a:srgbClr val="1F1F1F"/>
                          </a:solidFill>
                          <a:effectLst/>
                          <a:latin typeface="Times New Roman" panose="02020603050405020304" pitchFamily="18" charset="0"/>
                          <a:cs typeface="Times New Roman" panose="02020603050405020304" pitchFamily="18" charset="0"/>
                        </a:rPr>
                        <a:t>Ứng</a:t>
                      </a:r>
                      <a:r>
                        <a:rPr lang="en-US" sz="2400" b="1" dirty="0">
                          <a:solidFill>
                            <a:srgbClr val="1F1F1F"/>
                          </a:solidFill>
                          <a:effectLst/>
                          <a:latin typeface="Times New Roman" panose="02020603050405020304" pitchFamily="18" charset="0"/>
                          <a:cs typeface="Times New Roman" panose="02020603050405020304" pitchFamily="18" charset="0"/>
                        </a:rPr>
                        <a:t> </a:t>
                      </a:r>
                      <a:r>
                        <a:rPr lang="en-US" sz="2400" b="1" dirty="0" err="1">
                          <a:solidFill>
                            <a:srgbClr val="1F1F1F"/>
                          </a:solidFill>
                          <a:effectLst/>
                          <a:latin typeface="Times New Roman" panose="02020603050405020304" pitchFamily="18" charset="0"/>
                          <a:cs typeface="Times New Roman" panose="02020603050405020304" pitchFamily="18" charset="0"/>
                        </a:rPr>
                        <a:t>dụng</a:t>
                      </a:r>
                      <a:r>
                        <a:rPr lang="en-US" sz="2400" b="1" dirty="0">
                          <a:solidFill>
                            <a:srgbClr val="1F1F1F"/>
                          </a:solidFill>
                          <a:effectLst/>
                          <a:latin typeface="Times New Roman" panose="02020603050405020304" pitchFamily="18" charset="0"/>
                          <a:cs typeface="Times New Roman" panose="02020603050405020304" pitchFamily="18" charset="0"/>
                        </a:rPr>
                        <a:t> </a:t>
                      </a:r>
                      <a:r>
                        <a:rPr lang="en-US" sz="2400" b="1" dirty="0" err="1">
                          <a:solidFill>
                            <a:srgbClr val="1F1F1F"/>
                          </a:solidFill>
                          <a:effectLst/>
                          <a:latin typeface="Times New Roman" panose="02020603050405020304" pitchFamily="18" charset="0"/>
                          <a:cs typeface="Times New Roman" panose="02020603050405020304" pitchFamily="18" charset="0"/>
                        </a:rPr>
                        <a:t>truyền</a:t>
                      </a:r>
                      <a:r>
                        <a:rPr lang="en-US" sz="2400" b="1" dirty="0">
                          <a:solidFill>
                            <a:srgbClr val="1F1F1F"/>
                          </a:solidFill>
                          <a:effectLst/>
                          <a:latin typeface="Times New Roman" panose="02020603050405020304" pitchFamily="18" charset="0"/>
                          <a:cs typeface="Times New Roman" panose="02020603050405020304" pitchFamily="18" charset="0"/>
                        </a:rPr>
                        <a:t> </a:t>
                      </a:r>
                      <a:r>
                        <a:rPr lang="en-US" sz="2400" b="1" dirty="0" err="1">
                          <a:solidFill>
                            <a:srgbClr val="1F1F1F"/>
                          </a:solidFill>
                          <a:effectLst/>
                          <a:latin typeface="Times New Roman" panose="02020603050405020304" pitchFamily="18" charset="0"/>
                          <a:cs typeface="Times New Roman" panose="02020603050405020304" pitchFamily="18" charset="0"/>
                        </a:rPr>
                        <a:t>thống</a:t>
                      </a:r>
                      <a:r>
                        <a:rPr lang="en-US" sz="2400" b="1" dirty="0">
                          <a:solidFill>
                            <a:srgbClr val="1F1F1F"/>
                          </a:solidFill>
                          <a:effectLst/>
                          <a:latin typeface="Times New Roman" panose="02020603050405020304" pitchFamily="18" charset="0"/>
                          <a:cs typeface="Times New Roman" panose="02020603050405020304" pitchFamily="18" charset="0"/>
                        </a:rPr>
                        <a:t> (MPA)</a:t>
                      </a:r>
                      <a:endParaRPr lang="en-US" sz="2400" dirty="0">
                        <a:solidFill>
                          <a:srgbClr val="1F1F1F"/>
                        </a:solidFill>
                        <a:effectLst/>
                        <a:latin typeface="Times New Roman" panose="02020603050405020304" pitchFamily="18" charset="0"/>
                        <a:cs typeface="Times New Roman" panose="02020603050405020304" pitchFamily="18" charset="0"/>
                      </a:endParaRPr>
                    </a:p>
                  </a:txBody>
                  <a:tcPr marR="114300" marT="152400" marB="152400" anchor="ctr"/>
                </a:tc>
                <a:tc>
                  <a:txBody>
                    <a:bodyPr/>
                    <a:lstStyle/>
                    <a:p>
                      <a:pPr rtl="0"/>
                      <a:r>
                        <a:rPr lang="en-US" sz="2400" b="1">
                          <a:solidFill>
                            <a:srgbClr val="1F1F1F"/>
                          </a:solidFill>
                          <a:effectLst/>
                          <a:latin typeface="Times New Roman" panose="02020603050405020304" pitchFamily="18" charset="0"/>
                          <a:cs typeface="Times New Roman" panose="02020603050405020304" pitchFamily="18" charset="0"/>
                        </a:rPr>
                        <a:t>Ứng dụng một trang (SPA)</a:t>
                      </a:r>
                      <a:endParaRPr lang="en-US" sz="2400">
                        <a:solidFill>
                          <a:srgbClr val="1F1F1F"/>
                        </a:solidFill>
                        <a:effectLst/>
                        <a:latin typeface="Times New Roman" panose="02020603050405020304" pitchFamily="18" charset="0"/>
                        <a:cs typeface="Times New Roman" panose="02020603050405020304" pitchFamily="18" charset="0"/>
                      </a:endParaRPr>
                    </a:p>
                  </a:txBody>
                  <a:tcPr marT="152400" marB="152400" anchor="ctr"/>
                </a:tc>
                <a:extLst>
                  <a:ext uri="{0D108BD9-81ED-4DB2-BD59-A6C34878D82A}">
                    <a16:rowId xmlns:a16="http://schemas.microsoft.com/office/drawing/2014/main" val="1745771091"/>
                  </a:ext>
                </a:extLst>
              </a:tr>
              <a:tr h="0">
                <a:tc>
                  <a:txBody>
                    <a:bodyPr/>
                    <a:lstStyle/>
                    <a:p>
                      <a:pPr rtl="0"/>
                      <a:r>
                        <a:rPr lang="en-US" sz="2400" b="1">
                          <a:solidFill>
                            <a:srgbClr val="1F1F1F"/>
                          </a:solidFill>
                          <a:effectLst/>
                          <a:latin typeface="Times New Roman" panose="02020603050405020304" pitchFamily="18" charset="0"/>
                          <a:cs typeface="Times New Roman" panose="02020603050405020304" pitchFamily="18" charset="0"/>
                        </a:rPr>
                        <a:t>Tải trang</a:t>
                      </a:r>
                      <a:endParaRPr lang="en-US" sz="2400">
                        <a:solidFill>
                          <a:srgbClr val="1F1F1F"/>
                        </a:solidFill>
                        <a:effectLst/>
                        <a:latin typeface="Times New Roman" panose="02020603050405020304" pitchFamily="18" charset="0"/>
                        <a:cs typeface="Times New Roman" panose="02020603050405020304" pitchFamily="18" charset="0"/>
                      </a:endParaRPr>
                    </a:p>
                  </a:txBody>
                  <a:tcPr marR="114300" marT="152400" marB="152400" anchor="ctr"/>
                </a:tc>
                <a:tc>
                  <a:txBody>
                    <a:bodyPr/>
                    <a:lstStyle/>
                    <a:p>
                      <a:pPr rtl="0"/>
                      <a:r>
                        <a:rPr lang="en-US" sz="2400" dirty="0" err="1">
                          <a:solidFill>
                            <a:srgbClr val="1F1F1F"/>
                          </a:solidFill>
                          <a:effectLst/>
                          <a:latin typeface="Times New Roman" panose="02020603050405020304" pitchFamily="18" charset="0"/>
                          <a:cs typeface="Times New Roman" panose="02020603050405020304" pitchFamily="18" charset="0"/>
                        </a:rPr>
                        <a:t>Tải</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lại</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toàn</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bộ</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trang</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mỗi</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khi</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chuyển</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mục</a:t>
                      </a:r>
                      <a:r>
                        <a:rPr lang="en-US" sz="2400" dirty="0">
                          <a:solidFill>
                            <a:srgbClr val="1F1F1F"/>
                          </a:solidFill>
                          <a:effectLst/>
                          <a:latin typeface="Times New Roman" panose="02020603050405020304" pitchFamily="18" charset="0"/>
                          <a:cs typeface="Times New Roman" panose="02020603050405020304" pitchFamily="18" charset="0"/>
                        </a:rPr>
                        <a:t>.</a:t>
                      </a:r>
                    </a:p>
                  </a:txBody>
                  <a:tcPr marR="114300" marT="152400" marB="152400" anchor="ctr"/>
                </a:tc>
                <a:tc>
                  <a:txBody>
                    <a:bodyPr/>
                    <a:lstStyle/>
                    <a:p>
                      <a:pPr rtl="0"/>
                      <a:r>
                        <a:rPr lang="en-US" sz="2400">
                          <a:solidFill>
                            <a:srgbClr val="1F1F1F"/>
                          </a:solidFill>
                          <a:effectLst/>
                          <a:latin typeface="Times New Roman" panose="02020603050405020304" pitchFamily="18" charset="0"/>
                          <a:cs typeface="Times New Roman" panose="02020603050405020304" pitchFamily="18" charset="0"/>
                        </a:rPr>
                        <a:t>Chỉ tải một lần đầu tiên, sau đó chỉ cập nhật thành phần thay đổi.</a:t>
                      </a:r>
                    </a:p>
                  </a:txBody>
                  <a:tcPr marT="152400" marB="152400" anchor="ctr"/>
                </a:tc>
                <a:extLst>
                  <a:ext uri="{0D108BD9-81ED-4DB2-BD59-A6C34878D82A}">
                    <a16:rowId xmlns:a16="http://schemas.microsoft.com/office/drawing/2014/main" val="3987848187"/>
                  </a:ext>
                </a:extLst>
              </a:tr>
              <a:tr h="0">
                <a:tc>
                  <a:txBody>
                    <a:bodyPr/>
                    <a:lstStyle/>
                    <a:p>
                      <a:pPr rtl="0"/>
                      <a:r>
                        <a:rPr lang="en-US" sz="2400" b="1">
                          <a:solidFill>
                            <a:srgbClr val="1F1F1F"/>
                          </a:solidFill>
                          <a:effectLst/>
                          <a:latin typeface="Times New Roman" panose="02020603050405020304" pitchFamily="18" charset="0"/>
                          <a:cs typeface="Times New Roman" panose="02020603050405020304" pitchFamily="18" charset="0"/>
                        </a:rPr>
                        <a:t>Trải nghiệm</a:t>
                      </a:r>
                      <a:endParaRPr lang="en-US" sz="2400">
                        <a:solidFill>
                          <a:srgbClr val="1F1F1F"/>
                        </a:solidFill>
                        <a:effectLst/>
                        <a:latin typeface="Times New Roman" panose="02020603050405020304" pitchFamily="18" charset="0"/>
                        <a:cs typeface="Times New Roman" panose="02020603050405020304" pitchFamily="18" charset="0"/>
                      </a:endParaRPr>
                    </a:p>
                  </a:txBody>
                  <a:tcPr marR="114300" marT="152400" marB="152400" anchor="ctr"/>
                </a:tc>
                <a:tc>
                  <a:txBody>
                    <a:bodyPr/>
                    <a:lstStyle/>
                    <a:p>
                      <a:pPr rtl="0"/>
                      <a:r>
                        <a:rPr lang="en-US" sz="2400" dirty="0" err="1">
                          <a:solidFill>
                            <a:srgbClr val="1F1F1F"/>
                          </a:solidFill>
                          <a:effectLst/>
                          <a:latin typeface="Times New Roman" panose="02020603050405020304" pitchFamily="18" charset="0"/>
                          <a:cs typeface="Times New Roman" panose="02020603050405020304" pitchFamily="18" charset="0"/>
                        </a:rPr>
                        <a:t>Có</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thể</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bị</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gián</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đoạn</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màn</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hình</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trắng</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giữa</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các</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lần</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chuyển</a:t>
                      </a:r>
                      <a:r>
                        <a:rPr lang="en-US" sz="2400" dirty="0">
                          <a:solidFill>
                            <a:srgbClr val="1F1F1F"/>
                          </a:solidFill>
                          <a:effectLst/>
                          <a:latin typeface="Times New Roman" panose="02020603050405020304" pitchFamily="18" charset="0"/>
                          <a:cs typeface="Times New Roman" panose="02020603050405020304" pitchFamily="18" charset="0"/>
                        </a:rPr>
                        <a:t>).</a:t>
                      </a:r>
                    </a:p>
                  </a:txBody>
                  <a:tcPr marR="114300" marT="152400" marB="152400" anchor="ctr"/>
                </a:tc>
                <a:tc>
                  <a:txBody>
                    <a:bodyPr/>
                    <a:lstStyle/>
                    <a:p>
                      <a:pPr rtl="0"/>
                      <a:r>
                        <a:rPr lang="vi-VN" sz="2400">
                          <a:solidFill>
                            <a:srgbClr val="1F1F1F"/>
                          </a:solidFill>
                          <a:effectLst/>
                          <a:latin typeface="Times New Roman" panose="02020603050405020304" pitchFamily="18" charset="0"/>
                          <a:cs typeface="Times New Roman" panose="02020603050405020304" pitchFamily="18" charset="0"/>
                        </a:rPr>
                        <a:t>Mượt mà, giống như đang dùng ứng dụng cài trên điện thoại.</a:t>
                      </a:r>
                    </a:p>
                  </a:txBody>
                  <a:tcPr marT="152400" marB="152400" anchor="ctr"/>
                </a:tc>
                <a:extLst>
                  <a:ext uri="{0D108BD9-81ED-4DB2-BD59-A6C34878D82A}">
                    <a16:rowId xmlns:a16="http://schemas.microsoft.com/office/drawing/2014/main" val="3187649114"/>
                  </a:ext>
                </a:extLst>
              </a:tr>
              <a:tr h="0">
                <a:tc>
                  <a:txBody>
                    <a:bodyPr/>
                    <a:lstStyle/>
                    <a:p>
                      <a:pPr rtl="0"/>
                      <a:r>
                        <a:rPr lang="en-US" sz="2400" b="1">
                          <a:solidFill>
                            <a:srgbClr val="1F1F1F"/>
                          </a:solidFill>
                          <a:effectLst/>
                          <a:latin typeface="Times New Roman" panose="02020603050405020304" pitchFamily="18" charset="0"/>
                          <a:cs typeface="Times New Roman" panose="02020603050405020304" pitchFamily="18" charset="0"/>
                        </a:rPr>
                        <a:t>Tốc độ</a:t>
                      </a:r>
                      <a:endParaRPr lang="en-US" sz="2400">
                        <a:solidFill>
                          <a:srgbClr val="1F1F1F"/>
                        </a:solidFill>
                        <a:effectLst/>
                        <a:latin typeface="Times New Roman" panose="02020603050405020304" pitchFamily="18" charset="0"/>
                        <a:cs typeface="Times New Roman" panose="02020603050405020304" pitchFamily="18" charset="0"/>
                      </a:endParaRPr>
                    </a:p>
                  </a:txBody>
                  <a:tcPr marR="114300" marT="152400" marB="152400" anchor="ctr"/>
                </a:tc>
                <a:tc>
                  <a:txBody>
                    <a:bodyPr/>
                    <a:lstStyle/>
                    <a:p>
                      <a:pPr rtl="0"/>
                      <a:r>
                        <a:rPr lang="vi-VN" sz="2400">
                          <a:solidFill>
                            <a:srgbClr val="1F1F1F"/>
                          </a:solidFill>
                          <a:effectLst/>
                          <a:latin typeface="Times New Roman" panose="02020603050405020304" pitchFamily="18" charset="0"/>
                          <a:cs typeface="Times New Roman" panose="02020603050405020304" pitchFamily="18" charset="0"/>
                        </a:rPr>
                        <a:t>Chậm hơn vì phải tải lại HTML, CSS, JS nhiều lần.</a:t>
                      </a:r>
                    </a:p>
                  </a:txBody>
                  <a:tcPr marR="114300" marT="152400" marB="152400" anchor="ctr"/>
                </a:tc>
                <a:tc>
                  <a:txBody>
                    <a:bodyPr/>
                    <a:lstStyle/>
                    <a:p>
                      <a:pPr rtl="0"/>
                      <a:r>
                        <a:rPr lang="en-US" sz="2400">
                          <a:solidFill>
                            <a:srgbClr val="1F1F1F"/>
                          </a:solidFill>
                          <a:effectLst/>
                          <a:latin typeface="Times New Roman" panose="02020603050405020304" pitchFamily="18" charset="0"/>
                          <a:cs typeface="Times New Roman" panose="02020603050405020304" pitchFamily="18" charset="0"/>
                        </a:rPr>
                        <a:t>Rất nhanh sau lần tải đầu tiên.</a:t>
                      </a:r>
                    </a:p>
                  </a:txBody>
                  <a:tcPr marT="152400" marB="152400" anchor="ctr"/>
                </a:tc>
                <a:extLst>
                  <a:ext uri="{0D108BD9-81ED-4DB2-BD59-A6C34878D82A}">
                    <a16:rowId xmlns:a16="http://schemas.microsoft.com/office/drawing/2014/main" val="1471770753"/>
                  </a:ext>
                </a:extLst>
              </a:tr>
              <a:tr h="0">
                <a:tc>
                  <a:txBody>
                    <a:bodyPr/>
                    <a:lstStyle/>
                    <a:p>
                      <a:pPr rtl="0"/>
                      <a:r>
                        <a:rPr lang="en-US" sz="2400" b="1">
                          <a:solidFill>
                            <a:srgbClr val="1F1F1F"/>
                          </a:solidFill>
                          <a:effectLst/>
                          <a:latin typeface="Times New Roman" panose="02020603050405020304" pitchFamily="18" charset="0"/>
                          <a:cs typeface="Times New Roman" panose="02020603050405020304" pitchFamily="18" charset="0"/>
                        </a:rPr>
                        <a:t>Phía Server</a:t>
                      </a:r>
                      <a:endParaRPr lang="en-US" sz="2400">
                        <a:solidFill>
                          <a:srgbClr val="1F1F1F"/>
                        </a:solidFill>
                        <a:effectLst/>
                        <a:latin typeface="Times New Roman" panose="02020603050405020304" pitchFamily="18" charset="0"/>
                        <a:cs typeface="Times New Roman" panose="02020603050405020304" pitchFamily="18" charset="0"/>
                      </a:endParaRPr>
                    </a:p>
                  </a:txBody>
                  <a:tcPr marR="114300" marT="152400" marB="152400" anchor="ctr"/>
                </a:tc>
                <a:tc>
                  <a:txBody>
                    <a:bodyPr/>
                    <a:lstStyle/>
                    <a:p>
                      <a:pPr rtl="0"/>
                      <a:r>
                        <a:rPr lang="en-US" sz="2400">
                          <a:solidFill>
                            <a:srgbClr val="1F1F1F"/>
                          </a:solidFill>
                          <a:effectLst/>
                          <a:latin typeface="Times New Roman" panose="02020603050405020304" pitchFamily="18" charset="0"/>
                          <a:cs typeface="Times New Roman" panose="02020603050405020304" pitchFamily="18" charset="0"/>
                        </a:rPr>
                        <a:t>Server xử lý logic và trả về giao diện hoàn chỉnh.</a:t>
                      </a:r>
                    </a:p>
                  </a:txBody>
                  <a:tcPr marR="114300" marT="152400" marB="152400" anchor="ctr"/>
                </a:tc>
                <a:tc>
                  <a:txBody>
                    <a:bodyPr/>
                    <a:lstStyle/>
                    <a:p>
                      <a:pPr rtl="0"/>
                      <a:r>
                        <a:rPr lang="en-US" sz="2400" dirty="0">
                          <a:solidFill>
                            <a:srgbClr val="1F1F1F"/>
                          </a:solidFill>
                          <a:effectLst/>
                          <a:latin typeface="Times New Roman" panose="02020603050405020304" pitchFamily="18" charset="0"/>
                          <a:cs typeface="Times New Roman" panose="02020603050405020304" pitchFamily="18" charset="0"/>
                        </a:rPr>
                        <a:t>Server </a:t>
                      </a:r>
                      <a:r>
                        <a:rPr lang="en-US" sz="2400" dirty="0" err="1">
                          <a:solidFill>
                            <a:srgbClr val="1F1F1F"/>
                          </a:solidFill>
                          <a:effectLst/>
                          <a:latin typeface="Times New Roman" panose="02020603050405020304" pitchFamily="18" charset="0"/>
                          <a:cs typeface="Times New Roman" panose="02020603050405020304" pitchFamily="18" charset="0"/>
                        </a:rPr>
                        <a:t>chủ</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yếu</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chỉ</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trả</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về</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dữ</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liệu</a:t>
                      </a:r>
                      <a:r>
                        <a:rPr lang="en-US" sz="2400" dirty="0">
                          <a:solidFill>
                            <a:srgbClr val="1F1F1F"/>
                          </a:solidFill>
                          <a:effectLst/>
                          <a:latin typeface="Times New Roman" panose="02020603050405020304" pitchFamily="18" charset="0"/>
                          <a:cs typeface="Times New Roman" panose="02020603050405020304" pitchFamily="18" charset="0"/>
                        </a:rPr>
                        <a:t> (API), </a:t>
                      </a:r>
                      <a:r>
                        <a:rPr lang="en-US" sz="2400" dirty="0" err="1">
                          <a:solidFill>
                            <a:srgbClr val="1F1F1F"/>
                          </a:solidFill>
                          <a:effectLst/>
                          <a:latin typeface="Times New Roman" panose="02020603050405020304" pitchFamily="18" charset="0"/>
                          <a:cs typeface="Times New Roman" panose="02020603050405020304" pitchFamily="18" charset="0"/>
                        </a:rPr>
                        <a:t>trình</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duyệt</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tự</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dựng</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giao</a:t>
                      </a:r>
                      <a:r>
                        <a:rPr lang="en-US" sz="2400" dirty="0">
                          <a:solidFill>
                            <a:srgbClr val="1F1F1F"/>
                          </a:solidFill>
                          <a:effectLst/>
                          <a:latin typeface="Times New Roman" panose="02020603050405020304" pitchFamily="18" charset="0"/>
                          <a:cs typeface="Times New Roman" panose="02020603050405020304" pitchFamily="18" charset="0"/>
                        </a:rPr>
                        <a:t> </a:t>
                      </a:r>
                      <a:r>
                        <a:rPr lang="en-US" sz="2400" dirty="0" err="1">
                          <a:solidFill>
                            <a:srgbClr val="1F1F1F"/>
                          </a:solidFill>
                          <a:effectLst/>
                          <a:latin typeface="Times New Roman" panose="02020603050405020304" pitchFamily="18" charset="0"/>
                          <a:cs typeface="Times New Roman" panose="02020603050405020304" pitchFamily="18" charset="0"/>
                        </a:rPr>
                        <a:t>diện</a:t>
                      </a:r>
                      <a:r>
                        <a:rPr lang="en-US" sz="2400" dirty="0">
                          <a:solidFill>
                            <a:srgbClr val="1F1F1F"/>
                          </a:solidFill>
                          <a:effectLst/>
                          <a:latin typeface="Times New Roman" panose="02020603050405020304" pitchFamily="18" charset="0"/>
                          <a:cs typeface="Times New Roman" panose="02020603050405020304" pitchFamily="18" charset="0"/>
                        </a:rPr>
                        <a:t>.</a:t>
                      </a:r>
                    </a:p>
                  </a:txBody>
                  <a:tcPr marT="152400" marB="152400" anchor="ctr"/>
                </a:tc>
                <a:extLst>
                  <a:ext uri="{0D108BD9-81ED-4DB2-BD59-A6C34878D82A}">
                    <a16:rowId xmlns:a16="http://schemas.microsoft.com/office/drawing/2014/main" val="65035125"/>
                  </a:ext>
                </a:extLst>
              </a:tr>
            </a:tbl>
          </a:graphicData>
        </a:graphic>
      </p:graphicFrame>
      <p:sp>
        <p:nvSpPr>
          <p:cNvPr id="11" name="TextBox 10">
            <a:extLst>
              <a:ext uri="{FF2B5EF4-FFF2-40B4-BE49-F238E27FC236}">
                <a16:creationId xmlns:a16="http://schemas.microsoft.com/office/drawing/2014/main" id="{BA3BE453-F269-63AB-98DA-D60880045B27}"/>
              </a:ext>
            </a:extLst>
          </p:cNvPr>
          <p:cNvSpPr txBox="1"/>
          <p:nvPr/>
        </p:nvSpPr>
        <p:spPr>
          <a:xfrm>
            <a:off x="388797" y="5836416"/>
            <a:ext cx="8681825" cy="461665"/>
          </a:xfrm>
          <a:prstGeom prst="rect">
            <a:avLst/>
          </a:prstGeom>
          <a:noFill/>
        </p:spPr>
        <p:txBody>
          <a:bodyPr wrap="square">
            <a:spAutoFit/>
          </a:bodyPr>
          <a:lstStyle/>
          <a:p>
            <a:r>
              <a:rPr lang="en-US" sz="2400" dirty="0">
                <a:latin typeface="Cambria" panose="02040503050406030204" pitchFamily="18" charset="0"/>
                <a:ea typeface="Cambria" panose="02040503050406030204" pitchFamily="18" charset="0"/>
              </a:rPr>
              <a:t>MPA: Multi-Page Application (</a:t>
            </a:r>
            <a:r>
              <a:rPr lang="en-US" sz="2400" dirty="0" err="1">
                <a:latin typeface="Cambria" panose="02040503050406030204" pitchFamily="18" charset="0"/>
                <a:ea typeface="Cambria" panose="02040503050406030204" pitchFamily="18" charset="0"/>
              </a:rPr>
              <a:t>Ứng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dụng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đa</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trang</a:t>
            </a:r>
            <a:r>
              <a:rPr lang="en-US" sz="24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2353709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C75F83E-DBDC-EB32-1409-82A2B89C0F9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3B07668-1560-056E-60E5-28DE552C247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D32CF8F-8F4D-56C4-024A-16592C48CE9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2" name="Group 1">
            <a:extLst>
              <a:ext uri="{FF2B5EF4-FFF2-40B4-BE49-F238E27FC236}">
                <a16:creationId xmlns:a16="http://schemas.microsoft.com/office/drawing/2014/main" id="{5B1A9E34-B4B9-D848-DA9B-63F0B8AC738C}"/>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359CFE03-A1CD-D05C-80D5-9D5F4A00AACA}"/>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1.2.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Lịch sử hình thành và phát triển</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96065B2-5B84-EA10-224A-FD298956A4D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CE43BFC-31FD-CBBA-28A1-EC1F25407D8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35879E0-6A83-D3D8-4AE6-F0FB4FEFE10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095A492-FDF7-AF3E-89FE-D72CC85AE16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D917F9D-8092-BBF4-1329-BA033746F289}"/>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b="1" dirty="0" err="1">
                <a:latin typeface="Times New Roman" panose="02020603050405020304" pitchFamily="18" charset="0"/>
                <a:cs typeface="Times New Roman" panose="02020603050405020304" pitchFamily="18" charset="0"/>
              </a:rPr>
              <a:t>Các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phiên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bản</a:t>
            </a:r>
            <a:r>
              <a:rPr lang="en-US" sz="2400" b="1" dirty="0">
                <a:latin typeface="Times New Roman" panose="02020603050405020304" pitchFamily="18" charset="0"/>
                <a:cs typeface="Times New Roman" panose="02020603050405020304" pitchFamily="18" charset="0"/>
              </a:rPr>
              <a:t> Angular</a:t>
            </a:r>
            <a:endParaRPr lang="vi-VN" sz="2400" b="1"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0E4B1373-C917-573E-93D7-8ACE70D344A1}"/>
              </a:ext>
            </a:extLst>
          </p:cNvPr>
          <p:cNvGraphicFramePr>
            <a:graphicFrameLocks noGrp="1"/>
          </p:cNvGraphicFramePr>
          <p:nvPr>
            <p:extLst>
              <p:ext uri="{D42A27DB-BD31-4B8C-83A1-F6EECF244321}">
                <p14:modId xmlns:p14="http://schemas.microsoft.com/office/powerpoint/2010/main" val="4052600631"/>
              </p:ext>
            </p:extLst>
          </p:nvPr>
        </p:nvGraphicFramePr>
        <p:xfrm>
          <a:off x="728132" y="1288170"/>
          <a:ext cx="10476738" cy="5020982"/>
        </p:xfrm>
        <a:graphic>
          <a:graphicData uri="http://schemas.openxmlformats.org/drawingml/2006/table">
            <a:tbl>
              <a:tblPr/>
              <a:tblGrid>
                <a:gridCol w="1991106">
                  <a:extLst>
                    <a:ext uri="{9D8B030D-6E8A-4147-A177-3AD203B41FA5}">
                      <a16:colId xmlns:a16="http://schemas.microsoft.com/office/drawing/2014/main" val="832622168"/>
                    </a:ext>
                  </a:extLst>
                </a:gridCol>
                <a:gridCol w="2734056">
                  <a:extLst>
                    <a:ext uri="{9D8B030D-6E8A-4147-A177-3AD203B41FA5}">
                      <a16:colId xmlns:a16="http://schemas.microsoft.com/office/drawing/2014/main" val="4289340660"/>
                    </a:ext>
                  </a:extLst>
                </a:gridCol>
                <a:gridCol w="5751576">
                  <a:extLst>
                    <a:ext uri="{9D8B030D-6E8A-4147-A177-3AD203B41FA5}">
                      <a16:colId xmlns:a16="http://schemas.microsoft.com/office/drawing/2014/main" val="155123145"/>
                    </a:ext>
                  </a:extLst>
                </a:gridCol>
              </a:tblGrid>
              <a:tr h="339968">
                <a:tc>
                  <a:txBody>
                    <a:bodyPr/>
                    <a:lstStyle/>
                    <a:p>
                      <a:pPr algn="l"/>
                      <a:r>
                        <a:rPr lang="en-US" sz="2600" b="1">
                          <a:effectLst/>
                          <a:latin typeface="Cambria" panose="02040503050406030204" pitchFamily="18" charset="0"/>
                          <a:ea typeface="Cambria" panose="02040503050406030204" pitchFamily="18" charset="0"/>
                        </a:rPr>
                        <a:t>Version</a:t>
                      </a:r>
                    </a:p>
                  </a:txBody>
                  <a:tcPr>
                    <a:lnL w="9525" cap="flat" cmpd="sng" algn="ctr">
                      <a:solidFill>
                        <a:srgbClr val="F0A688"/>
                      </a:solidFill>
                      <a:prstDash val="solid"/>
                      <a:round/>
                      <a:headEnd type="none" w="med" len="med"/>
                      <a:tailEnd type="none" w="med" len="med"/>
                    </a:lnL>
                    <a:lnR w="9525" cap="flat" cmpd="sng" algn="ctr">
                      <a:solidFill>
                        <a:srgbClr val="50A388"/>
                      </a:solidFill>
                      <a:prstDash val="solid"/>
                      <a:round/>
                      <a:headEnd type="none" w="med" len="med"/>
                      <a:tailEnd type="none" w="med" len="med"/>
                    </a:lnR>
                    <a:lnT w="9525" cap="flat" cmpd="sng" algn="ctr">
                      <a:solidFill>
                        <a:srgbClr val="F0A688"/>
                      </a:solidFill>
                      <a:prstDash val="solid"/>
                      <a:round/>
                      <a:headEnd type="none" w="med" len="med"/>
                      <a:tailEnd type="none" w="med" len="med"/>
                    </a:lnT>
                    <a:lnB w="9525" cap="flat" cmpd="sng" algn="ctr">
                      <a:solidFill>
                        <a:srgbClr val="50A988"/>
                      </a:solidFill>
                      <a:prstDash val="solid"/>
                      <a:round/>
                      <a:headEnd type="none" w="med" len="med"/>
                      <a:tailEnd type="none" w="med" len="med"/>
                    </a:lnB>
                    <a:solidFill>
                      <a:srgbClr val="EEEEEE"/>
                    </a:solidFill>
                  </a:tcPr>
                </a:tc>
                <a:tc>
                  <a:txBody>
                    <a:bodyPr/>
                    <a:lstStyle/>
                    <a:p>
                      <a:pPr algn="l"/>
                      <a:r>
                        <a:rPr lang="en-US" sz="2600" b="1">
                          <a:effectLst/>
                          <a:latin typeface="Cambria" panose="02040503050406030204" pitchFamily="18" charset="0"/>
                          <a:ea typeface="Cambria" panose="02040503050406030204" pitchFamily="18" charset="0"/>
                        </a:rPr>
                        <a:t>Release Date</a:t>
                      </a:r>
                    </a:p>
                  </a:txBody>
                  <a:tcPr>
                    <a:lnL w="9525" cap="flat" cmpd="sng" algn="ctr">
                      <a:solidFill>
                        <a:srgbClr val="50A388"/>
                      </a:solidFill>
                      <a:prstDash val="solid"/>
                      <a:round/>
                      <a:headEnd type="none" w="med" len="med"/>
                      <a:tailEnd type="none" w="med" len="med"/>
                    </a:lnL>
                    <a:lnR w="9525" cap="flat" cmpd="sng" algn="ctr">
                      <a:solidFill>
                        <a:srgbClr val="70A888"/>
                      </a:solidFill>
                      <a:prstDash val="solid"/>
                      <a:round/>
                      <a:headEnd type="none" w="med" len="med"/>
                      <a:tailEnd type="none" w="med" len="med"/>
                    </a:lnR>
                    <a:lnT w="9525" cap="flat" cmpd="sng" algn="ctr">
                      <a:solidFill>
                        <a:srgbClr val="50A388"/>
                      </a:solidFill>
                      <a:prstDash val="solid"/>
                      <a:round/>
                      <a:headEnd type="none" w="med" len="med"/>
                      <a:tailEnd type="none" w="med" len="med"/>
                    </a:lnT>
                    <a:lnB w="9525" cap="flat" cmpd="sng" algn="ctr">
                      <a:solidFill>
                        <a:srgbClr val="10A988"/>
                      </a:solidFill>
                      <a:prstDash val="solid"/>
                      <a:round/>
                      <a:headEnd type="none" w="med" len="med"/>
                      <a:tailEnd type="none" w="med" len="med"/>
                    </a:lnB>
                    <a:solidFill>
                      <a:srgbClr val="EEEEEE"/>
                    </a:solidFill>
                  </a:tcPr>
                </a:tc>
                <a:tc>
                  <a:txBody>
                    <a:bodyPr/>
                    <a:lstStyle/>
                    <a:p>
                      <a:pPr algn="l"/>
                      <a:r>
                        <a:rPr lang="en-US" sz="2600" b="1" dirty="0">
                          <a:effectLst/>
                          <a:latin typeface="Cambria" panose="02040503050406030204" pitchFamily="18" charset="0"/>
                          <a:ea typeface="Cambria" panose="02040503050406030204" pitchFamily="18" charset="0"/>
                        </a:rPr>
                        <a:t>Key Highlight</a:t>
                      </a:r>
                    </a:p>
                  </a:txBody>
                  <a:tcPr>
                    <a:lnL w="9525" cap="flat" cmpd="sng" algn="ctr">
                      <a:solidFill>
                        <a:srgbClr val="70A888"/>
                      </a:solidFill>
                      <a:prstDash val="solid"/>
                      <a:round/>
                      <a:headEnd type="none" w="med" len="med"/>
                      <a:tailEnd type="none" w="med" len="med"/>
                    </a:lnL>
                    <a:lnR w="9525" cap="flat" cmpd="sng" algn="ctr">
                      <a:solidFill>
                        <a:srgbClr val="70A888"/>
                      </a:solidFill>
                      <a:prstDash val="solid"/>
                      <a:round/>
                      <a:headEnd type="none" w="med" len="med"/>
                      <a:tailEnd type="none" w="med" len="med"/>
                    </a:lnR>
                    <a:lnT w="9525" cap="flat" cmpd="sng" algn="ctr">
                      <a:solidFill>
                        <a:srgbClr val="70A888"/>
                      </a:solidFill>
                      <a:prstDash val="solid"/>
                      <a:round/>
                      <a:headEnd type="none" w="med" len="med"/>
                      <a:tailEnd type="none" w="med" len="med"/>
                    </a:lnT>
                    <a:lnB w="9525" cap="flat" cmpd="sng" algn="ctr">
                      <a:solidFill>
                        <a:srgbClr val="50B088"/>
                      </a:solidFill>
                      <a:prstDash val="solid"/>
                      <a:round/>
                      <a:headEnd type="none" w="med" len="med"/>
                      <a:tailEnd type="none" w="med" len="med"/>
                    </a:lnB>
                    <a:solidFill>
                      <a:srgbClr val="EEEEEE"/>
                    </a:solidFill>
                  </a:tcPr>
                </a:tc>
                <a:extLst>
                  <a:ext uri="{0D108BD9-81ED-4DB2-BD59-A6C34878D82A}">
                    <a16:rowId xmlns:a16="http://schemas.microsoft.com/office/drawing/2014/main" val="2222829934"/>
                  </a:ext>
                </a:extLst>
              </a:tr>
              <a:tr h="577946">
                <a:tc>
                  <a:txBody>
                    <a:bodyPr/>
                    <a:lstStyle/>
                    <a:p>
                      <a:r>
                        <a:rPr lang="en-US" sz="2600">
                          <a:effectLst/>
                          <a:latin typeface="Cambria" panose="02040503050406030204" pitchFamily="18" charset="0"/>
                          <a:ea typeface="Cambria" panose="02040503050406030204" pitchFamily="18" charset="0"/>
                        </a:rPr>
                        <a:t>Angular 21</a:t>
                      </a:r>
                    </a:p>
                  </a:txBody>
                  <a:tcPr>
                    <a:lnL w="9525" cap="flat" cmpd="sng" algn="ctr">
                      <a:solidFill>
                        <a:srgbClr val="50A988"/>
                      </a:solidFill>
                      <a:prstDash val="solid"/>
                      <a:round/>
                      <a:headEnd type="none" w="med" len="med"/>
                      <a:tailEnd type="none" w="med" len="med"/>
                    </a:lnL>
                    <a:lnR w="9525" cap="flat" cmpd="sng" algn="ctr">
                      <a:solidFill>
                        <a:srgbClr val="10A988"/>
                      </a:solidFill>
                      <a:prstDash val="solid"/>
                      <a:round/>
                      <a:headEnd type="none" w="med" len="med"/>
                      <a:tailEnd type="none" w="med" len="med"/>
                    </a:lnR>
                    <a:lnT w="9525" cap="flat" cmpd="sng" algn="ctr">
                      <a:solidFill>
                        <a:srgbClr val="50A988"/>
                      </a:solidFill>
                      <a:prstDash val="solid"/>
                      <a:round/>
                      <a:headEnd type="none" w="med" len="med"/>
                      <a:tailEnd type="none" w="med" len="med"/>
                    </a:lnT>
                    <a:lnB w="9525" cap="flat" cmpd="sng" algn="ctr">
                      <a:solidFill>
                        <a:srgbClr val="50AA88"/>
                      </a:solidFill>
                      <a:prstDash val="solid"/>
                      <a:round/>
                      <a:headEnd type="none" w="med" len="med"/>
                      <a:tailEnd type="none" w="med" len="med"/>
                    </a:lnB>
                    <a:solidFill>
                      <a:srgbClr val="FFFFFF"/>
                    </a:solidFill>
                  </a:tcPr>
                </a:tc>
                <a:tc>
                  <a:txBody>
                    <a:bodyPr/>
                    <a:lstStyle/>
                    <a:p>
                      <a:r>
                        <a:rPr lang="en-US" sz="2600">
                          <a:effectLst/>
                          <a:latin typeface="Cambria" panose="02040503050406030204" pitchFamily="18" charset="0"/>
                          <a:ea typeface="Cambria" panose="02040503050406030204" pitchFamily="18" charset="0"/>
                        </a:rPr>
                        <a:t>Nov 2025</a:t>
                      </a:r>
                    </a:p>
                  </a:txBody>
                  <a:tcPr>
                    <a:lnL w="9525" cap="flat" cmpd="sng" algn="ctr">
                      <a:solidFill>
                        <a:srgbClr val="10A988"/>
                      </a:solidFill>
                      <a:prstDash val="solid"/>
                      <a:round/>
                      <a:headEnd type="none" w="med" len="med"/>
                      <a:tailEnd type="none" w="med" len="med"/>
                    </a:lnL>
                    <a:lnR w="9525" cap="flat" cmpd="sng" algn="ctr">
                      <a:solidFill>
                        <a:srgbClr val="50B088"/>
                      </a:solidFill>
                      <a:prstDash val="solid"/>
                      <a:round/>
                      <a:headEnd type="none" w="med" len="med"/>
                      <a:tailEnd type="none" w="med" len="med"/>
                    </a:lnR>
                    <a:lnT w="9525" cap="flat" cmpd="sng" algn="ctr">
                      <a:solidFill>
                        <a:srgbClr val="10A988"/>
                      </a:solidFill>
                      <a:prstDash val="solid"/>
                      <a:round/>
                      <a:headEnd type="none" w="med" len="med"/>
                      <a:tailEnd type="none" w="med" len="med"/>
                    </a:lnT>
                    <a:lnB w="9525" cap="flat" cmpd="sng" algn="ctr">
                      <a:solidFill>
                        <a:srgbClr val="90AC88"/>
                      </a:solidFill>
                      <a:prstDash val="solid"/>
                      <a:round/>
                      <a:headEnd type="none" w="med" len="med"/>
                      <a:tailEnd type="none" w="med" len="med"/>
                    </a:lnB>
                    <a:solidFill>
                      <a:srgbClr val="FFFFFF"/>
                    </a:solidFill>
                  </a:tcPr>
                </a:tc>
                <a:tc>
                  <a:txBody>
                    <a:bodyPr/>
                    <a:lstStyle/>
                    <a:p>
                      <a:r>
                        <a:rPr lang="en-US" sz="2600" dirty="0">
                          <a:effectLst/>
                          <a:latin typeface="Cambria" panose="02040503050406030204" pitchFamily="18" charset="0"/>
                          <a:ea typeface="Cambria" panose="02040503050406030204" pitchFamily="18" charset="0"/>
                        </a:rPr>
                        <a:t>AI Agents Integration, </a:t>
                      </a:r>
                      <a:r>
                        <a:rPr lang="en-US" sz="2600" dirty="0" err="1">
                          <a:effectLst/>
                          <a:latin typeface="Cambria" panose="02040503050406030204" pitchFamily="18" charset="0"/>
                          <a:ea typeface="Cambria" panose="02040503050406030204" pitchFamily="18" charset="0"/>
                        </a:rPr>
                        <a:t>Vitest</a:t>
                      </a:r>
                      <a:r>
                        <a:rPr lang="en-US" sz="2600" dirty="0">
                          <a:effectLst/>
                          <a:latin typeface="Cambria" panose="02040503050406030204" pitchFamily="18" charset="0"/>
                          <a:ea typeface="Cambria" panose="02040503050406030204" pitchFamily="18" charset="0"/>
                        </a:rPr>
                        <a:t> as Default</a:t>
                      </a:r>
                    </a:p>
                  </a:txBody>
                  <a:tcPr>
                    <a:lnL w="9525" cap="flat" cmpd="sng" algn="ctr">
                      <a:solidFill>
                        <a:srgbClr val="50B088"/>
                      </a:solidFill>
                      <a:prstDash val="solid"/>
                      <a:round/>
                      <a:headEnd type="none" w="med" len="med"/>
                      <a:tailEnd type="none" w="med" len="med"/>
                    </a:lnL>
                    <a:lnR w="9525" cap="flat" cmpd="sng" algn="ctr">
                      <a:solidFill>
                        <a:srgbClr val="50B088"/>
                      </a:solidFill>
                      <a:prstDash val="solid"/>
                      <a:round/>
                      <a:headEnd type="none" w="med" len="med"/>
                      <a:tailEnd type="none" w="med" len="med"/>
                    </a:lnR>
                    <a:lnT w="9525" cap="flat" cmpd="sng" algn="ctr">
                      <a:solidFill>
                        <a:srgbClr val="50B088"/>
                      </a:solidFill>
                      <a:prstDash val="solid"/>
                      <a:round/>
                      <a:headEnd type="none" w="med" len="med"/>
                      <a:tailEnd type="none" w="med" len="med"/>
                    </a:lnT>
                    <a:lnB w="9525" cap="flat" cmpd="sng" algn="ctr">
                      <a:solidFill>
                        <a:srgbClr val="10AB88"/>
                      </a:solidFill>
                      <a:prstDash val="solid"/>
                      <a:round/>
                      <a:headEnd type="none" w="med" len="med"/>
                      <a:tailEnd type="none" w="med" len="med"/>
                    </a:lnB>
                    <a:solidFill>
                      <a:srgbClr val="FFFFFF"/>
                    </a:solidFill>
                  </a:tcPr>
                </a:tc>
                <a:extLst>
                  <a:ext uri="{0D108BD9-81ED-4DB2-BD59-A6C34878D82A}">
                    <a16:rowId xmlns:a16="http://schemas.microsoft.com/office/drawing/2014/main" val="1535076001"/>
                  </a:ext>
                </a:extLst>
              </a:tr>
              <a:tr h="339968">
                <a:tc>
                  <a:txBody>
                    <a:bodyPr/>
                    <a:lstStyle/>
                    <a:p>
                      <a:r>
                        <a:rPr lang="en-US" sz="2600">
                          <a:effectLst/>
                          <a:latin typeface="Cambria" panose="02040503050406030204" pitchFamily="18" charset="0"/>
                          <a:ea typeface="Cambria" panose="02040503050406030204" pitchFamily="18" charset="0"/>
                        </a:rPr>
                        <a:t>Angular 20</a:t>
                      </a:r>
                    </a:p>
                  </a:txBody>
                  <a:tcPr>
                    <a:lnL w="9525" cap="flat" cmpd="sng" algn="ctr">
                      <a:solidFill>
                        <a:srgbClr val="50AA88"/>
                      </a:solidFill>
                      <a:prstDash val="solid"/>
                      <a:round/>
                      <a:headEnd type="none" w="med" len="med"/>
                      <a:tailEnd type="none" w="med" len="med"/>
                    </a:lnL>
                    <a:lnR w="9525" cap="flat" cmpd="sng" algn="ctr">
                      <a:solidFill>
                        <a:srgbClr val="90AC88"/>
                      </a:solidFill>
                      <a:prstDash val="solid"/>
                      <a:round/>
                      <a:headEnd type="none" w="med" len="med"/>
                      <a:tailEnd type="none" w="med" len="med"/>
                    </a:lnR>
                    <a:lnT w="9525" cap="flat" cmpd="sng" algn="ctr">
                      <a:solidFill>
                        <a:srgbClr val="50AA88"/>
                      </a:solidFill>
                      <a:prstDash val="solid"/>
                      <a:round/>
                      <a:headEnd type="none" w="med" len="med"/>
                      <a:tailEnd type="none" w="med" len="med"/>
                    </a:lnT>
                    <a:lnB w="9525" cap="flat" cmpd="sng" algn="ctr">
                      <a:solidFill>
                        <a:srgbClr val="10AB88"/>
                      </a:solidFill>
                      <a:prstDash val="solid"/>
                      <a:round/>
                      <a:headEnd type="none" w="med" len="med"/>
                      <a:tailEnd type="none" w="med" len="med"/>
                    </a:lnB>
                    <a:solidFill>
                      <a:srgbClr val="FFFFFF"/>
                    </a:solidFill>
                  </a:tcPr>
                </a:tc>
                <a:tc>
                  <a:txBody>
                    <a:bodyPr/>
                    <a:lstStyle/>
                    <a:p>
                      <a:r>
                        <a:rPr lang="en-US" sz="2600">
                          <a:effectLst/>
                          <a:latin typeface="Cambria" panose="02040503050406030204" pitchFamily="18" charset="0"/>
                          <a:ea typeface="Cambria" panose="02040503050406030204" pitchFamily="18" charset="0"/>
                        </a:rPr>
                        <a:t>May 2025</a:t>
                      </a:r>
                    </a:p>
                  </a:txBody>
                  <a:tcPr>
                    <a:lnL w="9525" cap="flat" cmpd="sng" algn="ctr">
                      <a:solidFill>
                        <a:srgbClr val="90AC88"/>
                      </a:solidFill>
                      <a:prstDash val="solid"/>
                      <a:round/>
                      <a:headEnd type="none" w="med" len="med"/>
                      <a:tailEnd type="none" w="med" len="med"/>
                    </a:lnL>
                    <a:lnR w="9525" cap="flat" cmpd="sng" algn="ctr">
                      <a:solidFill>
                        <a:srgbClr val="10AB88"/>
                      </a:solidFill>
                      <a:prstDash val="solid"/>
                      <a:round/>
                      <a:headEnd type="none" w="med" len="med"/>
                      <a:tailEnd type="none" w="med" len="med"/>
                    </a:lnR>
                    <a:lnT w="9525" cap="flat" cmpd="sng" algn="ctr">
                      <a:solidFill>
                        <a:srgbClr val="90AC88"/>
                      </a:solidFill>
                      <a:prstDash val="solid"/>
                      <a:round/>
                      <a:headEnd type="none" w="med" len="med"/>
                      <a:tailEnd type="none" w="med" len="med"/>
                    </a:lnT>
                    <a:lnB w="9525" cap="flat" cmpd="sng" algn="ctr">
                      <a:solidFill>
                        <a:srgbClr val="D0AC88"/>
                      </a:solidFill>
                      <a:prstDash val="solid"/>
                      <a:round/>
                      <a:headEnd type="none" w="med" len="med"/>
                      <a:tailEnd type="none" w="med" len="med"/>
                    </a:lnB>
                    <a:solidFill>
                      <a:srgbClr val="FFFFFF"/>
                    </a:solidFill>
                  </a:tcPr>
                </a:tc>
                <a:tc>
                  <a:txBody>
                    <a:bodyPr/>
                    <a:lstStyle/>
                    <a:p>
                      <a:r>
                        <a:rPr lang="en-US" sz="2600">
                          <a:effectLst/>
                          <a:latin typeface="Cambria" panose="02040503050406030204" pitchFamily="18" charset="0"/>
                          <a:ea typeface="Cambria" panose="02040503050406030204" pitchFamily="18" charset="0"/>
                        </a:rPr>
                        <a:t>Stable Zoneless, Signal Forms</a:t>
                      </a:r>
                    </a:p>
                  </a:txBody>
                  <a:tcPr>
                    <a:lnL w="9525" cap="flat" cmpd="sng" algn="ctr">
                      <a:solidFill>
                        <a:srgbClr val="10AB88"/>
                      </a:solidFill>
                      <a:prstDash val="solid"/>
                      <a:round/>
                      <a:headEnd type="none" w="med" len="med"/>
                      <a:tailEnd type="none" w="med" len="med"/>
                    </a:lnL>
                    <a:lnR w="9525" cap="flat" cmpd="sng" algn="ctr">
                      <a:solidFill>
                        <a:srgbClr val="10AB88"/>
                      </a:solidFill>
                      <a:prstDash val="solid"/>
                      <a:round/>
                      <a:headEnd type="none" w="med" len="med"/>
                      <a:tailEnd type="none" w="med" len="med"/>
                    </a:lnR>
                    <a:lnT w="9525" cap="flat" cmpd="sng" algn="ctr">
                      <a:solidFill>
                        <a:srgbClr val="10AB88"/>
                      </a:solidFill>
                      <a:prstDash val="solid"/>
                      <a:round/>
                      <a:headEnd type="none" w="med" len="med"/>
                      <a:tailEnd type="none" w="med" len="med"/>
                    </a:lnT>
                    <a:lnB w="9525" cap="flat" cmpd="sng" algn="ctr">
                      <a:solidFill>
                        <a:srgbClr val="D0AE88"/>
                      </a:solidFill>
                      <a:prstDash val="solid"/>
                      <a:round/>
                      <a:headEnd type="none" w="med" len="med"/>
                      <a:tailEnd type="none" w="med" len="med"/>
                    </a:lnB>
                    <a:solidFill>
                      <a:srgbClr val="FFFFFF"/>
                    </a:solidFill>
                  </a:tcPr>
                </a:tc>
                <a:extLst>
                  <a:ext uri="{0D108BD9-81ED-4DB2-BD59-A6C34878D82A}">
                    <a16:rowId xmlns:a16="http://schemas.microsoft.com/office/drawing/2014/main" val="2640315653"/>
                  </a:ext>
                </a:extLst>
              </a:tr>
              <a:tr h="577946">
                <a:tc>
                  <a:txBody>
                    <a:bodyPr/>
                    <a:lstStyle/>
                    <a:p>
                      <a:r>
                        <a:rPr lang="en-US" sz="2600">
                          <a:effectLst/>
                          <a:latin typeface="Cambria" panose="02040503050406030204" pitchFamily="18" charset="0"/>
                          <a:ea typeface="Cambria" panose="02040503050406030204" pitchFamily="18" charset="0"/>
                        </a:rPr>
                        <a:t>Angular 19</a:t>
                      </a:r>
                    </a:p>
                  </a:txBody>
                  <a:tcPr>
                    <a:lnL w="9525" cap="flat" cmpd="sng" algn="ctr">
                      <a:solidFill>
                        <a:srgbClr val="10AB88"/>
                      </a:solidFill>
                      <a:prstDash val="solid"/>
                      <a:round/>
                      <a:headEnd type="none" w="med" len="med"/>
                      <a:tailEnd type="none" w="med" len="med"/>
                    </a:lnL>
                    <a:lnR w="9525" cap="flat" cmpd="sng" algn="ctr">
                      <a:solidFill>
                        <a:srgbClr val="D0AC88"/>
                      </a:solidFill>
                      <a:prstDash val="solid"/>
                      <a:round/>
                      <a:headEnd type="none" w="med" len="med"/>
                      <a:tailEnd type="none" w="med" len="med"/>
                    </a:lnR>
                    <a:lnT w="9525" cap="flat" cmpd="sng" algn="ctr">
                      <a:solidFill>
                        <a:srgbClr val="10AB88"/>
                      </a:solidFill>
                      <a:prstDash val="solid"/>
                      <a:round/>
                      <a:headEnd type="none" w="med" len="med"/>
                      <a:tailEnd type="none" w="med" len="med"/>
                    </a:lnT>
                    <a:lnB w="9525" cap="flat" cmpd="sng" algn="ctr">
                      <a:solidFill>
                        <a:srgbClr val="D0AF88"/>
                      </a:solidFill>
                      <a:prstDash val="solid"/>
                      <a:round/>
                      <a:headEnd type="none" w="med" len="med"/>
                      <a:tailEnd type="none" w="med" len="med"/>
                    </a:lnB>
                    <a:solidFill>
                      <a:srgbClr val="FFFFFF"/>
                    </a:solidFill>
                  </a:tcPr>
                </a:tc>
                <a:tc>
                  <a:txBody>
                    <a:bodyPr/>
                    <a:lstStyle/>
                    <a:p>
                      <a:r>
                        <a:rPr lang="en-US" sz="2600">
                          <a:effectLst/>
                          <a:latin typeface="Cambria" panose="02040503050406030204" pitchFamily="18" charset="0"/>
                          <a:ea typeface="Cambria" panose="02040503050406030204" pitchFamily="18" charset="0"/>
                        </a:rPr>
                        <a:t>Nov 2024</a:t>
                      </a:r>
                    </a:p>
                  </a:txBody>
                  <a:tcPr>
                    <a:lnL w="9525" cap="flat" cmpd="sng" algn="ctr">
                      <a:solidFill>
                        <a:srgbClr val="D0AC88"/>
                      </a:solidFill>
                      <a:prstDash val="solid"/>
                      <a:round/>
                      <a:headEnd type="none" w="med" len="med"/>
                      <a:tailEnd type="none" w="med" len="med"/>
                    </a:lnL>
                    <a:lnR w="9525" cap="flat" cmpd="sng" algn="ctr">
                      <a:solidFill>
                        <a:srgbClr val="D0AE88"/>
                      </a:solidFill>
                      <a:prstDash val="solid"/>
                      <a:round/>
                      <a:headEnd type="none" w="med" len="med"/>
                      <a:tailEnd type="none" w="med" len="med"/>
                    </a:lnR>
                    <a:lnT w="9525" cap="flat" cmpd="sng" algn="ctr">
                      <a:solidFill>
                        <a:srgbClr val="D0AC88"/>
                      </a:solidFill>
                      <a:prstDash val="solid"/>
                      <a:round/>
                      <a:headEnd type="none" w="med" len="med"/>
                      <a:tailEnd type="none" w="med" len="med"/>
                    </a:lnT>
                    <a:lnB w="9525" cap="flat" cmpd="sng" algn="ctr">
                      <a:solidFill>
                        <a:srgbClr val="70C788"/>
                      </a:solidFill>
                      <a:prstDash val="solid"/>
                      <a:round/>
                      <a:headEnd type="none" w="med" len="med"/>
                      <a:tailEnd type="none" w="med" len="med"/>
                    </a:lnB>
                    <a:solidFill>
                      <a:srgbClr val="FFFFFF"/>
                    </a:solidFill>
                  </a:tcPr>
                </a:tc>
                <a:tc>
                  <a:txBody>
                    <a:bodyPr/>
                    <a:lstStyle/>
                    <a:p>
                      <a:r>
                        <a:rPr lang="en-US" sz="2600">
                          <a:effectLst/>
                          <a:latin typeface="Cambria" panose="02040503050406030204" pitchFamily="18" charset="0"/>
                          <a:ea typeface="Cambria" panose="02040503050406030204" pitchFamily="18" charset="0"/>
                        </a:rPr>
                        <a:t>Incremental Hydration, Linked Signals</a:t>
                      </a:r>
                    </a:p>
                  </a:txBody>
                  <a:tcPr>
                    <a:lnL w="9525" cap="flat" cmpd="sng" algn="ctr">
                      <a:solidFill>
                        <a:srgbClr val="D0AE88"/>
                      </a:solidFill>
                      <a:prstDash val="solid"/>
                      <a:round/>
                      <a:headEnd type="none" w="med" len="med"/>
                      <a:tailEnd type="none" w="med" len="med"/>
                    </a:lnL>
                    <a:lnR w="9525" cap="flat" cmpd="sng" algn="ctr">
                      <a:solidFill>
                        <a:srgbClr val="D0AE88"/>
                      </a:solidFill>
                      <a:prstDash val="solid"/>
                      <a:round/>
                      <a:headEnd type="none" w="med" len="med"/>
                      <a:tailEnd type="none" w="med" len="med"/>
                    </a:lnR>
                    <a:lnT w="9525" cap="flat" cmpd="sng" algn="ctr">
                      <a:solidFill>
                        <a:srgbClr val="D0AE88"/>
                      </a:solidFill>
                      <a:prstDash val="solid"/>
                      <a:round/>
                      <a:headEnd type="none" w="med" len="med"/>
                      <a:tailEnd type="none" w="med" len="med"/>
                    </a:lnT>
                    <a:lnB w="9525" cap="flat" cmpd="sng" algn="ctr">
                      <a:solidFill>
                        <a:srgbClr val="D0C988"/>
                      </a:solidFill>
                      <a:prstDash val="solid"/>
                      <a:round/>
                      <a:headEnd type="none" w="med" len="med"/>
                      <a:tailEnd type="none" w="med" len="med"/>
                    </a:lnB>
                    <a:solidFill>
                      <a:srgbClr val="FFFFFF"/>
                    </a:solidFill>
                  </a:tcPr>
                </a:tc>
                <a:extLst>
                  <a:ext uri="{0D108BD9-81ED-4DB2-BD59-A6C34878D82A}">
                    <a16:rowId xmlns:a16="http://schemas.microsoft.com/office/drawing/2014/main" val="262493433"/>
                  </a:ext>
                </a:extLst>
              </a:tr>
              <a:tr h="577946">
                <a:tc>
                  <a:txBody>
                    <a:bodyPr/>
                    <a:lstStyle/>
                    <a:p>
                      <a:r>
                        <a:rPr lang="en-US" sz="2600" dirty="0">
                          <a:effectLst/>
                          <a:latin typeface="Cambria" panose="02040503050406030204" pitchFamily="18" charset="0"/>
                          <a:ea typeface="Cambria" panose="02040503050406030204" pitchFamily="18" charset="0"/>
                        </a:rPr>
                        <a:t>Angular 18</a:t>
                      </a:r>
                    </a:p>
                  </a:txBody>
                  <a:tcPr>
                    <a:lnL w="9525" cap="flat" cmpd="sng" algn="ctr">
                      <a:solidFill>
                        <a:srgbClr val="D0AF88"/>
                      </a:solidFill>
                      <a:prstDash val="solid"/>
                      <a:round/>
                      <a:headEnd type="none" w="med" len="med"/>
                      <a:tailEnd type="none" w="med" len="med"/>
                    </a:lnL>
                    <a:lnR w="9525" cap="flat" cmpd="sng" algn="ctr">
                      <a:solidFill>
                        <a:srgbClr val="70C788"/>
                      </a:solidFill>
                      <a:prstDash val="solid"/>
                      <a:round/>
                      <a:headEnd type="none" w="med" len="med"/>
                      <a:tailEnd type="none" w="med" len="med"/>
                    </a:lnR>
                    <a:lnT w="9525" cap="flat" cmpd="sng" algn="ctr">
                      <a:solidFill>
                        <a:srgbClr val="D0AF88"/>
                      </a:solidFill>
                      <a:prstDash val="solid"/>
                      <a:round/>
                      <a:headEnd type="none" w="med" len="med"/>
                      <a:tailEnd type="none" w="med" len="med"/>
                    </a:lnT>
                    <a:lnB w="9525" cap="flat" cmpd="sng" algn="ctr">
                      <a:solidFill>
                        <a:srgbClr val="50C488"/>
                      </a:solidFill>
                      <a:prstDash val="solid"/>
                      <a:round/>
                      <a:headEnd type="none" w="med" len="med"/>
                      <a:tailEnd type="none" w="med" len="med"/>
                    </a:lnB>
                    <a:solidFill>
                      <a:srgbClr val="FFFFFF"/>
                    </a:solidFill>
                  </a:tcPr>
                </a:tc>
                <a:tc>
                  <a:txBody>
                    <a:bodyPr/>
                    <a:lstStyle/>
                    <a:p>
                      <a:r>
                        <a:rPr lang="en-US" sz="2600">
                          <a:effectLst/>
                          <a:latin typeface="Cambria" panose="02040503050406030204" pitchFamily="18" charset="0"/>
                          <a:ea typeface="Cambria" panose="02040503050406030204" pitchFamily="18" charset="0"/>
                        </a:rPr>
                        <a:t>May 2024</a:t>
                      </a:r>
                    </a:p>
                  </a:txBody>
                  <a:tcPr>
                    <a:lnL w="9525" cap="flat" cmpd="sng" algn="ctr">
                      <a:solidFill>
                        <a:srgbClr val="70C788"/>
                      </a:solidFill>
                      <a:prstDash val="solid"/>
                      <a:round/>
                      <a:headEnd type="none" w="med" len="med"/>
                      <a:tailEnd type="none" w="med" len="med"/>
                    </a:lnL>
                    <a:lnR w="9525" cap="flat" cmpd="sng" algn="ctr">
                      <a:solidFill>
                        <a:srgbClr val="D0C988"/>
                      </a:solidFill>
                      <a:prstDash val="solid"/>
                      <a:round/>
                      <a:headEnd type="none" w="med" len="med"/>
                      <a:tailEnd type="none" w="med" len="med"/>
                    </a:lnR>
                    <a:lnT w="9525" cap="flat" cmpd="sng" algn="ctr">
                      <a:solidFill>
                        <a:srgbClr val="70C788"/>
                      </a:solidFill>
                      <a:prstDash val="solid"/>
                      <a:round/>
                      <a:headEnd type="none" w="med" len="med"/>
                      <a:tailEnd type="none" w="med" len="med"/>
                    </a:lnT>
                    <a:lnB w="9525" cap="flat" cmpd="sng" algn="ctr">
                      <a:solidFill>
                        <a:srgbClr val="D0C688"/>
                      </a:solidFill>
                      <a:prstDash val="solid"/>
                      <a:round/>
                      <a:headEnd type="none" w="med" len="med"/>
                      <a:tailEnd type="none" w="med" len="med"/>
                    </a:lnB>
                    <a:solidFill>
                      <a:srgbClr val="FFFFFF"/>
                    </a:solidFill>
                  </a:tcPr>
                </a:tc>
                <a:tc>
                  <a:txBody>
                    <a:bodyPr/>
                    <a:lstStyle/>
                    <a:p>
                      <a:r>
                        <a:rPr lang="en-US" sz="2600">
                          <a:effectLst/>
                          <a:latin typeface="Cambria" panose="02040503050406030204" pitchFamily="18" charset="0"/>
                          <a:ea typeface="Cambria" panose="02040503050406030204" pitchFamily="18" charset="0"/>
                        </a:rPr>
                        <a:t>Experimental Zoneless, Material 3</a:t>
                      </a:r>
                    </a:p>
                  </a:txBody>
                  <a:tcPr>
                    <a:lnL w="9525" cap="flat" cmpd="sng" algn="ctr">
                      <a:solidFill>
                        <a:srgbClr val="D0C988"/>
                      </a:solidFill>
                      <a:prstDash val="solid"/>
                      <a:round/>
                      <a:headEnd type="none" w="med" len="med"/>
                      <a:tailEnd type="none" w="med" len="med"/>
                    </a:lnL>
                    <a:lnR w="9525" cap="flat" cmpd="sng" algn="ctr">
                      <a:solidFill>
                        <a:srgbClr val="D0C988"/>
                      </a:solidFill>
                      <a:prstDash val="solid"/>
                      <a:round/>
                      <a:headEnd type="none" w="med" len="med"/>
                      <a:tailEnd type="none" w="med" len="med"/>
                    </a:lnR>
                    <a:lnT w="9525" cap="flat" cmpd="sng" algn="ctr">
                      <a:solidFill>
                        <a:srgbClr val="D0C988"/>
                      </a:solidFill>
                      <a:prstDash val="solid"/>
                      <a:round/>
                      <a:headEnd type="none" w="med" len="med"/>
                      <a:tailEnd type="none" w="med" len="med"/>
                    </a:lnT>
                    <a:lnB w="9525" cap="flat" cmpd="sng" algn="ctr">
                      <a:solidFill>
                        <a:srgbClr val="50C288"/>
                      </a:solidFill>
                      <a:prstDash val="solid"/>
                      <a:round/>
                      <a:headEnd type="none" w="med" len="med"/>
                      <a:tailEnd type="none" w="med" len="med"/>
                    </a:lnB>
                    <a:solidFill>
                      <a:srgbClr val="FFFFFF"/>
                    </a:solidFill>
                  </a:tcPr>
                </a:tc>
                <a:extLst>
                  <a:ext uri="{0D108BD9-81ED-4DB2-BD59-A6C34878D82A}">
                    <a16:rowId xmlns:a16="http://schemas.microsoft.com/office/drawing/2014/main" val="641413165"/>
                  </a:ext>
                </a:extLst>
              </a:tr>
              <a:tr h="577946">
                <a:tc>
                  <a:txBody>
                    <a:bodyPr/>
                    <a:lstStyle/>
                    <a:p>
                      <a:r>
                        <a:rPr lang="en-US" sz="2600" dirty="0">
                          <a:effectLst/>
                          <a:latin typeface="Cambria" panose="02040503050406030204" pitchFamily="18" charset="0"/>
                          <a:ea typeface="Cambria" panose="02040503050406030204" pitchFamily="18" charset="0"/>
                        </a:rPr>
                        <a:t>Angular 17</a:t>
                      </a:r>
                    </a:p>
                  </a:txBody>
                  <a:tcPr>
                    <a:lnL w="9525" cap="flat" cmpd="sng" algn="ctr">
                      <a:solidFill>
                        <a:srgbClr val="50C488"/>
                      </a:solidFill>
                      <a:prstDash val="solid"/>
                      <a:round/>
                      <a:headEnd type="none" w="med" len="med"/>
                      <a:tailEnd type="none" w="med" len="med"/>
                    </a:lnL>
                    <a:lnR w="9525" cap="flat" cmpd="sng" algn="ctr">
                      <a:solidFill>
                        <a:srgbClr val="D0C688"/>
                      </a:solidFill>
                      <a:prstDash val="solid"/>
                      <a:round/>
                      <a:headEnd type="none" w="med" len="med"/>
                      <a:tailEnd type="none" w="med" len="med"/>
                    </a:lnR>
                    <a:lnT w="9525" cap="flat" cmpd="sng" algn="ctr">
                      <a:solidFill>
                        <a:srgbClr val="50C488"/>
                      </a:solidFill>
                      <a:prstDash val="solid"/>
                      <a:round/>
                      <a:headEnd type="none" w="med" len="med"/>
                      <a:tailEnd type="none" w="med" len="med"/>
                    </a:lnT>
                    <a:lnB w="9525" cap="flat" cmpd="sng" algn="ctr">
                      <a:solidFill>
                        <a:srgbClr val="90CC88"/>
                      </a:solidFill>
                      <a:prstDash val="solid"/>
                      <a:round/>
                      <a:headEnd type="none" w="med" len="med"/>
                      <a:tailEnd type="none" w="med" len="med"/>
                    </a:lnB>
                    <a:solidFill>
                      <a:srgbClr val="FFFFFF"/>
                    </a:solidFill>
                  </a:tcPr>
                </a:tc>
                <a:tc>
                  <a:txBody>
                    <a:bodyPr/>
                    <a:lstStyle/>
                    <a:p>
                      <a:r>
                        <a:rPr lang="en-US" sz="2600" dirty="0">
                          <a:effectLst/>
                          <a:latin typeface="Cambria" panose="02040503050406030204" pitchFamily="18" charset="0"/>
                          <a:ea typeface="Cambria" panose="02040503050406030204" pitchFamily="18" charset="0"/>
                        </a:rPr>
                        <a:t>Nov 2023</a:t>
                      </a:r>
                    </a:p>
                  </a:txBody>
                  <a:tcPr>
                    <a:lnL w="9525" cap="flat" cmpd="sng" algn="ctr">
                      <a:solidFill>
                        <a:srgbClr val="D0C688"/>
                      </a:solidFill>
                      <a:prstDash val="solid"/>
                      <a:round/>
                      <a:headEnd type="none" w="med" len="med"/>
                      <a:tailEnd type="none" w="med" len="med"/>
                    </a:lnL>
                    <a:lnR w="9525" cap="flat" cmpd="sng" algn="ctr">
                      <a:solidFill>
                        <a:srgbClr val="50C288"/>
                      </a:solidFill>
                      <a:prstDash val="solid"/>
                      <a:round/>
                      <a:headEnd type="none" w="med" len="med"/>
                      <a:tailEnd type="none" w="med" len="med"/>
                    </a:lnR>
                    <a:lnT w="9525" cap="flat" cmpd="sng" algn="ctr">
                      <a:solidFill>
                        <a:srgbClr val="D0C688"/>
                      </a:solidFill>
                      <a:prstDash val="solid"/>
                      <a:round/>
                      <a:headEnd type="none" w="med" len="med"/>
                      <a:tailEnd type="none" w="med" len="med"/>
                    </a:lnT>
                    <a:lnB w="9525" cap="flat" cmpd="sng" algn="ctr">
                      <a:solidFill>
                        <a:srgbClr val="F0CA88"/>
                      </a:solidFill>
                      <a:prstDash val="solid"/>
                      <a:round/>
                      <a:headEnd type="none" w="med" len="med"/>
                      <a:tailEnd type="none" w="med" len="med"/>
                    </a:lnB>
                    <a:solidFill>
                      <a:srgbClr val="FFFFFF"/>
                    </a:solidFill>
                  </a:tcPr>
                </a:tc>
                <a:tc>
                  <a:txBody>
                    <a:bodyPr/>
                    <a:lstStyle/>
                    <a:p>
                      <a:r>
                        <a:rPr lang="en-US" sz="2600">
                          <a:effectLst/>
                          <a:latin typeface="Cambria" panose="02040503050406030204" pitchFamily="18" charset="0"/>
                          <a:ea typeface="Cambria" panose="02040503050406030204" pitchFamily="18" charset="0"/>
                        </a:rPr>
                        <a:t>Deferrable Views, New Control Flow</a:t>
                      </a:r>
                    </a:p>
                  </a:txBody>
                  <a:tcPr>
                    <a:lnL w="9525" cap="flat" cmpd="sng" algn="ctr">
                      <a:solidFill>
                        <a:srgbClr val="50C288"/>
                      </a:solidFill>
                      <a:prstDash val="solid"/>
                      <a:round/>
                      <a:headEnd type="none" w="med" len="med"/>
                      <a:tailEnd type="none" w="med" len="med"/>
                    </a:lnL>
                    <a:lnR w="9525" cap="flat" cmpd="sng" algn="ctr">
                      <a:solidFill>
                        <a:srgbClr val="50C288"/>
                      </a:solidFill>
                      <a:prstDash val="solid"/>
                      <a:round/>
                      <a:headEnd type="none" w="med" len="med"/>
                      <a:tailEnd type="none" w="med" len="med"/>
                    </a:lnR>
                    <a:lnT w="9525" cap="flat" cmpd="sng" algn="ctr">
                      <a:solidFill>
                        <a:srgbClr val="50C288"/>
                      </a:solidFill>
                      <a:prstDash val="solid"/>
                      <a:round/>
                      <a:headEnd type="none" w="med" len="med"/>
                      <a:tailEnd type="none" w="med" len="med"/>
                    </a:lnT>
                    <a:lnB w="9525" cap="flat" cmpd="sng" algn="ctr">
                      <a:solidFill>
                        <a:srgbClr val="30CF88"/>
                      </a:solidFill>
                      <a:prstDash val="solid"/>
                      <a:round/>
                      <a:headEnd type="none" w="med" len="med"/>
                      <a:tailEnd type="none" w="med" len="med"/>
                    </a:lnB>
                    <a:solidFill>
                      <a:srgbClr val="FFFFFF"/>
                    </a:solidFill>
                  </a:tcPr>
                </a:tc>
                <a:extLst>
                  <a:ext uri="{0D108BD9-81ED-4DB2-BD59-A6C34878D82A}">
                    <a16:rowId xmlns:a16="http://schemas.microsoft.com/office/drawing/2014/main" val="3428274729"/>
                  </a:ext>
                </a:extLst>
              </a:tr>
              <a:tr h="577946">
                <a:tc>
                  <a:txBody>
                    <a:bodyPr/>
                    <a:lstStyle/>
                    <a:p>
                      <a:r>
                        <a:rPr lang="en-US" sz="2600" dirty="0">
                          <a:effectLst/>
                          <a:latin typeface="Cambria" panose="02040503050406030204" pitchFamily="18" charset="0"/>
                          <a:ea typeface="Cambria" panose="02040503050406030204" pitchFamily="18" charset="0"/>
                        </a:rPr>
                        <a:t>Angular 16</a:t>
                      </a:r>
                    </a:p>
                  </a:txBody>
                  <a:tcPr>
                    <a:lnL w="9525" cap="flat" cmpd="sng" algn="ctr">
                      <a:solidFill>
                        <a:srgbClr val="90CC88"/>
                      </a:solidFill>
                      <a:prstDash val="solid"/>
                      <a:round/>
                      <a:headEnd type="none" w="med" len="med"/>
                      <a:tailEnd type="none" w="med" len="med"/>
                    </a:lnL>
                    <a:lnR w="9525" cap="flat" cmpd="sng" algn="ctr">
                      <a:solidFill>
                        <a:srgbClr val="F0CA88"/>
                      </a:solidFill>
                      <a:prstDash val="solid"/>
                      <a:round/>
                      <a:headEnd type="none" w="med" len="med"/>
                      <a:tailEnd type="none" w="med" len="med"/>
                    </a:lnR>
                    <a:lnT w="9525" cap="flat" cmpd="sng" algn="ctr">
                      <a:solidFill>
                        <a:srgbClr val="90CC88"/>
                      </a:solidFill>
                      <a:prstDash val="solid"/>
                      <a:round/>
                      <a:headEnd type="none" w="med" len="med"/>
                      <a:tailEnd type="none" w="med" len="med"/>
                    </a:lnT>
                    <a:lnB w="9525" cap="flat" cmpd="sng" algn="ctr">
                      <a:solidFill>
                        <a:srgbClr val="90CC88"/>
                      </a:solidFill>
                      <a:prstDash val="solid"/>
                      <a:round/>
                      <a:headEnd type="none" w="med" len="med"/>
                      <a:tailEnd type="none" w="med" len="med"/>
                    </a:lnB>
                    <a:solidFill>
                      <a:srgbClr val="FFFFFF"/>
                    </a:solidFill>
                  </a:tcPr>
                </a:tc>
                <a:tc>
                  <a:txBody>
                    <a:bodyPr/>
                    <a:lstStyle/>
                    <a:p>
                      <a:r>
                        <a:rPr lang="en-US" sz="2600">
                          <a:effectLst/>
                          <a:latin typeface="Cambria" panose="02040503050406030204" pitchFamily="18" charset="0"/>
                          <a:ea typeface="Cambria" panose="02040503050406030204" pitchFamily="18" charset="0"/>
                        </a:rPr>
                        <a:t>May 2023</a:t>
                      </a:r>
                    </a:p>
                  </a:txBody>
                  <a:tcPr>
                    <a:lnL w="9525" cap="flat" cmpd="sng" algn="ctr">
                      <a:solidFill>
                        <a:srgbClr val="F0CA88"/>
                      </a:solidFill>
                      <a:prstDash val="solid"/>
                      <a:round/>
                      <a:headEnd type="none" w="med" len="med"/>
                      <a:tailEnd type="none" w="med" len="med"/>
                    </a:lnL>
                    <a:lnR w="9525" cap="flat" cmpd="sng" algn="ctr">
                      <a:solidFill>
                        <a:srgbClr val="30CF88"/>
                      </a:solidFill>
                      <a:prstDash val="solid"/>
                      <a:round/>
                      <a:headEnd type="none" w="med" len="med"/>
                      <a:tailEnd type="none" w="med" len="med"/>
                    </a:lnR>
                    <a:lnT w="9525" cap="flat" cmpd="sng" algn="ctr">
                      <a:solidFill>
                        <a:srgbClr val="F0CA88"/>
                      </a:solidFill>
                      <a:prstDash val="solid"/>
                      <a:round/>
                      <a:headEnd type="none" w="med" len="med"/>
                      <a:tailEnd type="none" w="med" len="med"/>
                    </a:lnT>
                    <a:lnB w="9525" cap="flat" cmpd="sng" algn="ctr">
                      <a:solidFill>
                        <a:srgbClr val="F0CA88"/>
                      </a:solidFill>
                      <a:prstDash val="solid"/>
                      <a:round/>
                      <a:headEnd type="none" w="med" len="med"/>
                      <a:tailEnd type="none" w="med" len="med"/>
                    </a:lnB>
                    <a:solidFill>
                      <a:srgbClr val="FFFFFF"/>
                    </a:solidFill>
                  </a:tcPr>
                </a:tc>
                <a:tc>
                  <a:txBody>
                    <a:bodyPr/>
                    <a:lstStyle/>
                    <a:p>
                      <a:r>
                        <a:rPr lang="en-US" sz="2600" dirty="0">
                          <a:effectLst/>
                          <a:latin typeface="Cambria" panose="02040503050406030204" pitchFamily="18" charset="0"/>
                          <a:ea typeface="Cambria" panose="02040503050406030204" pitchFamily="18" charset="0"/>
                        </a:rPr>
                        <a:t>The "Renaissance" (Signals, Hydration)</a:t>
                      </a:r>
                    </a:p>
                  </a:txBody>
                  <a:tcPr>
                    <a:lnL w="9525" cap="flat" cmpd="sng" algn="ctr">
                      <a:solidFill>
                        <a:srgbClr val="30CF88"/>
                      </a:solidFill>
                      <a:prstDash val="solid"/>
                      <a:round/>
                      <a:headEnd type="none" w="med" len="med"/>
                      <a:tailEnd type="none" w="med" len="med"/>
                    </a:lnL>
                    <a:lnR w="9525" cap="flat" cmpd="sng" algn="ctr">
                      <a:solidFill>
                        <a:srgbClr val="30CF88"/>
                      </a:solidFill>
                      <a:prstDash val="solid"/>
                      <a:round/>
                      <a:headEnd type="none" w="med" len="med"/>
                      <a:tailEnd type="none" w="med" len="med"/>
                    </a:lnR>
                    <a:lnT w="9525" cap="flat" cmpd="sng" algn="ctr">
                      <a:solidFill>
                        <a:srgbClr val="30CF88"/>
                      </a:solidFill>
                      <a:prstDash val="solid"/>
                      <a:round/>
                      <a:headEnd type="none" w="med" len="med"/>
                      <a:tailEnd type="none" w="med" len="med"/>
                    </a:lnT>
                    <a:lnB w="9525" cap="flat" cmpd="sng" algn="ctr">
                      <a:solidFill>
                        <a:srgbClr val="30CF88"/>
                      </a:solidFill>
                      <a:prstDash val="solid"/>
                      <a:round/>
                      <a:headEnd type="none" w="med" len="med"/>
                      <a:tailEnd type="none" w="med" len="med"/>
                    </a:lnB>
                    <a:solidFill>
                      <a:srgbClr val="FFFFFF"/>
                    </a:solidFill>
                  </a:tcPr>
                </a:tc>
                <a:extLst>
                  <a:ext uri="{0D108BD9-81ED-4DB2-BD59-A6C34878D82A}">
                    <a16:rowId xmlns:a16="http://schemas.microsoft.com/office/drawing/2014/main" val="75618879"/>
                  </a:ext>
                </a:extLst>
              </a:tr>
              <a:tr h="577946">
                <a:tc gridSpan="3">
                  <a:txBody>
                    <a:bodyPr/>
                    <a:lstStyle/>
                    <a:p>
                      <a:pPr algn="ctr"/>
                      <a:r>
                        <a:rPr lang="vi-VN" sz="2600" dirty="0">
                          <a:latin typeface="Cambria" panose="02040503050406030204" pitchFamily="18" charset="0"/>
                          <a:ea typeface="Cambria" panose="02040503050406030204" pitchFamily="18" charset="0"/>
                        </a:rPr>
                        <a:t>Angular 2</a:t>
                      </a:r>
                      <a:r>
                        <a:rPr lang="en-US" sz="2600" dirty="0">
                          <a:latin typeface="Cambria" panose="02040503050406030204" pitchFamily="18" charset="0"/>
                          <a:ea typeface="Cambria" panose="02040503050406030204" pitchFamily="18" charset="0"/>
                        </a:rPr>
                        <a:t>-&gt;</a:t>
                      </a:r>
                      <a:r>
                        <a:rPr lang="vi-VN" sz="2600" dirty="0">
                          <a:latin typeface="Cambria" panose="02040503050406030204" pitchFamily="18" charset="0"/>
                          <a:ea typeface="Cambria" panose="02040503050406030204" pitchFamily="18" charset="0"/>
                        </a:rPr>
                        <a:t>Angular </a:t>
                      </a:r>
                      <a:r>
                        <a:rPr lang="en-US" sz="2600" dirty="0">
                          <a:latin typeface="Cambria" panose="02040503050406030204" pitchFamily="18" charset="0"/>
                          <a:ea typeface="Cambria" panose="02040503050406030204" pitchFamily="18" charset="0"/>
                        </a:rPr>
                        <a:t>15: 2016</a:t>
                      </a:r>
                      <a:r>
                        <a:rPr lang="en-US" sz="2600" dirty="0">
                          <a:latin typeface="Cambria" panose="02040503050406030204" pitchFamily="18" charset="0"/>
                          <a:ea typeface="Cambria" panose="02040503050406030204" pitchFamily="18" charset="0"/>
                          <a:sym typeface="Wingdings" panose="05000000000000000000" pitchFamily="2" charset="2"/>
                        </a:rPr>
                        <a:t>Nov 2022</a:t>
                      </a:r>
                      <a:r>
                        <a:rPr lang="vi-VN" sz="2600" dirty="0">
                          <a:latin typeface="Cambria" panose="02040503050406030204" pitchFamily="18" charset="0"/>
                          <a:ea typeface="Cambria" panose="02040503050406030204" pitchFamily="18" charset="0"/>
                        </a:rPr>
                        <a:t> </a:t>
                      </a:r>
                      <a:endParaRPr lang="en-US" sz="2600" b="1" dirty="0">
                        <a:effectLst/>
                        <a:latin typeface="Cambria" panose="02040503050406030204" pitchFamily="18" charset="0"/>
                        <a:ea typeface="Cambria" panose="02040503050406030204" pitchFamily="18" charset="0"/>
                      </a:endParaRPr>
                    </a:p>
                  </a:txBody>
                  <a:tcPr>
                    <a:lnL w="9525" cap="flat" cmpd="sng" algn="ctr">
                      <a:solidFill>
                        <a:srgbClr val="90CC88"/>
                      </a:solidFill>
                      <a:prstDash val="solid"/>
                      <a:round/>
                      <a:headEnd type="none" w="med" len="med"/>
                      <a:tailEnd type="none" w="med" len="med"/>
                    </a:lnL>
                    <a:lnR w="9525" cap="flat" cmpd="sng" algn="ctr">
                      <a:solidFill>
                        <a:srgbClr val="30CF88"/>
                      </a:solidFill>
                      <a:prstDash val="solid"/>
                      <a:round/>
                      <a:headEnd type="none" w="med" len="med"/>
                      <a:tailEnd type="none" w="med" len="med"/>
                    </a:lnR>
                    <a:lnT w="9525" cap="flat" cmpd="sng" algn="ctr">
                      <a:solidFill>
                        <a:srgbClr val="90CC88"/>
                      </a:solidFill>
                      <a:prstDash val="solid"/>
                      <a:round/>
                      <a:headEnd type="none" w="med" len="med"/>
                      <a:tailEnd type="none" w="med" len="med"/>
                    </a:lnT>
                    <a:lnB w="9525" cap="flat" cmpd="sng" algn="ctr">
                      <a:solidFill>
                        <a:srgbClr val="90CC88"/>
                      </a:solidFill>
                      <a:prstDash val="solid"/>
                      <a:round/>
                      <a:headEnd type="none" w="med" len="med"/>
                      <a:tailEnd type="none" w="med" len="med"/>
                    </a:lnB>
                    <a:solidFill>
                      <a:srgbClr val="FFFFFF"/>
                    </a:solidFill>
                  </a:tcPr>
                </a:tc>
                <a:tc hMerge="1">
                  <a:txBody>
                    <a:bodyPr/>
                    <a:lstStyle/>
                    <a:p>
                      <a:endParaRPr lang="en-US" sz="2600" dirty="0">
                        <a:effectLst/>
                        <a:latin typeface="Cambria" panose="02040503050406030204" pitchFamily="18" charset="0"/>
                        <a:ea typeface="Cambria" panose="02040503050406030204" pitchFamily="18" charset="0"/>
                      </a:endParaRPr>
                    </a:p>
                  </a:txBody>
                  <a:tcPr>
                    <a:lnL w="9525" cap="flat" cmpd="sng" algn="ctr">
                      <a:solidFill>
                        <a:srgbClr val="F0CA88"/>
                      </a:solidFill>
                      <a:prstDash val="solid"/>
                      <a:round/>
                      <a:headEnd type="none" w="med" len="med"/>
                      <a:tailEnd type="none" w="med" len="med"/>
                    </a:lnL>
                    <a:lnR w="9525" cap="flat" cmpd="sng" algn="ctr">
                      <a:solidFill>
                        <a:srgbClr val="30CF88"/>
                      </a:solidFill>
                      <a:prstDash val="solid"/>
                      <a:round/>
                      <a:headEnd type="none" w="med" len="med"/>
                      <a:tailEnd type="none" w="med" len="med"/>
                    </a:lnR>
                    <a:lnT w="9525" cap="flat" cmpd="sng" algn="ctr">
                      <a:solidFill>
                        <a:srgbClr val="F0CA88"/>
                      </a:solidFill>
                      <a:prstDash val="solid"/>
                      <a:round/>
                      <a:headEnd type="none" w="med" len="med"/>
                      <a:tailEnd type="none" w="med" len="med"/>
                    </a:lnT>
                    <a:lnB w="9525" cap="flat" cmpd="sng" algn="ctr">
                      <a:solidFill>
                        <a:srgbClr val="F0CA88"/>
                      </a:solidFill>
                      <a:prstDash val="solid"/>
                      <a:round/>
                      <a:headEnd type="none" w="med" len="med"/>
                      <a:tailEnd type="none" w="med" len="med"/>
                    </a:lnB>
                    <a:solidFill>
                      <a:srgbClr val="FFFFFF"/>
                    </a:solidFill>
                  </a:tcPr>
                </a:tc>
                <a:tc hMerge="1">
                  <a:txBody>
                    <a:bodyPr/>
                    <a:lstStyle/>
                    <a:p>
                      <a:endParaRPr lang="en-US" sz="2600" dirty="0">
                        <a:effectLst/>
                        <a:latin typeface="Cambria" panose="02040503050406030204" pitchFamily="18" charset="0"/>
                        <a:ea typeface="Cambria" panose="02040503050406030204" pitchFamily="18" charset="0"/>
                      </a:endParaRPr>
                    </a:p>
                  </a:txBody>
                  <a:tcPr>
                    <a:lnL w="9525" cap="flat" cmpd="sng" algn="ctr">
                      <a:solidFill>
                        <a:srgbClr val="30CF88"/>
                      </a:solidFill>
                      <a:prstDash val="solid"/>
                      <a:round/>
                      <a:headEnd type="none" w="med" len="med"/>
                      <a:tailEnd type="none" w="med" len="med"/>
                    </a:lnL>
                    <a:lnR w="9525" cap="flat" cmpd="sng" algn="ctr">
                      <a:solidFill>
                        <a:srgbClr val="30CF88"/>
                      </a:solidFill>
                      <a:prstDash val="solid"/>
                      <a:round/>
                      <a:headEnd type="none" w="med" len="med"/>
                      <a:tailEnd type="none" w="med" len="med"/>
                    </a:lnR>
                    <a:lnT w="9525" cap="flat" cmpd="sng" algn="ctr">
                      <a:solidFill>
                        <a:srgbClr val="30CF88"/>
                      </a:solidFill>
                      <a:prstDash val="solid"/>
                      <a:round/>
                      <a:headEnd type="none" w="med" len="med"/>
                      <a:tailEnd type="none" w="med" len="med"/>
                    </a:lnT>
                    <a:lnB w="9525" cap="flat" cmpd="sng" algn="ctr">
                      <a:solidFill>
                        <a:srgbClr val="30CF88"/>
                      </a:solidFill>
                      <a:prstDash val="solid"/>
                      <a:round/>
                      <a:headEnd type="none" w="med" len="med"/>
                      <a:tailEnd type="none" w="med" len="med"/>
                    </a:lnB>
                    <a:solidFill>
                      <a:srgbClr val="FFFFFF"/>
                    </a:solidFill>
                  </a:tcPr>
                </a:tc>
                <a:extLst>
                  <a:ext uri="{0D108BD9-81ED-4DB2-BD59-A6C34878D82A}">
                    <a16:rowId xmlns:a16="http://schemas.microsoft.com/office/drawing/2014/main" val="2307995634"/>
                  </a:ext>
                </a:extLst>
              </a:tr>
              <a:tr h="577946">
                <a:tc>
                  <a:txBody>
                    <a:bodyPr/>
                    <a:lstStyle/>
                    <a:p>
                      <a:r>
                        <a:rPr lang="vi-VN" sz="2600" dirty="0">
                          <a:latin typeface="Cambria" panose="02040503050406030204" pitchFamily="18" charset="0"/>
                          <a:ea typeface="Cambria" panose="02040503050406030204" pitchFamily="18" charset="0"/>
                        </a:rPr>
                        <a:t>AngularJS</a:t>
                      </a:r>
                      <a:endParaRPr lang="en-US" sz="2600" b="1" dirty="0">
                        <a:effectLst/>
                        <a:latin typeface="Cambria" panose="02040503050406030204" pitchFamily="18" charset="0"/>
                        <a:ea typeface="Cambria" panose="02040503050406030204" pitchFamily="18" charset="0"/>
                      </a:endParaRPr>
                    </a:p>
                  </a:txBody>
                  <a:tcPr>
                    <a:lnL w="9525" cap="flat" cmpd="sng" algn="ctr">
                      <a:solidFill>
                        <a:srgbClr val="90CC88"/>
                      </a:solidFill>
                      <a:prstDash val="solid"/>
                      <a:round/>
                      <a:headEnd type="none" w="med" len="med"/>
                      <a:tailEnd type="none" w="med" len="med"/>
                    </a:lnL>
                    <a:lnR w="9525" cap="flat" cmpd="sng" algn="ctr">
                      <a:solidFill>
                        <a:srgbClr val="F0CA88"/>
                      </a:solidFill>
                      <a:prstDash val="solid"/>
                      <a:round/>
                      <a:headEnd type="none" w="med" len="med"/>
                      <a:tailEnd type="none" w="med" len="med"/>
                    </a:lnR>
                    <a:lnT w="9525" cap="flat" cmpd="sng" algn="ctr">
                      <a:solidFill>
                        <a:srgbClr val="90CC88"/>
                      </a:solidFill>
                      <a:prstDash val="solid"/>
                      <a:round/>
                      <a:headEnd type="none" w="med" len="med"/>
                      <a:tailEnd type="none" w="med" len="med"/>
                    </a:lnT>
                    <a:lnB w="9525" cap="flat" cmpd="sng" algn="ctr">
                      <a:solidFill>
                        <a:srgbClr val="90CC88"/>
                      </a:solidFill>
                      <a:prstDash val="solid"/>
                      <a:round/>
                      <a:headEnd type="none" w="med" len="med"/>
                      <a:tailEnd type="none" w="med" len="med"/>
                    </a:lnB>
                    <a:solidFill>
                      <a:srgbClr val="FFFFFF"/>
                    </a:solidFill>
                  </a:tcPr>
                </a:tc>
                <a:tc>
                  <a:txBody>
                    <a:bodyPr/>
                    <a:lstStyle/>
                    <a:p>
                      <a:r>
                        <a:rPr lang="en-US" sz="2600" dirty="0">
                          <a:effectLst/>
                          <a:latin typeface="Cambria" panose="02040503050406030204" pitchFamily="18" charset="0"/>
                          <a:ea typeface="Cambria" panose="02040503050406030204" pitchFamily="18" charset="0"/>
                        </a:rPr>
                        <a:t>2010</a:t>
                      </a:r>
                    </a:p>
                  </a:txBody>
                  <a:tcPr>
                    <a:lnL w="9525" cap="flat" cmpd="sng" algn="ctr">
                      <a:solidFill>
                        <a:srgbClr val="F0CA88"/>
                      </a:solidFill>
                      <a:prstDash val="solid"/>
                      <a:round/>
                      <a:headEnd type="none" w="med" len="med"/>
                      <a:tailEnd type="none" w="med" len="med"/>
                    </a:lnL>
                    <a:lnR w="9525" cap="flat" cmpd="sng" algn="ctr">
                      <a:solidFill>
                        <a:srgbClr val="30CF88"/>
                      </a:solidFill>
                      <a:prstDash val="solid"/>
                      <a:round/>
                      <a:headEnd type="none" w="med" len="med"/>
                      <a:tailEnd type="none" w="med" len="med"/>
                    </a:lnR>
                    <a:lnT w="9525" cap="flat" cmpd="sng" algn="ctr">
                      <a:solidFill>
                        <a:srgbClr val="F0CA88"/>
                      </a:solidFill>
                      <a:prstDash val="solid"/>
                      <a:round/>
                      <a:headEnd type="none" w="med" len="med"/>
                      <a:tailEnd type="none" w="med" len="med"/>
                    </a:lnT>
                    <a:lnB w="9525" cap="flat" cmpd="sng" algn="ctr">
                      <a:solidFill>
                        <a:srgbClr val="F0CA88"/>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vi-VN" sz="2600" dirty="0">
                          <a:latin typeface="Cambria" panose="02040503050406030204" pitchFamily="18" charset="0"/>
                          <a:ea typeface="Cambria" panose="02040503050406030204" pitchFamily="18" charset="0"/>
                        </a:rPr>
                        <a:t>(+ Javascript)</a:t>
                      </a:r>
                      <a:endParaRPr lang="en-US" sz="2600" dirty="0">
                        <a:effectLst/>
                        <a:latin typeface="Cambria" panose="02040503050406030204" pitchFamily="18" charset="0"/>
                        <a:ea typeface="Cambria" panose="02040503050406030204" pitchFamily="18" charset="0"/>
                      </a:endParaRPr>
                    </a:p>
                  </a:txBody>
                  <a:tcPr>
                    <a:lnL w="9525" cap="flat" cmpd="sng" algn="ctr">
                      <a:solidFill>
                        <a:srgbClr val="30CF88"/>
                      </a:solidFill>
                      <a:prstDash val="solid"/>
                      <a:round/>
                      <a:headEnd type="none" w="med" len="med"/>
                      <a:tailEnd type="none" w="med" len="med"/>
                    </a:lnL>
                    <a:lnR w="9525" cap="flat" cmpd="sng" algn="ctr">
                      <a:solidFill>
                        <a:srgbClr val="30CF88"/>
                      </a:solidFill>
                      <a:prstDash val="solid"/>
                      <a:round/>
                      <a:headEnd type="none" w="med" len="med"/>
                      <a:tailEnd type="none" w="med" len="med"/>
                    </a:lnR>
                    <a:lnT w="9525" cap="flat" cmpd="sng" algn="ctr">
                      <a:solidFill>
                        <a:srgbClr val="30CF88"/>
                      </a:solidFill>
                      <a:prstDash val="solid"/>
                      <a:round/>
                      <a:headEnd type="none" w="med" len="med"/>
                      <a:tailEnd type="none" w="med" len="med"/>
                    </a:lnT>
                    <a:lnB w="9525" cap="flat" cmpd="sng" algn="ctr">
                      <a:solidFill>
                        <a:srgbClr val="30CF88"/>
                      </a:solidFill>
                      <a:prstDash val="solid"/>
                      <a:round/>
                      <a:headEnd type="none" w="med" len="med"/>
                      <a:tailEnd type="none" w="med" len="med"/>
                    </a:lnB>
                    <a:solidFill>
                      <a:srgbClr val="FFFFFF"/>
                    </a:solidFill>
                  </a:tcPr>
                </a:tc>
                <a:extLst>
                  <a:ext uri="{0D108BD9-81ED-4DB2-BD59-A6C34878D82A}">
                    <a16:rowId xmlns:a16="http://schemas.microsoft.com/office/drawing/2014/main" val="1932581606"/>
                  </a:ext>
                </a:extLst>
              </a:tr>
            </a:tbl>
          </a:graphicData>
        </a:graphic>
      </p:graphicFrame>
    </p:spTree>
    <p:extLst>
      <p:ext uri="{BB962C8B-B14F-4D97-AF65-F5344CB8AC3E}">
        <p14:creationId xmlns:p14="http://schemas.microsoft.com/office/powerpoint/2010/main" val="1673698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F102CB1-53BA-F372-A93A-35331531517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6CCD1F2-AD02-CDE0-FF5C-F9E6FAC0C15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3656575-BC63-316E-9A58-94EF206FA98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2" name="Group 1">
            <a:extLst>
              <a:ext uri="{FF2B5EF4-FFF2-40B4-BE49-F238E27FC236}">
                <a16:creationId xmlns:a16="http://schemas.microsoft.com/office/drawing/2014/main" id="{030075E9-6E7F-1475-C858-97D42FB3EB3F}"/>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A547856A-26F5-1B37-CC4C-099A501AD2F8}"/>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1.2.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Lịch sử hình thành và phát triển</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42E4AE4-0B03-5369-83BB-5079B525075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22FB7F4-CDF3-87FB-B9D9-117AC47EB84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B77FC4A-3170-C839-D9AA-FC5F4255E3A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79C2FCA-4F54-61AA-59DB-235125FED3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B711EE3-ED1F-0833-E567-EDB0AD8B0E0C}"/>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TypeScript </a:t>
            </a:r>
            <a:r>
              <a:rPr lang="en-US" sz="2400" b="1" dirty="0" err="1">
                <a:latin typeface="Times New Roman" panose="02020603050405020304" pitchFamily="18" charset="0"/>
                <a:cs typeface="Times New Roman" panose="02020603050405020304" pitchFamily="18" charset="0"/>
              </a:rPr>
              <a:t>là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ngôn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ngữ</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được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sử</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dụng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trong</a:t>
            </a:r>
            <a:r>
              <a:rPr lang="en-US" sz="2400" b="1" dirty="0">
                <a:latin typeface="Times New Roman" panose="02020603050405020304" pitchFamily="18" charset="0"/>
                <a:cs typeface="Times New Roman" panose="02020603050405020304" pitchFamily="18" charset="0"/>
              </a:rPr>
              <a:t> Angular</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642379F-306B-E4A4-1CEC-61450A1AA1EB}"/>
              </a:ext>
            </a:extLst>
          </p:cNvPr>
          <p:cNvPicPr>
            <a:picLocks noChangeAspect="1"/>
          </p:cNvPicPr>
          <p:nvPr/>
        </p:nvPicPr>
        <p:blipFill>
          <a:blip r:embed="rId3"/>
          <a:stretch>
            <a:fillRect/>
          </a:stretch>
        </p:blipFill>
        <p:spPr>
          <a:xfrm>
            <a:off x="2383636" y="1248812"/>
            <a:ext cx="7424727" cy="5128692"/>
          </a:xfrm>
          <a:prstGeom prst="rect">
            <a:avLst/>
          </a:prstGeom>
        </p:spPr>
      </p:pic>
      <p:sp>
        <p:nvSpPr>
          <p:cNvPr id="13" name="TextBox 12">
            <a:extLst>
              <a:ext uri="{FF2B5EF4-FFF2-40B4-BE49-F238E27FC236}">
                <a16:creationId xmlns:a16="http://schemas.microsoft.com/office/drawing/2014/main" id="{2F6E5040-2A3A-F5E8-F1F8-815A75EF1729}"/>
              </a:ext>
            </a:extLst>
          </p:cNvPr>
          <p:cNvSpPr txBox="1"/>
          <p:nvPr/>
        </p:nvSpPr>
        <p:spPr>
          <a:xfrm>
            <a:off x="4158234" y="6363007"/>
            <a:ext cx="6295644" cy="307777"/>
          </a:xfrm>
          <a:prstGeom prst="rect">
            <a:avLst/>
          </a:prstGeom>
          <a:noFill/>
        </p:spPr>
        <p:txBody>
          <a:bodyPr wrap="square">
            <a:spAutoFit/>
          </a:bodyPr>
          <a:lstStyle/>
          <a:p>
            <a:r>
              <a:rPr lang="en-US" dirty="0">
                <a:hlinkClick r:id="rId4"/>
              </a:rPr>
              <a:t>https://spectrum.ieee.org/top-programming-languages-2025</a:t>
            </a:r>
            <a:r>
              <a:rPr lang="en-US" dirty="0"/>
              <a:t> </a:t>
            </a:r>
          </a:p>
        </p:txBody>
      </p:sp>
    </p:spTree>
    <p:extLst>
      <p:ext uri="{BB962C8B-B14F-4D97-AF65-F5344CB8AC3E}">
        <p14:creationId xmlns:p14="http://schemas.microsoft.com/office/powerpoint/2010/main" val="1584851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4612D92-98C3-8565-1AE6-32F89952472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360B4DB-5C6D-574D-FBFE-81AFFAD69DB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5D2FFFE-1692-BC9C-BBA6-71F821F20F5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2" name="Group 1">
            <a:extLst>
              <a:ext uri="{FF2B5EF4-FFF2-40B4-BE49-F238E27FC236}">
                <a16:creationId xmlns:a16="http://schemas.microsoft.com/office/drawing/2014/main" id="{415785FC-19CD-D808-8CFE-7AD34C5320FE}"/>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EC829CF6-D7A5-F362-344F-112BFD199389}"/>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1.3.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Kiến trúc thành phần trong Angular</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41E9A2E-9592-5A76-DD36-924BA4E0AF2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4536B0B-0082-67A2-9789-4E8C9403CB3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67CFC81-35C1-9AAD-F978-8E6FA0AB281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5757B1F-34BB-CB53-E85C-1B2DF9D4E82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B6EB708-1D00-9AA6-B8BD-AF24347F75A4}"/>
              </a:ext>
            </a:extLst>
          </p:cNvPr>
          <p:cNvSpPr txBox="1"/>
          <p:nvPr/>
        </p:nvSpPr>
        <p:spPr>
          <a:xfrm>
            <a:off x="415252" y="810009"/>
            <a:ext cx="11564547" cy="1569660"/>
          </a:xfrm>
          <a:prstGeom prst="rect">
            <a:avLst/>
          </a:prstGeom>
          <a:noFill/>
        </p:spPr>
        <p:txBody>
          <a:bodyPr wrap="square">
            <a:spAutoFit/>
          </a:bodyPr>
          <a:lstStyle/>
          <a:p>
            <a:pPr marL="457200" lvl="8" indent="-457200" algn="just">
              <a:buFont typeface="Wingdings" panose="05000000000000000000" pitchFamily="2" charset="2"/>
              <a:buChar char="v"/>
            </a:pPr>
            <a:r>
              <a:rPr lang="vi-VN" sz="2400" dirty="0">
                <a:latin typeface="Times New Roman" panose="02020603050405020304" pitchFamily="18" charset="0"/>
                <a:cs typeface="Times New Roman" panose="02020603050405020304" pitchFamily="18" charset="0"/>
              </a:rPr>
              <a:t>1.3.1. Angular App</a:t>
            </a:r>
          </a:p>
          <a:p>
            <a:pPr marL="457200" indent="-457200" algn="just">
              <a:buFont typeface="Wingdings" panose="05000000000000000000" pitchFamily="2" charset="2"/>
              <a:buChar char="v"/>
            </a:pPr>
            <a:r>
              <a:rPr lang="vi-VN" sz="2400" dirty="0">
                <a:latin typeface="Times New Roman" panose="02020603050405020304" pitchFamily="18" charset="0"/>
                <a:cs typeface="Times New Roman" panose="02020603050405020304" pitchFamily="18" charset="0"/>
              </a:rPr>
              <a:t>1.3.2. Modules</a:t>
            </a:r>
          </a:p>
          <a:p>
            <a:pPr marL="457200" indent="-457200" algn="just">
              <a:buFont typeface="Wingdings" panose="05000000000000000000" pitchFamily="2" charset="2"/>
              <a:buChar char="v"/>
            </a:pPr>
            <a:r>
              <a:rPr lang="vi-VN" sz="2400" dirty="0">
                <a:latin typeface="Times New Roman" panose="02020603050405020304" pitchFamily="18" charset="0"/>
                <a:cs typeface="Times New Roman" panose="02020603050405020304" pitchFamily="18" charset="0"/>
              </a:rPr>
              <a:t>1.3.3. Components</a:t>
            </a:r>
          </a:p>
          <a:p>
            <a:pPr marL="457200" indent="-457200" algn="just">
              <a:buFont typeface="Wingdings" panose="05000000000000000000" pitchFamily="2" charset="2"/>
              <a:buChar char="v"/>
            </a:pPr>
            <a:r>
              <a:rPr lang="vi-VN" sz="2400" dirty="0">
                <a:latin typeface="Times New Roman" panose="02020603050405020304" pitchFamily="18" charset="0"/>
                <a:cs typeface="Times New Roman" panose="02020603050405020304" pitchFamily="18" charset="0"/>
              </a:rPr>
              <a:t>1.3.4. Services</a:t>
            </a:r>
          </a:p>
        </p:txBody>
      </p:sp>
    </p:spTree>
    <p:extLst>
      <p:ext uri="{BB962C8B-B14F-4D97-AF65-F5344CB8AC3E}">
        <p14:creationId xmlns:p14="http://schemas.microsoft.com/office/powerpoint/2010/main" val="3848501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B79462E-9683-A908-B85D-6FE370DD482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5D3B94E-CC40-0374-03C0-6C3D613849A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5939758-AF43-39AC-E020-372FE043821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2" name="Group 1">
            <a:extLst>
              <a:ext uri="{FF2B5EF4-FFF2-40B4-BE49-F238E27FC236}">
                <a16:creationId xmlns:a16="http://schemas.microsoft.com/office/drawing/2014/main" id="{73BBB9BC-4AF4-9BFB-DFF3-54ABEB178DEE}"/>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7BBA06E7-D575-CE9E-8219-1A92AAA997E7}"/>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1.3.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Kiến trúc thành phần trong Angular</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B467D70-FD19-5051-625D-0B41019AF63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8C68213-D537-FC15-C290-20500E17FAD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C7576EC-9068-4127-8376-CBA385B863F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DDC6E05-D20E-BCF9-EB7D-4ED6E084318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ABB2736-F983-1A8D-0EDC-E597E8A5E641}"/>
              </a:ext>
            </a:extLst>
          </p:cNvPr>
          <p:cNvSpPr txBox="1"/>
          <p:nvPr/>
        </p:nvSpPr>
        <p:spPr>
          <a:xfrm>
            <a:off x="415252" y="810009"/>
            <a:ext cx="11564547" cy="461665"/>
          </a:xfrm>
          <a:prstGeom prst="rect">
            <a:avLst/>
          </a:prstGeom>
          <a:noFill/>
        </p:spPr>
        <p:txBody>
          <a:bodyPr wrap="square">
            <a:spAutoFit/>
          </a:bodyPr>
          <a:lstStyle/>
          <a:p>
            <a:pPr marL="457200" lvl="8"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1.3.1. Angular App</a:t>
            </a:r>
          </a:p>
        </p:txBody>
      </p:sp>
      <p:sp>
        <p:nvSpPr>
          <p:cNvPr id="8" name="Content Placeholder 2">
            <a:extLst>
              <a:ext uri="{FF2B5EF4-FFF2-40B4-BE49-F238E27FC236}">
                <a16:creationId xmlns:a16="http://schemas.microsoft.com/office/drawing/2014/main" id="{5A3C0CCC-56AD-AE65-81AC-BB1B25285839}"/>
              </a:ext>
            </a:extLst>
          </p:cNvPr>
          <p:cNvSpPr txBox="1">
            <a:spLocks/>
          </p:cNvSpPr>
          <p:nvPr/>
        </p:nvSpPr>
        <p:spPr>
          <a:xfrm>
            <a:off x="542786" y="1228725"/>
            <a:ext cx="11233962" cy="28860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en-US" sz="2200" dirty="0" err="1">
                <a:latin typeface="Times" pitchFamily="2" charset="0"/>
              </a:rPr>
              <a:t>Kiến</a:t>
            </a:r>
            <a:r>
              <a:rPr lang="en-US" sz="2200" dirty="0">
                <a:latin typeface="Times" pitchFamily="2" charset="0"/>
              </a:rPr>
              <a:t> </a:t>
            </a:r>
            <a:r>
              <a:rPr lang="en-US" sz="2200" dirty="0" err="1">
                <a:latin typeface="Times" pitchFamily="2" charset="0"/>
              </a:rPr>
              <a:t>trúc</a:t>
            </a:r>
            <a:r>
              <a:rPr lang="en-US" sz="2200" dirty="0">
                <a:latin typeface="Times" pitchFamily="2" charset="0"/>
              </a:rPr>
              <a:t> </a:t>
            </a:r>
            <a:r>
              <a:rPr lang="en-US" sz="2200" dirty="0" err="1">
                <a:latin typeface="Times" pitchFamily="2" charset="0"/>
              </a:rPr>
              <a:t>ứng</a:t>
            </a:r>
            <a:r>
              <a:rPr lang="en-US" sz="2200" dirty="0">
                <a:latin typeface="Times" pitchFamily="2" charset="0"/>
              </a:rPr>
              <a:t> </a:t>
            </a:r>
            <a:r>
              <a:rPr lang="en-US" sz="2200" dirty="0" err="1">
                <a:latin typeface="Times" pitchFamily="2" charset="0"/>
              </a:rPr>
              <a:t>dụng</a:t>
            </a:r>
            <a:r>
              <a:rPr lang="en-US" sz="2200" dirty="0">
                <a:latin typeface="Times" pitchFamily="2" charset="0"/>
              </a:rPr>
              <a:t> Angular bao </a:t>
            </a:r>
            <a:r>
              <a:rPr lang="en-US" sz="2200" dirty="0" err="1">
                <a:latin typeface="Times" pitchFamily="2" charset="0"/>
              </a:rPr>
              <a:t>gồm</a:t>
            </a:r>
            <a:r>
              <a:rPr lang="en-US" sz="2200" dirty="0">
                <a:latin typeface="Times" pitchFamily="2" charset="0"/>
              </a:rPr>
              <a:t> </a:t>
            </a:r>
            <a:r>
              <a:rPr lang="en-US" sz="2200" dirty="0" err="1">
                <a:latin typeface="Times" pitchFamily="2" charset="0"/>
              </a:rPr>
              <a:t>tập</a:t>
            </a:r>
            <a:r>
              <a:rPr lang="en-US" sz="2200" dirty="0">
                <a:latin typeface="Times" pitchFamily="2" charset="0"/>
              </a:rPr>
              <a:t> </a:t>
            </a:r>
            <a:r>
              <a:rPr lang="en-US" sz="2200" dirty="0" err="1">
                <a:latin typeface="Times" pitchFamily="2" charset="0"/>
              </a:rPr>
              <a:t>hợp</a:t>
            </a:r>
            <a:r>
              <a:rPr lang="en-US" sz="2200" dirty="0">
                <a:latin typeface="Times" pitchFamily="2" charset="0"/>
              </a:rPr>
              <a:t> </a:t>
            </a:r>
            <a:r>
              <a:rPr lang="en-US" sz="2200" dirty="0" err="1">
                <a:latin typeface="Times" pitchFamily="2" charset="0"/>
              </a:rPr>
              <a:t>các</a:t>
            </a:r>
            <a:r>
              <a:rPr lang="en-US" sz="2200" dirty="0">
                <a:latin typeface="Times" pitchFamily="2" charset="0"/>
              </a:rPr>
              <a:t> </a:t>
            </a:r>
            <a:r>
              <a:rPr lang="en-US" sz="2200" b="1" i="1" dirty="0">
                <a:latin typeface="Times" pitchFamily="2" charset="0"/>
              </a:rPr>
              <a:t>components</a:t>
            </a:r>
            <a:r>
              <a:rPr lang="en-US" sz="2200" dirty="0">
                <a:latin typeface="Times" pitchFamily="2" charset="0"/>
              </a:rPr>
              <a:t> </a:t>
            </a:r>
            <a:r>
              <a:rPr lang="en-US" sz="2200" dirty="0" err="1">
                <a:latin typeface="Times" pitchFamily="2" charset="0"/>
              </a:rPr>
              <a:t>được</a:t>
            </a:r>
            <a:r>
              <a:rPr lang="en-US" sz="2200" dirty="0">
                <a:latin typeface="Times" pitchFamily="2" charset="0"/>
              </a:rPr>
              <a:t> </a:t>
            </a:r>
            <a:r>
              <a:rPr lang="en-US" sz="2200" dirty="0" err="1">
                <a:latin typeface="Times" pitchFamily="2" charset="0"/>
              </a:rPr>
              <a:t>thiết</a:t>
            </a:r>
            <a:r>
              <a:rPr lang="en-US" sz="2200" dirty="0">
                <a:latin typeface="Times" pitchFamily="2" charset="0"/>
              </a:rPr>
              <a:t> </a:t>
            </a:r>
            <a:r>
              <a:rPr lang="en-US" sz="2200" dirty="0" err="1">
                <a:latin typeface="Times" pitchFamily="2" charset="0"/>
              </a:rPr>
              <a:t>kế</a:t>
            </a:r>
            <a:r>
              <a:rPr lang="en-US" sz="2200" dirty="0">
                <a:latin typeface="Times" pitchFamily="2" charset="0"/>
              </a:rPr>
              <a:t> </a:t>
            </a:r>
            <a:r>
              <a:rPr lang="en-US" sz="2200" dirty="0" err="1">
                <a:latin typeface="Times" pitchFamily="2" charset="0"/>
              </a:rPr>
              <a:t>tổ</a:t>
            </a:r>
            <a:r>
              <a:rPr lang="en-US" sz="2200" dirty="0">
                <a:latin typeface="Times" pitchFamily="2" charset="0"/>
              </a:rPr>
              <a:t> </a:t>
            </a:r>
            <a:r>
              <a:rPr lang="en-US" sz="2200" dirty="0" err="1">
                <a:latin typeface="Times" pitchFamily="2" charset="0"/>
              </a:rPr>
              <a:t>chức</a:t>
            </a:r>
            <a:r>
              <a:rPr lang="en-US" sz="2200" dirty="0">
                <a:latin typeface="Times" pitchFamily="2" charset="0"/>
              </a:rPr>
              <a:t> </a:t>
            </a:r>
            <a:r>
              <a:rPr lang="en-US" sz="2200" dirty="0" err="1">
                <a:latin typeface="Times" pitchFamily="2" charset="0"/>
              </a:rPr>
              <a:t>theo</a:t>
            </a:r>
            <a:r>
              <a:rPr lang="en-US" sz="2200" dirty="0">
                <a:latin typeface="Times" pitchFamily="2" charset="0"/>
              </a:rPr>
              <a:t> </a:t>
            </a:r>
            <a:r>
              <a:rPr lang="en-US" sz="2200" dirty="0" err="1">
                <a:latin typeface="Times" pitchFamily="2" charset="0"/>
              </a:rPr>
              <a:t>dạng</a:t>
            </a:r>
            <a:r>
              <a:rPr lang="en-US" sz="2200" dirty="0">
                <a:latin typeface="Times" pitchFamily="2" charset="0"/>
              </a:rPr>
              <a:t> </a:t>
            </a:r>
            <a:r>
              <a:rPr lang="en-US" sz="2200" b="1" i="1" dirty="0">
                <a:latin typeface="Times" pitchFamily="2" charset="0"/>
              </a:rPr>
              <a:t>module</a:t>
            </a:r>
            <a:r>
              <a:rPr lang="en-US" sz="2200" dirty="0">
                <a:latin typeface="Times" pitchFamily="2" charset="0"/>
              </a:rPr>
              <a:t>. </a:t>
            </a:r>
            <a:r>
              <a:rPr lang="en-US" sz="2200" dirty="0" err="1">
                <a:latin typeface="Times" pitchFamily="2" charset="0"/>
              </a:rPr>
              <a:t>Một</a:t>
            </a:r>
            <a:r>
              <a:rPr lang="en-US" sz="2200" dirty="0">
                <a:latin typeface="Times" pitchFamily="2" charset="0"/>
              </a:rPr>
              <a:t> </a:t>
            </a:r>
            <a:r>
              <a:rPr lang="en-US" sz="2200" dirty="0" err="1">
                <a:latin typeface="Times" pitchFamily="2" charset="0"/>
              </a:rPr>
              <a:t>ứng</a:t>
            </a:r>
            <a:r>
              <a:rPr lang="en-US" sz="2200" dirty="0">
                <a:latin typeface="Times" pitchFamily="2" charset="0"/>
              </a:rPr>
              <a:t> </a:t>
            </a:r>
            <a:r>
              <a:rPr lang="en-US" sz="2200" dirty="0" err="1">
                <a:latin typeface="Times" pitchFamily="2" charset="0"/>
              </a:rPr>
              <a:t>dụng</a:t>
            </a:r>
            <a:r>
              <a:rPr lang="en-US" sz="2200" dirty="0">
                <a:latin typeface="Times" pitchFamily="2" charset="0"/>
              </a:rPr>
              <a:t> Angular </a:t>
            </a:r>
            <a:r>
              <a:rPr lang="en-US" sz="2200" i="1" dirty="0" err="1">
                <a:latin typeface="Times" pitchFamily="2" charset="0"/>
              </a:rPr>
              <a:t>có</a:t>
            </a:r>
            <a:r>
              <a:rPr lang="en-US" sz="2200" i="1" dirty="0">
                <a:latin typeface="Times" pitchFamily="2" charset="0"/>
              </a:rPr>
              <a:t> </a:t>
            </a:r>
            <a:r>
              <a:rPr lang="en-US" sz="2200" i="1" dirty="0" err="1">
                <a:latin typeface="Times" pitchFamily="2" charset="0"/>
              </a:rPr>
              <a:t>ít</a:t>
            </a:r>
            <a:r>
              <a:rPr lang="en-US" sz="2200" i="1" dirty="0">
                <a:latin typeface="Times" pitchFamily="2" charset="0"/>
              </a:rPr>
              <a:t> </a:t>
            </a:r>
            <a:r>
              <a:rPr lang="en-US" sz="2200" i="1" dirty="0" err="1">
                <a:latin typeface="Times" pitchFamily="2" charset="0"/>
              </a:rPr>
              <a:t>nhất</a:t>
            </a:r>
            <a:r>
              <a:rPr lang="en-US" sz="2200" i="1" dirty="0">
                <a:latin typeface="Times" pitchFamily="2" charset="0"/>
              </a:rPr>
              <a:t> </a:t>
            </a:r>
            <a:r>
              <a:rPr lang="en-US" sz="2200" i="1" dirty="0" err="1">
                <a:latin typeface="Times" pitchFamily="2" charset="0"/>
              </a:rPr>
              <a:t>một</a:t>
            </a:r>
            <a:r>
              <a:rPr lang="en-US" sz="2200" i="1" dirty="0">
                <a:latin typeface="Times" pitchFamily="2" charset="0"/>
              </a:rPr>
              <a:t> module </a:t>
            </a:r>
            <a:r>
              <a:rPr lang="en-US" sz="2200" i="1" dirty="0" err="1">
                <a:latin typeface="Times" pitchFamily="2" charset="0"/>
              </a:rPr>
              <a:t>gốc</a:t>
            </a:r>
            <a:r>
              <a:rPr lang="en-US" sz="2200" i="1" dirty="0">
                <a:latin typeface="Times" pitchFamily="2" charset="0"/>
              </a:rPr>
              <a:t> (root-module) </a:t>
            </a:r>
            <a:r>
              <a:rPr lang="en-US" sz="2200" dirty="0" err="1">
                <a:latin typeface="Times" pitchFamily="2" charset="0"/>
              </a:rPr>
              <a:t>và</a:t>
            </a:r>
            <a:r>
              <a:rPr lang="en-US" sz="2200" dirty="0">
                <a:latin typeface="Times" pitchFamily="2" charset="0"/>
              </a:rPr>
              <a:t> </a:t>
            </a:r>
            <a:r>
              <a:rPr lang="en-US" sz="2200" i="1" dirty="0" err="1">
                <a:latin typeface="Times" pitchFamily="2" charset="0"/>
              </a:rPr>
              <a:t>nhiều</a:t>
            </a:r>
            <a:r>
              <a:rPr lang="en-US" sz="2200" i="1" dirty="0">
                <a:latin typeface="Times" pitchFamily="2" charset="0"/>
              </a:rPr>
              <a:t> module </a:t>
            </a:r>
            <a:r>
              <a:rPr lang="en-US" sz="2200" i="1" dirty="0" err="1">
                <a:latin typeface="Times" pitchFamily="2" charset="0"/>
              </a:rPr>
              <a:t>tính</a:t>
            </a:r>
            <a:r>
              <a:rPr lang="en-US" sz="2200" i="1" dirty="0">
                <a:latin typeface="Times" pitchFamily="2" charset="0"/>
              </a:rPr>
              <a:t> </a:t>
            </a:r>
            <a:r>
              <a:rPr lang="en-US" sz="2200" i="1" dirty="0" err="1">
                <a:latin typeface="Times" pitchFamily="2" charset="0"/>
              </a:rPr>
              <a:t>năng</a:t>
            </a:r>
            <a:r>
              <a:rPr lang="en-US" sz="2200" dirty="0">
                <a:latin typeface="Times" pitchFamily="2" charset="0"/>
              </a:rPr>
              <a:t>.</a:t>
            </a:r>
          </a:p>
          <a:p>
            <a:pPr marL="758825" indent="-336550" algn="just">
              <a:buFont typeface="Wingdings" pitchFamily="2" charset="2"/>
              <a:buChar char="§"/>
            </a:pPr>
            <a:r>
              <a:rPr lang="en-US" sz="2200" b="1" i="1" dirty="0">
                <a:latin typeface="Times" pitchFamily="2" charset="0"/>
              </a:rPr>
              <a:t>Components</a:t>
            </a:r>
            <a:r>
              <a:rPr lang="en-US" sz="2200" dirty="0">
                <a:latin typeface="Times" pitchFamily="2" charset="0"/>
              </a:rPr>
              <a:t>: </a:t>
            </a:r>
            <a:r>
              <a:rPr lang="en-US" sz="2200" dirty="0" err="1">
                <a:latin typeface="Times" pitchFamily="2" charset="0"/>
              </a:rPr>
              <a:t>định</a:t>
            </a:r>
            <a:r>
              <a:rPr lang="en-US" sz="2200" dirty="0">
                <a:latin typeface="Times" pitchFamily="2" charset="0"/>
              </a:rPr>
              <a:t> </a:t>
            </a:r>
            <a:r>
              <a:rPr lang="en-US" sz="2200" dirty="0" err="1">
                <a:latin typeface="Times" pitchFamily="2" charset="0"/>
              </a:rPr>
              <a:t>nghĩa</a:t>
            </a:r>
            <a:r>
              <a:rPr lang="en-US" sz="2200" dirty="0">
                <a:latin typeface="Times" pitchFamily="2" charset="0"/>
              </a:rPr>
              <a:t> views (</a:t>
            </a:r>
            <a:r>
              <a:rPr lang="en-US" sz="2200" i="1" dirty="0">
                <a:latin typeface="Times" pitchFamily="2" charset="0"/>
              </a:rPr>
              <a:t>templates</a:t>
            </a:r>
            <a:r>
              <a:rPr lang="en-US" sz="2200" dirty="0">
                <a:latin typeface="Times" pitchFamily="2" charset="0"/>
              </a:rPr>
              <a:t>) </a:t>
            </a:r>
            <a:r>
              <a:rPr lang="en-US" sz="2200" dirty="0" err="1">
                <a:latin typeface="Times" pitchFamily="2" charset="0"/>
              </a:rPr>
              <a:t>hiển</a:t>
            </a:r>
            <a:r>
              <a:rPr lang="en-US" sz="2200" dirty="0">
                <a:latin typeface="Times" pitchFamily="2" charset="0"/>
              </a:rPr>
              <a:t> </a:t>
            </a:r>
            <a:r>
              <a:rPr lang="en-US" sz="2200" dirty="0" err="1">
                <a:latin typeface="Times" pitchFamily="2" charset="0"/>
              </a:rPr>
              <a:t>thị</a:t>
            </a:r>
            <a:r>
              <a:rPr lang="en-US" sz="2200" dirty="0">
                <a:latin typeface="Times" pitchFamily="2" charset="0"/>
              </a:rPr>
              <a:t> </a:t>
            </a:r>
            <a:r>
              <a:rPr lang="en-US" sz="2200" dirty="0" err="1">
                <a:latin typeface="Times" pitchFamily="2" charset="0"/>
              </a:rPr>
              <a:t>dựa</a:t>
            </a:r>
            <a:r>
              <a:rPr lang="en-US" sz="2200" dirty="0">
                <a:latin typeface="Times" pitchFamily="2" charset="0"/>
              </a:rPr>
              <a:t> </a:t>
            </a:r>
            <a:r>
              <a:rPr lang="en-US" sz="2200" dirty="0" err="1">
                <a:latin typeface="Times" pitchFamily="2" charset="0"/>
              </a:rPr>
              <a:t>theo</a:t>
            </a:r>
            <a:r>
              <a:rPr lang="en-US" sz="2200" dirty="0">
                <a:latin typeface="Times" pitchFamily="2" charset="0"/>
              </a:rPr>
              <a:t> logic </a:t>
            </a:r>
            <a:r>
              <a:rPr lang="en-US" sz="2200" dirty="0" err="1">
                <a:latin typeface="Times" pitchFamily="2" charset="0"/>
              </a:rPr>
              <a:t>và</a:t>
            </a:r>
            <a:r>
              <a:rPr lang="en-US" sz="2200" dirty="0">
                <a:latin typeface="Times" pitchFamily="2" charset="0"/>
              </a:rPr>
              <a:t> </a:t>
            </a:r>
            <a:r>
              <a:rPr lang="en-US" sz="2200" dirty="0" err="1">
                <a:latin typeface="Times" pitchFamily="2" charset="0"/>
              </a:rPr>
              <a:t>dữ</a:t>
            </a:r>
            <a:r>
              <a:rPr lang="en-US" sz="2200" dirty="0">
                <a:latin typeface="Times" pitchFamily="2" charset="0"/>
              </a:rPr>
              <a:t> </a:t>
            </a:r>
            <a:r>
              <a:rPr lang="en-US" sz="2200" dirty="0" err="1">
                <a:latin typeface="Times" pitchFamily="2" charset="0"/>
              </a:rPr>
              <a:t>liệu</a:t>
            </a:r>
            <a:r>
              <a:rPr lang="en-US" sz="2200" dirty="0">
                <a:latin typeface="Times" pitchFamily="2" charset="0"/>
              </a:rPr>
              <a:t> </a:t>
            </a:r>
            <a:r>
              <a:rPr lang="en-US" sz="2200" dirty="0" err="1">
                <a:latin typeface="Times" pitchFamily="2" charset="0"/>
              </a:rPr>
              <a:t>được</a:t>
            </a:r>
            <a:r>
              <a:rPr lang="en-US" sz="2200" dirty="0">
                <a:latin typeface="Times" pitchFamily="2" charset="0"/>
              </a:rPr>
              <a:t> </a:t>
            </a:r>
            <a:r>
              <a:rPr lang="en-US" sz="2200" dirty="0" err="1">
                <a:latin typeface="Times" pitchFamily="2" charset="0"/>
              </a:rPr>
              <a:t>xử</a:t>
            </a:r>
            <a:r>
              <a:rPr lang="en-US" sz="2200" dirty="0">
                <a:latin typeface="Times" pitchFamily="2" charset="0"/>
              </a:rPr>
              <a:t> </a:t>
            </a:r>
            <a:r>
              <a:rPr lang="en-US" sz="2200" dirty="0" err="1">
                <a:latin typeface="Times" pitchFamily="2" charset="0"/>
              </a:rPr>
              <a:t>lý</a:t>
            </a:r>
            <a:r>
              <a:rPr lang="en-US" sz="2200" dirty="0">
                <a:latin typeface="Times" pitchFamily="2" charset="0"/>
              </a:rPr>
              <a:t>. </a:t>
            </a:r>
          </a:p>
          <a:p>
            <a:pPr marL="758825" indent="-336550" algn="just">
              <a:buFont typeface="Wingdings" pitchFamily="2" charset="2"/>
              <a:buChar char="§"/>
            </a:pPr>
            <a:r>
              <a:rPr lang="en-US" sz="2200" dirty="0">
                <a:latin typeface="Times" pitchFamily="2" charset="0"/>
              </a:rPr>
              <a:t>Components </a:t>
            </a:r>
            <a:r>
              <a:rPr lang="en-US" sz="2200" dirty="0" err="1">
                <a:latin typeface="Times" pitchFamily="2" charset="0"/>
              </a:rPr>
              <a:t>sử</a:t>
            </a:r>
            <a:r>
              <a:rPr lang="en-US" sz="2200" dirty="0">
                <a:latin typeface="Times" pitchFamily="2" charset="0"/>
              </a:rPr>
              <a:t> </a:t>
            </a:r>
            <a:r>
              <a:rPr lang="en-US" sz="2200" dirty="0" err="1">
                <a:latin typeface="Times" pitchFamily="2" charset="0"/>
              </a:rPr>
              <a:t>dụng</a:t>
            </a:r>
            <a:r>
              <a:rPr lang="en-US" sz="2200" dirty="0">
                <a:latin typeface="Times" pitchFamily="2" charset="0"/>
              </a:rPr>
              <a:t> </a:t>
            </a:r>
            <a:r>
              <a:rPr lang="en-US" sz="2200" b="1" i="1" dirty="0">
                <a:latin typeface="Times" pitchFamily="2" charset="0"/>
              </a:rPr>
              <a:t>services</a:t>
            </a:r>
            <a:r>
              <a:rPr lang="en-US" sz="2200" dirty="0">
                <a:latin typeface="Times" pitchFamily="2" charset="0"/>
              </a:rPr>
              <a:t>. </a:t>
            </a:r>
            <a:r>
              <a:rPr lang="en-US" sz="2200" dirty="0" err="1">
                <a:latin typeface="Times" pitchFamily="2" charset="0"/>
              </a:rPr>
              <a:t>Lớp</a:t>
            </a:r>
            <a:r>
              <a:rPr lang="en-US" sz="2200" dirty="0">
                <a:latin typeface="Times" pitchFamily="2" charset="0"/>
              </a:rPr>
              <a:t> </a:t>
            </a:r>
            <a:r>
              <a:rPr lang="en-US" sz="2200" i="1" dirty="0">
                <a:latin typeface="Times" pitchFamily="2" charset="0"/>
              </a:rPr>
              <a:t>services</a:t>
            </a:r>
            <a:r>
              <a:rPr lang="en-US" sz="2200" dirty="0">
                <a:latin typeface="Times" pitchFamily="2" charset="0"/>
              </a:rPr>
              <a:t> </a:t>
            </a:r>
            <a:r>
              <a:rPr lang="en-US" sz="2200" dirty="0" err="1">
                <a:latin typeface="Times" pitchFamily="2" charset="0"/>
              </a:rPr>
              <a:t>cung</a:t>
            </a:r>
            <a:r>
              <a:rPr lang="en-US" sz="2200" dirty="0">
                <a:latin typeface="Times" pitchFamily="2" charset="0"/>
              </a:rPr>
              <a:t> </a:t>
            </a:r>
            <a:r>
              <a:rPr lang="en-US" sz="2200" dirty="0" err="1">
                <a:latin typeface="Times" pitchFamily="2" charset="0"/>
              </a:rPr>
              <a:t>cấp</a:t>
            </a:r>
            <a:r>
              <a:rPr lang="en-US" sz="2200" dirty="0">
                <a:latin typeface="Times" pitchFamily="2" charset="0"/>
              </a:rPr>
              <a:t> </a:t>
            </a:r>
            <a:r>
              <a:rPr lang="en-US" sz="2200" dirty="0" err="1">
                <a:latin typeface="Times" pitchFamily="2" charset="0"/>
              </a:rPr>
              <a:t>các</a:t>
            </a:r>
            <a:r>
              <a:rPr lang="en-US" sz="2200" dirty="0">
                <a:latin typeface="Times" pitchFamily="2" charset="0"/>
              </a:rPr>
              <a:t> </a:t>
            </a:r>
            <a:r>
              <a:rPr lang="en-US" sz="2200" dirty="0" err="1">
                <a:latin typeface="Times" pitchFamily="2" charset="0"/>
              </a:rPr>
              <a:t>chức</a:t>
            </a:r>
            <a:r>
              <a:rPr lang="en-US" sz="2200" dirty="0">
                <a:latin typeface="Times" pitchFamily="2" charset="0"/>
              </a:rPr>
              <a:t> </a:t>
            </a:r>
            <a:r>
              <a:rPr lang="en-US" sz="2200" dirty="0" err="1">
                <a:latin typeface="Times" pitchFamily="2" charset="0"/>
              </a:rPr>
              <a:t>năng</a:t>
            </a:r>
            <a:r>
              <a:rPr lang="en-US" sz="2200" dirty="0">
                <a:latin typeface="Times" pitchFamily="2" charset="0"/>
              </a:rPr>
              <a:t> </a:t>
            </a:r>
            <a:r>
              <a:rPr lang="en-US" sz="2200" dirty="0" err="1">
                <a:latin typeface="Times" pitchFamily="2" charset="0"/>
              </a:rPr>
              <a:t>cụ</a:t>
            </a:r>
            <a:r>
              <a:rPr lang="en-US" sz="2200" dirty="0">
                <a:latin typeface="Times" pitchFamily="2" charset="0"/>
              </a:rPr>
              <a:t> </a:t>
            </a:r>
            <a:r>
              <a:rPr lang="en-US" sz="2200" dirty="0" err="1">
                <a:latin typeface="Times" pitchFamily="2" charset="0"/>
              </a:rPr>
              <a:t>thể</a:t>
            </a:r>
            <a:r>
              <a:rPr lang="en-US" sz="2200" dirty="0">
                <a:latin typeface="Times" pitchFamily="2" charset="0"/>
              </a:rPr>
              <a:t> </a:t>
            </a:r>
            <a:r>
              <a:rPr lang="en-US" sz="2200" dirty="0" err="1">
                <a:latin typeface="Times" pitchFamily="2" charset="0"/>
              </a:rPr>
              <a:t>có</a:t>
            </a:r>
            <a:r>
              <a:rPr lang="en-US" sz="2200" dirty="0">
                <a:latin typeface="Times" pitchFamily="2" charset="0"/>
              </a:rPr>
              <a:t> </a:t>
            </a:r>
            <a:r>
              <a:rPr lang="en-US" sz="2200" dirty="0" err="1">
                <a:latin typeface="Times" pitchFamily="2" charset="0"/>
              </a:rPr>
              <a:t>thể</a:t>
            </a:r>
            <a:r>
              <a:rPr lang="en-US" sz="2200" dirty="0">
                <a:latin typeface="Times" pitchFamily="2" charset="0"/>
              </a:rPr>
              <a:t> </a:t>
            </a:r>
            <a:r>
              <a:rPr lang="en-US" sz="2200" dirty="0" err="1">
                <a:latin typeface="Times" pitchFamily="2" charset="0"/>
              </a:rPr>
              <a:t>được</a:t>
            </a:r>
            <a:r>
              <a:rPr lang="en-US" sz="2200" dirty="0">
                <a:latin typeface="Times" pitchFamily="2" charset="0"/>
              </a:rPr>
              <a:t> </a:t>
            </a:r>
            <a:r>
              <a:rPr lang="en-US" sz="2200" dirty="0" err="1">
                <a:latin typeface="Times" pitchFamily="2" charset="0"/>
              </a:rPr>
              <a:t>tái</a:t>
            </a:r>
            <a:r>
              <a:rPr lang="en-US" sz="2200" dirty="0">
                <a:latin typeface="Times" pitchFamily="2" charset="0"/>
              </a:rPr>
              <a:t> </a:t>
            </a:r>
            <a:r>
              <a:rPr lang="en-US" sz="2200" dirty="0" err="1">
                <a:latin typeface="Times" pitchFamily="2" charset="0"/>
              </a:rPr>
              <a:t>sử</a:t>
            </a:r>
            <a:r>
              <a:rPr lang="en-US" sz="2200" dirty="0">
                <a:latin typeface="Times" pitchFamily="2" charset="0"/>
              </a:rPr>
              <a:t> </a:t>
            </a:r>
            <a:r>
              <a:rPr lang="en-US" sz="2200" dirty="0" err="1">
                <a:latin typeface="Times" pitchFamily="2" charset="0"/>
              </a:rPr>
              <a:t>dụng</a:t>
            </a:r>
            <a:r>
              <a:rPr lang="en-US" sz="2200" dirty="0">
                <a:latin typeface="Times" pitchFamily="2" charset="0"/>
              </a:rPr>
              <a:t> </a:t>
            </a:r>
            <a:r>
              <a:rPr lang="en-US" sz="2200" dirty="0" err="1">
                <a:latin typeface="Times" pitchFamily="2" charset="0"/>
              </a:rPr>
              <a:t>trong</a:t>
            </a:r>
            <a:r>
              <a:rPr lang="en-US" sz="2200" dirty="0">
                <a:latin typeface="Times" pitchFamily="2" charset="0"/>
              </a:rPr>
              <a:t> </a:t>
            </a:r>
            <a:r>
              <a:rPr lang="en-US" sz="2200" dirty="0" err="1">
                <a:latin typeface="Times" pitchFamily="2" charset="0"/>
              </a:rPr>
              <a:t>nhiều</a:t>
            </a:r>
            <a:r>
              <a:rPr lang="en-US" sz="2200" dirty="0">
                <a:latin typeface="Times" pitchFamily="2" charset="0"/>
              </a:rPr>
              <a:t> components.</a:t>
            </a:r>
          </a:p>
        </p:txBody>
      </p:sp>
      <p:grpSp>
        <p:nvGrpSpPr>
          <p:cNvPr id="27" name="Group 26">
            <a:extLst>
              <a:ext uri="{FF2B5EF4-FFF2-40B4-BE49-F238E27FC236}">
                <a16:creationId xmlns:a16="http://schemas.microsoft.com/office/drawing/2014/main" id="{A75D6082-AF71-1477-8792-0F3B789CCE61}"/>
              </a:ext>
            </a:extLst>
          </p:cNvPr>
          <p:cNvGrpSpPr/>
          <p:nvPr/>
        </p:nvGrpSpPr>
        <p:grpSpPr>
          <a:xfrm>
            <a:off x="2834640" y="3547503"/>
            <a:ext cx="4648200" cy="2860152"/>
            <a:chOff x="2971800" y="4016958"/>
            <a:chExt cx="4648200" cy="2860152"/>
          </a:xfrm>
        </p:grpSpPr>
        <p:sp>
          <p:nvSpPr>
            <p:cNvPr id="28" name="Rounded Rectangle 2">
              <a:extLst>
                <a:ext uri="{FF2B5EF4-FFF2-40B4-BE49-F238E27FC236}">
                  <a16:creationId xmlns:a16="http://schemas.microsoft.com/office/drawing/2014/main" id="{2E37164A-9644-D982-9C71-8878D410C6AD}"/>
                </a:ext>
              </a:extLst>
            </p:cNvPr>
            <p:cNvSpPr/>
            <p:nvPr/>
          </p:nvSpPr>
          <p:spPr>
            <a:xfrm>
              <a:off x="3276600" y="4419600"/>
              <a:ext cx="1295400" cy="609600"/>
            </a:xfrm>
            <a:prstGeom prst="roundRect">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white"/>
                  </a:solidFill>
                  <a:effectLst/>
                  <a:uLnTx/>
                  <a:uFillTx/>
                  <a:latin typeface="Georgia"/>
                  <a:ea typeface="+mn-ea"/>
                  <a:cs typeface="+mn-cs"/>
                </a:rPr>
                <a:t>Module</a:t>
              </a:r>
            </a:p>
          </p:txBody>
        </p:sp>
        <p:sp>
          <p:nvSpPr>
            <p:cNvPr id="29" name="Rounded Rectangle 9">
              <a:extLst>
                <a:ext uri="{FF2B5EF4-FFF2-40B4-BE49-F238E27FC236}">
                  <a16:creationId xmlns:a16="http://schemas.microsoft.com/office/drawing/2014/main" id="{BF7F9A8C-F803-973F-F66F-5A1365864A3C}"/>
                </a:ext>
              </a:extLst>
            </p:cNvPr>
            <p:cNvSpPr/>
            <p:nvPr/>
          </p:nvSpPr>
          <p:spPr>
            <a:xfrm>
              <a:off x="6110614" y="4419600"/>
              <a:ext cx="1295400" cy="609600"/>
            </a:xfrm>
            <a:prstGeom prst="roundRect">
              <a:avLst/>
            </a:prstGeom>
            <a:gradFill flip="none" rotWithShape="1">
              <a:gsLst>
                <a:gs pos="0">
                  <a:sysClr val="windowText" lastClr="000000">
                    <a:lumMod val="67000"/>
                  </a:sysClr>
                </a:gs>
                <a:gs pos="48000">
                  <a:sysClr val="windowText" lastClr="000000">
                    <a:lumMod val="97000"/>
                    <a:lumOff val="3000"/>
                  </a:sysClr>
                </a:gs>
                <a:gs pos="100000">
                  <a:sysClr val="windowText" lastClr="000000">
                    <a:lumMod val="60000"/>
                    <a:lumOff val="40000"/>
                  </a:sys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white"/>
                  </a:solidFill>
                  <a:effectLst/>
                  <a:uLnTx/>
                  <a:uFillTx/>
                  <a:latin typeface="Georgia"/>
                  <a:ea typeface="+mn-ea"/>
                  <a:cs typeface="+mn-cs"/>
                </a:rPr>
                <a:t>Module</a:t>
              </a:r>
            </a:p>
          </p:txBody>
        </p:sp>
        <p:sp>
          <p:nvSpPr>
            <p:cNvPr id="30" name="TextBox 29">
              <a:extLst>
                <a:ext uri="{FF2B5EF4-FFF2-40B4-BE49-F238E27FC236}">
                  <a16:creationId xmlns:a16="http://schemas.microsoft.com/office/drawing/2014/main" id="{F1714AC7-F864-8900-2AF6-7A34371A7B80}"/>
                </a:ext>
              </a:extLst>
            </p:cNvPr>
            <p:cNvSpPr txBox="1"/>
            <p:nvPr/>
          </p:nvSpPr>
          <p:spPr>
            <a:xfrm>
              <a:off x="3484972" y="5456085"/>
              <a:ext cx="800219"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4800" b="0" i="0" u="none" strike="noStrike" kern="1200" cap="none" spc="0" normalizeH="0" baseline="0" noProof="0">
                  <a:ln>
                    <a:noFill/>
                  </a:ln>
                  <a:solidFill>
                    <a:prstClr val="black"/>
                  </a:solidFill>
                  <a:effectLst/>
                  <a:uLnTx/>
                  <a:uFillTx/>
                  <a:latin typeface="Georgia"/>
                  <a:ea typeface="+mn-ea"/>
                  <a:cs typeface="+mn-cs"/>
                </a:rPr>
                <a:t>👥</a:t>
              </a:r>
            </a:p>
          </p:txBody>
        </p:sp>
        <p:sp>
          <p:nvSpPr>
            <p:cNvPr id="31" name="TextBox 30">
              <a:extLst>
                <a:ext uri="{FF2B5EF4-FFF2-40B4-BE49-F238E27FC236}">
                  <a16:creationId xmlns:a16="http://schemas.microsoft.com/office/drawing/2014/main" id="{B9612AEC-9395-9F4F-EC49-077601EB2A06}"/>
                </a:ext>
              </a:extLst>
            </p:cNvPr>
            <p:cNvSpPr txBox="1"/>
            <p:nvPr/>
          </p:nvSpPr>
          <p:spPr>
            <a:xfrm>
              <a:off x="6460794" y="5462245"/>
              <a:ext cx="800219"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4800" b="0" i="0" u="none" strike="noStrike" kern="1200" cap="none" spc="0" normalizeH="0" baseline="0" noProof="0">
                  <a:ln>
                    <a:noFill/>
                  </a:ln>
                  <a:solidFill>
                    <a:prstClr val="black"/>
                  </a:solidFill>
                  <a:effectLst/>
                  <a:uLnTx/>
                  <a:uFillTx/>
                  <a:latin typeface="Georgia"/>
                  <a:ea typeface="+mn-ea"/>
                  <a:cs typeface="+mn-cs"/>
                </a:rPr>
                <a:t>👥</a:t>
              </a:r>
            </a:p>
          </p:txBody>
        </p:sp>
        <p:sp>
          <p:nvSpPr>
            <p:cNvPr id="32" name="TextBox 31">
              <a:extLst>
                <a:ext uri="{FF2B5EF4-FFF2-40B4-BE49-F238E27FC236}">
                  <a16:creationId xmlns:a16="http://schemas.microsoft.com/office/drawing/2014/main" id="{25E60391-2EEA-9EBF-F3C1-47CFE501815C}"/>
                </a:ext>
              </a:extLst>
            </p:cNvPr>
            <p:cNvSpPr txBox="1"/>
            <p:nvPr/>
          </p:nvSpPr>
          <p:spPr>
            <a:xfrm>
              <a:off x="3613958" y="6052804"/>
              <a:ext cx="62068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black"/>
                  </a:solidFill>
                  <a:effectLst/>
                  <a:uLnTx/>
                  <a:uFillTx/>
                  <a:latin typeface="Times" pitchFamily="2" charset="0"/>
                  <a:ea typeface="+mn-ea"/>
                  <a:cs typeface="+mn-cs"/>
                </a:rPr>
                <a:t>User</a:t>
              </a:r>
            </a:p>
          </p:txBody>
        </p:sp>
        <p:sp>
          <p:nvSpPr>
            <p:cNvPr id="33" name="TextBox 32">
              <a:extLst>
                <a:ext uri="{FF2B5EF4-FFF2-40B4-BE49-F238E27FC236}">
                  <a16:creationId xmlns:a16="http://schemas.microsoft.com/office/drawing/2014/main" id="{0822AA7C-7430-F849-0AA3-8236E5C7872B}"/>
                </a:ext>
              </a:extLst>
            </p:cNvPr>
            <p:cNvSpPr txBox="1"/>
            <p:nvPr/>
          </p:nvSpPr>
          <p:spPr>
            <a:xfrm>
              <a:off x="6488630" y="6052804"/>
              <a:ext cx="825867"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black"/>
                  </a:solidFill>
                  <a:effectLst/>
                  <a:uLnTx/>
                  <a:uFillTx/>
                  <a:latin typeface="Times" pitchFamily="2" charset="0"/>
                  <a:ea typeface="+mn-ea"/>
                  <a:cs typeface="+mn-cs"/>
                </a:rPr>
                <a:t>Admin</a:t>
              </a:r>
            </a:p>
          </p:txBody>
        </p:sp>
        <p:cxnSp>
          <p:nvCxnSpPr>
            <p:cNvPr id="34" name="Straight Arrow Connector 33">
              <a:extLst>
                <a:ext uri="{FF2B5EF4-FFF2-40B4-BE49-F238E27FC236}">
                  <a16:creationId xmlns:a16="http://schemas.microsoft.com/office/drawing/2014/main" id="{FB189B03-FAE6-234E-EBC1-069851CBCB1F}"/>
                </a:ext>
              </a:extLst>
            </p:cNvPr>
            <p:cNvCxnSpPr>
              <a:stCxn id="28" idx="3"/>
              <a:endCxn id="29" idx="1"/>
            </p:cNvCxnSpPr>
            <p:nvPr/>
          </p:nvCxnSpPr>
          <p:spPr>
            <a:xfrm>
              <a:off x="4572000" y="4724400"/>
              <a:ext cx="1538614" cy="0"/>
            </a:xfrm>
            <a:prstGeom prst="straightConnector1">
              <a:avLst/>
            </a:prstGeom>
            <a:noFill/>
            <a:ln w="9525" cap="flat" cmpd="sng" algn="ctr">
              <a:solidFill>
                <a:srgbClr val="17406D">
                  <a:lumMod val="75000"/>
                </a:srgbClr>
              </a:solidFill>
              <a:prstDash val="solid"/>
              <a:headEnd type="triangle"/>
              <a:tailEnd type="triangle"/>
            </a:ln>
            <a:effectLst/>
          </p:spPr>
        </p:cxnSp>
        <p:sp>
          <p:nvSpPr>
            <p:cNvPr id="35" name="TextBox 34">
              <a:extLst>
                <a:ext uri="{FF2B5EF4-FFF2-40B4-BE49-F238E27FC236}">
                  <a16:creationId xmlns:a16="http://schemas.microsoft.com/office/drawing/2014/main" id="{40146286-0DCD-D3D3-31E5-57143177E5BA}"/>
                </a:ext>
              </a:extLst>
            </p:cNvPr>
            <p:cNvSpPr txBox="1"/>
            <p:nvPr/>
          </p:nvSpPr>
          <p:spPr>
            <a:xfrm>
              <a:off x="4605074" y="5271556"/>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Times" pitchFamily="2" charset="0"/>
                  <a:ea typeface="+mn-ea"/>
                  <a:cs typeface="+mn-cs"/>
                </a:rPr>
                <a:t>Import/Export</a:t>
              </a:r>
            </a:p>
          </p:txBody>
        </p:sp>
        <p:sp>
          <p:nvSpPr>
            <p:cNvPr id="36" name="Rectangle 35">
              <a:extLst>
                <a:ext uri="{FF2B5EF4-FFF2-40B4-BE49-F238E27FC236}">
                  <a16:creationId xmlns:a16="http://schemas.microsoft.com/office/drawing/2014/main" id="{56B4AF02-E1F9-C9AB-38E6-93CE591B04DA}"/>
                </a:ext>
              </a:extLst>
            </p:cNvPr>
            <p:cNvSpPr/>
            <p:nvPr/>
          </p:nvSpPr>
          <p:spPr>
            <a:xfrm>
              <a:off x="2971800" y="4017264"/>
              <a:ext cx="4648200" cy="2459736"/>
            </a:xfrm>
            <a:prstGeom prst="rect">
              <a:avLst/>
            </a:prstGeom>
            <a:noFill/>
            <a:ln w="19050" cap="flat" cmpd="sng" algn="ctr">
              <a:solidFill>
                <a:srgbClr val="DBEFF9">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37" name="TextBox 36">
              <a:extLst>
                <a:ext uri="{FF2B5EF4-FFF2-40B4-BE49-F238E27FC236}">
                  <a16:creationId xmlns:a16="http://schemas.microsoft.com/office/drawing/2014/main" id="{9DC0FEF4-662E-EE68-F905-33FF60FC6242}"/>
                </a:ext>
              </a:extLst>
            </p:cNvPr>
            <p:cNvSpPr txBox="1"/>
            <p:nvPr/>
          </p:nvSpPr>
          <p:spPr>
            <a:xfrm>
              <a:off x="4605074" y="4016958"/>
              <a:ext cx="1569982"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2000" b="1" i="0" u="none" strike="noStrike" kern="1200" cap="none" spc="0" normalizeH="0" baseline="0" noProof="0">
                  <a:ln>
                    <a:noFill/>
                  </a:ln>
                  <a:solidFill>
                    <a:prstClr val="black"/>
                  </a:solidFill>
                  <a:effectLst/>
                  <a:uLnTx/>
                  <a:uFillTx/>
                  <a:latin typeface="Times" pitchFamily="2" charset="0"/>
                  <a:ea typeface="+mn-ea"/>
                  <a:cs typeface="+mn-cs"/>
                </a:rPr>
                <a:t>Angular app</a:t>
              </a:r>
            </a:p>
          </p:txBody>
        </p:sp>
        <p:sp>
          <p:nvSpPr>
            <p:cNvPr id="38" name="TextBox 37">
              <a:extLst>
                <a:ext uri="{FF2B5EF4-FFF2-40B4-BE49-F238E27FC236}">
                  <a16:creationId xmlns:a16="http://schemas.microsoft.com/office/drawing/2014/main" id="{FC1D75BC-FDFE-8E14-E14A-773BF9702D11}"/>
                </a:ext>
              </a:extLst>
            </p:cNvPr>
            <p:cNvSpPr txBox="1"/>
            <p:nvPr/>
          </p:nvSpPr>
          <p:spPr>
            <a:xfrm>
              <a:off x="4243757" y="6477000"/>
              <a:ext cx="2321469"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2000" b="1" i="0" u="none" strike="noStrike" kern="1200" cap="none" spc="0" normalizeH="0" baseline="0" noProof="0">
                  <a:ln>
                    <a:noFill/>
                  </a:ln>
                  <a:solidFill>
                    <a:prstClr val="black"/>
                  </a:solidFill>
                  <a:effectLst/>
                  <a:uLnTx/>
                  <a:uFillTx/>
                  <a:latin typeface="Times" pitchFamily="2" charset="0"/>
                  <a:ea typeface="+mn-ea"/>
                  <a:cs typeface="+mn-cs"/>
                </a:rPr>
                <a:t>App (Root) Module</a:t>
              </a:r>
            </a:p>
          </p:txBody>
        </p:sp>
      </p:grpSp>
      <p:grpSp>
        <p:nvGrpSpPr>
          <p:cNvPr id="39" name="Group 38">
            <a:extLst>
              <a:ext uri="{FF2B5EF4-FFF2-40B4-BE49-F238E27FC236}">
                <a16:creationId xmlns:a16="http://schemas.microsoft.com/office/drawing/2014/main" id="{F8C43610-2B91-E863-E23F-1FB855281543}"/>
              </a:ext>
            </a:extLst>
          </p:cNvPr>
          <p:cNvGrpSpPr/>
          <p:nvPr/>
        </p:nvGrpSpPr>
        <p:grpSpPr>
          <a:xfrm>
            <a:off x="8092440" y="3547503"/>
            <a:ext cx="2594646" cy="2500488"/>
            <a:chOff x="8225754" y="3921648"/>
            <a:chExt cx="2594646" cy="2500488"/>
          </a:xfrm>
        </p:grpSpPr>
        <p:sp>
          <p:nvSpPr>
            <p:cNvPr id="40" name="Rounded Rectangle 21">
              <a:extLst>
                <a:ext uri="{FF2B5EF4-FFF2-40B4-BE49-F238E27FC236}">
                  <a16:creationId xmlns:a16="http://schemas.microsoft.com/office/drawing/2014/main" id="{BBF74F3A-719E-C653-B7A0-D838CC666CCD}"/>
                </a:ext>
              </a:extLst>
            </p:cNvPr>
            <p:cNvSpPr/>
            <p:nvPr/>
          </p:nvSpPr>
          <p:spPr>
            <a:xfrm>
              <a:off x="8225754" y="3921648"/>
              <a:ext cx="2594646" cy="2500488"/>
            </a:xfrm>
            <a:prstGeom prst="roundRect">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41" name="TextBox 40">
              <a:extLst>
                <a:ext uri="{FF2B5EF4-FFF2-40B4-BE49-F238E27FC236}">
                  <a16:creationId xmlns:a16="http://schemas.microsoft.com/office/drawing/2014/main" id="{B9AE9EA2-9DC9-746D-8CE2-E7E31F701AC4}"/>
                </a:ext>
              </a:extLst>
            </p:cNvPr>
            <p:cNvSpPr txBox="1"/>
            <p:nvPr/>
          </p:nvSpPr>
          <p:spPr>
            <a:xfrm>
              <a:off x="9035849" y="3971835"/>
              <a:ext cx="1024639"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2000" b="1" i="0" u="none" strike="noStrike" kern="1200" cap="none" spc="0" normalizeH="0" baseline="0" noProof="0">
                  <a:ln>
                    <a:noFill/>
                  </a:ln>
                  <a:solidFill>
                    <a:prstClr val="white"/>
                  </a:solidFill>
                  <a:effectLst/>
                  <a:uLnTx/>
                  <a:uFillTx/>
                  <a:latin typeface="Times" pitchFamily="2" charset="0"/>
                  <a:ea typeface="+mn-ea"/>
                  <a:cs typeface="+mn-cs"/>
                </a:rPr>
                <a:t>Module</a:t>
              </a:r>
            </a:p>
          </p:txBody>
        </p:sp>
        <p:sp>
          <p:nvSpPr>
            <p:cNvPr id="42" name="Rounded Rectangle 25">
              <a:extLst>
                <a:ext uri="{FF2B5EF4-FFF2-40B4-BE49-F238E27FC236}">
                  <a16:creationId xmlns:a16="http://schemas.microsoft.com/office/drawing/2014/main" id="{EA2A04B6-5526-470D-CBDD-EBE17CEE3435}"/>
                </a:ext>
              </a:extLst>
            </p:cNvPr>
            <p:cNvSpPr/>
            <p:nvPr/>
          </p:nvSpPr>
          <p:spPr>
            <a:xfrm>
              <a:off x="8736006" y="4648200"/>
              <a:ext cx="1624322" cy="438090"/>
            </a:xfrm>
            <a:prstGeom prst="roundRect">
              <a:avLst/>
            </a:prstGeom>
            <a:solidFill>
              <a:sysClr val="window" lastClr="FFFFFF"/>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sysClr val="windowText" lastClr="000000"/>
                  </a:solidFill>
                  <a:effectLst/>
                  <a:uLnTx/>
                  <a:uFillTx/>
                  <a:latin typeface="Georgia"/>
                  <a:ea typeface="+mn-ea"/>
                  <a:cs typeface="+mn-cs"/>
                </a:rPr>
                <a:t>Component</a:t>
              </a:r>
            </a:p>
          </p:txBody>
        </p:sp>
        <p:sp>
          <p:nvSpPr>
            <p:cNvPr id="43" name="Rounded Rectangle 26">
              <a:extLst>
                <a:ext uri="{FF2B5EF4-FFF2-40B4-BE49-F238E27FC236}">
                  <a16:creationId xmlns:a16="http://schemas.microsoft.com/office/drawing/2014/main" id="{162972DA-1426-6BB4-C869-6BEB4ECBE207}"/>
                </a:ext>
              </a:extLst>
            </p:cNvPr>
            <p:cNvSpPr/>
            <p:nvPr/>
          </p:nvSpPr>
          <p:spPr>
            <a:xfrm>
              <a:off x="8750816" y="5410230"/>
              <a:ext cx="1624322" cy="438090"/>
            </a:xfrm>
            <a:prstGeom prst="roundRect">
              <a:avLst/>
            </a:prstGeom>
            <a:solidFill>
              <a:sysClr val="window" lastClr="FFFFFF"/>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sysClr val="windowText" lastClr="000000"/>
                  </a:solidFill>
                  <a:effectLst/>
                  <a:uLnTx/>
                  <a:uFillTx/>
                  <a:latin typeface="Georgia"/>
                  <a:ea typeface="+mn-ea"/>
                  <a:cs typeface="+mn-cs"/>
                </a:rPr>
                <a:t>Services</a:t>
              </a:r>
            </a:p>
          </p:txBody>
        </p:sp>
      </p:grpSp>
    </p:spTree>
    <p:extLst>
      <p:ext uri="{BB962C8B-B14F-4D97-AF65-F5344CB8AC3E}">
        <p14:creationId xmlns:p14="http://schemas.microsoft.com/office/powerpoint/2010/main" val="1021031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A8B374D-3437-2D7E-9CF0-86EF4FA797F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3535929-6A91-EA5C-E59F-85569231289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0D0DF6A-7F98-7E15-EA03-9E33B8021FE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2" name="Group 1">
            <a:extLst>
              <a:ext uri="{FF2B5EF4-FFF2-40B4-BE49-F238E27FC236}">
                <a16:creationId xmlns:a16="http://schemas.microsoft.com/office/drawing/2014/main" id="{0588056C-084F-B816-1094-C9F2875FFCA0}"/>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F832EB26-4358-A5BD-52D4-C3E031F70536}"/>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1.3.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Kiến trúc thành phần trong Angular</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C49804C-F722-A423-3D8E-C31AC9AA136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CD4AFAC-A613-5081-BB0D-E560A6B81A2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3F9137F-B396-D1A8-F1FF-65F8A94C93E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59719EE-D5E6-EED6-8D17-347994C09A4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2F98F43-CC57-7830-D485-3D7F566BCD94}"/>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1.3.2. Modules</a:t>
            </a:r>
          </a:p>
        </p:txBody>
      </p:sp>
      <p:sp>
        <p:nvSpPr>
          <p:cNvPr id="8" name="Content Placeholder 2">
            <a:extLst>
              <a:ext uri="{FF2B5EF4-FFF2-40B4-BE49-F238E27FC236}">
                <a16:creationId xmlns:a16="http://schemas.microsoft.com/office/drawing/2014/main" id="{BD5FE72E-C5A7-9982-70A9-91B990BB6935}"/>
              </a:ext>
            </a:extLst>
          </p:cNvPr>
          <p:cNvSpPr txBox="1">
            <a:spLocks/>
          </p:cNvSpPr>
          <p:nvPr/>
        </p:nvSpPr>
        <p:spPr>
          <a:xfrm>
            <a:off x="564686" y="1267460"/>
            <a:ext cx="9893540" cy="17613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Angular app</a:t>
            </a:r>
            <a:r>
              <a:rPr lang="en-US" sz="2200" dirty="0">
                <a:latin typeface="Times New Roman" panose="02020603050405020304" pitchFamily="18" charset="0"/>
                <a:cs typeface="Times New Roman" panose="02020603050405020304" pitchFamily="18" charset="0"/>
              </a:rPr>
              <a:t>: bao </a:t>
            </a:r>
            <a:r>
              <a:rPr lang="en-US" sz="2200" dirty="0" err="1">
                <a:latin typeface="Times New Roman" panose="02020603050405020304" pitchFamily="18" charset="0"/>
                <a:cs typeface="Times New Roman" panose="02020603050405020304" pitchFamily="18" charset="0"/>
              </a:rPr>
              <a:t>gồm</a:t>
            </a:r>
            <a:r>
              <a:rPr lang="en-US" sz="2200" dirty="0">
                <a:latin typeface="Times New Roman" panose="02020603050405020304" pitchFamily="18" charset="0"/>
                <a:cs typeface="Times New Roman" panose="02020603050405020304" pitchFamily="18" charset="0"/>
              </a:rPr>
              <a:t> 1 </a:t>
            </a:r>
            <a:r>
              <a:rPr lang="en-US" sz="2200" dirty="0" err="1">
                <a:latin typeface="Times New Roman" panose="02020603050405020304" pitchFamily="18" charset="0"/>
                <a:cs typeface="Times New Roman" panose="02020603050405020304" pitchFamily="18" charset="0"/>
              </a:rPr>
              <a:t>hoặc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nhiều</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module</a:t>
            </a:r>
          </a:p>
          <a:p>
            <a:pPr algn="just">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Module</a:t>
            </a:r>
            <a:r>
              <a:rPr lang="en-US" sz="2200" dirty="0">
                <a:latin typeface="Times New Roman" panose="02020603050405020304" pitchFamily="18" charset="0"/>
                <a:cs typeface="Times New Roman" panose="02020603050405020304" pitchFamily="18" charset="0"/>
              </a:rPr>
              <a:t>: bao </a:t>
            </a:r>
            <a:r>
              <a:rPr lang="en-US" sz="2200" dirty="0" err="1">
                <a:latin typeface="Times New Roman" panose="02020603050405020304" pitchFamily="18" charset="0"/>
                <a:cs typeface="Times New Roman" panose="02020603050405020304" pitchFamily="18" charset="0"/>
              </a:rPr>
              <a:t>gồm</a:t>
            </a:r>
            <a:r>
              <a:rPr lang="en-US" sz="2200" dirty="0">
                <a:latin typeface="Times New Roman" panose="02020603050405020304" pitchFamily="18" charset="0"/>
                <a:cs typeface="Times New Roman" panose="02020603050405020304" pitchFamily="18" charset="0"/>
              </a:rPr>
              <a:t> 1 </a:t>
            </a:r>
            <a:r>
              <a:rPr lang="en-US" sz="2200" dirty="0" err="1">
                <a:latin typeface="Times New Roman" panose="02020603050405020304" pitchFamily="18" charset="0"/>
                <a:cs typeface="Times New Roman" panose="02020603050405020304" pitchFamily="18" charset="0"/>
              </a:rPr>
              <a:t>hoặc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nhiều</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components</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services</a:t>
            </a:r>
          </a:p>
          <a:p>
            <a:pPr marL="854075" indent="-333375" algn="just">
              <a:buFont typeface="Wingdings" pitchFamily="2" charset="2"/>
              <a:buChar char="§"/>
            </a:pPr>
            <a:r>
              <a:rPr lang="en-US" sz="2200" b="1" i="1" dirty="0">
                <a:latin typeface="Times New Roman" panose="02020603050405020304" pitchFamily="18" charset="0"/>
                <a:cs typeface="Times New Roman" panose="02020603050405020304" pitchFamily="18" charset="0"/>
              </a:rPr>
              <a:t>Component</a:t>
            </a:r>
            <a:r>
              <a:rPr lang="en-US" sz="2200" i="1" dirty="0">
                <a:latin typeface="Times New Roman" panose="02020603050405020304" pitchFamily="18" charset="0"/>
                <a:cs typeface="Times New Roman" panose="02020603050405020304" pitchFamily="18" charset="0"/>
              </a:rPr>
              <a:t>: Html + Class</a:t>
            </a:r>
          </a:p>
          <a:p>
            <a:pPr marL="854075" indent="-333375" algn="just">
              <a:buFont typeface="Wingdings" pitchFamily="2" charset="2"/>
              <a:buChar char="§"/>
            </a:pPr>
            <a:r>
              <a:rPr lang="en-US" sz="2200" b="1" i="1" dirty="0">
                <a:latin typeface="Times New Roman" panose="02020603050405020304" pitchFamily="18" charset="0"/>
                <a:cs typeface="Times New Roman" panose="02020603050405020304" pitchFamily="18" charset="0"/>
              </a:rPr>
              <a:t>Service</a:t>
            </a:r>
            <a:r>
              <a:rPr lang="en-US" sz="2200" i="1" dirty="0">
                <a:latin typeface="Times New Roman" panose="02020603050405020304" pitchFamily="18" charset="0"/>
                <a:cs typeface="Times New Roman" panose="02020603050405020304" pitchFamily="18" charset="0"/>
              </a:rPr>
              <a:t>: business logic</a:t>
            </a:r>
          </a:p>
        </p:txBody>
      </p:sp>
      <p:sp>
        <p:nvSpPr>
          <p:cNvPr id="11" name="TextBox 10">
            <a:extLst>
              <a:ext uri="{FF2B5EF4-FFF2-40B4-BE49-F238E27FC236}">
                <a16:creationId xmlns:a16="http://schemas.microsoft.com/office/drawing/2014/main" id="{4683912B-82C7-1655-F013-9320251CF533}"/>
              </a:ext>
            </a:extLst>
          </p:cNvPr>
          <p:cNvSpPr txBox="1"/>
          <p:nvPr/>
        </p:nvSpPr>
        <p:spPr>
          <a:xfrm>
            <a:off x="728132" y="2801315"/>
            <a:ext cx="10632186" cy="1555041"/>
          </a:xfrm>
          <a:prstGeom prst="rect">
            <a:avLst/>
          </a:prstGeom>
          <a:noFill/>
        </p:spPr>
        <p:txBody>
          <a:bodyPr wrap="square">
            <a:spAutoFit/>
          </a:bodyPr>
          <a:lstStyle/>
          <a:p>
            <a:pPr algn="just">
              <a:lnSpc>
                <a:spcPct val="150000"/>
              </a:lnSpc>
            </a:pPr>
            <a:r>
              <a:rPr lang="en-US" sz="2200" dirty="0" err="1">
                <a:latin typeface="Times New Roman" panose="02020603050405020304" pitchFamily="18" charset="0"/>
                <a:cs typeface="Times New Roman" panose="02020603050405020304" pitchFamily="18" charset="0"/>
              </a:rPr>
              <a:t>Thường</a:t>
            </a:r>
            <a:r>
              <a:rPr lang="en-US" sz="2200" dirty="0">
                <a:latin typeface="Times New Roman" panose="02020603050405020304" pitchFamily="18" charset="0"/>
                <a:cs typeface="Times New Roman" panose="02020603050405020304" pitchFamily="18" charset="0"/>
              </a:rPr>
              <a:t> Modules </a:t>
            </a:r>
            <a:r>
              <a:rPr lang="en-US" sz="2200" dirty="0" err="1">
                <a:latin typeface="Times New Roman" panose="02020603050405020304" pitchFamily="18" charset="0"/>
                <a:cs typeface="Times New Roman" panose="02020603050405020304" pitchFamily="18" charset="0"/>
              </a:rPr>
              <a:t>sử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decorator </a:t>
            </a:r>
            <a:r>
              <a:rPr lang="en-US" sz="2200" b="1" dirty="0">
                <a:latin typeface="Times New Roman" panose="02020603050405020304" pitchFamily="18" charset="0"/>
                <a:cs typeface="Times New Roman" panose="02020603050405020304" pitchFamily="18" charset="0"/>
              </a:rPr>
              <a:t>@NgModule </a:t>
            </a:r>
            <a:r>
              <a:rPr lang="en-US" sz="2200" dirty="0" err="1">
                <a:latin typeface="Times New Roman" panose="02020603050405020304" pitchFamily="18" charset="0"/>
                <a:cs typeface="Times New Roman" panose="02020603050405020304" pitchFamily="18" charset="0"/>
              </a:rPr>
              <a:t>để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gom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nhóm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artifact (Components, Directives, Pipes) </a:t>
            </a:r>
            <a:r>
              <a:rPr lang="en-US" sz="2200" dirty="0" err="1">
                <a:latin typeface="Times New Roman" panose="02020603050405020304" pitchFamily="18" charset="0"/>
                <a:cs typeface="Times New Roman" panose="02020603050405020304" pitchFamily="18" charset="0"/>
              </a:rPr>
              <a:t>có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cùng</a:t>
            </a:r>
            <a:r>
              <a:rPr lang="en-US" sz="2200" dirty="0">
                <a:latin typeface="Times New Roman" panose="02020603050405020304" pitchFamily="18" charset="0"/>
                <a:cs typeface="Times New Roman" panose="02020603050405020304" pitchFamily="18" charset="0"/>
              </a:rPr>
              <a:t> logic </a:t>
            </a:r>
            <a:r>
              <a:rPr lang="en-US" sz="2200" dirty="0" err="1">
                <a:latin typeface="Times New Roman" panose="02020603050405020304" pitchFamily="18" charset="0"/>
                <a:cs typeface="Times New Roman" panose="02020603050405020304" pitchFamily="18" charset="0"/>
              </a:rPr>
              <a:t>nghiệp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vụ</a:t>
            </a:r>
            <a:r>
              <a:rPr lang="en-US" sz="2200" dirty="0">
                <a:latin typeface="Times New Roman" panose="02020603050405020304" pitchFamily="18" charset="0"/>
                <a:cs typeface="Times New Roman" panose="02020603050405020304" pitchFamily="18" charset="0"/>
              </a:rPr>
              <a:t>.</a:t>
            </a:r>
          </a:p>
          <a:p>
            <a:pPr algn="just">
              <a:lnSpc>
                <a:spcPct val="150000"/>
              </a:lnSpc>
            </a:pPr>
            <a:r>
              <a:rPr lang="en-US" sz="2200" dirty="0" err="1">
                <a:latin typeface="Times New Roman" panose="02020603050405020304" pitchFamily="18" charset="0"/>
                <a:cs typeface="Times New Roman" panose="02020603050405020304" pitchFamily="18" charset="0"/>
              </a:rPr>
              <a:t>Đảm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bảo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đóng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gói</a:t>
            </a:r>
            <a:r>
              <a:rPr lang="en-US" sz="2200" dirty="0">
                <a:latin typeface="Times New Roman" panose="02020603050405020304" pitchFamily="18" charset="0"/>
                <a:cs typeface="Times New Roman" panose="02020603050405020304" pitchFamily="18" charset="0"/>
              </a:rPr>
              <a:t> (Encapsulation), </a:t>
            </a:r>
            <a:r>
              <a:rPr lang="en-US" sz="2200" dirty="0" err="1">
                <a:latin typeface="Times New Roman" panose="02020603050405020304" pitchFamily="18" charset="0"/>
                <a:cs typeface="Times New Roman" panose="02020603050405020304" pitchFamily="18" charset="0"/>
              </a:rPr>
              <a:t>giúp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quản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lý</a:t>
            </a:r>
            <a:r>
              <a:rPr lang="en-US" sz="2200" dirty="0">
                <a:latin typeface="Times New Roman" panose="02020603050405020304" pitchFamily="18" charset="0"/>
                <a:cs typeface="Times New Roman" panose="02020603050405020304" pitchFamily="18" charset="0"/>
              </a:rPr>
              <a:t> dependency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phạm</a:t>
            </a:r>
            <a:r>
              <a:rPr lang="en-US" sz="2200" dirty="0">
                <a:latin typeface="Times New Roman" panose="02020603050405020304" pitchFamily="18" charset="0"/>
                <a:cs typeface="Times New Roman" panose="02020603050405020304" pitchFamily="18" charset="0"/>
              </a:rPr>
              <a:t> vi </a:t>
            </a:r>
            <a:r>
              <a:rPr lang="en-US" sz="2200" dirty="0" err="1">
                <a:latin typeface="Times New Roman" panose="02020603050405020304" pitchFamily="18" charset="0"/>
                <a:cs typeface="Times New Roman" panose="02020603050405020304" pitchFamily="18" charset="0"/>
              </a:rPr>
              <a:t>biên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dịch</a:t>
            </a:r>
            <a:r>
              <a:rPr lang="en-US" sz="2200" dirty="0">
                <a:latin typeface="Times New Roman" panose="02020603050405020304" pitchFamily="18" charset="0"/>
                <a:cs typeface="Times New Roman" panose="02020603050405020304" pitchFamily="18" charset="0"/>
              </a:rPr>
              <a:t>.</a:t>
            </a:r>
          </a:p>
        </p:txBody>
      </p:sp>
      <p:sp>
        <p:nvSpPr>
          <p:cNvPr id="13" name="TextBox 12">
            <a:extLst>
              <a:ext uri="{FF2B5EF4-FFF2-40B4-BE49-F238E27FC236}">
                <a16:creationId xmlns:a16="http://schemas.microsoft.com/office/drawing/2014/main" id="{0FF319B0-8F85-0378-AAEB-8F0F8F57A7C0}"/>
              </a:ext>
            </a:extLst>
          </p:cNvPr>
          <p:cNvSpPr txBox="1"/>
          <p:nvPr/>
        </p:nvSpPr>
        <p:spPr>
          <a:xfrm>
            <a:off x="596625" y="4326697"/>
            <a:ext cx="11201800" cy="2062872"/>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Declarations</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Đăng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ký</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thành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giao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diện</a:t>
            </a:r>
            <a:r>
              <a:rPr lang="en-US" sz="2200" dirty="0">
                <a:latin typeface="Times New Roman" panose="02020603050405020304" pitchFamily="18" charset="0"/>
                <a:cs typeface="Times New Roman" panose="02020603050405020304" pitchFamily="18" charset="0"/>
              </a:rPr>
              <a:t> (private </a:t>
            </a:r>
            <a:r>
              <a:rPr lang="en-US" sz="2200" dirty="0" err="1">
                <a:latin typeface="Times New Roman" panose="02020603050405020304" pitchFamily="18" charset="0"/>
                <a:cs typeface="Times New Roman" panose="02020603050405020304" pitchFamily="18" charset="0"/>
              </a:rPr>
              <a:t>cho</a:t>
            </a:r>
            <a:r>
              <a:rPr lang="en-US" sz="2200" dirty="0">
                <a:latin typeface="Times New Roman" panose="02020603050405020304" pitchFamily="18" charset="0"/>
                <a:cs typeface="Times New Roman" panose="02020603050405020304" pitchFamily="18" charset="0"/>
              </a:rPr>
              <a:t> module).</a:t>
            </a:r>
          </a:p>
          <a:p>
            <a:pPr marL="342900" indent="-342900">
              <a:lnSpc>
                <a:spcPct val="150000"/>
              </a:lnSpc>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Imports</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Nhúng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module </a:t>
            </a:r>
            <a:r>
              <a:rPr lang="en-US" sz="2200" dirty="0" err="1">
                <a:latin typeface="Times New Roman" panose="02020603050405020304" pitchFamily="18" charset="0"/>
                <a:cs typeface="Times New Roman" panose="02020603050405020304" pitchFamily="18" charset="0"/>
              </a:rPr>
              <a:t>thư</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hoặc</a:t>
            </a:r>
            <a:r>
              <a:rPr lang="en-US" sz="2200" dirty="0">
                <a:latin typeface="Times New Roman" panose="02020603050405020304" pitchFamily="18" charset="0"/>
                <a:cs typeface="Times New Roman" panose="02020603050405020304" pitchFamily="18" charset="0"/>
              </a:rPr>
              <a:t> module </a:t>
            </a:r>
            <a:r>
              <a:rPr lang="en-US" sz="2200" dirty="0" err="1">
                <a:latin typeface="Times New Roman" panose="02020603050405020304" pitchFamily="18" charset="0"/>
                <a:cs typeface="Times New Roman" panose="02020603050405020304" pitchFamily="18" charset="0"/>
              </a:rPr>
              <a:t>tính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năng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khác</a:t>
            </a:r>
            <a:r>
              <a:rPr lang="en-US" sz="2200" dirty="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Exports</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Công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khai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thành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module </a:t>
            </a:r>
            <a:r>
              <a:rPr lang="en-US" sz="2200" dirty="0" err="1">
                <a:latin typeface="Times New Roman" panose="02020603050405020304" pitchFamily="18" charset="0"/>
                <a:cs typeface="Times New Roman" panose="02020603050405020304" pitchFamily="18" charset="0"/>
              </a:rPr>
              <a:t>khác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lại</a:t>
            </a:r>
            <a:r>
              <a:rPr lang="en-US" sz="2200" dirty="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Providers:</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Khai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báo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Services ở </a:t>
            </a:r>
            <a:r>
              <a:rPr lang="en-US" sz="2200" dirty="0" err="1">
                <a:latin typeface="Times New Roman" panose="02020603050405020304" pitchFamily="18" charset="0"/>
                <a:cs typeface="Times New Roman" panose="02020603050405020304" pitchFamily="18" charset="0"/>
              </a:rPr>
              <a:t>mức</a:t>
            </a:r>
            <a:r>
              <a:rPr lang="en-US" sz="2200" dirty="0">
                <a:latin typeface="Times New Roman" panose="02020603050405020304" pitchFamily="18" charset="0"/>
                <a:cs typeface="Times New Roman" panose="02020603050405020304" pitchFamily="18" charset="0"/>
              </a:rPr>
              <a:t> module (Module-level singleton).</a:t>
            </a:r>
          </a:p>
        </p:txBody>
      </p:sp>
    </p:spTree>
    <p:extLst>
      <p:ext uri="{BB962C8B-B14F-4D97-AF65-F5344CB8AC3E}">
        <p14:creationId xmlns:p14="http://schemas.microsoft.com/office/powerpoint/2010/main" val="3945852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826F7F9-C114-7616-2D5A-E0C85E3379B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0FDFF16-2C39-271E-2E1B-EDE9F56B57E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02BB235-3E1C-D0DB-B4D4-7DB9541CFA4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 name="Group 1">
            <a:extLst>
              <a:ext uri="{FF2B5EF4-FFF2-40B4-BE49-F238E27FC236}">
                <a16:creationId xmlns:a16="http://schemas.microsoft.com/office/drawing/2014/main" id="{4C31862A-9246-3A65-EF7C-A542099B9F62}"/>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B4447F20-5EAF-8B74-2688-83D44354F741}"/>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1.3.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Kiến trúc thành phần trong Angular</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90A14EE-A66F-8444-17EA-A3588B875A9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0318C4D-3EE2-4A12-0694-47AFA83C969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0B0D09C-571E-B058-7618-3A3AED732E2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B07FA4B-92C8-63E6-7BED-3C585F83462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C06686F-DF63-1CA8-845F-D4B7115904D5}"/>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1.3.2. Modules</a:t>
            </a:r>
          </a:p>
        </p:txBody>
      </p:sp>
      <p:pic>
        <p:nvPicPr>
          <p:cNvPr id="12" name="Picture 11">
            <a:extLst>
              <a:ext uri="{FF2B5EF4-FFF2-40B4-BE49-F238E27FC236}">
                <a16:creationId xmlns:a16="http://schemas.microsoft.com/office/drawing/2014/main" id="{7BB3822C-5980-0299-016C-CEC7A08517FB}"/>
              </a:ext>
            </a:extLst>
          </p:cNvPr>
          <p:cNvPicPr>
            <a:picLocks noChangeAspect="1"/>
          </p:cNvPicPr>
          <p:nvPr/>
        </p:nvPicPr>
        <p:blipFill>
          <a:blip r:embed="rId3"/>
          <a:stretch>
            <a:fillRect/>
          </a:stretch>
        </p:blipFill>
        <p:spPr>
          <a:xfrm>
            <a:off x="728132" y="1393060"/>
            <a:ext cx="9645062" cy="4914916"/>
          </a:xfrm>
          <a:prstGeom prst="rect">
            <a:avLst/>
          </a:prstGeom>
        </p:spPr>
      </p:pic>
    </p:spTree>
    <p:extLst>
      <p:ext uri="{BB962C8B-B14F-4D97-AF65-F5344CB8AC3E}">
        <p14:creationId xmlns:p14="http://schemas.microsoft.com/office/powerpoint/2010/main" val="3217105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2BD5B74-070C-865F-0960-5C86AAE6D77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4DA1976-7FFC-B6E4-00D5-A7E204E6A1F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99004CA-EBC2-9D26-9CE2-0A64B57F314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2" name="Group 1">
            <a:extLst>
              <a:ext uri="{FF2B5EF4-FFF2-40B4-BE49-F238E27FC236}">
                <a16:creationId xmlns:a16="http://schemas.microsoft.com/office/drawing/2014/main" id="{DCB3BBE0-FCA7-A61A-78AE-E3D864575BF3}"/>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78CF9BF3-46B3-47D2-ADD5-44CD7D6944C4}"/>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1.3.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Kiến trúc thành phần trong Angular</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9F6822B-62D7-F5BB-EDEE-E0E83EAE698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8B19E17-4BC6-E629-D70C-E2A296C9905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924C443-0C90-DF6A-52C7-A22B3939994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CCD7947-E407-01EB-4284-1BC8F9C1E3A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EAE114C-0F4F-0CB4-E88B-09A088CAB43B}"/>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1.3.2. Modules</a:t>
            </a:r>
          </a:p>
        </p:txBody>
      </p:sp>
      <p:sp>
        <p:nvSpPr>
          <p:cNvPr id="16" name="TextBox 15">
            <a:extLst>
              <a:ext uri="{FF2B5EF4-FFF2-40B4-BE49-F238E27FC236}">
                <a16:creationId xmlns:a16="http://schemas.microsoft.com/office/drawing/2014/main" id="{C5ABD84D-76E6-BF0B-C762-FB6575CF0650}"/>
              </a:ext>
            </a:extLst>
          </p:cNvPr>
          <p:cNvSpPr txBox="1"/>
          <p:nvPr/>
        </p:nvSpPr>
        <p:spPr>
          <a:xfrm>
            <a:off x="542786" y="1378459"/>
            <a:ext cx="11042662" cy="1446550"/>
          </a:xfrm>
          <a:prstGeom prst="rect">
            <a:avLst/>
          </a:prstGeom>
          <a:noFill/>
          <a:ln>
            <a:noFill/>
          </a:ln>
        </p:spPr>
        <p:txBody>
          <a:bodyPr wrap="square">
            <a:spAutoFit/>
          </a:bodyPr>
          <a:lstStyle/>
          <a:p>
            <a:pPr marL="342900" indent="-342900" algn="just">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Feature Modules:</a:t>
            </a:r>
            <a:r>
              <a:rPr lang="en-US" sz="2200" dirty="0">
                <a:latin typeface="Times New Roman" panose="02020603050405020304" pitchFamily="18" charset="0"/>
                <a:cs typeface="Times New Roman" panose="02020603050405020304" pitchFamily="18" charset="0"/>
              </a:rPr>
              <a:t> Chia </a:t>
            </a:r>
            <a:r>
              <a:rPr lang="en-US" sz="2200" dirty="0" err="1">
                <a:latin typeface="Times New Roman" panose="02020603050405020304" pitchFamily="18" charset="0"/>
                <a:cs typeface="Times New Roman" panose="02020603050405020304" pitchFamily="18" charset="0"/>
              </a:rPr>
              <a:t>nhỏ</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hệ</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thống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thành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module </a:t>
            </a:r>
            <a:r>
              <a:rPr lang="en-US" sz="2200" dirty="0" err="1">
                <a:latin typeface="Times New Roman" panose="02020603050405020304" pitchFamily="18" charset="0"/>
                <a:cs typeface="Times New Roman" panose="02020603050405020304" pitchFamily="18" charset="0"/>
              </a:rPr>
              <a:t>chức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năng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độc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lập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AuthModule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AdminModule</a:t>
            </a:r>
            <a:r>
              <a:rPr lang="en-US" sz="2200" dirty="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Lazy Loading: </a:t>
            </a:r>
            <a:r>
              <a:rPr lang="en-US" sz="2200" dirty="0" err="1">
                <a:latin typeface="Times New Roman" panose="02020603050405020304" pitchFamily="18" charset="0"/>
                <a:cs typeface="Times New Roman" panose="02020603050405020304" pitchFamily="18" charset="0"/>
              </a:rPr>
              <a:t>Cơ</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chế</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chỉ</a:t>
            </a:r>
            <a:r>
              <a:rPr lang="en-US" sz="2200" dirty="0">
                <a:latin typeface="Times New Roman" panose="02020603050405020304" pitchFamily="18" charset="0"/>
                <a:cs typeface="Times New Roman" panose="02020603050405020304" pitchFamily="18" charset="0"/>
              </a:rPr>
              <a:t> load module </a:t>
            </a:r>
            <a:r>
              <a:rPr lang="en-US" sz="2200" dirty="0" err="1">
                <a:latin typeface="Times New Roman" panose="02020603050405020304" pitchFamily="18" charset="0"/>
                <a:cs typeface="Times New Roman" panose="02020603050405020304" pitchFamily="18" charset="0"/>
              </a:rPr>
              <a:t>khi</a:t>
            </a:r>
            <a:r>
              <a:rPr lang="en-US" sz="2200" dirty="0">
                <a:latin typeface="Times New Roman" panose="02020603050405020304" pitchFamily="18" charset="0"/>
                <a:cs typeface="Times New Roman" panose="02020603050405020304" pitchFamily="18" charset="0"/>
              </a:rPr>
              <a:t> route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kích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hoạt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giúp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giảm</a:t>
            </a:r>
            <a:r>
              <a:rPr lang="en-US" sz="2200" dirty="0">
                <a:latin typeface="Times New Roman" panose="02020603050405020304" pitchFamily="18" charset="0"/>
                <a:cs typeface="Times New Roman" panose="02020603050405020304" pitchFamily="18" charset="0"/>
              </a:rPr>
              <a:t> bundle size ban </a:t>
            </a:r>
            <a:r>
              <a:rPr lang="en-US" sz="2200" dirty="0" err="1">
                <a:latin typeface="Times New Roman" panose="02020603050405020304" pitchFamily="18" charset="0"/>
                <a:cs typeface="Times New Roman" panose="02020603050405020304" pitchFamily="18" charset="0"/>
              </a:rPr>
              <a:t>đầu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tối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ưu</a:t>
            </a:r>
            <a:r>
              <a:rPr lang="en-US" sz="2200" dirty="0">
                <a:latin typeface="Times New Roman" panose="02020603050405020304" pitchFamily="18" charset="0"/>
                <a:cs typeface="Times New Roman" panose="02020603050405020304" pitchFamily="18" charset="0"/>
              </a:rPr>
              <a:t> Performance (</a:t>
            </a:r>
            <a:r>
              <a:rPr lang="en-US" sz="2200" dirty="0" err="1">
                <a:latin typeface="Times New Roman" panose="02020603050405020304" pitchFamily="18" charset="0"/>
                <a:cs typeface="Times New Roman" panose="02020603050405020304" pitchFamily="18" charset="0"/>
              </a:rPr>
              <a:t>Tăng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chỉ</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số</a:t>
            </a:r>
            <a:r>
              <a:rPr lang="en-US" sz="2200" dirty="0">
                <a:latin typeface="Times New Roman" panose="02020603050405020304" pitchFamily="18" charset="0"/>
                <a:cs typeface="Times New Roman" panose="02020603050405020304" pitchFamily="18" charset="0"/>
              </a:rPr>
              <a:t> LCP-</a:t>
            </a:r>
            <a:r>
              <a:rPr lang="en-US" sz="2200" b="1" dirty="0">
                <a:latin typeface="Times New Roman" panose="02020603050405020304" pitchFamily="18" charset="0"/>
                <a:cs typeface="Times New Roman" panose="02020603050405020304" pitchFamily="18" charset="0"/>
              </a:rPr>
              <a:t>Largest </a:t>
            </a:r>
            <a:r>
              <a:rPr lang="en-US" sz="2200" b="1" dirty="0" err="1">
                <a:latin typeface="Times New Roman" panose="02020603050405020304" pitchFamily="18" charset="0"/>
                <a:cs typeface="Times New Roman" panose="02020603050405020304" pitchFamily="18" charset="0"/>
              </a:rPr>
              <a:t>Contentful</a:t>
            </a:r>
            <a:r>
              <a:rPr lang="en-US" sz="2200" b="1" dirty="0">
                <a:latin typeface="Times New Roman" panose="02020603050405020304" pitchFamily="18" charset="0"/>
                <a:cs typeface="Times New Roman" panose="02020603050405020304" pitchFamily="18" charset="0"/>
              </a:rPr>
              <a:t> Paint</a:t>
            </a:r>
            <a:r>
              <a:rPr lang="en-US" sz="2200"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D07A1E43-185D-4868-6AF9-872CC4DAB879}"/>
              </a:ext>
            </a:extLst>
          </p:cNvPr>
          <p:cNvSpPr txBox="1"/>
          <p:nvPr/>
        </p:nvSpPr>
        <p:spPr>
          <a:xfrm>
            <a:off x="516174" y="2753339"/>
            <a:ext cx="11362702" cy="1047210"/>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LCP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lường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khoảng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thời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gian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từ</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trang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bắt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đầu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tải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đến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nội</a:t>
            </a:r>
            <a:r>
              <a:rPr lang="en-US" sz="2200" dirty="0">
                <a:latin typeface="Times New Roman" panose="02020603050405020304" pitchFamily="18" charset="0"/>
                <a:cs typeface="Times New Roman" panose="02020603050405020304" pitchFamily="18" charset="0"/>
              </a:rPr>
              <a:t> dung </a:t>
            </a:r>
            <a:r>
              <a:rPr lang="en-US" sz="2200" dirty="0" err="1">
                <a:latin typeface="Times New Roman" panose="02020603050405020304" pitchFamily="18" charset="0"/>
                <a:cs typeface="Times New Roman" panose="02020603050405020304" pitchFamily="18" charset="0"/>
              </a:rPr>
              <a:t>lớn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nhất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ảnh</a:t>
            </a:r>
            <a:r>
              <a:rPr lang="en-US" sz="2200" dirty="0">
                <a:latin typeface="Times New Roman" panose="02020603050405020304" pitchFamily="18" charset="0"/>
                <a:cs typeface="Times New Roman" panose="02020603050405020304" pitchFamily="18" charset="0"/>
              </a:rPr>
              <a:t>, video </a:t>
            </a:r>
            <a:r>
              <a:rPr lang="en-US" sz="2200" dirty="0" err="1">
                <a:latin typeface="Times New Roman" panose="02020603050405020304" pitchFamily="18" charset="0"/>
                <a:cs typeface="Times New Roman" panose="02020603050405020304" pitchFamily="18" charset="0"/>
              </a:rPr>
              <a:t>hoặc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khối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văn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bản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trong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khung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hiển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thị</a:t>
            </a:r>
            <a:r>
              <a:rPr lang="en-US" sz="2200" dirty="0">
                <a:latin typeface="Times New Roman" panose="02020603050405020304" pitchFamily="18" charset="0"/>
                <a:cs typeface="Times New Roman" panose="02020603050405020304" pitchFamily="18" charset="0"/>
              </a:rPr>
              <a:t> (viewport)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render </a:t>
            </a:r>
            <a:r>
              <a:rPr lang="en-US" sz="2200" dirty="0" err="1">
                <a:latin typeface="Times New Roman" panose="02020603050405020304" pitchFamily="18" charset="0"/>
                <a:cs typeface="Times New Roman" panose="02020603050405020304" pitchFamily="18" charset="0"/>
              </a:rPr>
              <a:t>hoàn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tất</a:t>
            </a:r>
            <a:r>
              <a:rPr lang="en-US" sz="2200" dirty="0">
                <a:latin typeface="Times New Roman" panose="02020603050405020304" pitchFamily="18" charset="0"/>
                <a:cs typeface="Times New Roman" panose="02020603050405020304" pitchFamily="18" charset="0"/>
              </a:rPr>
              <a:t>.</a:t>
            </a:r>
          </a:p>
        </p:txBody>
      </p:sp>
      <p:graphicFrame>
        <p:nvGraphicFramePr>
          <p:cNvPr id="11" name="Table 10">
            <a:extLst>
              <a:ext uri="{FF2B5EF4-FFF2-40B4-BE49-F238E27FC236}">
                <a16:creationId xmlns:a16="http://schemas.microsoft.com/office/drawing/2014/main" id="{E5D4CDB4-2BE3-6354-6020-3FF263E2494E}"/>
              </a:ext>
            </a:extLst>
          </p:cNvPr>
          <p:cNvGraphicFramePr>
            <a:graphicFrameLocks noGrp="1"/>
          </p:cNvGraphicFramePr>
          <p:nvPr>
            <p:extLst>
              <p:ext uri="{D42A27DB-BD31-4B8C-83A1-F6EECF244321}">
                <p14:modId xmlns:p14="http://schemas.microsoft.com/office/powerpoint/2010/main" val="2702944208"/>
              </p:ext>
            </p:extLst>
          </p:nvPr>
        </p:nvGraphicFramePr>
        <p:xfrm>
          <a:off x="838200" y="3913176"/>
          <a:ext cx="10515600" cy="2438400"/>
        </p:xfrm>
        <a:graphic>
          <a:graphicData uri="http://schemas.openxmlformats.org/drawingml/2006/table">
            <a:tbl>
              <a:tblPr>
                <a:tableStyleId>{5940675A-B579-460E-94D1-54222C63F5DA}</a:tableStyleId>
              </a:tblPr>
              <a:tblGrid>
                <a:gridCol w="5531327">
                  <a:extLst>
                    <a:ext uri="{9D8B030D-6E8A-4147-A177-3AD203B41FA5}">
                      <a16:colId xmlns:a16="http://schemas.microsoft.com/office/drawing/2014/main" val="2161948821"/>
                    </a:ext>
                  </a:extLst>
                </a:gridCol>
                <a:gridCol w="4984273">
                  <a:extLst>
                    <a:ext uri="{9D8B030D-6E8A-4147-A177-3AD203B41FA5}">
                      <a16:colId xmlns:a16="http://schemas.microsoft.com/office/drawing/2014/main" val="558500613"/>
                    </a:ext>
                  </a:extLst>
                </a:gridCol>
              </a:tblGrid>
              <a:tr h="0">
                <a:tc>
                  <a:txBody>
                    <a:bodyPr/>
                    <a:lstStyle/>
                    <a:p>
                      <a:pPr rtl="0"/>
                      <a:r>
                        <a:rPr lang="en-US" sz="2000" b="1" dirty="0" err="1">
                          <a:solidFill>
                            <a:srgbClr val="1F1F1F"/>
                          </a:solidFill>
                          <a:effectLst/>
                          <a:latin typeface="Times New Roman" panose="02020603050405020304" pitchFamily="18" charset="0"/>
                          <a:cs typeface="Times New Roman" panose="02020603050405020304" pitchFamily="18" charset="0"/>
                        </a:rPr>
                        <a:t>Trạng</a:t>
                      </a:r>
                      <a:r>
                        <a:rPr lang="en-US" sz="2000" b="1" dirty="0">
                          <a:solidFill>
                            <a:srgbClr val="1F1F1F"/>
                          </a:solidFill>
                          <a:effectLst/>
                          <a:latin typeface="Times New Roman" panose="02020603050405020304" pitchFamily="18" charset="0"/>
                          <a:cs typeface="Times New Roman" panose="02020603050405020304" pitchFamily="18" charset="0"/>
                        </a:rPr>
                        <a:t> </a:t>
                      </a:r>
                      <a:r>
                        <a:rPr lang="en-US" sz="2000" b="1" dirty="0" err="1">
                          <a:solidFill>
                            <a:srgbClr val="1F1F1F"/>
                          </a:solidFill>
                          <a:effectLst/>
                          <a:latin typeface="Times New Roman" panose="02020603050405020304" pitchFamily="18" charset="0"/>
                          <a:cs typeface="Times New Roman" panose="02020603050405020304" pitchFamily="18" charset="0"/>
                        </a:rPr>
                        <a:t>thái</a:t>
                      </a:r>
                      <a:endParaRPr lang="en-US" sz="2000" dirty="0">
                        <a:solidFill>
                          <a:srgbClr val="1F1F1F"/>
                        </a:solidFill>
                        <a:effectLst/>
                        <a:latin typeface="Times New Roman" panose="02020603050405020304" pitchFamily="18" charset="0"/>
                        <a:cs typeface="Times New Roman" panose="02020603050405020304" pitchFamily="18" charset="0"/>
                      </a:endParaRPr>
                    </a:p>
                  </a:txBody>
                  <a:tcPr marR="114300" marT="152400" marB="152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sz="2000" b="1" dirty="0" err="1">
                          <a:solidFill>
                            <a:srgbClr val="1F1F1F"/>
                          </a:solidFill>
                          <a:effectLst/>
                          <a:latin typeface="Times New Roman" panose="02020603050405020304" pitchFamily="18" charset="0"/>
                          <a:cs typeface="Times New Roman" panose="02020603050405020304" pitchFamily="18" charset="0"/>
                        </a:rPr>
                        <a:t>Thời</a:t>
                      </a:r>
                      <a:r>
                        <a:rPr lang="en-US" sz="2000" b="1" dirty="0">
                          <a:solidFill>
                            <a:srgbClr val="1F1F1F"/>
                          </a:solidFill>
                          <a:effectLst/>
                          <a:latin typeface="Times New Roman" panose="02020603050405020304" pitchFamily="18" charset="0"/>
                          <a:cs typeface="Times New Roman" panose="02020603050405020304" pitchFamily="18" charset="0"/>
                        </a:rPr>
                        <a:t> </a:t>
                      </a:r>
                      <a:r>
                        <a:rPr lang="en-US" sz="2000" b="1" dirty="0" err="1">
                          <a:solidFill>
                            <a:srgbClr val="1F1F1F"/>
                          </a:solidFill>
                          <a:effectLst/>
                          <a:latin typeface="Times New Roman" panose="02020603050405020304" pitchFamily="18" charset="0"/>
                          <a:cs typeface="Times New Roman" panose="02020603050405020304" pitchFamily="18" charset="0"/>
                        </a:rPr>
                        <a:t>gian</a:t>
                      </a:r>
                      <a:r>
                        <a:rPr lang="en-US" sz="2000" b="1" dirty="0">
                          <a:solidFill>
                            <a:srgbClr val="1F1F1F"/>
                          </a:solidFill>
                          <a:effectLst/>
                          <a:latin typeface="Times New Roman" panose="02020603050405020304" pitchFamily="18" charset="0"/>
                          <a:cs typeface="Times New Roman" panose="02020603050405020304" pitchFamily="18" charset="0"/>
                        </a:rPr>
                        <a:t> LCP</a:t>
                      </a:r>
                      <a:endParaRPr lang="en-US" sz="2000" dirty="0">
                        <a:solidFill>
                          <a:srgbClr val="1F1F1F"/>
                        </a:solidFill>
                        <a:effectLst/>
                        <a:latin typeface="Times New Roman" panose="02020603050405020304" pitchFamily="18" charset="0"/>
                        <a:cs typeface="Times New Roman" panose="02020603050405020304" pitchFamily="18" charset="0"/>
                      </a:endParaRPr>
                    </a:p>
                  </a:txBody>
                  <a:tcPr marT="152400" marB="152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5657174"/>
                  </a:ext>
                </a:extLst>
              </a:tr>
              <a:tr h="0">
                <a:tc>
                  <a:txBody>
                    <a:bodyPr/>
                    <a:lstStyle/>
                    <a:p>
                      <a:pPr rtl="0"/>
                      <a:r>
                        <a:rPr lang="en-US" sz="2000" b="1" dirty="0" err="1">
                          <a:solidFill>
                            <a:srgbClr val="1F1F1F"/>
                          </a:solidFill>
                          <a:effectLst/>
                          <a:latin typeface="Times New Roman" panose="02020603050405020304" pitchFamily="18" charset="0"/>
                          <a:cs typeface="Times New Roman" panose="02020603050405020304" pitchFamily="18" charset="0"/>
                        </a:rPr>
                        <a:t>Tốt</a:t>
                      </a:r>
                      <a:r>
                        <a:rPr lang="en-US" sz="2000" b="1" dirty="0">
                          <a:solidFill>
                            <a:srgbClr val="1F1F1F"/>
                          </a:solidFill>
                          <a:effectLst/>
                          <a:latin typeface="Times New Roman" panose="02020603050405020304" pitchFamily="18" charset="0"/>
                          <a:cs typeface="Times New Roman" panose="02020603050405020304" pitchFamily="18" charset="0"/>
                        </a:rPr>
                        <a:t> (Good)</a:t>
                      </a:r>
                      <a:endParaRPr lang="en-US" sz="2000" dirty="0">
                        <a:solidFill>
                          <a:srgbClr val="1F1F1F"/>
                        </a:solidFill>
                        <a:effectLst/>
                        <a:latin typeface="Times New Roman" panose="02020603050405020304" pitchFamily="18" charset="0"/>
                        <a:cs typeface="Times New Roman" panose="02020603050405020304" pitchFamily="18" charset="0"/>
                      </a:endParaRPr>
                    </a:p>
                  </a:txBody>
                  <a:tcPr marR="114300" marT="152400" marB="152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sz="2000" dirty="0">
                          <a:solidFill>
                            <a:srgbClr val="1F1F1F"/>
                          </a:solidFill>
                          <a:effectLst/>
                          <a:latin typeface="Times New Roman" panose="02020603050405020304" pitchFamily="18" charset="0"/>
                          <a:cs typeface="Times New Roman" panose="02020603050405020304" pitchFamily="18" charset="0"/>
                        </a:rPr>
                        <a:t>&lt;=2.5 </a:t>
                      </a:r>
                      <a:r>
                        <a:rPr lang="en-US" sz="2000" dirty="0" err="1">
                          <a:solidFill>
                            <a:srgbClr val="1F1F1F"/>
                          </a:solidFill>
                          <a:effectLst/>
                          <a:latin typeface="Times New Roman" panose="02020603050405020304" pitchFamily="18" charset="0"/>
                          <a:cs typeface="Times New Roman" panose="02020603050405020304" pitchFamily="18" charset="0"/>
                        </a:rPr>
                        <a:t>giây</a:t>
                      </a:r>
                      <a:endParaRPr lang="en-US" sz="2000" dirty="0">
                        <a:solidFill>
                          <a:srgbClr val="1F1F1F"/>
                        </a:solidFill>
                        <a:effectLst/>
                        <a:latin typeface="Times New Roman" panose="02020603050405020304" pitchFamily="18" charset="0"/>
                        <a:cs typeface="Times New Roman" panose="02020603050405020304" pitchFamily="18" charset="0"/>
                      </a:endParaRPr>
                    </a:p>
                  </a:txBody>
                  <a:tcPr marT="152400" marB="152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1124287"/>
                  </a:ext>
                </a:extLst>
              </a:tr>
              <a:tr h="0">
                <a:tc>
                  <a:txBody>
                    <a:bodyPr/>
                    <a:lstStyle/>
                    <a:p>
                      <a:pPr rtl="0"/>
                      <a:r>
                        <a:rPr lang="en-US" sz="2000" b="1" dirty="0" err="1">
                          <a:solidFill>
                            <a:srgbClr val="1F1F1F"/>
                          </a:solidFill>
                          <a:effectLst/>
                          <a:latin typeface="Times New Roman" panose="02020603050405020304" pitchFamily="18" charset="0"/>
                          <a:cs typeface="Times New Roman" panose="02020603050405020304" pitchFamily="18" charset="0"/>
                        </a:rPr>
                        <a:t>Cần</a:t>
                      </a:r>
                      <a:r>
                        <a:rPr lang="en-US" sz="2000" b="1" dirty="0">
                          <a:solidFill>
                            <a:srgbClr val="1F1F1F"/>
                          </a:solidFill>
                          <a:effectLst/>
                          <a:latin typeface="Times New Roman" panose="02020603050405020304" pitchFamily="18" charset="0"/>
                          <a:cs typeface="Times New Roman" panose="02020603050405020304" pitchFamily="18" charset="0"/>
                        </a:rPr>
                        <a:t> </a:t>
                      </a:r>
                      <a:r>
                        <a:rPr lang="en-US" sz="2000" b="1" dirty="0" err="1">
                          <a:solidFill>
                            <a:srgbClr val="1F1F1F"/>
                          </a:solidFill>
                          <a:effectLst/>
                          <a:latin typeface="Times New Roman" panose="02020603050405020304" pitchFamily="18" charset="0"/>
                          <a:cs typeface="Times New Roman" panose="02020603050405020304" pitchFamily="18" charset="0"/>
                        </a:rPr>
                        <a:t>cải</a:t>
                      </a:r>
                      <a:r>
                        <a:rPr lang="en-US" sz="2000" b="1" dirty="0">
                          <a:solidFill>
                            <a:srgbClr val="1F1F1F"/>
                          </a:solidFill>
                          <a:effectLst/>
                          <a:latin typeface="Times New Roman" panose="02020603050405020304" pitchFamily="18" charset="0"/>
                          <a:cs typeface="Times New Roman" panose="02020603050405020304" pitchFamily="18" charset="0"/>
                        </a:rPr>
                        <a:t> </a:t>
                      </a:r>
                      <a:r>
                        <a:rPr lang="en-US" sz="2000" b="1" dirty="0" err="1">
                          <a:solidFill>
                            <a:srgbClr val="1F1F1F"/>
                          </a:solidFill>
                          <a:effectLst/>
                          <a:latin typeface="Times New Roman" panose="02020603050405020304" pitchFamily="18" charset="0"/>
                          <a:cs typeface="Times New Roman" panose="02020603050405020304" pitchFamily="18" charset="0"/>
                        </a:rPr>
                        <a:t>thiện</a:t>
                      </a:r>
                      <a:r>
                        <a:rPr lang="en-US" sz="2000" b="1" dirty="0">
                          <a:solidFill>
                            <a:srgbClr val="1F1F1F"/>
                          </a:solidFill>
                          <a:effectLst/>
                          <a:latin typeface="Times New Roman" panose="02020603050405020304" pitchFamily="18" charset="0"/>
                          <a:cs typeface="Times New Roman" panose="02020603050405020304" pitchFamily="18" charset="0"/>
                        </a:rPr>
                        <a:t> (Needs Improvement)</a:t>
                      </a:r>
                      <a:endParaRPr lang="en-US" sz="2000" dirty="0">
                        <a:solidFill>
                          <a:srgbClr val="1F1F1F"/>
                        </a:solidFill>
                        <a:effectLst/>
                        <a:latin typeface="Times New Roman" panose="02020603050405020304" pitchFamily="18" charset="0"/>
                        <a:cs typeface="Times New Roman" panose="02020603050405020304" pitchFamily="18" charset="0"/>
                      </a:endParaRPr>
                    </a:p>
                  </a:txBody>
                  <a:tcPr marR="114300" marT="152400" marB="152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sz="2000" dirty="0">
                          <a:solidFill>
                            <a:srgbClr val="1F1F1F"/>
                          </a:solidFill>
                          <a:effectLst/>
                          <a:latin typeface="Times New Roman" panose="02020603050405020304" pitchFamily="18" charset="0"/>
                          <a:cs typeface="Times New Roman" panose="02020603050405020304" pitchFamily="18" charset="0"/>
                        </a:rPr>
                        <a:t>&gt; 2.5 </a:t>
                      </a:r>
                      <a:r>
                        <a:rPr lang="en-US" sz="2000" dirty="0" err="1">
                          <a:solidFill>
                            <a:srgbClr val="1F1F1F"/>
                          </a:solidFill>
                          <a:effectLst/>
                          <a:latin typeface="Times New Roman" panose="02020603050405020304" pitchFamily="18" charset="0"/>
                          <a:cs typeface="Times New Roman" panose="02020603050405020304" pitchFamily="18" charset="0"/>
                        </a:rPr>
                        <a:t>giây</a:t>
                      </a:r>
                      <a:r>
                        <a:rPr lang="en-US" sz="2000" dirty="0">
                          <a:solidFill>
                            <a:srgbClr val="1F1F1F"/>
                          </a:solidFill>
                          <a:effectLst/>
                          <a:latin typeface="Times New Roman" panose="02020603050405020304" pitchFamily="18" charset="0"/>
                          <a:cs typeface="Times New Roman" panose="02020603050405020304" pitchFamily="18" charset="0"/>
                        </a:rPr>
                        <a:t> </a:t>
                      </a:r>
                      <a:r>
                        <a:rPr lang="en-US" sz="2000" dirty="0" err="1">
                          <a:solidFill>
                            <a:srgbClr val="1F1F1F"/>
                          </a:solidFill>
                          <a:effectLst/>
                          <a:latin typeface="Times New Roman" panose="02020603050405020304" pitchFamily="18" charset="0"/>
                          <a:cs typeface="Times New Roman" panose="02020603050405020304" pitchFamily="18" charset="0"/>
                        </a:rPr>
                        <a:t>và</a:t>
                      </a:r>
                      <a:r>
                        <a:rPr lang="en-US" sz="2000" dirty="0">
                          <a:solidFill>
                            <a:srgbClr val="1F1F1F"/>
                          </a:solidFill>
                          <a:effectLst/>
                          <a:latin typeface="Times New Roman" panose="02020603050405020304" pitchFamily="18" charset="0"/>
                          <a:cs typeface="Times New Roman" panose="02020603050405020304" pitchFamily="18" charset="0"/>
                        </a:rPr>
                        <a:t> &lt;= 4.0 </a:t>
                      </a:r>
                      <a:r>
                        <a:rPr lang="en-US" sz="2000" dirty="0" err="1">
                          <a:solidFill>
                            <a:srgbClr val="1F1F1F"/>
                          </a:solidFill>
                          <a:effectLst/>
                          <a:latin typeface="Times New Roman" panose="02020603050405020304" pitchFamily="18" charset="0"/>
                          <a:cs typeface="Times New Roman" panose="02020603050405020304" pitchFamily="18" charset="0"/>
                        </a:rPr>
                        <a:t>giây</a:t>
                      </a:r>
                      <a:endParaRPr lang="en-US" sz="2000" dirty="0">
                        <a:solidFill>
                          <a:srgbClr val="1F1F1F"/>
                        </a:solidFill>
                        <a:effectLst/>
                        <a:latin typeface="Times New Roman" panose="02020603050405020304" pitchFamily="18" charset="0"/>
                        <a:cs typeface="Times New Roman" panose="02020603050405020304" pitchFamily="18" charset="0"/>
                      </a:endParaRPr>
                    </a:p>
                  </a:txBody>
                  <a:tcPr marT="152400" marB="152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708229"/>
                  </a:ext>
                </a:extLst>
              </a:tr>
              <a:tr h="0">
                <a:tc>
                  <a:txBody>
                    <a:bodyPr/>
                    <a:lstStyle/>
                    <a:p>
                      <a:pPr rtl="0"/>
                      <a:r>
                        <a:rPr lang="en-US" sz="2000" b="1" dirty="0" err="1">
                          <a:solidFill>
                            <a:srgbClr val="1F1F1F"/>
                          </a:solidFill>
                          <a:effectLst/>
                          <a:latin typeface="Times New Roman" panose="02020603050405020304" pitchFamily="18" charset="0"/>
                          <a:cs typeface="Times New Roman" panose="02020603050405020304" pitchFamily="18" charset="0"/>
                        </a:rPr>
                        <a:t>Kém</a:t>
                      </a:r>
                      <a:r>
                        <a:rPr lang="en-US" sz="2000" b="1" dirty="0">
                          <a:solidFill>
                            <a:srgbClr val="1F1F1F"/>
                          </a:solidFill>
                          <a:effectLst/>
                          <a:latin typeface="Times New Roman" panose="02020603050405020304" pitchFamily="18" charset="0"/>
                          <a:cs typeface="Times New Roman" panose="02020603050405020304" pitchFamily="18" charset="0"/>
                        </a:rPr>
                        <a:t> (Poor)</a:t>
                      </a:r>
                      <a:endParaRPr lang="en-US" sz="2000" dirty="0">
                        <a:solidFill>
                          <a:srgbClr val="1F1F1F"/>
                        </a:solidFill>
                        <a:effectLst/>
                        <a:latin typeface="Times New Roman" panose="02020603050405020304" pitchFamily="18" charset="0"/>
                        <a:cs typeface="Times New Roman" panose="02020603050405020304" pitchFamily="18" charset="0"/>
                      </a:endParaRPr>
                    </a:p>
                  </a:txBody>
                  <a:tcPr marR="114300" marT="152400" marB="152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sz="2000" dirty="0">
                          <a:solidFill>
                            <a:srgbClr val="1F1F1F"/>
                          </a:solidFill>
                          <a:effectLst/>
                          <a:latin typeface="Times New Roman" panose="02020603050405020304" pitchFamily="18" charset="0"/>
                          <a:cs typeface="Times New Roman" panose="02020603050405020304" pitchFamily="18" charset="0"/>
                        </a:rPr>
                        <a:t>&gt; 4.0 </a:t>
                      </a:r>
                      <a:r>
                        <a:rPr lang="en-US" sz="2000" dirty="0" err="1">
                          <a:solidFill>
                            <a:srgbClr val="1F1F1F"/>
                          </a:solidFill>
                          <a:effectLst/>
                          <a:latin typeface="Times New Roman" panose="02020603050405020304" pitchFamily="18" charset="0"/>
                          <a:cs typeface="Times New Roman" panose="02020603050405020304" pitchFamily="18" charset="0"/>
                        </a:rPr>
                        <a:t>giây</a:t>
                      </a:r>
                      <a:endParaRPr lang="en-US" sz="2000" dirty="0">
                        <a:solidFill>
                          <a:srgbClr val="1F1F1F"/>
                        </a:solidFill>
                        <a:effectLst/>
                        <a:latin typeface="Times New Roman" panose="02020603050405020304" pitchFamily="18" charset="0"/>
                        <a:cs typeface="Times New Roman" panose="02020603050405020304" pitchFamily="18" charset="0"/>
                      </a:endParaRPr>
                    </a:p>
                  </a:txBody>
                  <a:tcPr marT="152400" marB="152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515181"/>
                  </a:ext>
                </a:extLst>
              </a:tr>
            </a:tbl>
          </a:graphicData>
        </a:graphic>
      </p:graphicFrame>
    </p:spTree>
    <p:extLst>
      <p:ext uri="{BB962C8B-B14F-4D97-AF65-F5344CB8AC3E}">
        <p14:creationId xmlns:p14="http://schemas.microsoft.com/office/powerpoint/2010/main" val="443440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3E292FD-4651-6D8C-12D5-B47324EFE89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D18B9FF-45AD-7171-69C2-52055BE19F4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7A6B34E-20C6-D4A8-0010-2F3F7F8C226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 name="Group 1">
            <a:extLst>
              <a:ext uri="{FF2B5EF4-FFF2-40B4-BE49-F238E27FC236}">
                <a16:creationId xmlns:a16="http://schemas.microsoft.com/office/drawing/2014/main" id="{BB2B7B4B-EC0D-50F9-69C5-8753FFFC2E11}"/>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C2F70F3D-AD26-C55E-4F1A-6275D4789585}"/>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1.3.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Kiến trúc thành phần trong Angular</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2449CAC-0B94-AE9E-4C3B-1A5BD8C6C7D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2F8D502-94D3-8859-DE44-A91A90A4931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1EE96D-933A-8702-D20A-046AA655D77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79EF6CC-E62C-8025-B943-AC602EBD95F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75BFDD9-588C-1AA8-7FE2-1B0A54A7120A}"/>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1.3.3. Components</a:t>
            </a:r>
          </a:p>
        </p:txBody>
      </p:sp>
      <p:grpSp>
        <p:nvGrpSpPr>
          <p:cNvPr id="33" name="Group 32">
            <a:extLst>
              <a:ext uri="{FF2B5EF4-FFF2-40B4-BE49-F238E27FC236}">
                <a16:creationId xmlns:a16="http://schemas.microsoft.com/office/drawing/2014/main" id="{36C57826-E297-0A76-FE72-C334913015E6}"/>
              </a:ext>
            </a:extLst>
          </p:cNvPr>
          <p:cNvGrpSpPr/>
          <p:nvPr/>
        </p:nvGrpSpPr>
        <p:grpSpPr>
          <a:xfrm>
            <a:off x="1294630" y="1395093"/>
            <a:ext cx="4648200" cy="2859846"/>
            <a:chOff x="1559806" y="2160748"/>
            <a:chExt cx="4648200" cy="2859846"/>
          </a:xfrm>
        </p:grpSpPr>
        <p:sp>
          <p:nvSpPr>
            <p:cNvPr id="34" name="Rounded Rectangle 10">
              <a:extLst>
                <a:ext uri="{FF2B5EF4-FFF2-40B4-BE49-F238E27FC236}">
                  <a16:creationId xmlns:a16="http://schemas.microsoft.com/office/drawing/2014/main" id="{1A97AC06-7F38-2075-8D4A-2C51DE3737B8}"/>
                </a:ext>
              </a:extLst>
            </p:cNvPr>
            <p:cNvSpPr/>
            <p:nvPr/>
          </p:nvSpPr>
          <p:spPr>
            <a:xfrm>
              <a:off x="1676400" y="2258284"/>
              <a:ext cx="4419600" cy="609600"/>
            </a:xfrm>
            <a:prstGeom prst="roundRect">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2000" b="0" i="0" u="none" strike="noStrike" kern="1200" cap="none" spc="0" normalizeH="0" baseline="0" noProof="0">
                  <a:ln>
                    <a:noFill/>
                  </a:ln>
                  <a:solidFill>
                    <a:prstClr val="white"/>
                  </a:solidFill>
                  <a:effectLst/>
                  <a:uLnTx/>
                  <a:uFillTx/>
                  <a:latin typeface="Times" pitchFamily="2" charset="0"/>
                  <a:ea typeface="+mn-ea"/>
                  <a:cs typeface="+mn-cs"/>
                </a:rPr>
                <a:t>Component 1 (C1)</a:t>
              </a:r>
            </a:p>
          </p:txBody>
        </p:sp>
        <p:sp>
          <p:nvSpPr>
            <p:cNvPr id="35" name="Rounded Rectangle 11">
              <a:extLst>
                <a:ext uri="{FF2B5EF4-FFF2-40B4-BE49-F238E27FC236}">
                  <a16:creationId xmlns:a16="http://schemas.microsoft.com/office/drawing/2014/main" id="{5DB3133C-574F-39B6-CDD7-C94BFA58D296}"/>
                </a:ext>
              </a:extLst>
            </p:cNvPr>
            <p:cNvSpPr/>
            <p:nvPr/>
          </p:nvSpPr>
          <p:spPr>
            <a:xfrm>
              <a:off x="4800600" y="2971800"/>
              <a:ext cx="1295400" cy="1524000"/>
            </a:xfrm>
            <a:prstGeom prst="roundRect">
              <a:avLst/>
            </a:prstGeom>
            <a:gradFill rotWithShape="1">
              <a:gsLst>
                <a:gs pos="100000">
                  <a:srgbClr val="DBEFF9">
                    <a:tint val="80000"/>
                    <a:satMod val="250000"/>
                  </a:srgbClr>
                </a:gs>
                <a:gs pos="60000">
                  <a:srgbClr val="DBEFF9">
                    <a:shade val="38000"/>
                    <a:satMod val="175000"/>
                  </a:srgbClr>
                </a:gs>
                <a:gs pos="0">
                  <a:srgbClr val="DBEFF9">
                    <a:shade val="30000"/>
                    <a:satMod val="175000"/>
                  </a:srgbClr>
                </a:gs>
              </a:gsLst>
              <a:lin ang="5400000" scaled="0"/>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2000" b="0" i="0" u="none" strike="noStrike" kern="1200" cap="none" spc="0" normalizeH="0" baseline="0" noProof="0">
                  <a:ln>
                    <a:noFill/>
                  </a:ln>
                  <a:solidFill>
                    <a:prstClr val="white"/>
                  </a:solidFill>
                  <a:effectLst/>
                  <a:uLnTx/>
                  <a:uFillTx/>
                  <a:latin typeface="Times" pitchFamily="2" charset="0"/>
                  <a:ea typeface="+mn-ea"/>
                  <a:cs typeface="+mn-cs"/>
                </a:rPr>
                <a:t>C3</a:t>
              </a:r>
            </a:p>
          </p:txBody>
        </p:sp>
        <p:sp>
          <p:nvSpPr>
            <p:cNvPr id="36" name="Rectangle 35">
              <a:extLst>
                <a:ext uri="{FF2B5EF4-FFF2-40B4-BE49-F238E27FC236}">
                  <a16:creationId xmlns:a16="http://schemas.microsoft.com/office/drawing/2014/main" id="{B4D71D45-7E9E-8F57-2941-45664D1E4C41}"/>
                </a:ext>
              </a:extLst>
            </p:cNvPr>
            <p:cNvSpPr/>
            <p:nvPr/>
          </p:nvSpPr>
          <p:spPr>
            <a:xfrm>
              <a:off x="1559806" y="2160748"/>
              <a:ext cx="4648200" cy="2459736"/>
            </a:xfrm>
            <a:prstGeom prst="rect">
              <a:avLst/>
            </a:prstGeom>
            <a:noFill/>
            <a:ln w="19050" cap="flat" cmpd="sng" algn="ctr">
              <a:solidFill>
                <a:srgbClr val="DBEFF9">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37" name="TextBox 36">
              <a:extLst>
                <a:ext uri="{FF2B5EF4-FFF2-40B4-BE49-F238E27FC236}">
                  <a16:creationId xmlns:a16="http://schemas.microsoft.com/office/drawing/2014/main" id="{BEE737BB-AF77-813E-B69C-F5EE354E2B58}"/>
                </a:ext>
              </a:extLst>
            </p:cNvPr>
            <p:cNvSpPr txBox="1"/>
            <p:nvPr/>
          </p:nvSpPr>
          <p:spPr>
            <a:xfrm>
              <a:off x="2831763" y="4620484"/>
              <a:ext cx="2763898"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2000" b="1" i="0" u="none" strike="noStrike" kern="1200" cap="none" spc="0" normalizeH="0" baseline="0" noProof="0">
                  <a:ln>
                    <a:noFill/>
                  </a:ln>
                  <a:solidFill>
                    <a:prstClr val="black"/>
                  </a:solidFill>
                  <a:effectLst/>
                  <a:uLnTx/>
                  <a:uFillTx/>
                  <a:latin typeface="Times" pitchFamily="2" charset="0"/>
                  <a:ea typeface="+mn-ea"/>
                  <a:cs typeface="+mn-cs"/>
                </a:rPr>
                <a:t>App (Root) Component</a:t>
              </a:r>
            </a:p>
          </p:txBody>
        </p:sp>
        <p:sp>
          <p:nvSpPr>
            <p:cNvPr id="38" name="Rounded Rectangle 21">
              <a:extLst>
                <a:ext uri="{FF2B5EF4-FFF2-40B4-BE49-F238E27FC236}">
                  <a16:creationId xmlns:a16="http://schemas.microsoft.com/office/drawing/2014/main" id="{127D3F04-C07E-63D7-DB7A-EE10E3B91128}"/>
                </a:ext>
              </a:extLst>
            </p:cNvPr>
            <p:cNvSpPr/>
            <p:nvPr/>
          </p:nvSpPr>
          <p:spPr>
            <a:xfrm>
              <a:off x="1676400" y="2971800"/>
              <a:ext cx="3026427" cy="1524000"/>
            </a:xfrm>
            <a:prstGeom prst="roundRect">
              <a:avLst/>
            </a:prstGeom>
            <a:gradFill flip="none" rotWithShape="1">
              <a:gsLst>
                <a:gs pos="0">
                  <a:sysClr val="windowText" lastClr="000000">
                    <a:lumMod val="67000"/>
                  </a:sysClr>
                </a:gs>
                <a:gs pos="48000">
                  <a:sysClr val="windowText" lastClr="000000">
                    <a:lumMod val="97000"/>
                    <a:lumOff val="3000"/>
                  </a:sysClr>
                </a:gs>
                <a:gs pos="100000">
                  <a:sysClr val="windowText" lastClr="000000">
                    <a:lumMod val="60000"/>
                    <a:lumOff val="40000"/>
                  </a:sys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2000" b="0" i="0" u="none" strike="noStrike" kern="1200" cap="none" spc="0" normalizeH="0" baseline="0" noProof="0">
                  <a:ln>
                    <a:noFill/>
                  </a:ln>
                  <a:solidFill>
                    <a:prstClr val="white"/>
                  </a:solidFill>
                  <a:effectLst/>
                  <a:uLnTx/>
                  <a:uFillTx/>
                  <a:latin typeface="Times" pitchFamily="2" charset="0"/>
                  <a:ea typeface="+mn-ea"/>
                  <a:cs typeface="+mn-cs"/>
                </a:rPr>
                <a:t>C2</a:t>
              </a:r>
            </a:p>
          </p:txBody>
        </p:sp>
      </p:grpSp>
      <p:grpSp>
        <p:nvGrpSpPr>
          <p:cNvPr id="39" name="Group 38">
            <a:extLst>
              <a:ext uri="{FF2B5EF4-FFF2-40B4-BE49-F238E27FC236}">
                <a16:creationId xmlns:a16="http://schemas.microsoft.com/office/drawing/2014/main" id="{B4DE4509-6775-D328-D51E-7DB8C97F321C}"/>
              </a:ext>
            </a:extLst>
          </p:cNvPr>
          <p:cNvGrpSpPr/>
          <p:nvPr/>
        </p:nvGrpSpPr>
        <p:grpSpPr>
          <a:xfrm>
            <a:off x="6211824" y="1511739"/>
            <a:ext cx="5181600" cy="2836307"/>
            <a:chOff x="6705600" y="2176406"/>
            <a:chExt cx="5181600" cy="2836307"/>
          </a:xfrm>
        </p:grpSpPr>
        <p:sp>
          <p:nvSpPr>
            <p:cNvPr id="40" name="Rounded Rectangle 22">
              <a:extLst>
                <a:ext uri="{FF2B5EF4-FFF2-40B4-BE49-F238E27FC236}">
                  <a16:creationId xmlns:a16="http://schemas.microsoft.com/office/drawing/2014/main" id="{699CA956-11BB-CD63-6D85-4DB038EEB4D9}"/>
                </a:ext>
              </a:extLst>
            </p:cNvPr>
            <p:cNvSpPr/>
            <p:nvPr/>
          </p:nvSpPr>
          <p:spPr>
            <a:xfrm>
              <a:off x="8153400" y="2176406"/>
              <a:ext cx="2286000" cy="609600"/>
            </a:xfrm>
            <a:prstGeom prst="roundRect">
              <a:avLst/>
            </a:prstGeom>
            <a:gradFill rotWithShape="1">
              <a:gsLst>
                <a:gs pos="100000">
                  <a:srgbClr val="17406D">
                    <a:tint val="80000"/>
                    <a:satMod val="250000"/>
                  </a:srgbClr>
                </a:gs>
                <a:gs pos="60000">
                  <a:srgbClr val="17406D">
                    <a:shade val="38000"/>
                    <a:satMod val="175000"/>
                  </a:srgbClr>
                </a:gs>
                <a:gs pos="0">
                  <a:srgbClr val="17406D">
                    <a:shade val="30000"/>
                    <a:satMod val="175000"/>
                  </a:srgbClr>
                </a:gs>
              </a:gsLst>
              <a:lin ang="5400000" scaled="0"/>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2000" b="0" i="0" u="none" strike="noStrike" kern="1200" cap="none" spc="0" normalizeH="0" baseline="0" noProof="0">
                  <a:ln>
                    <a:noFill/>
                  </a:ln>
                  <a:solidFill>
                    <a:prstClr val="white"/>
                  </a:solidFill>
                  <a:effectLst/>
                  <a:uLnTx/>
                  <a:uFillTx/>
                  <a:latin typeface="Times" pitchFamily="2" charset="0"/>
                  <a:ea typeface="+mn-ea"/>
                  <a:cs typeface="+mn-cs"/>
                </a:rPr>
                <a:t>Root Component</a:t>
              </a:r>
            </a:p>
          </p:txBody>
        </p:sp>
        <p:sp>
          <p:nvSpPr>
            <p:cNvPr id="41" name="Rounded Rectangle 23">
              <a:extLst>
                <a:ext uri="{FF2B5EF4-FFF2-40B4-BE49-F238E27FC236}">
                  <a16:creationId xmlns:a16="http://schemas.microsoft.com/office/drawing/2014/main" id="{8266A0AC-FA00-3201-0D8D-BF195819405B}"/>
                </a:ext>
              </a:extLst>
            </p:cNvPr>
            <p:cNvSpPr/>
            <p:nvPr/>
          </p:nvSpPr>
          <p:spPr>
            <a:xfrm>
              <a:off x="6705600" y="3743212"/>
              <a:ext cx="1676400" cy="609600"/>
            </a:xfrm>
            <a:prstGeom prst="roundRect">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2000" b="0" i="0" u="none" strike="noStrike" kern="1200" cap="none" spc="0" normalizeH="0" baseline="0" noProof="0">
                  <a:ln>
                    <a:noFill/>
                  </a:ln>
                  <a:solidFill>
                    <a:prstClr val="white"/>
                  </a:solidFill>
                  <a:effectLst/>
                  <a:uLnTx/>
                  <a:uFillTx/>
                  <a:latin typeface="Times" pitchFamily="2" charset="0"/>
                  <a:ea typeface="+mn-ea"/>
                  <a:cs typeface="+mn-cs"/>
                </a:rPr>
                <a:t>Component 1</a:t>
              </a:r>
            </a:p>
          </p:txBody>
        </p:sp>
        <p:sp>
          <p:nvSpPr>
            <p:cNvPr id="42" name="Rounded Rectangle 24">
              <a:extLst>
                <a:ext uri="{FF2B5EF4-FFF2-40B4-BE49-F238E27FC236}">
                  <a16:creationId xmlns:a16="http://schemas.microsoft.com/office/drawing/2014/main" id="{D51065CC-416E-4E63-EE59-FC1B42DADC00}"/>
                </a:ext>
              </a:extLst>
            </p:cNvPr>
            <p:cNvSpPr/>
            <p:nvPr/>
          </p:nvSpPr>
          <p:spPr>
            <a:xfrm>
              <a:off x="8458200" y="3743212"/>
              <a:ext cx="1676400" cy="609600"/>
            </a:xfrm>
            <a:prstGeom prst="roundRect">
              <a:avLst/>
            </a:prstGeom>
            <a:gradFill flip="none" rotWithShape="1">
              <a:gsLst>
                <a:gs pos="0">
                  <a:sysClr val="windowText" lastClr="000000">
                    <a:lumMod val="67000"/>
                  </a:sysClr>
                </a:gs>
                <a:gs pos="48000">
                  <a:sysClr val="windowText" lastClr="000000">
                    <a:lumMod val="97000"/>
                    <a:lumOff val="3000"/>
                  </a:sysClr>
                </a:gs>
                <a:gs pos="100000">
                  <a:sysClr val="windowText" lastClr="000000">
                    <a:lumMod val="60000"/>
                    <a:lumOff val="40000"/>
                  </a:sys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2000" b="0" i="0" u="none" strike="noStrike" kern="1200" cap="none" spc="0" normalizeH="0" baseline="0" noProof="0">
                  <a:ln>
                    <a:noFill/>
                  </a:ln>
                  <a:solidFill>
                    <a:prstClr val="white"/>
                  </a:solidFill>
                  <a:effectLst/>
                  <a:uLnTx/>
                  <a:uFillTx/>
                  <a:latin typeface="Times" pitchFamily="2" charset="0"/>
                  <a:ea typeface="+mn-ea"/>
                  <a:cs typeface="+mn-cs"/>
                </a:rPr>
                <a:t>Component 2</a:t>
              </a:r>
            </a:p>
          </p:txBody>
        </p:sp>
        <p:sp>
          <p:nvSpPr>
            <p:cNvPr id="43" name="Rounded Rectangle 25">
              <a:extLst>
                <a:ext uri="{FF2B5EF4-FFF2-40B4-BE49-F238E27FC236}">
                  <a16:creationId xmlns:a16="http://schemas.microsoft.com/office/drawing/2014/main" id="{8D019096-E0CF-A6BD-C3F4-12B7343EDE38}"/>
                </a:ext>
              </a:extLst>
            </p:cNvPr>
            <p:cNvSpPr/>
            <p:nvPr/>
          </p:nvSpPr>
          <p:spPr>
            <a:xfrm>
              <a:off x="10210800" y="3743212"/>
              <a:ext cx="1676400" cy="609600"/>
            </a:xfrm>
            <a:prstGeom prst="roundRect">
              <a:avLst/>
            </a:prstGeom>
            <a:gradFill rotWithShape="1">
              <a:gsLst>
                <a:gs pos="100000">
                  <a:srgbClr val="DBEFF9">
                    <a:tint val="80000"/>
                    <a:satMod val="250000"/>
                  </a:srgbClr>
                </a:gs>
                <a:gs pos="60000">
                  <a:srgbClr val="DBEFF9">
                    <a:shade val="38000"/>
                    <a:satMod val="175000"/>
                  </a:srgbClr>
                </a:gs>
                <a:gs pos="0">
                  <a:srgbClr val="DBEFF9">
                    <a:shade val="30000"/>
                    <a:satMod val="175000"/>
                  </a:srgbClr>
                </a:gs>
              </a:gsLst>
              <a:lin ang="5400000" scaled="0"/>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2000" b="0" i="0" u="none" strike="noStrike" kern="1200" cap="none" spc="0" normalizeH="0" baseline="0" noProof="0">
                  <a:ln>
                    <a:noFill/>
                  </a:ln>
                  <a:solidFill>
                    <a:prstClr val="white"/>
                  </a:solidFill>
                  <a:effectLst/>
                  <a:uLnTx/>
                  <a:uFillTx/>
                  <a:latin typeface="Times" pitchFamily="2" charset="0"/>
                  <a:ea typeface="+mn-ea"/>
                  <a:cs typeface="+mn-cs"/>
                </a:rPr>
                <a:t>Component 3</a:t>
              </a:r>
            </a:p>
          </p:txBody>
        </p:sp>
        <p:cxnSp>
          <p:nvCxnSpPr>
            <p:cNvPr id="44" name="Straight Arrow Connector 43">
              <a:extLst>
                <a:ext uri="{FF2B5EF4-FFF2-40B4-BE49-F238E27FC236}">
                  <a16:creationId xmlns:a16="http://schemas.microsoft.com/office/drawing/2014/main" id="{C831CFF3-1B4B-D27A-4FA4-44B5C46BC716}"/>
                </a:ext>
              </a:extLst>
            </p:cNvPr>
            <p:cNvCxnSpPr>
              <a:stCxn id="40" idx="2"/>
            </p:cNvCxnSpPr>
            <p:nvPr/>
          </p:nvCxnSpPr>
          <p:spPr>
            <a:xfrm>
              <a:off x="9296400" y="2786006"/>
              <a:ext cx="0" cy="957206"/>
            </a:xfrm>
            <a:prstGeom prst="straightConnector1">
              <a:avLst/>
            </a:prstGeom>
            <a:noFill/>
            <a:ln w="9525" cap="flat" cmpd="sng" algn="ctr">
              <a:solidFill>
                <a:srgbClr val="0F6FC6"/>
              </a:solidFill>
              <a:prstDash val="solid"/>
              <a:headEnd type="triangle"/>
              <a:tailEnd type="triangle"/>
            </a:ln>
            <a:effectLst/>
          </p:spPr>
        </p:cxnSp>
        <p:cxnSp>
          <p:nvCxnSpPr>
            <p:cNvPr id="45" name="Straight Connector 44">
              <a:extLst>
                <a:ext uri="{FF2B5EF4-FFF2-40B4-BE49-F238E27FC236}">
                  <a16:creationId xmlns:a16="http://schemas.microsoft.com/office/drawing/2014/main" id="{BF3A6F04-FC88-8B00-D5F6-52BADBBA7D7C}"/>
                </a:ext>
              </a:extLst>
            </p:cNvPr>
            <p:cNvCxnSpPr/>
            <p:nvPr/>
          </p:nvCxnSpPr>
          <p:spPr>
            <a:xfrm>
              <a:off x="7543800" y="3264609"/>
              <a:ext cx="3505200" cy="0"/>
            </a:xfrm>
            <a:prstGeom prst="line">
              <a:avLst/>
            </a:prstGeom>
            <a:noFill/>
            <a:ln w="9525" cap="flat" cmpd="sng" algn="ctr">
              <a:solidFill>
                <a:srgbClr val="0F6FC6"/>
              </a:solidFill>
              <a:prstDash val="solid"/>
            </a:ln>
            <a:effectLst/>
          </p:spPr>
        </p:cxnSp>
        <p:cxnSp>
          <p:nvCxnSpPr>
            <p:cNvPr id="46" name="Straight Arrow Connector 45">
              <a:extLst>
                <a:ext uri="{FF2B5EF4-FFF2-40B4-BE49-F238E27FC236}">
                  <a16:creationId xmlns:a16="http://schemas.microsoft.com/office/drawing/2014/main" id="{5D04D870-D722-2EC4-9522-68CE4514DB0A}"/>
                </a:ext>
              </a:extLst>
            </p:cNvPr>
            <p:cNvCxnSpPr>
              <a:endCxn id="41" idx="0"/>
            </p:cNvCxnSpPr>
            <p:nvPr/>
          </p:nvCxnSpPr>
          <p:spPr>
            <a:xfrm>
              <a:off x="7543800" y="3264609"/>
              <a:ext cx="0" cy="478603"/>
            </a:xfrm>
            <a:prstGeom prst="straightConnector1">
              <a:avLst/>
            </a:prstGeom>
            <a:noFill/>
            <a:ln w="9525" cap="flat" cmpd="sng" algn="ctr">
              <a:solidFill>
                <a:srgbClr val="0F6FC6"/>
              </a:solidFill>
              <a:prstDash val="solid"/>
              <a:tailEnd type="triangle"/>
            </a:ln>
            <a:effectLst/>
          </p:spPr>
        </p:cxnSp>
        <p:cxnSp>
          <p:nvCxnSpPr>
            <p:cNvPr id="47" name="Straight Arrow Connector 46">
              <a:extLst>
                <a:ext uri="{FF2B5EF4-FFF2-40B4-BE49-F238E27FC236}">
                  <a16:creationId xmlns:a16="http://schemas.microsoft.com/office/drawing/2014/main" id="{F4120E10-2A41-12D2-0499-8E9972608FE0}"/>
                </a:ext>
              </a:extLst>
            </p:cNvPr>
            <p:cNvCxnSpPr>
              <a:endCxn id="43" idx="0"/>
            </p:cNvCxnSpPr>
            <p:nvPr/>
          </p:nvCxnSpPr>
          <p:spPr>
            <a:xfrm>
              <a:off x="11049000" y="3264609"/>
              <a:ext cx="0" cy="478603"/>
            </a:xfrm>
            <a:prstGeom prst="straightConnector1">
              <a:avLst/>
            </a:prstGeom>
            <a:noFill/>
            <a:ln w="9525" cap="flat" cmpd="sng" algn="ctr">
              <a:solidFill>
                <a:srgbClr val="0F6FC6"/>
              </a:solidFill>
              <a:prstDash val="solid"/>
              <a:tailEnd type="triangle"/>
            </a:ln>
            <a:effectLst/>
          </p:spPr>
        </p:cxnSp>
        <p:sp>
          <p:nvSpPr>
            <p:cNvPr id="48" name="TextBox 47">
              <a:extLst>
                <a:ext uri="{FF2B5EF4-FFF2-40B4-BE49-F238E27FC236}">
                  <a16:creationId xmlns:a16="http://schemas.microsoft.com/office/drawing/2014/main" id="{D5144C31-89B4-824E-933F-4DEC41BC8E7A}"/>
                </a:ext>
              </a:extLst>
            </p:cNvPr>
            <p:cNvSpPr txBox="1"/>
            <p:nvPr/>
          </p:nvSpPr>
          <p:spPr>
            <a:xfrm>
              <a:off x="6791030" y="4366382"/>
              <a:ext cx="1542089" cy="646331"/>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srgbClr val="C00000"/>
                  </a:solidFill>
                  <a:effectLst/>
                  <a:uLnTx/>
                  <a:uFillTx/>
                  <a:latin typeface="Times" pitchFamily="2" charset="0"/>
                  <a:ea typeface="+mn-ea"/>
                  <a:cs typeface="+mn-cs"/>
                </a:rPr>
                <a:t>Html Template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srgbClr val="C00000"/>
                  </a:solidFill>
                  <a:effectLst/>
                  <a:uLnTx/>
                  <a:uFillTx/>
                  <a:latin typeface="Times" pitchFamily="2" charset="0"/>
                  <a:ea typeface="+mn-ea"/>
                  <a:cs typeface="+mn-cs"/>
                </a:rPr>
                <a:t>Class</a:t>
              </a:r>
            </a:p>
          </p:txBody>
        </p:sp>
      </p:grpSp>
      <p:grpSp>
        <p:nvGrpSpPr>
          <p:cNvPr id="49" name="Group 48">
            <a:extLst>
              <a:ext uri="{FF2B5EF4-FFF2-40B4-BE49-F238E27FC236}">
                <a16:creationId xmlns:a16="http://schemas.microsoft.com/office/drawing/2014/main" id="{7FFCF8D8-2641-B86B-63F3-B6D81FA0D931}"/>
              </a:ext>
            </a:extLst>
          </p:cNvPr>
          <p:cNvGrpSpPr/>
          <p:nvPr/>
        </p:nvGrpSpPr>
        <p:grpSpPr>
          <a:xfrm>
            <a:off x="1335024" y="4386743"/>
            <a:ext cx="10058399" cy="1544596"/>
            <a:chOff x="1600200" y="5008604"/>
            <a:chExt cx="10058399" cy="1544596"/>
          </a:xfrm>
        </p:grpSpPr>
        <p:sp>
          <p:nvSpPr>
            <p:cNvPr id="50" name="Rectangle 49">
              <a:extLst>
                <a:ext uri="{FF2B5EF4-FFF2-40B4-BE49-F238E27FC236}">
                  <a16:creationId xmlns:a16="http://schemas.microsoft.com/office/drawing/2014/main" id="{74B9AA8C-62E3-C44E-AE4E-5D474AA6BB45}"/>
                </a:ext>
              </a:extLst>
            </p:cNvPr>
            <p:cNvSpPr/>
            <p:nvPr/>
          </p:nvSpPr>
          <p:spPr>
            <a:xfrm>
              <a:off x="1715514" y="5366714"/>
              <a:ext cx="9943085" cy="1186486"/>
            </a:xfrm>
            <a:prstGeom prst="rect">
              <a:avLst/>
            </a:prstGeom>
            <a:noFill/>
            <a:ln w="19050" cap="flat" cmpd="sng" algn="ctr">
              <a:solidFill>
                <a:srgbClr val="DBEFF9">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51" name="TextBox 50">
              <a:extLst>
                <a:ext uri="{FF2B5EF4-FFF2-40B4-BE49-F238E27FC236}">
                  <a16:creationId xmlns:a16="http://schemas.microsoft.com/office/drawing/2014/main" id="{007E6D93-D923-010A-0547-9F2A6FAE01AC}"/>
                </a:ext>
              </a:extLst>
            </p:cNvPr>
            <p:cNvSpPr txBox="1"/>
            <p:nvPr/>
          </p:nvSpPr>
          <p:spPr>
            <a:xfrm>
              <a:off x="1600200" y="5008604"/>
              <a:ext cx="1467068"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2000" b="1" i="0" u="none" strike="noStrike" kern="1200" cap="none" spc="0" normalizeH="0" baseline="0" noProof="0">
                  <a:ln>
                    <a:noFill/>
                  </a:ln>
                  <a:solidFill>
                    <a:prstClr val="black"/>
                  </a:solidFill>
                  <a:effectLst/>
                  <a:uLnTx/>
                  <a:uFillTx/>
                  <a:latin typeface="Times" pitchFamily="2" charset="0"/>
                  <a:ea typeface="+mn-ea"/>
                  <a:cs typeface="+mn-cs"/>
                </a:rPr>
                <a:t>Component</a:t>
              </a:r>
            </a:p>
          </p:txBody>
        </p:sp>
        <p:sp>
          <p:nvSpPr>
            <p:cNvPr id="52" name="Rectangle 51">
              <a:extLst>
                <a:ext uri="{FF2B5EF4-FFF2-40B4-BE49-F238E27FC236}">
                  <a16:creationId xmlns:a16="http://schemas.microsoft.com/office/drawing/2014/main" id="{53767308-60FD-9E23-7021-F03EBCB0CD59}"/>
                </a:ext>
              </a:extLst>
            </p:cNvPr>
            <p:cNvSpPr/>
            <p:nvPr/>
          </p:nvSpPr>
          <p:spPr>
            <a:xfrm>
              <a:off x="2209800" y="5459821"/>
              <a:ext cx="2120372" cy="1034086"/>
            </a:xfrm>
            <a:prstGeom prst="rect">
              <a:avLst/>
            </a:prstGeom>
            <a:blipFill>
              <a:blip r:embed="rId3">
                <a:duotone>
                  <a:sysClr val="windowText" lastClr="000000">
                    <a:shade val="48000"/>
                  </a:sysClr>
                  <a:sysClr val="windowText" lastClr="000000">
                    <a:tint val="96000"/>
                    <a:satMod val="150000"/>
                  </a:sysClr>
                </a:duotone>
              </a:blip>
              <a:tile tx="0" ty="0" sx="80000" sy="80000" flip="none" algn="tl"/>
            </a:blip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1" i="0" u="none" strike="noStrike" kern="1200" cap="none" spc="0" normalizeH="0" baseline="0" noProof="0">
                  <a:ln>
                    <a:noFill/>
                  </a:ln>
                  <a:solidFill>
                    <a:prstClr val="white"/>
                  </a:solidFill>
                  <a:effectLst/>
                  <a:uLnTx/>
                  <a:uFillTx/>
                  <a:latin typeface="Georgia"/>
                  <a:ea typeface="+mn-ea"/>
                  <a:cs typeface="+mn-cs"/>
                </a:rPr>
                <a:t>Template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HTML</a:t>
              </a:r>
            </a:p>
          </p:txBody>
        </p:sp>
        <p:sp>
          <p:nvSpPr>
            <p:cNvPr id="53" name="Rectangle 52">
              <a:extLst>
                <a:ext uri="{FF2B5EF4-FFF2-40B4-BE49-F238E27FC236}">
                  <a16:creationId xmlns:a16="http://schemas.microsoft.com/office/drawing/2014/main" id="{6B6991B2-DB3B-2A70-0450-FB95C86391C6}"/>
                </a:ext>
              </a:extLst>
            </p:cNvPr>
            <p:cNvSpPr/>
            <p:nvPr/>
          </p:nvSpPr>
          <p:spPr>
            <a:xfrm>
              <a:off x="5575828" y="5459821"/>
              <a:ext cx="2120372" cy="1034086"/>
            </a:xfrm>
            <a:prstGeom prst="rect">
              <a:avLst/>
            </a:prstGeom>
            <a:solidFill>
              <a:srgbClr val="17406D"/>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1" i="0" u="none" strike="noStrike" kern="1200" cap="none" spc="0" normalizeH="0" baseline="0" noProof="0">
                  <a:ln>
                    <a:noFill/>
                  </a:ln>
                  <a:solidFill>
                    <a:prstClr val="white"/>
                  </a:solidFill>
                  <a:effectLst/>
                  <a:uLnTx/>
                  <a:uFillTx/>
                  <a:latin typeface="Georgia"/>
                  <a:ea typeface="+mn-ea"/>
                  <a:cs typeface="+mn-cs"/>
                </a:rPr>
                <a:t>Class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Code: TypeScript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Data &amp; Method</a:t>
              </a:r>
            </a:p>
          </p:txBody>
        </p:sp>
        <p:sp>
          <p:nvSpPr>
            <p:cNvPr id="54" name="Rectangle 53">
              <a:extLst>
                <a:ext uri="{FF2B5EF4-FFF2-40B4-BE49-F238E27FC236}">
                  <a16:creationId xmlns:a16="http://schemas.microsoft.com/office/drawing/2014/main" id="{1D47BD3E-2FDA-5741-C12F-7158A7361A85}"/>
                </a:ext>
              </a:extLst>
            </p:cNvPr>
            <p:cNvSpPr/>
            <p:nvPr/>
          </p:nvSpPr>
          <p:spPr>
            <a:xfrm>
              <a:off x="9062935" y="5453558"/>
              <a:ext cx="2120372" cy="1034086"/>
            </a:xfrm>
            <a:prstGeom prst="rect">
              <a:avLst/>
            </a:prstGeom>
            <a:solidFill>
              <a:sysClr val="windowText" lastClr="000000"/>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1" i="0" u="none" strike="noStrike" kern="1200" cap="none" spc="0" normalizeH="0" baseline="0" noProof="0">
                  <a:ln>
                    <a:noFill/>
                  </a:ln>
                  <a:solidFill>
                    <a:prstClr val="white"/>
                  </a:solidFill>
                  <a:effectLst/>
                  <a:uLnTx/>
                  <a:uFillTx/>
                  <a:latin typeface="Georgia"/>
                  <a:ea typeface="+mn-ea"/>
                  <a:cs typeface="+mn-cs"/>
                </a:rPr>
                <a:t>Metadata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Info</a:t>
              </a:r>
              <a:r>
                <a:rPr kumimoji="0" lang="en-US" sz="1800" b="0" i="1" u="none" strike="noStrike" kern="1200" cap="none" spc="0" normalizeH="0" baseline="0" noProof="0">
                  <a:ln>
                    <a:noFill/>
                  </a:ln>
                  <a:solidFill>
                    <a:prstClr val="white"/>
                  </a:solidFill>
                  <a:effectLst/>
                  <a:uLnTx/>
                  <a:uFillTx/>
                  <a:latin typeface="Georgia"/>
                  <a:ea typeface="+mn-ea"/>
                  <a:cs typeface="+mn-cs"/>
                </a:rPr>
                <a:t>r</a:t>
              </a:r>
              <a:r>
                <a:rPr kumimoji="0" lang="en-VN" sz="1800" b="0" i="1" u="none" strike="noStrike" kern="1200" cap="none" spc="0" normalizeH="0" baseline="0" noProof="0">
                  <a:ln>
                    <a:noFill/>
                  </a:ln>
                  <a:solidFill>
                    <a:prstClr val="white"/>
                  </a:solidFill>
                  <a:effectLst/>
                  <a:uLnTx/>
                  <a:uFillTx/>
                  <a:latin typeface="Georgia"/>
                  <a:ea typeface="+mn-ea"/>
                  <a:cs typeface="+mn-cs"/>
                </a:rPr>
                <a:t>mation, Decorator</a:t>
              </a:r>
            </a:p>
          </p:txBody>
        </p:sp>
        <p:sp>
          <p:nvSpPr>
            <p:cNvPr id="55" name="TextBox 54">
              <a:extLst>
                <a:ext uri="{FF2B5EF4-FFF2-40B4-BE49-F238E27FC236}">
                  <a16:creationId xmlns:a16="http://schemas.microsoft.com/office/drawing/2014/main" id="{4C184E71-BBE0-7D85-6D1C-170BA67058CC}"/>
                </a:ext>
              </a:extLst>
            </p:cNvPr>
            <p:cNvSpPr txBox="1"/>
            <p:nvPr/>
          </p:nvSpPr>
          <p:spPr>
            <a:xfrm>
              <a:off x="4661894" y="5627530"/>
              <a:ext cx="582211" cy="76944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4400" b="1" i="0" u="none" strike="noStrike" kern="1200" cap="none" spc="0" normalizeH="0" baseline="0" noProof="0">
                  <a:ln>
                    <a:noFill/>
                  </a:ln>
                  <a:solidFill>
                    <a:prstClr val="black"/>
                  </a:solidFill>
                  <a:effectLst/>
                  <a:uLnTx/>
                  <a:uFillTx/>
                  <a:latin typeface="Georgia"/>
                  <a:ea typeface="+mn-ea"/>
                  <a:cs typeface="+mn-cs"/>
                </a:rPr>
                <a:t>+</a:t>
              </a:r>
            </a:p>
          </p:txBody>
        </p:sp>
        <p:sp>
          <p:nvSpPr>
            <p:cNvPr id="56" name="TextBox 55">
              <a:extLst>
                <a:ext uri="{FF2B5EF4-FFF2-40B4-BE49-F238E27FC236}">
                  <a16:creationId xmlns:a16="http://schemas.microsoft.com/office/drawing/2014/main" id="{19B2687E-8D7B-3878-0733-446A45C7F3BC}"/>
                </a:ext>
              </a:extLst>
            </p:cNvPr>
            <p:cNvSpPr txBox="1"/>
            <p:nvPr/>
          </p:nvSpPr>
          <p:spPr>
            <a:xfrm>
              <a:off x="8088462" y="5641468"/>
              <a:ext cx="582211" cy="76944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4400" b="1" i="0" u="none" strike="noStrike" kern="1200" cap="none" spc="0" normalizeH="0" baseline="0" noProof="0">
                  <a:ln>
                    <a:noFill/>
                  </a:ln>
                  <a:solidFill>
                    <a:prstClr val="black"/>
                  </a:solidFill>
                  <a:effectLst/>
                  <a:uLnTx/>
                  <a:uFillTx/>
                  <a:latin typeface="Georgia"/>
                  <a:ea typeface="+mn-ea"/>
                  <a:cs typeface="+mn-cs"/>
                </a:rPr>
                <a:t>+</a:t>
              </a:r>
            </a:p>
          </p:txBody>
        </p:sp>
      </p:grpSp>
    </p:spTree>
    <p:extLst>
      <p:ext uri="{BB962C8B-B14F-4D97-AF65-F5344CB8AC3E}">
        <p14:creationId xmlns:p14="http://schemas.microsoft.com/office/powerpoint/2010/main" val="18406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blinds(horizontal)">
                                      <p:cBhvr>
                                        <p:cTn id="1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71E0ADA-9FAD-D7A8-6489-66D6608CB22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BDFF8EC-7EC0-5942-3669-CE43AFEA4CD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5610DB5-35FE-7C9F-81BA-4365DDB4A8F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2" name="Group 1">
            <a:extLst>
              <a:ext uri="{FF2B5EF4-FFF2-40B4-BE49-F238E27FC236}">
                <a16:creationId xmlns:a16="http://schemas.microsoft.com/office/drawing/2014/main" id="{860119DF-625D-C077-59D5-CE130F9829A7}"/>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6D7172FA-8C7F-7D29-17CA-0FE011C83DBE}"/>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1.3.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Kiến trúc thành phần trong Angular</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F1CCF94-6686-7149-0C22-A43A9E06198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575BDB8-36B1-B555-854C-07858CB2D86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C2C1821-5367-B5EA-9934-B4E6E4FEE25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E9EA375-8108-B626-B9C9-844F92DA029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CC3AD3A-9012-DD8F-700C-284B0B0E9341}"/>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1.3.3. Components</a:t>
            </a:r>
          </a:p>
        </p:txBody>
      </p:sp>
      <p:sp>
        <p:nvSpPr>
          <p:cNvPr id="11" name="TextBox 10">
            <a:extLst>
              <a:ext uri="{FF2B5EF4-FFF2-40B4-BE49-F238E27FC236}">
                <a16:creationId xmlns:a16="http://schemas.microsoft.com/office/drawing/2014/main" id="{A53FD041-D535-8F5E-858E-34E675ED9949}"/>
              </a:ext>
            </a:extLst>
          </p:cNvPr>
          <p:cNvSpPr txBox="1"/>
          <p:nvPr/>
        </p:nvSpPr>
        <p:spPr>
          <a:xfrm>
            <a:off x="660833" y="1323532"/>
            <a:ext cx="11073384" cy="4602029"/>
          </a:xfrm>
          <a:prstGeom prst="rect">
            <a:avLst/>
          </a:prstGeom>
          <a:noFill/>
        </p:spPr>
        <p:txBody>
          <a:bodyPr wrap="square">
            <a:spAutoFit/>
          </a:bodyPr>
          <a:lstStyle/>
          <a:p>
            <a:pPr>
              <a:lnSpc>
                <a:spcPct val="150000"/>
              </a:lnSpc>
            </a:pPr>
            <a:r>
              <a:rPr lang="en-US" sz="2200" dirty="0">
                <a:latin typeface="Times New Roman" panose="02020603050405020304" pitchFamily="18" charset="0"/>
                <a:cs typeface="Times New Roman" panose="02020603050405020304" pitchFamily="18" charset="0"/>
              </a:rPr>
              <a:t>Component </a:t>
            </a:r>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vị</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cấu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tạo</a:t>
            </a:r>
            <a:r>
              <a:rPr lang="en-US" sz="2200" dirty="0">
                <a:latin typeface="Times New Roman" panose="02020603050405020304" pitchFamily="18" charset="0"/>
                <a:cs typeface="Times New Roman" panose="02020603050405020304" pitchFamily="18" charset="0"/>
              </a:rPr>
              <a:t> UI. Thành </a:t>
            </a:r>
            <a:r>
              <a:rPr lang="en-US" sz="2200" dirty="0" err="1">
                <a:latin typeface="Times New Roman" panose="02020603050405020304" pitchFamily="18" charset="0"/>
                <a:cs typeface="Times New Roman" panose="02020603050405020304" pitchFamily="18" charset="0"/>
              </a:rPr>
              <a:t>phần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gồm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Class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gắn</a:t>
            </a:r>
            <a:r>
              <a:rPr lang="en-US" sz="2200" dirty="0">
                <a:latin typeface="Times New Roman" panose="02020603050405020304" pitchFamily="18" charset="0"/>
                <a:cs typeface="Times New Roman" panose="02020603050405020304" pitchFamily="18" charset="0"/>
              </a:rPr>
              <a:t> decorator </a:t>
            </a:r>
            <a:r>
              <a:rPr lang="en-US" sz="2200" b="1" dirty="0">
                <a:latin typeface="Times New Roman" panose="02020603050405020304" pitchFamily="18" charset="0"/>
                <a:cs typeface="Times New Roman" panose="02020603050405020304" pitchFamily="18" charset="0"/>
              </a:rPr>
              <a:t>@Component</a:t>
            </a:r>
            <a:r>
              <a:rPr lang="en-US" sz="2200" dirty="0">
                <a:latin typeface="Times New Roman" panose="02020603050405020304" pitchFamily="18" charset="0"/>
                <a:cs typeface="Times New Roman" panose="02020603050405020304" pitchFamily="18" charset="0"/>
              </a:rPr>
              <a:t>, bao </a:t>
            </a:r>
            <a:r>
              <a:rPr lang="en-US" sz="2200" dirty="0" err="1">
                <a:latin typeface="Times New Roman" panose="02020603050405020304" pitchFamily="18" charset="0"/>
                <a:cs typeface="Times New Roman" panose="02020603050405020304" pitchFamily="18" charset="0"/>
              </a:rPr>
              <a:t>gồm</a:t>
            </a:r>
            <a:r>
              <a:rPr lang="en-US" sz="2200" dirty="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Template: </a:t>
            </a:r>
            <a:r>
              <a:rPr lang="en-US" sz="2200" dirty="0">
                <a:latin typeface="Times New Roman" panose="02020603050405020304" pitchFamily="18" charset="0"/>
                <a:cs typeface="Times New Roman" panose="02020603050405020304" pitchFamily="18" charset="0"/>
              </a:rPr>
              <a:t>Code HTML </a:t>
            </a:r>
            <a:r>
              <a:rPr lang="en-US" sz="2200" dirty="0" err="1">
                <a:latin typeface="Times New Roman" panose="02020603050405020304" pitchFamily="18" charset="0"/>
                <a:cs typeface="Times New Roman" panose="02020603050405020304" pitchFamily="18" charset="0"/>
              </a:rPr>
              <a:t>xác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cấu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trúc</a:t>
            </a:r>
            <a:r>
              <a:rPr lang="en-US" sz="2200" dirty="0">
                <a:latin typeface="Times New Roman" panose="02020603050405020304" pitchFamily="18" charset="0"/>
                <a:cs typeface="Times New Roman" panose="02020603050405020304" pitchFamily="18" charset="0"/>
              </a:rPr>
              <a:t> View.</a:t>
            </a:r>
          </a:p>
          <a:p>
            <a:pPr marL="342900" indent="-342900">
              <a:lnSpc>
                <a:spcPct val="150000"/>
              </a:lnSpc>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Styles: </a:t>
            </a:r>
            <a:r>
              <a:rPr lang="en-US" sz="2200" dirty="0">
                <a:latin typeface="Times New Roman" panose="02020603050405020304" pitchFamily="18" charset="0"/>
                <a:cs typeface="Times New Roman" panose="02020603050405020304" pitchFamily="18" charset="0"/>
              </a:rPr>
              <a:t>CSS/SCSS (View Encapsulation).</a:t>
            </a:r>
          </a:p>
          <a:p>
            <a:pPr marL="342900" indent="-342900">
              <a:lnSpc>
                <a:spcPct val="150000"/>
              </a:lnSpc>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Class: </a:t>
            </a:r>
            <a:r>
              <a:rPr lang="en-US" sz="2200" dirty="0" err="1">
                <a:latin typeface="Times New Roman" panose="02020603050405020304" pitchFamily="18" charset="0"/>
                <a:cs typeface="Times New Roman" panose="02020603050405020304" pitchFamily="18" charset="0"/>
              </a:rPr>
              <a:t>Chứa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thuộc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tính</a:t>
            </a:r>
            <a:r>
              <a:rPr lang="en-US" sz="2200" dirty="0">
                <a:latin typeface="Times New Roman" panose="02020603050405020304" pitchFamily="18" charset="0"/>
                <a:cs typeface="Times New Roman" panose="02020603050405020304" pitchFamily="18" charset="0"/>
              </a:rPr>
              <a:t> (State) </a:t>
            </a:r>
          </a:p>
          <a:p>
            <a:pPr>
              <a:lnSpc>
                <a:spcPct val="150000"/>
              </a:lnSpc>
            </a:pP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phương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thức</a:t>
            </a:r>
            <a:r>
              <a:rPr lang="en-US" sz="2200" dirty="0">
                <a:latin typeface="Times New Roman" panose="02020603050405020304" pitchFamily="18" charset="0"/>
                <a:cs typeface="Times New Roman" panose="02020603050405020304" pitchFamily="18" charset="0"/>
              </a:rPr>
              <a:t> (Logic) </a:t>
            </a:r>
            <a:r>
              <a:rPr lang="en-US" sz="2200" dirty="0" err="1">
                <a:latin typeface="Times New Roman" panose="02020603050405020304" pitchFamily="18" charset="0"/>
                <a:cs typeface="Times New Roman" panose="02020603050405020304" pitchFamily="18" charset="0"/>
              </a:rPr>
              <a:t>xử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lý</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dữ</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liệu</a:t>
            </a:r>
            <a:r>
              <a:rPr lang="en-US" sz="2200" dirty="0">
                <a:latin typeface="Times New Roman" panose="02020603050405020304" pitchFamily="18" charset="0"/>
                <a:cs typeface="Times New Roman" panose="02020603050405020304" pitchFamily="18" charset="0"/>
              </a:rPr>
              <a:t>. </a:t>
            </a:r>
          </a:p>
          <a:p>
            <a:pPr>
              <a:lnSpc>
                <a:spcPct val="150000"/>
              </a:lnSpc>
            </a:pP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Thường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viết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bằng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ngôn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ngữ</a:t>
            </a:r>
            <a:r>
              <a:rPr lang="en-US" sz="2200" dirty="0">
                <a:latin typeface="Times New Roman" panose="02020603050405020304" pitchFamily="18" charset="0"/>
                <a:cs typeface="Times New Roman" panose="02020603050405020304" pitchFamily="18" charset="0"/>
              </a:rPr>
              <a:t> TypeScript</a:t>
            </a:r>
          </a:p>
          <a:p>
            <a:pPr>
              <a:lnSpc>
                <a:spcPct val="150000"/>
              </a:lnSpc>
            </a:pPr>
            <a:r>
              <a:rPr lang="en-US" sz="2200" b="1" dirty="0">
                <a:latin typeface="Times New Roman" panose="02020603050405020304" pitchFamily="18" charset="0"/>
                <a:cs typeface="Times New Roman" panose="02020603050405020304" pitchFamily="18" charset="0"/>
              </a:rPr>
              <a:t>Selector: </a:t>
            </a:r>
            <a:r>
              <a:rPr lang="en-US" sz="2200" dirty="0" err="1">
                <a:latin typeface="Times New Roman" panose="02020603050405020304" pitchFamily="18" charset="0"/>
                <a:cs typeface="Times New Roman" panose="02020603050405020304" pitchFamily="18" charset="0"/>
              </a:rPr>
              <a:t>Định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nghĩa</a:t>
            </a:r>
            <a:r>
              <a:rPr lang="en-US" sz="2200" dirty="0">
                <a:latin typeface="Times New Roman" panose="02020603050405020304" pitchFamily="18" charset="0"/>
                <a:cs typeface="Times New Roman" panose="02020603050405020304" pitchFamily="18" charset="0"/>
              </a:rPr>
              <a:t> tag name </a:t>
            </a:r>
            <a:r>
              <a:rPr lang="en-US" sz="2200" dirty="0" err="1">
                <a:latin typeface="Times New Roman" panose="02020603050405020304" pitchFamily="18" charset="0"/>
                <a:cs typeface="Times New Roman" panose="02020603050405020304" pitchFamily="18" charset="0"/>
              </a:rPr>
              <a:t>tùy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chỉnh</a:t>
            </a:r>
            <a:endParaRPr lang="en-US" sz="2200" dirty="0">
              <a:latin typeface="Times New Roman" panose="02020603050405020304" pitchFamily="18" charset="0"/>
              <a:cs typeface="Times New Roman" panose="02020603050405020304" pitchFamily="18" charset="0"/>
            </a:endParaRPr>
          </a:p>
          <a:p>
            <a:pPr>
              <a:lnSpc>
                <a:spcPct val="150000"/>
              </a:lnSpc>
            </a:pPr>
            <a:r>
              <a:rPr lang="en-US" sz="2200" dirty="0">
                <a:latin typeface="Times New Roman" panose="02020603050405020304" pitchFamily="18" charset="0"/>
                <a:cs typeface="Times New Roman" panose="02020603050405020304" pitchFamily="18" charset="0"/>
              </a:rPr>
              <a:t> (Custom HTML Element) </a:t>
            </a:r>
            <a:r>
              <a:rPr lang="en-US" sz="2200" dirty="0" err="1">
                <a:latin typeface="Times New Roman" panose="02020603050405020304" pitchFamily="18" charset="0"/>
                <a:cs typeface="Times New Roman" panose="02020603050405020304" pitchFamily="18" charset="0"/>
              </a:rPr>
              <a:t>để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tái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component.</a:t>
            </a:r>
          </a:p>
        </p:txBody>
      </p:sp>
      <p:pic>
        <p:nvPicPr>
          <p:cNvPr id="13" name="Picture 12">
            <a:extLst>
              <a:ext uri="{FF2B5EF4-FFF2-40B4-BE49-F238E27FC236}">
                <a16:creationId xmlns:a16="http://schemas.microsoft.com/office/drawing/2014/main" id="{C6BFFD95-78F0-C113-1528-2F374F9CFF80}"/>
              </a:ext>
            </a:extLst>
          </p:cNvPr>
          <p:cNvPicPr>
            <a:picLocks noChangeAspect="1"/>
          </p:cNvPicPr>
          <p:nvPr/>
        </p:nvPicPr>
        <p:blipFill>
          <a:blip r:embed="rId3"/>
          <a:stretch>
            <a:fillRect/>
          </a:stretch>
        </p:blipFill>
        <p:spPr>
          <a:xfrm>
            <a:off x="6658714" y="2192955"/>
            <a:ext cx="5075503" cy="2656338"/>
          </a:xfrm>
          <a:prstGeom prst="rect">
            <a:avLst/>
          </a:prstGeom>
        </p:spPr>
      </p:pic>
    </p:spTree>
    <p:extLst>
      <p:ext uri="{BB962C8B-B14F-4D97-AF65-F5344CB8AC3E}">
        <p14:creationId xmlns:p14="http://schemas.microsoft.com/office/powerpoint/2010/main" val="1055266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891A48C-2EEC-4947-8323-3BCD2C60BA2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1F609E0-B232-F3A1-2786-1F8C1E288A2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7BA6496-34B3-A4B0-1A18-D8D22682793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2" name="Group 1">
            <a:extLst>
              <a:ext uri="{FF2B5EF4-FFF2-40B4-BE49-F238E27FC236}">
                <a16:creationId xmlns:a16="http://schemas.microsoft.com/office/drawing/2014/main" id="{6544B62A-F7CF-64BD-AF21-FA2525FDABCF}"/>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39AB63EA-8275-17CD-F274-E5E0BB6E502B}"/>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1.3.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Kiến trúc thành phần trong Angular</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5CDF1FF-29B7-E3C3-9A3A-8198989ECF2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68CDCDC-AA6B-71A4-571A-BFAC83C900D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7DC86B5-4CC7-8DDB-5E9F-7E489B3F173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3F09929-8C9B-181A-9D05-491200DCCE0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580A659-D497-D512-BEC8-92183EC4BD6E}"/>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1.3.3. Components</a:t>
            </a:r>
          </a:p>
        </p:txBody>
      </p:sp>
      <p:sp>
        <p:nvSpPr>
          <p:cNvPr id="8" name="Rectangle 1">
            <a:extLst>
              <a:ext uri="{FF2B5EF4-FFF2-40B4-BE49-F238E27FC236}">
                <a16:creationId xmlns:a16="http://schemas.microsoft.com/office/drawing/2014/main" id="{8D3601F8-17B0-B4AB-DDA9-48AFB990C2C4}"/>
              </a:ext>
            </a:extLst>
          </p:cNvPr>
          <p:cNvSpPr>
            <a:spLocks noChangeArrowheads="1"/>
          </p:cNvSpPr>
          <p:nvPr/>
        </p:nvSpPr>
        <p:spPr bwMode="auto">
          <a:xfrm>
            <a:off x="613992" y="1323532"/>
            <a:ext cx="11167066" cy="2570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Binding Mechanisms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One-way (Source to View):</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Interpolation {{ }}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Property Binding [target].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One-way (View to Source):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Event Binding (target)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xử</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lý</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tương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tác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người</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dùng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Two-way Binding: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ngModel</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đồng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bộ</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trạng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thái</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giữa</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View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thường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dùng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Forms).</a:t>
            </a:r>
          </a:p>
        </p:txBody>
      </p:sp>
    </p:spTree>
    <p:extLst>
      <p:ext uri="{BB962C8B-B14F-4D97-AF65-F5344CB8AC3E}">
        <p14:creationId xmlns:p14="http://schemas.microsoft.com/office/powerpoint/2010/main" val="1297026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DB80E83-F47E-1A5A-B0C8-ACA6614A36C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7C0FB13-16CC-1DEC-D8A9-D86B2E03444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45F68FE-3367-E92A-F91A-01FE90B8148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2" name="Group 1">
            <a:extLst>
              <a:ext uri="{FF2B5EF4-FFF2-40B4-BE49-F238E27FC236}">
                <a16:creationId xmlns:a16="http://schemas.microsoft.com/office/drawing/2014/main" id="{700A04C4-38BC-D0CF-8F01-BB2DDDCA37D4}"/>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359EF4AB-916D-3F83-1BF1-9546440E4C6D}"/>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1.3.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Kiến trúc thành phần trong Angular</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2789BBA-6B31-2943-87B1-C86A9B842AB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9A7199C-D263-DA7E-8A26-696F94CE66B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3E796B1-8B75-A2FC-5471-3C5A1D4BFF6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9537BF4-334A-C132-55EB-28D58731165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DFD53C9-86BF-6CC9-90C0-07D8317615FE}"/>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1.3.4. Services</a:t>
            </a:r>
          </a:p>
        </p:txBody>
      </p:sp>
      <p:sp>
        <p:nvSpPr>
          <p:cNvPr id="8" name="Rounded Rectangle 9">
            <a:extLst>
              <a:ext uri="{FF2B5EF4-FFF2-40B4-BE49-F238E27FC236}">
                <a16:creationId xmlns:a16="http://schemas.microsoft.com/office/drawing/2014/main" id="{20E0C3B1-1C5B-627A-95B0-0C6F635B76D7}"/>
              </a:ext>
            </a:extLst>
          </p:cNvPr>
          <p:cNvSpPr/>
          <p:nvPr/>
        </p:nvSpPr>
        <p:spPr>
          <a:xfrm>
            <a:off x="971336" y="1456944"/>
            <a:ext cx="2594646" cy="2500488"/>
          </a:xfrm>
          <a:prstGeom prst="roundRect">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10" name="TextBox 9">
            <a:extLst>
              <a:ext uri="{FF2B5EF4-FFF2-40B4-BE49-F238E27FC236}">
                <a16:creationId xmlns:a16="http://schemas.microsoft.com/office/drawing/2014/main" id="{5378077E-E0C0-412E-9614-06038F9A3A89}"/>
              </a:ext>
            </a:extLst>
          </p:cNvPr>
          <p:cNvSpPr txBox="1"/>
          <p:nvPr/>
        </p:nvSpPr>
        <p:spPr>
          <a:xfrm>
            <a:off x="1781431" y="1507131"/>
            <a:ext cx="1024639" cy="400110"/>
          </a:xfrm>
          <a:prstGeom prst="rect">
            <a:avLst/>
          </a:prstGeom>
          <a:noFill/>
        </p:spPr>
        <p:txBody>
          <a:bodyPr wrap="none" rtlCol="0">
            <a:spAutoFit/>
          </a:bodyPr>
          <a:lstStyle/>
          <a:p>
            <a:pPr>
              <a:buClrTx/>
              <a:buFontTx/>
              <a:buNone/>
            </a:pPr>
            <a:r>
              <a:rPr lang="en-VN" sz="2000" b="1" kern="1200">
                <a:solidFill>
                  <a:prstClr val="white"/>
                </a:solidFill>
                <a:latin typeface="Times" pitchFamily="2" charset="0"/>
                <a:ea typeface="+mn-ea"/>
                <a:cs typeface="+mn-cs"/>
              </a:rPr>
              <a:t>Module</a:t>
            </a:r>
          </a:p>
        </p:txBody>
      </p:sp>
      <p:sp>
        <p:nvSpPr>
          <p:cNvPr id="11" name="Rounded Rectangle 11">
            <a:extLst>
              <a:ext uri="{FF2B5EF4-FFF2-40B4-BE49-F238E27FC236}">
                <a16:creationId xmlns:a16="http://schemas.microsoft.com/office/drawing/2014/main" id="{98E8022E-872E-A7C3-B5AC-9CAD4ADE5594}"/>
              </a:ext>
            </a:extLst>
          </p:cNvPr>
          <p:cNvSpPr/>
          <p:nvPr/>
        </p:nvSpPr>
        <p:spPr>
          <a:xfrm>
            <a:off x="1481588" y="2183496"/>
            <a:ext cx="1624322" cy="438090"/>
          </a:xfrm>
          <a:prstGeom prst="roundRect">
            <a:avLst/>
          </a:prstGeom>
          <a:solidFill>
            <a:sysClr val="window" lastClr="FFFFFF"/>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sysClr val="windowText" lastClr="000000"/>
                </a:solidFill>
                <a:effectLst/>
                <a:uLnTx/>
                <a:uFillTx/>
                <a:latin typeface="Georgia"/>
                <a:ea typeface="+mn-ea"/>
                <a:cs typeface="+mn-cs"/>
              </a:rPr>
              <a:t>Component</a:t>
            </a:r>
          </a:p>
        </p:txBody>
      </p:sp>
      <p:sp>
        <p:nvSpPr>
          <p:cNvPr id="12" name="Rounded Rectangle 12">
            <a:extLst>
              <a:ext uri="{FF2B5EF4-FFF2-40B4-BE49-F238E27FC236}">
                <a16:creationId xmlns:a16="http://schemas.microsoft.com/office/drawing/2014/main" id="{7C3C25C9-6D4C-AD93-7D10-83D38461E30E}"/>
              </a:ext>
            </a:extLst>
          </p:cNvPr>
          <p:cNvSpPr/>
          <p:nvPr/>
        </p:nvSpPr>
        <p:spPr>
          <a:xfrm>
            <a:off x="1496398" y="2945526"/>
            <a:ext cx="1624322" cy="438090"/>
          </a:xfrm>
          <a:prstGeom prst="roundRect">
            <a:avLst/>
          </a:prstGeom>
          <a:solidFill>
            <a:sysClr val="window" lastClr="FFFFFF"/>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srgbClr val="C00000"/>
                </a:solidFill>
                <a:effectLst/>
                <a:uLnTx/>
                <a:uFillTx/>
                <a:latin typeface="Georgia"/>
                <a:ea typeface="+mn-ea"/>
                <a:cs typeface="+mn-cs"/>
              </a:rPr>
              <a:t>Services</a:t>
            </a:r>
          </a:p>
        </p:txBody>
      </p:sp>
      <p:sp>
        <p:nvSpPr>
          <p:cNvPr id="13" name="Rectangle 12">
            <a:extLst>
              <a:ext uri="{FF2B5EF4-FFF2-40B4-BE49-F238E27FC236}">
                <a16:creationId xmlns:a16="http://schemas.microsoft.com/office/drawing/2014/main" id="{D959ADEC-9DE2-571E-D33E-C331C6401D5A}"/>
              </a:ext>
            </a:extLst>
          </p:cNvPr>
          <p:cNvSpPr/>
          <p:nvPr/>
        </p:nvSpPr>
        <p:spPr>
          <a:xfrm>
            <a:off x="1306432" y="2817214"/>
            <a:ext cx="1981200" cy="685800"/>
          </a:xfrm>
          <a:prstGeom prst="rect">
            <a:avLst/>
          </a:prstGeom>
          <a:noFill/>
          <a:ln w="19050" cap="flat" cmpd="sng" algn="ctr">
            <a:solidFill>
              <a:sysClr val="window" lastClr="FFFFFF">
                <a:lumMod val="95000"/>
              </a:sysClr>
            </a:solidFill>
            <a:prstDash val="dashDo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14" name="TextBox 13">
            <a:extLst>
              <a:ext uri="{FF2B5EF4-FFF2-40B4-BE49-F238E27FC236}">
                <a16:creationId xmlns:a16="http://schemas.microsoft.com/office/drawing/2014/main" id="{48F62615-8F34-3169-5082-1C3076CEC96F}"/>
              </a:ext>
            </a:extLst>
          </p:cNvPr>
          <p:cNvSpPr txBox="1"/>
          <p:nvPr/>
        </p:nvSpPr>
        <p:spPr>
          <a:xfrm>
            <a:off x="1405035" y="4972571"/>
            <a:ext cx="2005677" cy="461665"/>
          </a:xfrm>
          <a:prstGeom prst="rect">
            <a:avLst/>
          </a:prstGeom>
          <a:noFill/>
        </p:spPr>
        <p:txBody>
          <a:bodyPr wrap="none" rtlCol="0">
            <a:spAutoFit/>
          </a:bodyPr>
          <a:lstStyle/>
          <a:p>
            <a:pPr>
              <a:buClrTx/>
              <a:buFontTx/>
              <a:buNone/>
            </a:pPr>
            <a:r>
              <a:rPr lang="en-VN" sz="2400" b="1" kern="1200" dirty="0">
                <a:solidFill>
                  <a:prstClr val="black"/>
                </a:solidFill>
                <a:latin typeface="Times" pitchFamily="2" charset="0"/>
                <a:ea typeface="+mn-ea"/>
                <a:cs typeface="+mn-cs"/>
              </a:rPr>
              <a:t>Business logic</a:t>
            </a:r>
          </a:p>
        </p:txBody>
      </p:sp>
      <p:sp>
        <p:nvSpPr>
          <p:cNvPr id="15" name="Right Arrow 14">
            <a:extLst>
              <a:ext uri="{FF2B5EF4-FFF2-40B4-BE49-F238E27FC236}">
                <a16:creationId xmlns:a16="http://schemas.microsoft.com/office/drawing/2014/main" id="{E21819E5-1638-64B2-D1BB-896408D16D73}"/>
              </a:ext>
            </a:extLst>
          </p:cNvPr>
          <p:cNvSpPr/>
          <p:nvPr/>
        </p:nvSpPr>
        <p:spPr>
          <a:xfrm rot="5400000">
            <a:off x="1434463" y="4199943"/>
            <a:ext cx="1562634" cy="111518"/>
          </a:xfrm>
          <a:prstGeom prst="rightArrow">
            <a:avLst/>
          </a:prstGeom>
          <a:solidFill>
            <a:srgbClr val="17406D">
              <a:lumMod val="75000"/>
            </a:srgbClr>
          </a:solidFill>
          <a:ln w="190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16" name="Rectangle 1">
            <a:extLst>
              <a:ext uri="{FF2B5EF4-FFF2-40B4-BE49-F238E27FC236}">
                <a16:creationId xmlns:a16="http://schemas.microsoft.com/office/drawing/2014/main" id="{AE366002-4FD1-A063-3453-AB78060F9C30}"/>
              </a:ext>
            </a:extLst>
          </p:cNvPr>
          <p:cNvSpPr>
            <a:spLocks noChangeArrowheads="1"/>
          </p:cNvSpPr>
          <p:nvPr/>
        </p:nvSpPr>
        <p:spPr bwMode="auto">
          <a:xfrm>
            <a:off x="3930815" y="1531862"/>
            <a:ext cx="7684464" cy="2570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Nguyên</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tắc</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Component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nên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chứa</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logic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xử</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lý</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dữ</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liệu</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nặng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hoặc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gọi</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API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trực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tiếp</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Vai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trò</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Service: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Xử</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lý</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Business Logic,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tính</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toán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phức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tạp</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Thực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hiện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HTTP Requests (Data Access Layer).</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Chia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sẻ</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State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giữa</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component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quan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hệ</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cha-con.</a:t>
            </a:r>
          </a:p>
        </p:txBody>
      </p:sp>
    </p:spTree>
    <p:extLst>
      <p:ext uri="{BB962C8B-B14F-4D97-AF65-F5344CB8AC3E}">
        <p14:creationId xmlns:p14="http://schemas.microsoft.com/office/powerpoint/2010/main" val="204496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0" presetClass="entr" presetSubtype="0" repeatCount="indefinite"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edge">
                                      <p:cBhvr>
                                        <p:cTn id="20" dur="20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animBg="1"/>
      <p:bldP spid="12" grpId="0" animBg="1"/>
      <p:bldP spid="13" grpId="0" animBg="1"/>
      <p:bldP spid="14" grpId="0"/>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1CD2F1A-247F-AC2A-55E0-22774DFDC52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A2377FE-AD45-6D78-8719-2ACC3E6125E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DEA239C-4862-5A4A-3585-8C88B90B276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2" name="Group 1">
            <a:extLst>
              <a:ext uri="{FF2B5EF4-FFF2-40B4-BE49-F238E27FC236}">
                <a16:creationId xmlns:a16="http://schemas.microsoft.com/office/drawing/2014/main" id="{58FA97FB-0653-FCF7-77FD-B33E1D65CC0C}"/>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EB6D701C-D6C0-4516-125C-2206F90EB515}"/>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1.3.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Kiến trúc thành phần trong Angular</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27B469E-0B6A-4595-6A04-4285969D974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AB06FF8-2243-133A-C995-63C10F033AB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E0B61AB-E64A-DD9D-DA86-42255A4E1FE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F238356-A524-8682-23AE-4D2006F1F41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1CEF600-AE8D-4E1B-1E7F-D3316F49CA5D}"/>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1.3.4. Services</a:t>
            </a:r>
          </a:p>
        </p:txBody>
      </p:sp>
      <p:sp>
        <p:nvSpPr>
          <p:cNvPr id="8" name="Rounded Rectangle 9">
            <a:extLst>
              <a:ext uri="{FF2B5EF4-FFF2-40B4-BE49-F238E27FC236}">
                <a16:creationId xmlns:a16="http://schemas.microsoft.com/office/drawing/2014/main" id="{B084F6E7-EF02-67E6-C32F-53E1F1B17B37}"/>
              </a:ext>
            </a:extLst>
          </p:cNvPr>
          <p:cNvSpPr/>
          <p:nvPr/>
        </p:nvSpPr>
        <p:spPr>
          <a:xfrm>
            <a:off x="971336" y="1456944"/>
            <a:ext cx="2594646" cy="2500488"/>
          </a:xfrm>
          <a:prstGeom prst="roundRect">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10" name="TextBox 9">
            <a:extLst>
              <a:ext uri="{FF2B5EF4-FFF2-40B4-BE49-F238E27FC236}">
                <a16:creationId xmlns:a16="http://schemas.microsoft.com/office/drawing/2014/main" id="{341223DF-ED64-CA81-6CC3-4C4522C57BE5}"/>
              </a:ext>
            </a:extLst>
          </p:cNvPr>
          <p:cNvSpPr txBox="1"/>
          <p:nvPr/>
        </p:nvSpPr>
        <p:spPr>
          <a:xfrm>
            <a:off x="1781431" y="1507131"/>
            <a:ext cx="1024639" cy="400110"/>
          </a:xfrm>
          <a:prstGeom prst="rect">
            <a:avLst/>
          </a:prstGeom>
          <a:noFill/>
        </p:spPr>
        <p:txBody>
          <a:bodyPr wrap="none" rtlCol="0">
            <a:spAutoFit/>
          </a:bodyPr>
          <a:lstStyle/>
          <a:p>
            <a:pPr>
              <a:buClrTx/>
              <a:buFontTx/>
              <a:buNone/>
            </a:pPr>
            <a:r>
              <a:rPr lang="en-VN" sz="2000" b="1" kern="1200">
                <a:solidFill>
                  <a:prstClr val="white"/>
                </a:solidFill>
                <a:latin typeface="Times" pitchFamily="2" charset="0"/>
                <a:ea typeface="+mn-ea"/>
                <a:cs typeface="+mn-cs"/>
              </a:rPr>
              <a:t>Module</a:t>
            </a:r>
          </a:p>
        </p:txBody>
      </p:sp>
      <p:sp>
        <p:nvSpPr>
          <p:cNvPr id="11" name="Rounded Rectangle 11">
            <a:extLst>
              <a:ext uri="{FF2B5EF4-FFF2-40B4-BE49-F238E27FC236}">
                <a16:creationId xmlns:a16="http://schemas.microsoft.com/office/drawing/2014/main" id="{3B8F09CF-4586-4C0B-E37E-5A1B638D73D8}"/>
              </a:ext>
            </a:extLst>
          </p:cNvPr>
          <p:cNvSpPr/>
          <p:nvPr/>
        </p:nvSpPr>
        <p:spPr>
          <a:xfrm>
            <a:off x="1481588" y="2183496"/>
            <a:ext cx="1624322" cy="438090"/>
          </a:xfrm>
          <a:prstGeom prst="roundRect">
            <a:avLst/>
          </a:prstGeom>
          <a:solidFill>
            <a:sysClr val="window" lastClr="FFFFFF"/>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sysClr val="windowText" lastClr="000000"/>
                </a:solidFill>
                <a:effectLst/>
                <a:uLnTx/>
                <a:uFillTx/>
                <a:latin typeface="Georgia"/>
                <a:ea typeface="+mn-ea"/>
                <a:cs typeface="+mn-cs"/>
              </a:rPr>
              <a:t>Component</a:t>
            </a:r>
          </a:p>
        </p:txBody>
      </p:sp>
      <p:sp>
        <p:nvSpPr>
          <p:cNvPr id="12" name="Rounded Rectangle 12">
            <a:extLst>
              <a:ext uri="{FF2B5EF4-FFF2-40B4-BE49-F238E27FC236}">
                <a16:creationId xmlns:a16="http://schemas.microsoft.com/office/drawing/2014/main" id="{7C79822C-C424-3F46-9A07-769B3624D221}"/>
              </a:ext>
            </a:extLst>
          </p:cNvPr>
          <p:cNvSpPr/>
          <p:nvPr/>
        </p:nvSpPr>
        <p:spPr>
          <a:xfrm>
            <a:off x="1496398" y="2945526"/>
            <a:ext cx="1624322" cy="438090"/>
          </a:xfrm>
          <a:prstGeom prst="roundRect">
            <a:avLst/>
          </a:prstGeom>
          <a:solidFill>
            <a:sysClr val="window" lastClr="FFFFFF"/>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srgbClr val="C00000"/>
                </a:solidFill>
                <a:effectLst/>
                <a:uLnTx/>
                <a:uFillTx/>
                <a:latin typeface="Georgia"/>
                <a:ea typeface="+mn-ea"/>
                <a:cs typeface="+mn-cs"/>
              </a:rPr>
              <a:t>Services</a:t>
            </a:r>
          </a:p>
        </p:txBody>
      </p:sp>
      <p:sp>
        <p:nvSpPr>
          <p:cNvPr id="13" name="Rectangle 12">
            <a:extLst>
              <a:ext uri="{FF2B5EF4-FFF2-40B4-BE49-F238E27FC236}">
                <a16:creationId xmlns:a16="http://schemas.microsoft.com/office/drawing/2014/main" id="{358FB699-88B6-77EB-7349-7096BA557F60}"/>
              </a:ext>
            </a:extLst>
          </p:cNvPr>
          <p:cNvSpPr/>
          <p:nvPr/>
        </p:nvSpPr>
        <p:spPr>
          <a:xfrm>
            <a:off x="1306432" y="2817214"/>
            <a:ext cx="1981200" cy="685800"/>
          </a:xfrm>
          <a:prstGeom prst="rect">
            <a:avLst/>
          </a:prstGeom>
          <a:noFill/>
          <a:ln w="19050" cap="flat" cmpd="sng" algn="ctr">
            <a:solidFill>
              <a:sysClr val="window" lastClr="FFFFFF">
                <a:lumMod val="95000"/>
              </a:sysClr>
            </a:solidFill>
            <a:prstDash val="dashDo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14" name="TextBox 13">
            <a:extLst>
              <a:ext uri="{FF2B5EF4-FFF2-40B4-BE49-F238E27FC236}">
                <a16:creationId xmlns:a16="http://schemas.microsoft.com/office/drawing/2014/main" id="{FD17A918-DD96-C371-4C1B-3C65389EC5B6}"/>
              </a:ext>
            </a:extLst>
          </p:cNvPr>
          <p:cNvSpPr txBox="1"/>
          <p:nvPr/>
        </p:nvSpPr>
        <p:spPr>
          <a:xfrm>
            <a:off x="1405035" y="4972571"/>
            <a:ext cx="2005677" cy="461665"/>
          </a:xfrm>
          <a:prstGeom prst="rect">
            <a:avLst/>
          </a:prstGeom>
          <a:noFill/>
        </p:spPr>
        <p:txBody>
          <a:bodyPr wrap="none" rtlCol="0">
            <a:spAutoFit/>
          </a:bodyPr>
          <a:lstStyle/>
          <a:p>
            <a:pPr>
              <a:buClrTx/>
              <a:buFontTx/>
              <a:buNone/>
            </a:pPr>
            <a:r>
              <a:rPr lang="en-VN" sz="2400" b="1" kern="1200" dirty="0">
                <a:solidFill>
                  <a:prstClr val="black"/>
                </a:solidFill>
                <a:latin typeface="Times" pitchFamily="2" charset="0"/>
                <a:ea typeface="+mn-ea"/>
                <a:cs typeface="+mn-cs"/>
              </a:rPr>
              <a:t>Business logic</a:t>
            </a:r>
          </a:p>
        </p:txBody>
      </p:sp>
      <p:sp>
        <p:nvSpPr>
          <p:cNvPr id="15" name="Right Arrow 14">
            <a:extLst>
              <a:ext uri="{FF2B5EF4-FFF2-40B4-BE49-F238E27FC236}">
                <a16:creationId xmlns:a16="http://schemas.microsoft.com/office/drawing/2014/main" id="{3CC8528B-A5FB-DC82-2F92-4DA89282A51F}"/>
              </a:ext>
            </a:extLst>
          </p:cNvPr>
          <p:cNvSpPr/>
          <p:nvPr/>
        </p:nvSpPr>
        <p:spPr>
          <a:xfrm rot="5400000">
            <a:off x="1434463" y="4199943"/>
            <a:ext cx="1562634" cy="111518"/>
          </a:xfrm>
          <a:prstGeom prst="rightArrow">
            <a:avLst/>
          </a:prstGeom>
          <a:solidFill>
            <a:srgbClr val="17406D">
              <a:lumMod val="75000"/>
            </a:srgbClr>
          </a:solidFill>
          <a:ln w="190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17" name="Rectangle 1">
            <a:extLst>
              <a:ext uri="{FF2B5EF4-FFF2-40B4-BE49-F238E27FC236}">
                <a16:creationId xmlns:a16="http://schemas.microsoft.com/office/drawing/2014/main" id="{7AE5EAA8-6B32-FF8D-E2C3-A5834971F665}"/>
              </a:ext>
            </a:extLst>
          </p:cNvPr>
          <p:cNvSpPr>
            <a:spLocks noChangeArrowheads="1"/>
          </p:cNvSpPr>
          <p:nvPr/>
        </p:nvSpPr>
        <p:spPr bwMode="auto">
          <a:xfrm>
            <a:off x="3622728" y="1021228"/>
            <a:ext cx="8320140" cy="4094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Dependency Injection (DI) &amp; Singleton</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Inversion of Control (IoC):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Angular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chịu</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trách</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nhiệm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khởi</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tạo</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Service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vì</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lập</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trình</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viên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dùng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từ</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khóa</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new.</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@Injectable: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Decorator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bắt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buộc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để</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một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class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thể</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inject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vào</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component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hoặc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service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khác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qua Constructor.</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Singleton Pattern: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Mặc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định</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một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Service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là</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một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instance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duy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nhất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toàn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bộ</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phạm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khai</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báo</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giúp</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tiết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kiệm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bộ</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nhớ</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đồng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nhất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dữ</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liệu</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50376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0" presetClass="entr" presetSubtype="0" repeatCount="indefinite"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edge">
                                      <p:cBhvr>
                                        <p:cTn id="20" dur="20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animBg="1"/>
      <p:bldP spid="12" grpId="0" animBg="1"/>
      <p:bldP spid="13" grpId="0" animBg="1"/>
      <p:bldP spid="14" grpId="0"/>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C8C3343-E489-68C2-A844-F095F036023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425AD01-A249-BA75-8398-D38D74487FA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344E2F1-CD0D-1425-AD55-3FAE6A189AE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2" name="Group 1">
            <a:extLst>
              <a:ext uri="{FF2B5EF4-FFF2-40B4-BE49-F238E27FC236}">
                <a16:creationId xmlns:a16="http://schemas.microsoft.com/office/drawing/2014/main" id="{6117A9C8-EA3C-07D0-F7CC-99508F792FFD}"/>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DCFBCF5F-18D2-55BD-2623-E809CE734368}"/>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1.3. </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Kiến trúc thành phần trong Angular</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E03BB01-C95A-E691-3EEC-6F2127A31BB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B662CC9-1636-0051-FA60-93FCA11B825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7E7A607-B027-437B-0792-C00EBC07E23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C85AF6C-2A99-EE28-1500-3EA564B6917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A1DB6A0-393E-6BCA-CCC5-37907DD00350}"/>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1.3.4. Services</a:t>
            </a:r>
          </a:p>
        </p:txBody>
      </p:sp>
      <p:sp>
        <p:nvSpPr>
          <p:cNvPr id="8" name="Rounded Rectangle 9">
            <a:extLst>
              <a:ext uri="{FF2B5EF4-FFF2-40B4-BE49-F238E27FC236}">
                <a16:creationId xmlns:a16="http://schemas.microsoft.com/office/drawing/2014/main" id="{DEBD0632-CF57-413E-E95D-84EB225585AD}"/>
              </a:ext>
            </a:extLst>
          </p:cNvPr>
          <p:cNvSpPr/>
          <p:nvPr/>
        </p:nvSpPr>
        <p:spPr>
          <a:xfrm>
            <a:off x="971336" y="1456944"/>
            <a:ext cx="2594646" cy="2500488"/>
          </a:xfrm>
          <a:prstGeom prst="roundRect">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10" name="TextBox 9">
            <a:extLst>
              <a:ext uri="{FF2B5EF4-FFF2-40B4-BE49-F238E27FC236}">
                <a16:creationId xmlns:a16="http://schemas.microsoft.com/office/drawing/2014/main" id="{54D0C939-F4A7-2F73-B97D-E5B1392E0169}"/>
              </a:ext>
            </a:extLst>
          </p:cNvPr>
          <p:cNvSpPr txBox="1"/>
          <p:nvPr/>
        </p:nvSpPr>
        <p:spPr>
          <a:xfrm>
            <a:off x="1781431" y="1507131"/>
            <a:ext cx="1024639" cy="400110"/>
          </a:xfrm>
          <a:prstGeom prst="rect">
            <a:avLst/>
          </a:prstGeom>
          <a:noFill/>
        </p:spPr>
        <p:txBody>
          <a:bodyPr wrap="none" rtlCol="0">
            <a:spAutoFit/>
          </a:bodyPr>
          <a:lstStyle/>
          <a:p>
            <a:pPr>
              <a:buClrTx/>
              <a:buFontTx/>
              <a:buNone/>
            </a:pPr>
            <a:r>
              <a:rPr lang="en-VN" sz="2000" b="1" kern="1200">
                <a:solidFill>
                  <a:prstClr val="white"/>
                </a:solidFill>
                <a:latin typeface="Times" pitchFamily="2" charset="0"/>
                <a:ea typeface="+mn-ea"/>
                <a:cs typeface="+mn-cs"/>
              </a:rPr>
              <a:t>Module</a:t>
            </a:r>
          </a:p>
        </p:txBody>
      </p:sp>
      <p:sp>
        <p:nvSpPr>
          <p:cNvPr id="11" name="Rounded Rectangle 11">
            <a:extLst>
              <a:ext uri="{FF2B5EF4-FFF2-40B4-BE49-F238E27FC236}">
                <a16:creationId xmlns:a16="http://schemas.microsoft.com/office/drawing/2014/main" id="{52E3120F-E9F9-799F-35C7-DC8A88C7403D}"/>
              </a:ext>
            </a:extLst>
          </p:cNvPr>
          <p:cNvSpPr/>
          <p:nvPr/>
        </p:nvSpPr>
        <p:spPr>
          <a:xfrm>
            <a:off x="1481588" y="2183496"/>
            <a:ext cx="1624322" cy="438090"/>
          </a:xfrm>
          <a:prstGeom prst="roundRect">
            <a:avLst/>
          </a:prstGeom>
          <a:solidFill>
            <a:sysClr val="window" lastClr="FFFFFF"/>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sysClr val="windowText" lastClr="000000"/>
                </a:solidFill>
                <a:effectLst/>
                <a:uLnTx/>
                <a:uFillTx/>
                <a:latin typeface="Georgia"/>
                <a:ea typeface="+mn-ea"/>
                <a:cs typeface="+mn-cs"/>
              </a:rPr>
              <a:t>Component</a:t>
            </a:r>
          </a:p>
        </p:txBody>
      </p:sp>
      <p:sp>
        <p:nvSpPr>
          <p:cNvPr id="12" name="Rounded Rectangle 12">
            <a:extLst>
              <a:ext uri="{FF2B5EF4-FFF2-40B4-BE49-F238E27FC236}">
                <a16:creationId xmlns:a16="http://schemas.microsoft.com/office/drawing/2014/main" id="{F23231BF-FFCC-42D9-6519-2A68BAD537C8}"/>
              </a:ext>
            </a:extLst>
          </p:cNvPr>
          <p:cNvSpPr/>
          <p:nvPr/>
        </p:nvSpPr>
        <p:spPr>
          <a:xfrm>
            <a:off x="1496398" y="2945526"/>
            <a:ext cx="1624322" cy="438090"/>
          </a:xfrm>
          <a:prstGeom prst="roundRect">
            <a:avLst/>
          </a:prstGeom>
          <a:solidFill>
            <a:sysClr val="window" lastClr="FFFFFF"/>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srgbClr val="C00000"/>
                </a:solidFill>
                <a:effectLst/>
                <a:uLnTx/>
                <a:uFillTx/>
                <a:latin typeface="Georgia"/>
                <a:ea typeface="+mn-ea"/>
                <a:cs typeface="+mn-cs"/>
              </a:rPr>
              <a:t>Services</a:t>
            </a:r>
          </a:p>
        </p:txBody>
      </p:sp>
      <p:sp>
        <p:nvSpPr>
          <p:cNvPr id="13" name="Rectangle 12">
            <a:extLst>
              <a:ext uri="{FF2B5EF4-FFF2-40B4-BE49-F238E27FC236}">
                <a16:creationId xmlns:a16="http://schemas.microsoft.com/office/drawing/2014/main" id="{E03BD6A9-BD7A-3488-9F88-43BFB1C4952E}"/>
              </a:ext>
            </a:extLst>
          </p:cNvPr>
          <p:cNvSpPr/>
          <p:nvPr/>
        </p:nvSpPr>
        <p:spPr>
          <a:xfrm>
            <a:off x="1306432" y="2817214"/>
            <a:ext cx="1981200" cy="685800"/>
          </a:xfrm>
          <a:prstGeom prst="rect">
            <a:avLst/>
          </a:prstGeom>
          <a:noFill/>
          <a:ln w="19050" cap="flat" cmpd="sng" algn="ctr">
            <a:solidFill>
              <a:sysClr val="window" lastClr="FFFFFF">
                <a:lumMod val="95000"/>
              </a:sysClr>
            </a:solidFill>
            <a:prstDash val="dashDo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14" name="TextBox 13">
            <a:extLst>
              <a:ext uri="{FF2B5EF4-FFF2-40B4-BE49-F238E27FC236}">
                <a16:creationId xmlns:a16="http://schemas.microsoft.com/office/drawing/2014/main" id="{767C186D-2B95-D0BD-EBE2-609F7784C410}"/>
              </a:ext>
            </a:extLst>
          </p:cNvPr>
          <p:cNvSpPr txBox="1"/>
          <p:nvPr/>
        </p:nvSpPr>
        <p:spPr>
          <a:xfrm>
            <a:off x="1405035" y="4972571"/>
            <a:ext cx="2005677" cy="461665"/>
          </a:xfrm>
          <a:prstGeom prst="rect">
            <a:avLst/>
          </a:prstGeom>
          <a:noFill/>
        </p:spPr>
        <p:txBody>
          <a:bodyPr wrap="none" rtlCol="0">
            <a:spAutoFit/>
          </a:bodyPr>
          <a:lstStyle/>
          <a:p>
            <a:pPr>
              <a:buClrTx/>
              <a:buFontTx/>
              <a:buNone/>
            </a:pPr>
            <a:r>
              <a:rPr lang="en-VN" sz="2400" b="1" kern="1200" dirty="0">
                <a:solidFill>
                  <a:prstClr val="black"/>
                </a:solidFill>
                <a:latin typeface="Times" pitchFamily="2" charset="0"/>
                <a:ea typeface="+mn-ea"/>
                <a:cs typeface="+mn-cs"/>
              </a:rPr>
              <a:t>Business logic</a:t>
            </a:r>
          </a:p>
        </p:txBody>
      </p:sp>
      <p:sp>
        <p:nvSpPr>
          <p:cNvPr id="15" name="Right Arrow 14">
            <a:extLst>
              <a:ext uri="{FF2B5EF4-FFF2-40B4-BE49-F238E27FC236}">
                <a16:creationId xmlns:a16="http://schemas.microsoft.com/office/drawing/2014/main" id="{3D13FDC7-347A-7257-CED6-B8C61DDDDF16}"/>
              </a:ext>
            </a:extLst>
          </p:cNvPr>
          <p:cNvSpPr/>
          <p:nvPr/>
        </p:nvSpPr>
        <p:spPr>
          <a:xfrm rot="5400000">
            <a:off x="1434463" y="4199943"/>
            <a:ext cx="1562634" cy="111518"/>
          </a:xfrm>
          <a:prstGeom prst="rightArrow">
            <a:avLst/>
          </a:prstGeom>
          <a:solidFill>
            <a:srgbClr val="17406D">
              <a:lumMod val="75000"/>
            </a:srgbClr>
          </a:solidFill>
          <a:ln w="190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pic>
        <p:nvPicPr>
          <p:cNvPr id="18" name="Picture 17">
            <a:extLst>
              <a:ext uri="{FF2B5EF4-FFF2-40B4-BE49-F238E27FC236}">
                <a16:creationId xmlns:a16="http://schemas.microsoft.com/office/drawing/2014/main" id="{0BEBE2CF-8E4F-7443-2688-8642356D6A35}"/>
              </a:ext>
            </a:extLst>
          </p:cNvPr>
          <p:cNvPicPr>
            <a:picLocks noChangeAspect="1"/>
          </p:cNvPicPr>
          <p:nvPr/>
        </p:nvPicPr>
        <p:blipFill>
          <a:blip r:embed="rId3"/>
          <a:stretch>
            <a:fillRect/>
          </a:stretch>
        </p:blipFill>
        <p:spPr>
          <a:xfrm>
            <a:off x="4974123" y="1014271"/>
            <a:ext cx="6335009" cy="5315692"/>
          </a:xfrm>
          <a:prstGeom prst="rect">
            <a:avLst/>
          </a:prstGeom>
        </p:spPr>
      </p:pic>
    </p:spTree>
    <p:extLst>
      <p:ext uri="{BB962C8B-B14F-4D97-AF65-F5344CB8AC3E}">
        <p14:creationId xmlns:p14="http://schemas.microsoft.com/office/powerpoint/2010/main" val="1017000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0" presetClass="entr" presetSubtype="0" repeatCount="indefinite"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edge">
                                      <p:cBhvr>
                                        <p:cTn id="20" dur="20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animBg="1"/>
      <p:bldP spid="12" grpId="0" animBg="1"/>
      <p:bldP spid="13" grpId="0" animBg="1"/>
      <p:bldP spid="14" grpId="0"/>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99AEB14-FB1D-0F43-42D7-03C8245D0DF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81C5017-3812-17F2-A943-CAE94C1CDE3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55246D5-D331-478B-65DE-D4D399746C6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2" name="Group 1">
            <a:extLst>
              <a:ext uri="{FF2B5EF4-FFF2-40B4-BE49-F238E27FC236}">
                <a16:creationId xmlns:a16="http://schemas.microsoft.com/office/drawing/2014/main" id="{1D727428-8E3B-C909-E4F2-DA1630A2421F}"/>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DC5CCCC1-955C-7854-3E2E-2BD60E989BBB}"/>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dirty="0">
                  <a:latin typeface="Times New Roman" panose="02020603050405020304" pitchFamily="18" charset="0"/>
                  <a:cs typeface="Times New Roman" panose="02020603050405020304" pitchFamily="18" charset="0"/>
                </a:rPr>
                <a:t>1.4. Cài đặt và thực thi dự án Angular</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088F3FB-1C0D-823D-CF33-66DFD4E1AB6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373D5F2-97E9-7083-F0B5-136B65249DD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0E10553-6545-227A-7AB4-7E074993B52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AACC6E3-778B-210C-2C35-BB1BF627370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7FE9179-ACC8-ABB7-0962-B165A4A9625B}"/>
              </a:ext>
            </a:extLst>
          </p:cNvPr>
          <p:cNvSpPr txBox="1"/>
          <p:nvPr/>
        </p:nvSpPr>
        <p:spPr>
          <a:xfrm>
            <a:off x="415252" y="810009"/>
            <a:ext cx="11564547" cy="2308324"/>
          </a:xfrm>
          <a:prstGeom prst="rect">
            <a:avLst/>
          </a:prstGeom>
          <a:noFill/>
        </p:spPr>
        <p:txBody>
          <a:bodyPr wrap="square">
            <a:spAutoFit/>
          </a:bodyPr>
          <a:lstStyle/>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1.4.1. Cách cài đặt và kiểm tra phiên bản Angular</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1.4.2. Tạo dự án Angular</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1.4.</a:t>
            </a:r>
            <a:r>
              <a:rPr lang="en-US" sz="2400" dirty="0">
                <a:latin typeface="Times New Roman" panose="02020603050405020304" pitchFamily="18" charset="0"/>
                <a:cs typeface="Times New Roman" panose="02020603050405020304" pitchFamily="18" charset="0"/>
              </a:rPr>
              <a:t>3</a:t>
            </a:r>
            <a:r>
              <a:rPr lang="vi-VN" sz="2400" dirty="0">
                <a:latin typeface="Times New Roman" panose="02020603050405020304" pitchFamily="18" charset="0"/>
                <a:cs typeface="Times New Roman" panose="02020603050405020304" pitchFamily="18" charset="0"/>
              </a:rPr>
              <a:t>. Thực thi dự án Angular</a:t>
            </a: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1.4.</a:t>
            </a:r>
            <a:r>
              <a:rPr lang="en-US" sz="2400" dirty="0">
                <a:latin typeface="Times New Roman" panose="02020603050405020304" pitchFamily="18" charset="0"/>
                <a:cs typeface="Times New Roman" panose="02020603050405020304" pitchFamily="18" charset="0"/>
              </a:rPr>
              <a:t>4</a:t>
            </a:r>
            <a:r>
              <a:rPr lang="vi-VN"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lỗi</a:t>
            </a:r>
            <a:r>
              <a:rPr lang="en-US" sz="2400" dirty="0">
                <a:latin typeface="Times New Roman" panose="02020603050405020304" pitchFamily="18" charset="0"/>
                <a:cs typeface="Times New Roman" panose="02020603050405020304" pitchFamily="18" charset="0"/>
              </a:rPr>
              <a:t> Security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t</a:t>
            </a:r>
            <a:r>
              <a:rPr lang="vi-VN" sz="2400" dirty="0">
                <a:latin typeface="Times New Roman" panose="02020603050405020304" pitchFamily="18" charset="0"/>
                <a:cs typeface="Times New Roman" panose="02020603050405020304" pitchFamily="18" charset="0"/>
              </a:rPr>
              <a:t>ạo dự án Angular</a:t>
            </a: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1.4.</a:t>
            </a:r>
            <a:r>
              <a:rPr lang="en-US" sz="2400" dirty="0">
                <a:latin typeface="Times New Roman" panose="02020603050405020304" pitchFamily="18" charset="0"/>
                <a:cs typeface="Times New Roman" panose="02020603050405020304" pitchFamily="18" charset="0"/>
              </a:rPr>
              <a:t>5</a:t>
            </a:r>
            <a:r>
              <a:rPr lang="vi-VN" sz="2400" dirty="0">
                <a:latin typeface="Times New Roman" panose="02020603050405020304" pitchFamily="18" charset="0"/>
                <a:cs typeface="Times New Roman" panose="02020603050405020304" pitchFamily="18" charset="0"/>
              </a:rPr>
              <a:t>. Tạo và sử dụng Component trong Angular</a:t>
            </a:r>
          </a:p>
          <a:p>
            <a:pPr marL="457200" indent="-4572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1.4.6. </a:t>
            </a:r>
            <a:r>
              <a:rPr lang="en-US" sz="2400" dirty="0" err="1">
                <a:latin typeface="Times New Roman" panose="02020603050405020304" pitchFamily="18" charset="0"/>
                <a:cs typeface="Times New Roman" panose="02020603050405020304" pitchFamily="18" charset="0"/>
              </a:rPr>
              <a:t>Cấu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trúc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Angular</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2525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295700C-9848-39AC-1D04-A1462ABC609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F1586AD-4F1E-EE20-3775-6721BB40A41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F0428D8-8E6F-9CC2-88C4-4DCA58807C3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2" name="Group 1">
            <a:extLst>
              <a:ext uri="{FF2B5EF4-FFF2-40B4-BE49-F238E27FC236}">
                <a16:creationId xmlns:a16="http://schemas.microsoft.com/office/drawing/2014/main" id="{005374E4-A080-5B4C-A88A-B20E05B5DB26}"/>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E7BE1817-6B79-8140-3DDD-82A4896E98F4}"/>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600" dirty="0">
                  <a:latin typeface="Times New Roman" panose="02020603050405020304" pitchFamily="18" charset="0"/>
                  <a:cs typeface="Times New Roman" panose="02020603050405020304" pitchFamily="18" charset="0"/>
                </a:rPr>
                <a:t>1.4.1. Cách cài đặt và kiểm tra phiên bản Angular</a:t>
              </a:r>
              <a:endParaRPr lang="en-US" sz="26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926C5D7-B0AF-570C-5F1B-51F60841FE6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0C3121A-2429-C973-FB0F-0A56CB8D6CE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AFC83C4-7654-DAFA-E37D-1388893D4A5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0B305CB-5485-0036-24E7-6BDF3D4E4CF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C8496673-C790-2709-33B9-6511DBEB8383}"/>
              </a:ext>
            </a:extLst>
          </p:cNvPr>
          <p:cNvSpPr txBox="1"/>
          <p:nvPr/>
        </p:nvSpPr>
        <p:spPr>
          <a:xfrm>
            <a:off x="441198" y="877587"/>
            <a:ext cx="10851642" cy="430887"/>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Step 1: </a:t>
            </a:r>
            <a:r>
              <a:rPr lang="en-US" sz="2200" dirty="0" err="1">
                <a:latin typeface="Times New Roman" panose="02020603050405020304" pitchFamily="18" charset="0"/>
                <a:cs typeface="Times New Roman" panose="02020603050405020304" pitchFamily="18" charset="0"/>
              </a:rPr>
              <a:t>Cài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Visual Studio Code </a:t>
            </a:r>
            <a:r>
              <a:rPr lang="en-US" sz="2200" dirty="0">
                <a:latin typeface="Times New Roman" panose="02020603050405020304" pitchFamily="18" charset="0"/>
                <a:cs typeface="Times New Roman" panose="02020603050405020304" pitchFamily="18" charset="0"/>
                <a:hlinkClick r:id="rId3"/>
              </a:rPr>
              <a:t>https://code.visualstudio.com/</a:t>
            </a:r>
            <a:r>
              <a:rPr lang="en-US" sz="2200" dirty="0">
                <a:latin typeface="Times New Roman" panose="02020603050405020304" pitchFamily="18" charset="0"/>
                <a:cs typeface="Times New Roman" panose="02020603050405020304" pitchFamily="18" charset="0"/>
              </a:rPr>
              <a:t> </a:t>
            </a:r>
          </a:p>
        </p:txBody>
      </p:sp>
      <p:pic>
        <p:nvPicPr>
          <p:cNvPr id="10" name="Picture 9">
            <a:extLst>
              <a:ext uri="{FF2B5EF4-FFF2-40B4-BE49-F238E27FC236}">
                <a16:creationId xmlns:a16="http://schemas.microsoft.com/office/drawing/2014/main" id="{B595C263-42FF-D0E3-8113-BE00CA33B6D9}"/>
              </a:ext>
            </a:extLst>
          </p:cNvPr>
          <p:cNvPicPr>
            <a:picLocks noChangeAspect="1"/>
          </p:cNvPicPr>
          <p:nvPr/>
        </p:nvPicPr>
        <p:blipFill>
          <a:blip r:embed="rId4"/>
          <a:stretch>
            <a:fillRect/>
          </a:stretch>
        </p:blipFill>
        <p:spPr>
          <a:xfrm>
            <a:off x="415252" y="1485586"/>
            <a:ext cx="11420856" cy="4220865"/>
          </a:xfrm>
          <a:prstGeom prst="rect">
            <a:avLst/>
          </a:prstGeom>
        </p:spPr>
      </p:pic>
    </p:spTree>
    <p:extLst>
      <p:ext uri="{BB962C8B-B14F-4D97-AF65-F5344CB8AC3E}">
        <p14:creationId xmlns:p14="http://schemas.microsoft.com/office/powerpoint/2010/main" val="4157415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4FD2897-CC30-1848-DA76-6DFDCD44D37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EFA0AC3-E7F8-2F7F-D200-A6054EBD0D8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45B8F44-656E-F811-BD91-5DBAB0ECB30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2" name="Group 1">
            <a:extLst>
              <a:ext uri="{FF2B5EF4-FFF2-40B4-BE49-F238E27FC236}">
                <a16:creationId xmlns:a16="http://schemas.microsoft.com/office/drawing/2014/main" id="{98CF32D8-4849-1E74-E91D-815561FB2F55}"/>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E08CFDD5-3569-2646-F826-D9A7414A6D61}"/>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600" dirty="0">
                  <a:latin typeface="Times New Roman" panose="02020603050405020304" pitchFamily="18" charset="0"/>
                  <a:cs typeface="Times New Roman" panose="02020603050405020304" pitchFamily="18" charset="0"/>
                </a:rPr>
                <a:t>1.4.1. Cách cài đặt và kiểm tra phiên bản Angular</a:t>
              </a:r>
              <a:endParaRPr lang="en-US" sz="260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665A14E-4919-E5E5-2335-1DB91D6EE29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1148158-2826-9417-6363-FABBD304916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A7A7B25-7B7E-E398-CC4D-56B1CB60D2C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E4994A0-C795-7D70-01D7-3DCE52AE273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F78E5991-56E5-9E67-BB3A-AC3A4C8DA92F}"/>
              </a:ext>
            </a:extLst>
          </p:cNvPr>
          <p:cNvSpPr txBox="1"/>
          <p:nvPr/>
        </p:nvSpPr>
        <p:spPr>
          <a:xfrm>
            <a:off x="449494" y="928949"/>
            <a:ext cx="9846650" cy="430887"/>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Step 2: </a:t>
            </a:r>
            <a:r>
              <a:rPr lang="en-US" sz="2200" dirty="0" err="1">
                <a:latin typeface="Times New Roman" panose="02020603050405020304" pitchFamily="18" charset="0"/>
                <a:cs typeface="Times New Roman" panose="02020603050405020304" pitchFamily="18" charset="0"/>
              </a:rPr>
              <a:t>Cài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NodeJS </a:t>
            </a:r>
            <a:r>
              <a:rPr lang="en-US" sz="2200" dirty="0">
                <a:latin typeface="Times New Roman" panose="02020603050405020304" pitchFamily="18" charset="0"/>
                <a:cs typeface="Times New Roman" panose="02020603050405020304" pitchFamily="18" charset="0"/>
                <a:hlinkClick r:id="rId3"/>
              </a:rPr>
              <a:t>https://nodejs.org/en/download</a:t>
            </a:r>
            <a:r>
              <a:rPr lang="en-US" sz="2200" dirty="0">
                <a:latin typeface="Times New Roman" panose="02020603050405020304" pitchFamily="18" charset="0"/>
                <a:cs typeface="Times New Roman" panose="02020603050405020304" pitchFamily="18" charset="0"/>
              </a:rPr>
              <a:t> </a:t>
            </a:r>
          </a:p>
        </p:txBody>
      </p:sp>
      <p:pic>
        <p:nvPicPr>
          <p:cNvPr id="13" name="Picture 12">
            <a:extLst>
              <a:ext uri="{FF2B5EF4-FFF2-40B4-BE49-F238E27FC236}">
                <a16:creationId xmlns:a16="http://schemas.microsoft.com/office/drawing/2014/main" id="{0ABD4789-EDCF-EE71-A19A-C246B00C3FDC}"/>
              </a:ext>
            </a:extLst>
          </p:cNvPr>
          <p:cNvPicPr>
            <a:picLocks noChangeAspect="1"/>
          </p:cNvPicPr>
          <p:nvPr/>
        </p:nvPicPr>
        <p:blipFill>
          <a:blip r:embed="rId4"/>
          <a:stretch>
            <a:fillRect/>
          </a:stretch>
        </p:blipFill>
        <p:spPr>
          <a:xfrm>
            <a:off x="481230" y="1382005"/>
            <a:ext cx="8214040" cy="5025189"/>
          </a:xfrm>
          <a:prstGeom prst="rect">
            <a:avLst/>
          </a:prstGeom>
        </p:spPr>
      </p:pic>
    </p:spTree>
    <p:extLst>
      <p:ext uri="{BB962C8B-B14F-4D97-AF65-F5344CB8AC3E}">
        <p14:creationId xmlns:p14="http://schemas.microsoft.com/office/powerpoint/2010/main" val="3916021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CA06FEE-D94D-7F13-C6AE-D1623A7075D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79A0666-1C2A-EFE2-F28E-BF06904E59C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1EF5662-B195-EEED-4600-723CC948997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2" name="Group 1">
            <a:extLst>
              <a:ext uri="{FF2B5EF4-FFF2-40B4-BE49-F238E27FC236}">
                <a16:creationId xmlns:a16="http://schemas.microsoft.com/office/drawing/2014/main" id="{1681B857-3879-07A4-F2B8-CAA9D75E34BE}"/>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65C4EB5F-9340-97EE-D831-991EE8210095}"/>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600" dirty="0">
                  <a:latin typeface="Times New Roman" panose="02020603050405020304" pitchFamily="18" charset="0"/>
                  <a:cs typeface="Times New Roman" panose="02020603050405020304" pitchFamily="18" charset="0"/>
                </a:rPr>
                <a:t>1.4.1. Cách cài đặt và kiểm tra phiên bản Angular</a:t>
              </a:r>
              <a:endParaRPr lang="en-US" sz="26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40CB03D-46D4-4CDF-EC0F-C50927631EC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FD2EF05-1452-FA61-0D5C-6207B85E2A4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06CF0E5-CB8C-1288-2040-EB5687CCF9A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67E162B-142F-30DB-8BA4-720DF509DF4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9403289C-7372-BBC2-2E80-B981905BAF1F}"/>
              </a:ext>
            </a:extLst>
          </p:cNvPr>
          <p:cNvSpPr txBox="1"/>
          <p:nvPr/>
        </p:nvSpPr>
        <p:spPr>
          <a:xfrm>
            <a:off x="449494" y="928949"/>
            <a:ext cx="9846650" cy="430887"/>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Step 2: </a:t>
            </a:r>
            <a:r>
              <a:rPr lang="en-US" sz="2200" dirty="0" err="1">
                <a:latin typeface="Times New Roman" panose="02020603050405020304" pitchFamily="18" charset="0"/>
                <a:cs typeface="Times New Roman" panose="02020603050405020304" pitchFamily="18" charset="0"/>
              </a:rPr>
              <a:t>Cài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NodeJS </a:t>
            </a:r>
            <a:r>
              <a:rPr lang="en-US" sz="2200" dirty="0">
                <a:latin typeface="Times New Roman" panose="02020603050405020304" pitchFamily="18" charset="0"/>
                <a:cs typeface="Times New Roman" panose="02020603050405020304" pitchFamily="18" charset="0"/>
                <a:hlinkClick r:id="rId3"/>
              </a:rPr>
              <a:t>https://nodejs.org/en/download</a:t>
            </a:r>
            <a:r>
              <a:rPr lang="en-US" sz="2200" dirty="0">
                <a:latin typeface="Times New Roman" panose="02020603050405020304" pitchFamily="18" charset="0"/>
                <a:cs typeface="Times New Roman" panose="02020603050405020304" pitchFamily="18" charset="0"/>
              </a:rPr>
              <a:t> </a:t>
            </a:r>
          </a:p>
        </p:txBody>
      </p:sp>
      <p:sp>
        <p:nvSpPr>
          <p:cNvPr id="8" name="TextBox 7">
            <a:extLst>
              <a:ext uri="{FF2B5EF4-FFF2-40B4-BE49-F238E27FC236}">
                <a16:creationId xmlns:a16="http://schemas.microsoft.com/office/drawing/2014/main" id="{35C30E0C-D2D6-F7BB-A732-9BEE9945080D}"/>
              </a:ext>
            </a:extLst>
          </p:cNvPr>
          <p:cNvSpPr txBox="1"/>
          <p:nvPr/>
        </p:nvSpPr>
        <p:spPr>
          <a:xfrm>
            <a:off x="764133" y="1479138"/>
            <a:ext cx="8986266" cy="430887"/>
          </a:xfrm>
          <a:prstGeom prst="rect">
            <a:avLst/>
          </a:prstGeom>
          <a:noFill/>
        </p:spPr>
        <p:txBody>
          <a:bodyPr wrap="square">
            <a:spAutoFit/>
          </a:bodyPr>
          <a:lstStyle/>
          <a:p>
            <a:r>
              <a:rPr lang="en-US" sz="2200" dirty="0" err="1">
                <a:latin typeface="Times New Roman" panose="02020603050405020304" pitchFamily="18" charset="0"/>
                <a:cs typeface="Times New Roman" panose="02020603050405020304" pitchFamily="18" charset="0"/>
              </a:rPr>
              <a:t>Giả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tại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thời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điểm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tại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chúng</a:t>
            </a:r>
            <a:r>
              <a:rPr lang="en-US" sz="2200" dirty="0">
                <a:latin typeface="Times New Roman" panose="02020603050405020304" pitchFamily="18" charset="0"/>
                <a:cs typeface="Times New Roman" panose="02020603050405020304" pitchFamily="18" charset="0"/>
              </a:rPr>
              <a:t> ta </a:t>
            </a:r>
            <a:r>
              <a:rPr lang="en-US" sz="2200" dirty="0" err="1">
                <a:latin typeface="Times New Roman" panose="02020603050405020304" pitchFamily="18" charset="0"/>
                <a:cs typeface="Times New Roman" panose="02020603050405020304" pitchFamily="18" charset="0"/>
              </a:rPr>
              <a:t>chọn</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node-v25.8.2-x64.msi</a:t>
            </a:r>
          </a:p>
        </p:txBody>
      </p:sp>
      <p:pic>
        <p:nvPicPr>
          <p:cNvPr id="9" name="Picture 8">
            <a:extLst>
              <a:ext uri="{FF2B5EF4-FFF2-40B4-BE49-F238E27FC236}">
                <a16:creationId xmlns:a16="http://schemas.microsoft.com/office/drawing/2014/main" id="{7720FA3E-2D12-EB85-58FB-CFD44B4B92FF}"/>
              </a:ext>
            </a:extLst>
          </p:cNvPr>
          <p:cNvPicPr>
            <a:picLocks noChangeAspect="1"/>
          </p:cNvPicPr>
          <p:nvPr/>
        </p:nvPicPr>
        <p:blipFill>
          <a:blip r:embed="rId4"/>
          <a:stretch>
            <a:fillRect/>
          </a:stretch>
        </p:blipFill>
        <p:spPr>
          <a:xfrm>
            <a:off x="1651676" y="2082752"/>
            <a:ext cx="6849431" cy="3296110"/>
          </a:xfrm>
          <a:prstGeom prst="rect">
            <a:avLst/>
          </a:prstGeom>
        </p:spPr>
      </p:pic>
    </p:spTree>
    <p:extLst>
      <p:ext uri="{BB962C8B-B14F-4D97-AF65-F5344CB8AC3E}">
        <p14:creationId xmlns:p14="http://schemas.microsoft.com/office/powerpoint/2010/main" val="2866334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0805730-1669-B151-334B-A963AF6C9AC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F321BEF-D728-9D16-C32B-3209909365B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B750C82-9E21-3B04-11BC-0678DF265C5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2" name="Group 1">
            <a:extLst>
              <a:ext uri="{FF2B5EF4-FFF2-40B4-BE49-F238E27FC236}">
                <a16:creationId xmlns:a16="http://schemas.microsoft.com/office/drawing/2014/main" id="{E62C32F1-4055-A45E-C671-8D7ECC26790E}"/>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DCBB5364-107C-515C-12FD-2A9807F5BB48}"/>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600" dirty="0">
                  <a:latin typeface="Times New Roman" panose="02020603050405020304" pitchFamily="18" charset="0"/>
                  <a:cs typeface="Times New Roman" panose="02020603050405020304" pitchFamily="18" charset="0"/>
                </a:rPr>
                <a:t>1.4.1. Cách cài đặt và kiểm tra phiên bản Angular</a:t>
              </a:r>
              <a:endParaRPr lang="en-US" sz="26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3504DB2-FD78-3FCA-6BCB-FEF29063DD5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36C2BAA-FB7E-6BB6-9CC1-14753FAAE06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9B52AA0-BD8F-F986-4245-8EC64A26FDA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C11B992-9565-5991-89E8-6B33C3887FF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1A6A9851-D0DE-03E0-E384-85440026FB09}"/>
              </a:ext>
            </a:extLst>
          </p:cNvPr>
          <p:cNvSpPr txBox="1"/>
          <p:nvPr/>
        </p:nvSpPr>
        <p:spPr>
          <a:xfrm>
            <a:off x="449494" y="928949"/>
            <a:ext cx="9846650" cy="430887"/>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Step 2: </a:t>
            </a:r>
            <a:r>
              <a:rPr lang="en-US" sz="2200" dirty="0" err="1">
                <a:latin typeface="Times New Roman" panose="02020603050405020304" pitchFamily="18" charset="0"/>
                <a:cs typeface="Times New Roman" panose="02020603050405020304" pitchFamily="18" charset="0"/>
              </a:rPr>
              <a:t>Cài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NodeJS </a:t>
            </a:r>
            <a:r>
              <a:rPr lang="en-US" sz="2200" dirty="0">
                <a:latin typeface="Times New Roman" panose="02020603050405020304" pitchFamily="18" charset="0"/>
                <a:cs typeface="Times New Roman" panose="02020603050405020304" pitchFamily="18" charset="0"/>
                <a:hlinkClick r:id="rId3"/>
              </a:rPr>
              <a:t>https://nodejs.org/en/download</a:t>
            </a:r>
            <a:r>
              <a:rPr lang="en-US" sz="2200" dirty="0">
                <a:latin typeface="Times New Roman" panose="02020603050405020304" pitchFamily="18" charset="0"/>
                <a:cs typeface="Times New Roman" panose="02020603050405020304" pitchFamily="18" charset="0"/>
              </a:rPr>
              <a:t> </a:t>
            </a:r>
          </a:p>
        </p:txBody>
      </p:sp>
      <p:pic>
        <p:nvPicPr>
          <p:cNvPr id="10" name="Picture 9">
            <a:extLst>
              <a:ext uri="{FF2B5EF4-FFF2-40B4-BE49-F238E27FC236}">
                <a16:creationId xmlns:a16="http://schemas.microsoft.com/office/drawing/2014/main" id="{DEB79690-F22F-9E64-811F-BE4253AEEEDB}"/>
              </a:ext>
            </a:extLst>
          </p:cNvPr>
          <p:cNvPicPr>
            <a:picLocks noChangeAspect="1"/>
          </p:cNvPicPr>
          <p:nvPr/>
        </p:nvPicPr>
        <p:blipFill>
          <a:blip r:embed="rId4"/>
          <a:stretch>
            <a:fillRect/>
          </a:stretch>
        </p:blipFill>
        <p:spPr>
          <a:xfrm>
            <a:off x="728132" y="1951415"/>
            <a:ext cx="4715533" cy="3686689"/>
          </a:xfrm>
          <a:prstGeom prst="rect">
            <a:avLst/>
          </a:prstGeom>
        </p:spPr>
      </p:pic>
      <p:pic>
        <p:nvPicPr>
          <p:cNvPr id="11" name="Picture 10">
            <a:extLst>
              <a:ext uri="{FF2B5EF4-FFF2-40B4-BE49-F238E27FC236}">
                <a16:creationId xmlns:a16="http://schemas.microsoft.com/office/drawing/2014/main" id="{F07ECF67-D05A-621D-9AC8-A66E2CB0A999}"/>
              </a:ext>
            </a:extLst>
          </p:cNvPr>
          <p:cNvPicPr>
            <a:picLocks noChangeAspect="1"/>
          </p:cNvPicPr>
          <p:nvPr/>
        </p:nvPicPr>
        <p:blipFill>
          <a:blip r:embed="rId5"/>
          <a:stretch>
            <a:fillRect/>
          </a:stretch>
        </p:blipFill>
        <p:spPr>
          <a:xfrm>
            <a:off x="6899173" y="1891234"/>
            <a:ext cx="4715533" cy="3686689"/>
          </a:xfrm>
          <a:prstGeom prst="rect">
            <a:avLst/>
          </a:prstGeom>
        </p:spPr>
      </p:pic>
      <p:sp>
        <p:nvSpPr>
          <p:cNvPr id="15" name="Arrow: Right 14">
            <a:extLst>
              <a:ext uri="{FF2B5EF4-FFF2-40B4-BE49-F238E27FC236}">
                <a16:creationId xmlns:a16="http://schemas.microsoft.com/office/drawing/2014/main" id="{BE8C76C4-B9D4-6F75-14D4-25666FEF02C1}"/>
              </a:ext>
            </a:extLst>
          </p:cNvPr>
          <p:cNvSpPr/>
          <p:nvPr/>
        </p:nvSpPr>
        <p:spPr>
          <a:xfrm>
            <a:off x="5746223" y="3697257"/>
            <a:ext cx="850392" cy="320040"/>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48808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038B0DF-A723-A98C-A463-AD138A3131C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9DB96C4-0E74-8A5E-B9BE-4B632BD6F53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54D09E4-8541-943C-ECFA-9F1D0993A03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2" name="Group 1">
            <a:extLst>
              <a:ext uri="{FF2B5EF4-FFF2-40B4-BE49-F238E27FC236}">
                <a16:creationId xmlns:a16="http://schemas.microsoft.com/office/drawing/2014/main" id="{F0252A7F-AF70-6BE8-D310-EF7B7E4303C4}"/>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070CDA9C-24EC-0133-2A33-FD41D6C1286D}"/>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600" dirty="0">
                  <a:latin typeface="Times New Roman" panose="02020603050405020304" pitchFamily="18" charset="0"/>
                  <a:cs typeface="Times New Roman" panose="02020603050405020304" pitchFamily="18" charset="0"/>
                </a:rPr>
                <a:t>1.4.1. Cách cài đặt và kiểm tra phiên bản Angular</a:t>
              </a:r>
              <a:endParaRPr lang="en-US" sz="26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75BF722-6E6D-6704-FA59-5A39004D2FA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D85EB33-E0C2-7E95-C40B-F79E086C124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DA25654-791D-C6C4-2C58-D6769E9F6EA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17CC0DB-9F63-5DC4-F6D2-423B5B76D76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645F1DF3-3327-DAED-DA0C-DD786B6B4CDA}"/>
              </a:ext>
            </a:extLst>
          </p:cNvPr>
          <p:cNvSpPr txBox="1"/>
          <p:nvPr/>
        </p:nvSpPr>
        <p:spPr>
          <a:xfrm>
            <a:off x="449494" y="928949"/>
            <a:ext cx="9846650" cy="430887"/>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Step 2: </a:t>
            </a:r>
            <a:r>
              <a:rPr lang="en-US" sz="2200" dirty="0" err="1">
                <a:latin typeface="Times New Roman" panose="02020603050405020304" pitchFamily="18" charset="0"/>
                <a:cs typeface="Times New Roman" panose="02020603050405020304" pitchFamily="18" charset="0"/>
              </a:rPr>
              <a:t>Cài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NodeJS </a:t>
            </a:r>
            <a:r>
              <a:rPr lang="en-US" sz="2200" dirty="0">
                <a:latin typeface="Times New Roman" panose="02020603050405020304" pitchFamily="18" charset="0"/>
                <a:cs typeface="Times New Roman" panose="02020603050405020304" pitchFamily="18" charset="0"/>
                <a:hlinkClick r:id="rId3"/>
              </a:rPr>
              <a:t>https://nodejs.org/en/download</a:t>
            </a:r>
            <a:r>
              <a:rPr lang="en-US" sz="2200" dirty="0">
                <a:latin typeface="Times New Roman" panose="02020603050405020304" pitchFamily="18" charset="0"/>
                <a:cs typeface="Times New Roman" panose="02020603050405020304" pitchFamily="18" charset="0"/>
              </a:rPr>
              <a:t> </a:t>
            </a:r>
          </a:p>
        </p:txBody>
      </p:sp>
      <p:sp>
        <p:nvSpPr>
          <p:cNvPr id="15" name="Arrow: Right 14">
            <a:extLst>
              <a:ext uri="{FF2B5EF4-FFF2-40B4-BE49-F238E27FC236}">
                <a16:creationId xmlns:a16="http://schemas.microsoft.com/office/drawing/2014/main" id="{7B8A6586-893B-9C8F-783D-15FC1CD15C57}"/>
              </a:ext>
            </a:extLst>
          </p:cNvPr>
          <p:cNvSpPr/>
          <p:nvPr/>
        </p:nvSpPr>
        <p:spPr>
          <a:xfrm>
            <a:off x="5670804" y="3486945"/>
            <a:ext cx="850392" cy="320040"/>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CFEDBEB-874A-ED13-3A32-02034BE28330}"/>
              </a:ext>
            </a:extLst>
          </p:cNvPr>
          <p:cNvPicPr>
            <a:picLocks noChangeAspect="1"/>
          </p:cNvPicPr>
          <p:nvPr/>
        </p:nvPicPr>
        <p:blipFill>
          <a:blip r:embed="rId4"/>
          <a:stretch>
            <a:fillRect/>
          </a:stretch>
        </p:blipFill>
        <p:spPr>
          <a:xfrm>
            <a:off x="741032" y="1741103"/>
            <a:ext cx="4715533" cy="3686689"/>
          </a:xfrm>
          <a:prstGeom prst="rect">
            <a:avLst/>
          </a:prstGeom>
        </p:spPr>
      </p:pic>
      <p:pic>
        <p:nvPicPr>
          <p:cNvPr id="9" name="Picture 8">
            <a:extLst>
              <a:ext uri="{FF2B5EF4-FFF2-40B4-BE49-F238E27FC236}">
                <a16:creationId xmlns:a16="http://schemas.microsoft.com/office/drawing/2014/main" id="{2BA5D36E-4C23-C59E-67D7-DFF7093B114A}"/>
              </a:ext>
            </a:extLst>
          </p:cNvPr>
          <p:cNvPicPr>
            <a:picLocks noChangeAspect="1"/>
          </p:cNvPicPr>
          <p:nvPr/>
        </p:nvPicPr>
        <p:blipFill>
          <a:blip r:embed="rId5"/>
          <a:stretch>
            <a:fillRect/>
          </a:stretch>
        </p:blipFill>
        <p:spPr>
          <a:xfrm>
            <a:off x="6735435" y="1741102"/>
            <a:ext cx="4715533" cy="3686689"/>
          </a:xfrm>
          <a:prstGeom prst="rect">
            <a:avLst/>
          </a:prstGeom>
        </p:spPr>
      </p:pic>
    </p:spTree>
    <p:extLst>
      <p:ext uri="{BB962C8B-B14F-4D97-AF65-F5344CB8AC3E}">
        <p14:creationId xmlns:p14="http://schemas.microsoft.com/office/powerpoint/2010/main" val="3939855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DEC1B1D-137D-0A95-5304-AB27496CA93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967A4E1-16E0-D5E0-6A61-E23CD7257FD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A85BCBB-66E6-D231-3E07-7663773EEE3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2" name="Group 1">
            <a:extLst>
              <a:ext uri="{FF2B5EF4-FFF2-40B4-BE49-F238E27FC236}">
                <a16:creationId xmlns:a16="http://schemas.microsoft.com/office/drawing/2014/main" id="{2F11A18E-8A70-3A6C-86FF-6E36182EAE49}"/>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B5A5BACA-004C-CC58-4531-FF00B584FDC2}"/>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600" dirty="0">
                  <a:latin typeface="Times New Roman" panose="02020603050405020304" pitchFamily="18" charset="0"/>
                  <a:cs typeface="Times New Roman" panose="02020603050405020304" pitchFamily="18" charset="0"/>
                </a:rPr>
                <a:t>1.4.1. Cách cài đặt và kiểm tra phiên bản Angular</a:t>
              </a:r>
              <a:endParaRPr lang="en-US" sz="26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8D93C01-D270-6371-CC37-6B31B7FA286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37EF102-AC20-AC62-1DFC-26929AADB10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BA6680E-8D6D-6B2D-84E7-7FF6C7BC618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5787270-E9A0-BB82-E58F-DF8FDDE286F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2E4DCEF2-4B5E-8FE3-2916-A5A81E28F5E8}"/>
              </a:ext>
            </a:extLst>
          </p:cNvPr>
          <p:cNvSpPr txBox="1"/>
          <p:nvPr/>
        </p:nvSpPr>
        <p:spPr>
          <a:xfrm>
            <a:off x="449494" y="928949"/>
            <a:ext cx="9846650" cy="430887"/>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Step 2: </a:t>
            </a:r>
            <a:r>
              <a:rPr lang="en-US" sz="2200" dirty="0" err="1">
                <a:latin typeface="Times New Roman" panose="02020603050405020304" pitchFamily="18" charset="0"/>
                <a:cs typeface="Times New Roman" panose="02020603050405020304" pitchFamily="18" charset="0"/>
              </a:rPr>
              <a:t>Cài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NodeJS </a:t>
            </a:r>
            <a:r>
              <a:rPr lang="en-US" sz="2200" dirty="0">
                <a:latin typeface="Times New Roman" panose="02020603050405020304" pitchFamily="18" charset="0"/>
                <a:cs typeface="Times New Roman" panose="02020603050405020304" pitchFamily="18" charset="0"/>
                <a:hlinkClick r:id="rId3"/>
              </a:rPr>
              <a:t>https://nodejs.org/en/download</a:t>
            </a:r>
            <a:r>
              <a:rPr lang="en-US" sz="2200" dirty="0">
                <a:latin typeface="Times New Roman" panose="02020603050405020304" pitchFamily="18" charset="0"/>
                <a:cs typeface="Times New Roman" panose="02020603050405020304" pitchFamily="18" charset="0"/>
              </a:rPr>
              <a:t> </a:t>
            </a:r>
          </a:p>
        </p:txBody>
      </p:sp>
      <p:sp>
        <p:nvSpPr>
          <p:cNvPr id="15" name="Arrow: Right 14">
            <a:extLst>
              <a:ext uri="{FF2B5EF4-FFF2-40B4-BE49-F238E27FC236}">
                <a16:creationId xmlns:a16="http://schemas.microsoft.com/office/drawing/2014/main" id="{BB400777-3477-9FB9-B78D-9AF50F03BFEE}"/>
              </a:ext>
            </a:extLst>
          </p:cNvPr>
          <p:cNvSpPr/>
          <p:nvPr/>
        </p:nvSpPr>
        <p:spPr>
          <a:xfrm>
            <a:off x="5670804" y="3486945"/>
            <a:ext cx="850392" cy="320040"/>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1C796AC-5AA5-7E89-2B3A-6413085F7FD1}"/>
              </a:ext>
            </a:extLst>
          </p:cNvPr>
          <p:cNvPicPr>
            <a:picLocks noChangeAspect="1"/>
          </p:cNvPicPr>
          <p:nvPr/>
        </p:nvPicPr>
        <p:blipFill>
          <a:blip r:embed="rId4"/>
          <a:stretch>
            <a:fillRect/>
          </a:stretch>
        </p:blipFill>
        <p:spPr>
          <a:xfrm>
            <a:off x="657286" y="1643600"/>
            <a:ext cx="4715533" cy="3686689"/>
          </a:xfrm>
          <a:prstGeom prst="rect">
            <a:avLst/>
          </a:prstGeom>
        </p:spPr>
      </p:pic>
      <p:pic>
        <p:nvPicPr>
          <p:cNvPr id="11" name="Picture 10">
            <a:extLst>
              <a:ext uri="{FF2B5EF4-FFF2-40B4-BE49-F238E27FC236}">
                <a16:creationId xmlns:a16="http://schemas.microsoft.com/office/drawing/2014/main" id="{05D35250-F898-107A-1F6B-CB688901AF82}"/>
              </a:ext>
            </a:extLst>
          </p:cNvPr>
          <p:cNvPicPr>
            <a:picLocks noChangeAspect="1"/>
          </p:cNvPicPr>
          <p:nvPr/>
        </p:nvPicPr>
        <p:blipFill>
          <a:blip r:embed="rId5"/>
          <a:stretch>
            <a:fillRect/>
          </a:stretch>
        </p:blipFill>
        <p:spPr>
          <a:xfrm>
            <a:off x="6715445" y="1643600"/>
            <a:ext cx="4715533" cy="3686689"/>
          </a:xfrm>
          <a:prstGeom prst="rect">
            <a:avLst/>
          </a:prstGeom>
        </p:spPr>
      </p:pic>
    </p:spTree>
    <p:extLst>
      <p:ext uri="{BB962C8B-B14F-4D97-AF65-F5344CB8AC3E}">
        <p14:creationId xmlns:p14="http://schemas.microsoft.com/office/powerpoint/2010/main" val="2321182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702E790-9D70-E958-D2D8-FF67EFD71AB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07467B9-3B6D-5B0F-0E0C-B5F778662EF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3A4DC1B-1001-53F7-81E0-9A1E9129E28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2" name="Group 1">
            <a:extLst>
              <a:ext uri="{FF2B5EF4-FFF2-40B4-BE49-F238E27FC236}">
                <a16:creationId xmlns:a16="http://schemas.microsoft.com/office/drawing/2014/main" id="{A22E5197-A145-A729-5603-A4056B85E73D}"/>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C9304249-BBBD-76CA-B485-5D2BC92B70AE}"/>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600" dirty="0">
                  <a:latin typeface="Times New Roman" panose="02020603050405020304" pitchFamily="18" charset="0"/>
                  <a:cs typeface="Times New Roman" panose="02020603050405020304" pitchFamily="18" charset="0"/>
                </a:rPr>
                <a:t>1.4.1. Cách cài đặt và kiểm tra phiên bản Angular</a:t>
              </a:r>
              <a:endParaRPr lang="en-US" sz="26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597D63E-DB41-2116-48D7-B7BD4AAF7AA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F1DCC61-3DD5-56A1-E059-488B72A94E5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F5A4774-D354-B3F4-191D-767DD0B233A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C6A2CA5-CF78-E7BD-E3B7-5824153F3C3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99A49E06-E56D-9B68-6CBC-D4A539C14B2F}"/>
              </a:ext>
            </a:extLst>
          </p:cNvPr>
          <p:cNvSpPr txBox="1"/>
          <p:nvPr/>
        </p:nvSpPr>
        <p:spPr>
          <a:xfrm>
            <a:off x="449494" y="928949"/>
            <a:ext cx="9846650" cy="430887"/>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Step 2: </a:t>
            </a:r>
            <a:r>
              <a:rPr lang="en-US" sz="2200" dirty="0" err="1">
                <a:latin typeface="Times New Roman" panose="02020603050405020304" pitchFamily="18" charset="0"/>
                <a:cs typeface="Times New Roman" panose="02020603050405020304" pitchFamily="18" charset="0"/>
              </a:rPr>
              <a:t>Cài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NodeJS </a:t>
            </a:r>
            <a:r>
              <a:rPr lang="en-US" sz="2200" dirty="0">
                <a:latin typeface="Times New Roman" panose="02020603050405020304" pitchFamily="18" charset="0"/>
                <a:cs typeface="Times New Roman" panose="02020603050405020304" pitchFamily="18" charset="0"/>
                <a:hlinkClick r:id="rId3"/>
              </a:rPr>
              <a:t>https://nodejs.org/en/download</a:t>
            </a:r>
            <a:r>
              <a:rPr lang="en-US" sz="2200" dirty="0">
                <a:latin typeface="Times New Roman" panose="02020603050405020304" pitchFamily="18" charset="0"/>
                <a:cs typeface="Times New Roman" panose="02020603050405020304" pitchFamily="18" charset="0"/>
              </a:rPr>
              <a:t> </a:t>
            </a:r>
          </a:p>
        </p:txBody>
      </p:sp>
      <p:sp>
        <p:nvSpPr>
          <p:cNvPr id="15" name="Arrow: Right 14">
            <a:extLst>
              <a:ext uri="{FF2B5EF4-FFF2-40B4-BE49-F238E27FC236}">
                <a16:creationId xmlns:a16="http://schemas.microsoft.com/office/drawing/2014/main" id="{FF4FACE5-129E-D871-C9E0-1B1063A3A5B6}"/>
              </a:ext>
            </a:extLst>
          </p:cNvPr>
          <p:cNvSpPr/>
          <p:nvPr/>
        </p:nvSpPr>
        <p:spPr>
          <a:xfrm>
            <a:off x="5670804" y="3326923"/>
            <a:ext cx="850392" cy="320040"/>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484F00B-1D4C-A202-F9AB-267CBEB04303}"/>
              </a:ext>
            </a:extLst>
          </p:cNvPr>
          <p:cNvPicPr>
            <a:picLocks noChangeAspect="1"/>
          </p:cNvPicPr>
          <p:nvPr/>
        </p:nvPicPr>
        <p:blipFill>
          <a:blip r:embed="rId4"/>
          <a:stretch>
            <a:fillRect/>
          </a:stretch>
        </p:blipFill>
        <p:spPr>
          <a:xfrm>
            <a:off x="657286" y="1643599"/>
            <a:ext cx="4715533" cy="3686689"/>
          </a:xfrm>
          <a:prstGeom prst="rect">
            <a:avLst/>
          </a:prstGeom>
        </p:spPr>
      </p:pic>
      <p:pic>
        <p:nvPicPr>
          <p:cNvPr id="9" name="Picture 8">
            <a:extLst>
              <a:ext uri="{FF2B5EF4-FFF2-40B4-BE49-F238E27FC236}">
                <a16:creationId xmlns:a16="http://schemas.microsoft.com/office/drawing/2014/main" id="{26B71B7F-4661-FD69-0FBE-6D7E17DE1F95}"/>
              </a:ext>
            </a:extLst>
          </p:cNvPr>
          <p:cNvPicPr>
            <a:picLocks noChangeAspect="1"/>
          </p:cNvPicPr>
          <p:nvPr/>
        </p:nvPicPr>
        <p:blipFill>
          <a:blip r:embed="rId5"/>
          <a:stretch>
            <a:fillRect/>
          </a:stretch>
        </p:blipFill>
        <p:spPr>
          <a:xfrm>
            <a:off x="6829765" y="1643599"/>
            <a:ext cx="4715533" cy="3686689"/>
          </a:xfrm>
          <a:prstGeom prst="rect">
            <a:avLst/>
          </a:prstGeom>
        </p:spPr>
      </p:pic>
    </p:spTree>
    <p:extLst>
      <p:ext uri="{BB962C8B-B14F-4D97-AF65-F5344CB8AC3E}">
        <p14:creationId xmlns:p14="http://schemas.microsoft.com/office/powerpoint/2010/main" val="1730066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93ED8C8-54D3-6164-D79F-89C32DEE29A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0A462DD-D5B2-CE73-FFB6-E144D96FBFA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AAB324E-7329-5282-E12D-F8EBD0925F9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2" name="Group 1">
            <a:extLst>
              <a:ext uri="{FF2B5EF4-FFF2-40B4-BE49-F238E27FC236}">
                <a16:creationId xmlns:a16="http://schemas.microsoft.com/office/drawing/2014/main" id="{97D1390F-E202-A8C6-C233-FD105EBA4D17}"/>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4C3C54F7-EF9D-3BE4-C7CF-7E25A06EBC1D}"/>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600" dirty="0">
                  <a:latin typeface="Times New Roman" panose="02020603050405020304" pitchFamily="18" charset="0"/>
                  <a:cs typeface="Times New Roman" panose="02020603050405020304" pitchFamily="18" charset="0"/>
                </a:rPr>
                <a:t>1.4.1. Cách cài đặt và kiểm tra phiên bản Angular</a:t>
              </a:r>
              <a:endParaRPr lang="en-US" sz="26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A037F19-32C8-0FC9-3110-DBE106F1695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3885DFA-FA8A-B5DD-4C33-B0E9E9536E2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51B2651-AD4E-2E82-9246-7212706AB06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979D939-1E90-3561-1F95-A780AC3E459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C17B461E-4835-5779-8E39-5A161263711A}"/>
              </a:ext>
            </a:extLst>
          </p:cNvPr>
          <p:cNvSpPr txBox="1"/>
          <p:nvPr/>
        </p:nvSpPr>
        <p:spPr>
          <a:xfrm>
            <a:off x="449494" y="928949"/>
            <a:ext cx="9846650" cy="430887"/>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Step 2: </a:t>
            </a:r>
            <a:r>
              <a:rPr lang="en-US" sz="2200" dirty="0" err="1">
                <a:latin typeface="Times New Roman" panose="02020603050405020304" pitchFamily="18" charset="0"/>
                <a:cs typeface="Times New Roman" panose="02020603050405020304" pitchFamily="18" charset="0"/>
              </a:rPr>
              <a:t>Cài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NodeJS </a:t>
            </a:r>
            <a:r>
              <a:rPr lang="en-US" sz="2200" dirty="0">
                <a:latin typeface="Times New Roman" panose="02020603050405020304" pitchFamily="18" charset="0"/>
                <a:cs typeface="Times New Roman" panose="02020603050405020304" pitchFamily="18" charset="0"/>
                <a:hlinkClick r:id="rId3"/>
              </a:rPr>
              <a:t>https://nodejs.org/en/download</a:t>
            </a:r>
            <a:r>
              <a:rPr lang="en-US" sz="2200" dirty="0">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2CB161F7-C1AE-6D87-3D67-F232DDEFB7FD}"/>
              </a:ext>
            </a:extLst>
          </p:cNvPr>
          <p:cNvPicPr>
            <a:picLocks noChangeAspect="1"/>
          </p:cNvPicPr>
          <p:nvPr/>
        </p:nvPicPr>
        <p:blipFill>
          <a:blip r:embed="rId4"/>
          <a:stretch>
            <a:fillRect/>
          </a:stretch>
        </p:blipFill>
        <p:spPr>
          <a:xfrm>
            <a:off x="952076" y="1404710"/>
            <a:ext cx="8841485" cy="4979778"/>
          </a:xfrm>
          <a:prstGeom prst="rect">
            <a:avLst/>
          </a:prstGeom>
        </p:spPr>
      </p:pic>
    </p:spTree>
    <p:extLst>
      <p:ext uri="{BB962C8B-B14F-4D97-AF65-F5344CB8AC3E}">
        <p14:creationId xmlns:p14="http://schemas.microsoft.com/office/powerpoint/2010/main" val="2907677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BEF92B7-AFBC-C509-5D3D-E8D7E8D3404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B0AD9C8-51AD-BEDC-3AEF-1BF96C50B88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4A6572A-1D6B-425B-3FA4-18FBECC0C65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grpSp>
        <p:nvGrpSpPr>
          <p:cNvPr id="2" name="Group 1">
            <a:extLst>
              <a:ext uri="{FF2B5EF4-FFF2-40B4-BE49-F238E27FC236}">
                <a16:creationId xmlns:a16="http://schemas.microsoft.com/office/drawing/2014/main" id="{366C901A-DCAD-DB18-E315-104CCCC2291F}"/>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8FA62F19-23CE-E5D8-BE7B-3EBEB4931B9F}"/>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600" dirty="0">
                  <a:latin typeface="Times New Roman" panose="02020603050405020304" pitchFamily="18" charset="0"/>
                  <a:cs typeface="Times New Roman" panose="02020603050405020304" pitchFamily="18" charset="0"/>
                </a:rPr>
                <a:t>1.4.1. Cách cài đặt và kiểm tra phiên bản Angular</a:t>
              </a:r>
              <a:endParaRPr lang="en-US" sz="26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0E4A7CF-B4CC-99B0-4E6E-F48213CFC15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3EB27E3-7F56-59D8-0046-22FFB1CF461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47190C7-1C05-FD25-1370-226CF73EC3A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96A7EE8-AB50-2DC5-B2EF-F21F024632F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EC4FFE1F-DBFC-787F-224E-63E1D96B20DE}"/>
              </a:ext>
            </a:extLst>
          </p:cNvPr>
          <p:cNvSpPr txBox="1"/>
          <p:nvPr/>
        </p:nvSpPr>
        <p:spPr>
          <a:xfrm>
            <a:off x="449494" y="928949"/>
            <a:ext cx="9846650" cy="430887"/>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Step 2: </a:t>
            </a:r>
            <a:r>
              <a:rPr lang="en-US" sz="2200" dirty="0" err="1">
                <a:latin typeface="Times New Roman" panose="02020603050405020304" pitchFamily="18" charset="0"/>
                <a:cs typeface="Times New Roman" panose="02020603050405020304" pitchFamily="18" charset="0"/>
              </a:rPr>
              <a:t>Cài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NodeJS </a:t>
            </a:r>
            <a:r>
              <a:rPr lang="en-US" sz="2200" dirty="0">
                <a:latin typeface="Times New Roman" panose="02020603050405020304" pitchFamily="18" charset="0"/>
                <a:cs typeface="Times New Roman" panose="02020603050405020304" pitchFamily="18" charset="0"/>
                <a:hlinkClick r:id="rId3"/>
              </a:rPr>
              <a:t>https://nodejs.org/en/download</a:t>
            </a:r>
            <a:r>
              <a:rPr lang="en-US" sz="2200" dirty="0">
                <a:latin typeface="Times New Roman" panose="02020603050405020304" pitchFamily="18" charset="0"/>
                <a:cs typeface="Times New Roman" panose="02020603050405020304" pitchFamily="18" charset="0"/>
              </a:rPr>
              <a:t> </a:t>
            </a:r>
          </a:p>
        </p:txBody>
      </p:sp>
      <p:pic>
        <p:nvPicPr>
          <p:cNvPr id="9" name="Picture 8">
            <a:extLst>
              <a:ext uri="{FF2B5EF4-FFF2-40B4-BE49-F238E27FC236}">
                <a16:creationId xmlns:a16="http://schemas.microsoft.com/office/drawing/2014/main" id="{F15F21EC-3C3B-03E8-A896-4D116F59A560}"/>
              </a:ext>
            </a:extLst>
          </p:cNvPr>
          <p:cNvPicPr>
            <a:picLocks noChangeAspect="1"/>
          </p:cNvPicPr>
          <p:nvPr/>
        </p:nvPicPr>
        <p:blipFill>
          <a:blip r:embed="rId4"/>
          <a:stretch>
            <a:fillRect/>
          </a:stretch>
        </p:blipFill>
        <p:spPr>
          <a:xfrm>
            <a:off x="728132" y="1359836"/>
            <a:ext cx="7740533" cy="5016535"/>
          </a:xfrm>
          <a:prstGeom prst="rect">
            <a:avLst/>
          </a:prstGeom>
        </p:spPr>
      </p:pic>
    </p:spTree>
    <p:extLst>
      <p:ext uri="{BB962C8B-B14F-4D97-AF65-F5344CB8AC3E}">
        <p14:creationId xmlns:p14="http://schemas.microsoft.com/office/powerpoint/2010/main" val="34109729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1AA2F1E-77BD-07CA-351F-DD25E5B985C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B5E2F04-690B-840C-F9BD-C6393FD17F1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89DC1D7-B804-25E8-6FE5-75C8C0DA01F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grpSp>
        <p:nvGrpSpPr>
          <p:cNvPr id="2" name="Group 1">
            <a:extLst>
              <a:ext uri="{FF2B5EF4-FFF2-40B4-BE49-F238E27FC236}">
                <a16:creationId xmlns:a16="http://schemas.microsoft.com/office/drawing/2014/main" id="{0EDD4AE7-BA2B-7003-ED58-610266ED6182}"/>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0A6B0085-CE7B-4F1E-5A84-F5A7ABDD6144}"/>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600" dirty="0">
                  <a:latin typeface="Times New Roman" panose="02020603050405020304" pitchFamily="18" charset="0"/>
                  <a:cs typeface="Times New Roman" panose="02020603050405020304" pitchFamily="18" charset="0"/>
                </a:rPr>
                <a:t>1.4.1. Cách cài đặt và kiểm tra phiên bản Angular</a:t>
              </a:r>
              <a:endParaRPr lang="en-US" sz="26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7D6E1F9-71FA-6601-4B4B-3A1910C4D68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F9763B9-F5AF-09CA-9693-830AB9E960E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E1F2414-19E9-0DC6-78DC-28BC5A7CC23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F6E571A-48C4-E88F-6052-D63D4F0834E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95163EAF-3A05-C974-48EB-1DA9C732E498}"/>
              </a:ext>
            </a:extLst>
          </p:cNvPr>
          <p:cNvSpPr txBox="1"/>
          <p:nvPr/>
        </p:nvSpPr>
        <p:spPr>
          <a:xfrm>
            <a:off x="449494" y="928949"/>
            <a:ext cx="9846650" cy="769441"/>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Step 3: </a:t>
            </a:r>
            <a:r>
              <a:rPr lang="en-US" sz="2200" dirty="0" err="1">
                <a:latin typeface="Times New Roman" panose="02020603050405020304" pitchFamily="18" charset="0"/>
                <a:cs typeface="Times New Roman" panose="02020603050405020304" pitchFamily="18" charset="0"/>
              </a:rPr>
              <a:t>Cài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Angular</a:t>
            </a:r>
          </a:p>
          <a:p>
            <a:endParaRPr lang="en-US" sz="2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CB4BFED-C64A-800A-AC76-23AEEEFA26DD}"/>
              </a:ext>
            </a:extLst>
          </p:cNvPr>
          <p:cNvSpPr txBox="1"/>
          <p:nvPr/>
        </p:nvSpPr>
        <p:spPr>
          <a:xfrm>
            <a:off x="2948178" y="1416542"/>
            <a:ext cx="6295644" cy="492443"/>
          </a:xfrm>
          <a:prstGeom prst="rect">
            <a:avLst/>
          </a:prstGeom>
          <a:noFill/>
        </p:spPr>
        <p:txBody>
          <a:bodyPr wrap="square">
            <a:spAutoFit/>
          </a:bodyPr>
          <a:lstStyle/>
          <a:p>
            <a:pPr algn="ctr"/>
            <a:r>
              <a:rPr lang="en-US" sz="2600" dirty="0" err="1">
                <a:latin typeface="Times New Roman" panose="02020603050405020304" pitchFamily="18" charset="0"/>
                <a:cs typeface="Times New Roman" panose="02020603050405020304" pitchFamily="18" charset="0"/>
              </a:rPr>
              <a:t>npm</a:t>
            </a:r>
            <a:r>
              <a:rPr lang="en-US" sz="2600" dirty="0">
                <a:latin typeface="Times New Roman" panose="02020603050405020304" pitchFamily="18" charset="0"/>
                <a:cs typeface="Times New Roman" panose="02020603050405020304" pitchFamily="18" charset="0"/>
              </a:rPr>
              <a:t> install -g @angular/cli</a:t>
            </a:r>
          </a:p>
        </p:txBody>
      </p:sp>
      <p:pic>
        <p:nvPicPr>
          <p:cNvPr id="13" name="Picture 12">
            <a:extLst>
              <a:ext uri="{FF2B5EF4-FFF2-40B4-BE49-F238E27FC236}">
                <a16:creationId xmlns:a16="http://schemas.microsoft.com/office/drawing/2014/main" id="{581FFACB-2BD9-BCCD-4173-8F0FC9D48151}"/>
              </a:ext>
            </a:extLst>
          </p:cNvPr>
          <p:cNvPicPr>
            <a:picLocks noChangeAspect="1"/>
          </p:cNvPicPr>
          <p:nvPr/>
        </p:nvPicPr>
        <p:blipFill>
          <a:blip r:embed="rId3"/>
          <a:stretch>
            <a:fillRect/>
          </a:stretch>
        </p:blipFill>
        <p:spPr>
          <a:xfrm>
            <a:off x="1132332" y="1940854"/>
            <a:ext cx="9067800" cy="4352925"/>
          </a:xfrm>
          <a:prstGeom prst="rect">
            <a:avLst/>
          </a:prstGeom>
        </p:spPr>
      </p:pic>
    </p:spTree>
    <p:extLst>
      <p:ext uri="{BB962C8B-B14F-4D97-AF65-F5344CB8AC3E}">
        <p14:creationId xmlns:p14="http://schemas.microsoft.com/office/powerpoint/2010/main" val="4236306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20C4ECD-5E03-D433-E8F9-D70EC409C2B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E64B1CF-CCAC-749C-EA19-DE527F67576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7DD7694-5297-6514-517B-D5A90C9205D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grpSp>
        <p:nvGrpSpPr>
          <p:cNvPr id="2" name="Group 1">
            <a:extLst>
              <a:ext uri="{FF2B5EF4-FFF2-40B4-BE49-F238E27FC236}">
                <a16:creationId xmlns:a16="http://schemas.microsoft.com/office/drawing/2014/main" id="{B3C01A14-5FE8-173C-4769-E538149E57F6}"/>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ADD6F8E4-935B-3761-39A1-EF96D5425967}"/>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600" dirty="0">
                  <a:latin typeface="Times New Roman" panose="02020603050405020304" pitchFamily="18" charset="0"/>
                  <a:cs typeface="Times New Roman" panose="02020603050405020304" pitchFamily="18" charset="0"/>
                </a:rPr>
                <a:t>1.4.1. Cách cài đặt và kiểm tra phiên bản Angular</a:t>
              </a:r>
              <a:endParaRPr lang="en-US" sz="26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249BE0A-F641-6EDF-6599-F9C4225F300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042FA69-A5D3-4F7B-E075-3231B2355EE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3F1F5AF-A65B-865C-7223-01B7C7752D6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900CF1C-18EE-BF3A-DD60-D4DC8AF4E46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8F7642D4-3028-23F6-404E-FDA429C88567}"/>
              </a:ext>
            </a:extLst>
          </p:cNvPr>
          <p:cNvSpPr txBox="1"/>
          <p:nvPr/>
        </p:nvSpPr>
        <p:spPr>
          <a:xfrm>
            <a:off x="449494" y="928949"/>
            <a:ext cx="9846650" cy="430887"/>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Step 4: </a:t>
            </a:r>
            <a:r>
              <a:rPr lang="en-US" sz="2200" dirty="0" err="1">
                <a:latin typeface="Times New Roman" panose="02020603050405020304" pitchFamily="18" charset="0"/>
                <a:cs typeface="Times New Roman" panose="02020603050405020304" pitchFamily="18" charset="0"/>
              </a:rPr>
              <a:t>Kiểm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tra</a:t>
            </a:r>
            <a:r>
              <a:rPr lang="en-US" sz="2200" dirty="0">
                <a:latin typeface="Times New Roman" panose="02020603050405020304" pitchFamily="18" charset="0"/>
                <a:cs typeface="Times New Roman" panose="02020603050405020304" pitchFamily="18" charset="0"/>
              </a:rPr>
              <a:t> version </a:t>
            </a:r>
            <a:r>
              <a:rPr lang="en-US" sz="2200" b="1" dirty="0">
                <a:latin typeface="Times New Roman" panose="02020603050405020304" pitchFamily="18" charset="0"/>
                <a:cs typeface="Times New Roman" panose="02020603050405020304" pitchFamily="18" charset="0"/>
              </a:rPr>
              <a:t>node</a:t>
            </a:r>
            <a:r>
              <a:rPr lang="en-US" sz="2200" dirty="0">
                <a:latin typeface="Times New Roman" panose="02020603050405020304" pitchFamily="18" charset="0"/>
                <a:cs typeface="Times New Roman" panose="02020603050405020304" pitchFamily="18" charset="0"/>
              </a:rPr>
              <a:t> </a:t>
            </a:r>
            <a:r>
              <a:rPr lang="en-US" sz="2200" err="1">
                <a:latin typeface="Times New Roman" panose="02020603050405020304" pitchFamily="18" charset="0"/>
                <a:cs typeface="Times New Roman" panose="02020603050405020304" pitchFamily="18" charset="0"/>
              </a:rPr>
              <a:t>và</a:t>
            </a:r>
            <a:r>
              <a:rPr lang="en-US" sz="2200">
                <a:latin typeface="Times New Roman" panose="02020603050405020304" pitchFamily="18" charset="0"/>
                <a:cs typeface="Times New Roman" panose="02020603050405020304" pitchFamily="18" charset="0"/>
              </a:rPr>
              <a:t> </a:t>
            </a:r>
            <a:r>
              <a:rPr lang="en-US" sz="2200" b="1">
                <a:latin typeface="Times New Roman" panose="02020603050405020304" pitchFamily="18" charset="0"/>
                <a:cs typeface="Times New Roman" panose="02020603050405020304" pitchFamily="18" charset="0"/>
              </a:rPr>
              <a:t>npm</a:t>
            </a:r>
            <a:endParaRPr lang="en-US" sz="22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21526AF-76EF-0923-4D03-67AFFE281C38}"/>
              </a:ext>
            </a:extLst>
          </p:cNvPr>
          <p:cNvPicPr>
            <a:picLocks noChangeAspect="1"/>
          </p:cNvPicPr>
          <p:nvPr/>
        </p:nvPicPr>
        <p:blipFill>
          <a:blip r:embed="rId3"/>
          <a:stretch>
            <a:fillRect/>
          </a:stretch>
        </p:blipFill>
        <p:spPr>
          <a:xfrm>
            <a:off x="2178177" y="2462905"/>
            <a:ext cx="7524750" cy="3267075"/>
          </a:xfrm>
          <a:prstGeom prst="rect">
            <a:avLst/>
          </a:prstGeom>
        </p:spPr>
      </p:pic>
      <p:sp>
        <p:nvSpPr>
          <p:cNvPr id="9" name="TextBox 8">
            <a:extLst>
              <a:ext uri="{FF2B5EF4-FFF2-40B4-BE49-F238E27FC236}">
                <a16:creationId xmlns:a16="http://schemas.microsoft.com/office/drawing/2014/main" id="{7A2E0EAC-E197-2B73-AC98-679935BF03E1}"/>
              </a:ext>
            </a:extLst>
          </p:cNvPr>
          <p:cNvSpPr txBox="1"/>
          <p:nvPr/>
        </p:nvSpPr>
        <p:spPr>
          <a:xfrm>
            <a:off x="797814" y="1374794"/>
            <a:ext cx="6094476" cy="492443"/>
          </a:xfrm>
          <a:prstGeom prst="rect">
            <a:avLst/>
          </a:prstGeom>
          <a:noFill/>
        </p:spPr>
        <p:txBody>
          <a:bodyPr wrap="square">
            <a:spAutoFit/>
          </a:bodyPr>
          <a:lstStyle/>
          <a:p>
            <a:r>
              <a:rPr lang="en-US" sz="2600" b="0" i="0" dirty="0">
                <a:effectLst/>
                <a:latin typeface="Times New Roman" panose="02020603050405020304" pitchFamily="18" charset="0"/>
                <a:cs typeface="Times New Roman" panose="02020603050405020304" pitchFamily="18" charset="0"/>
              </a:rPr>
              <a:t>node -v</a:t>
            </a:r>
            <a:endParaRPr lang="en-US" sz="26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0304F9E-B994-0227-D44B-6828C6735C75}"/>
              </a:ext>
            </a:extLst>
          </p:cNvPr>
          <p:cNvSpPr txBox="1"/>
          <p:nvPr/>
        </p:nvSpPr>
        <p:spPr>
          <a:xfrm>
            <a:off x="797814" y="1859297"/>
            <a:ext cx="6094476" cy="492443"/>
          </a:xfrm>
          <a:prstGeom prst="rect">
            <a:avLst/>
          </a:prstGeom>
          <a:noFill/>
        </p:spPr>
        <p:txBody>
          <a:bodyPr wrap="square">
            <a:spAutoFit/>
          </a:bodyPr>
          <a:lstStyle/>
          <a:p>
            <a:r>
              <a:rPr lang="en-US" sz="2600" b="0" i="0" dirty="0" err="1">
                <a:effectLst/>
                <a:latin typeface="Times New Roman" panose="02020603050405020304" pitchFamily="18" charset="0"/>
                <a:cs typeface="Times New Roman" panose="02020603050405020304" pitchFamily="18" charset="0"/>
              </a:rPr>
              <a:t>npm</a:t>
            </a:r>
            <a:r>
              <a:rPr lang="en-US" sz="2600" b="0" i="0" dirty="0">
                <a:effectLst/>
                <a:latin typeface="Times New Roman" panose="02020603050405020304" pitchFamily="18" charset="0"/>
                <a:cs typeface="Times New Roman" panose="02020603050405020304" pitchFamily="18" charset="0"/>
              </a:rPr>
              <a:t> -v</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321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68CB3F3-EB44-0632-459F-37AF4B4769E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0ED1C89-F975-71B2-59FD-CAF5BC0C500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D819960-AF7D-EF04-987E-36A4D4DBE57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grpSp>
        <p:nvGrpSpPr>
          <p:cNvPr id="2" name="Group 1">
            <a:extLst>
              <a:ext uri="{FF2B5EF4-FFF2-40B4-BE49-F238E27FC236}">
                <a16:creationId xmlns:a16="http://schemas.microsoft.com/office/drawing/2014/main" id="{56D7407E-5974-A633-0235-0044728F4C00}"/>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726891AD-D38D-FFAD-A5A8-3428FBB37450}"/>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A482E188-48EE-3453-FB62-9B96747055F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1A9FE33-739F-0D61-615A-EF9E99DFEEE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6A23944-78B8-5C55-9AC7-1AB9E746DCC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2C563F4-A11E-2952-D5AD-DD0353109DA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8AEC1FE-99CD-D98A-9693-9F50B9BAE4C3}"/>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Tạo thư mục lưu trữ dự án. Ví dụ D:/Learning/LearnAngular</a:t>
            </a:r>
            <a:endParaRPr lang="vi-VN"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60E6D7A-4780-C56A-9815-A0B78A27CDA1}"/>
              </a:ext>
            </a:extLst>
          </p:cNvPr>
          <p:cNvPicPr>
            <a:picLocks noChangeAspect="1"/>
          </p:cNvPicPr>
          <p:nvPr/>
        </p:nvPicPr>
        <p:blipFill>
          <a:blip r:embed="rId3"/>
          <a:stretch>
            <a:fillRect/>
          </a:stretch>
        </p:blipFill>
        <p:spPr>
          <a:xfrm>
            <a:off x="1406512" y="1553682"/>
            <a:ext cx="8097380" cy="2181529"/>
          </a:xfrm>
          <a:prstGeom prst="rect">
            <a:avLst/>
          </a:prstGeom>
        </p:spPr>
      </p:pic>
    </p:spTree>
    <p:extLst>
      <p:ext uri="{BB962C8B-B14F-4D97-AF65-F5344CB8AC3E}">
        <p14:creationId xmlns:p14="http://schemas.microsoft.com/office/powerpoint/2010/main" val="23027284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60F7E4C-FD80-24DB-5A93-49E764B504E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FEC3966-8B0E-2A8A-1574-6254F10613C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4AF8624-54B2-8B8A-49E4-6FA0036A54B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grpSp>
        <p:nvGrpSpPr>
          <p:cNvPr id="2" name="Group 1">
            <a:extLst>
              <a:ext uri="{FF2B5EF4-FFF2-40B4-BE49-F238E27FC236}">
                <a16:creationId xmlns:a16="http://schemas.microsoft.com/office/drawing/2014/main" id="{F925251F-0881-AE8E-7A8A-7ED5C140AD6A}"/>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5CF4597A-976A-2F91-5253-1B9B15336470}"/>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BF5C03E2-FBF5-5CE7-DA8A-1C6DBE808A5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447A1A7-88EF-82B7-513D-7696DE28561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00E4A47-A1CA-D3D8-317D-71C792E91A5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E874F63-AD09-A256-DF87-0A7AD123DBB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2E361B8-4F6D-5F6D-30A7-16696119328F}"/>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Khởi động Visual Studio Code</a:t>
            </a:r>
            <a:endParaRPr lang="vi-VN" sz="24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850507CA-61C0-AA08-AB63-5FFB346F0D8B}"/>
              </a:ext>
            </a:extLst>
          </p:cNvPr>
          <p:cNvPicPr>
            <a:picLocks noChangeAspect="1"/>
          </p:cNvPicPr>
          <p:nvPr/>
        </p:nvPicPr>
        <p:blipFill>
          <a:blip r:embed="rId3"/>
          <a:stretch>
            <a:fillRect/>
          </a:stretch>
        </p:blipFill>
        <p:spPr>
          <a:xfrm>
            <a:off x="796884" y="1249330"/>
            <a:ext cx="8993080" cy="5173438"/>
          </a:xfrm>
          <a:prstGeom prst="rect">
            <a:avLst/>
          </a:prstGeom>
        </p:spPr>
      </p:pic>
    </p:spTree>
    <p:extLst>
      <p:ext uri="{BB962C8B-B14F-4D97-AF65-F5344CB8AC3E}">
        <p14:creationId xmlns:p14="http://schemas.microsoft.com/office/powerpoint/2010/main" val="1179248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7E293D6-20E4-7C96-B9C9-27F7E28E219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7807E70-A143-2E2B-8771-C9AD0992A86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94D573C-2600-D0C9-861A-24D9E9A96CD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grpSp>
        <p:nvGrpSpPr>
          <p:cNvPr id="2" name="Group 1">
            <a:extLst>
              <a:ext uri="{FF2B5EF4-FFF2-40B4-BE49-F238E27FC236}">
                <a16:creationId xmlns:a16="http://schemas.microsoft.com/office/drawing/2014/main" id="{1C346191-CB1F-6899-A787-B46B5F3D8FD8}"/>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237EF50E-DEB3-D55C-BAB6-73FE15CD45F7}"/>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D3559B4D-5ADE-26B7-E782-F31CD0838B1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95A12FF-8EA9-81DC-38CC-401F26EB210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41972C4-095A-3CE6-9D66-68614337250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99D65DA-EC04-C943-E292-5E45FE5B4BA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50EA8D3-49EF-128F-3593-EC4A15A3CC5B}"/>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Chọn “Open Folder” và mở đường dẫn thư mục dự án</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D880983-2E41-80D0-182F-6B07FC6CCF0F}"/>
              </a:ext>
            </a:extLst>
          </p:cNvPr>
          <p:cNvPicPr>
            <a:picLocks noChangeAspect="1"/>
          </p:cNvPicPr>
          <p:nvPr/>
        </p:nvPicPr>
        <p:blipFill>
          <a:blip r:embed="rId3"/>
          <a:stretch>
            <a:fillRect/>
          </a:stretch>
        </p:blipFill>
        <p:spPr>
          <a:xfrm>
            <a:off x="4235774" y="3556919"/>
            <a:ext cx="3524742" cy="2457793"/>
          </a:xfrm>
          <a:prstGeom prst="rect">
            <a:avLst/>
          </a:prstGeom>
        </p:spPr>
      </p:pic>
      <p:pic>
        <p:nvPicPr>
          <p:cNvPr id="10" name="Picture 9">
            <a:extLst>
              <a:ext uri="{FF2B5EF4-FFF2-40B4-BE49-F238E27FC236}">
                <a16:creationId xmlns:a16="http://schemas.microsoft.com/office/drawing/2014/main" id="{B15A2232-639B-0734-8A25-FF362FB24343}"/>
              </a:ext>
            </a:extLst>
          </p:cNvPr>
          <p:cNvPicPr>
            <a:picLocks noChangeAspect="1"/>
          </p:cNvPicPr>
          <p:nvPr/>
        </p:nvPicPr>
        <p:blipFill>
          <a:blip r:embed="rId4"/>
          <a:stretch>
            <a:fillRect/>
          </a:stretch>
        </p:blipFill>
        <p:spPr>
          <a:xfrm>
            <a:off x="1210501" y="1323532"/>
            <a:ext cx="8097380" cy="2181529"/>
          </a:xfrm>
          <a:prstGeom prst="rect">
            <a:avLst/>
          </a:prstGeom>
        </p:spPr>
      </p:pic>
    </p:spTree>
    <p:extLst>
      <p:ext uri="{BB962C8B-B14F-4D97-AF65-F5344CB8AC3E}">
        <p14:creationId xmlns:p14="http://schemas.microsoft.com/office/powerpoint/2010/main" val="27757778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E5A4667-8A64-3928-7AF7-923EBF722B8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A01B212-6CDA-9CBE-4393-72FA9C6827C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8B82935-0D20-CB1B-E277-25E63684827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grpSp>
        <p:nvGrpSpPr>
          <p:cNvPr id="2" name="Group 1">
            <a:extLst>
              <a:ext uri="{FF2B5EF4-FFF2-40B4-BE49-F238E27FC236}">
                <a16:creationId xmlns:a16="http://schemas.microsoft.com/office/drawing/2014/main" id="{FE888C16-B4A0-DCB0-94AB-71BE709BE171}"/>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E1918E2C-F759-3486-5AE1-D173E125BB5F}"/>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8E1BE4F4-15E8-27C7-7513-45F8E7EA348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3C1AAFB-4080-755D-D9A6-68C064D5C86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E6A779B-F5ED-BF00-164F-84000320DD8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48762C8-2179-CD1B-D374-A29218BA853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7C31F20-F901-2732-322F-F35987B7229C}"/>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Chọn “Open Folder” và mở đường dẫn thư mục dự án</a:t>
            </a:r>
            <a:endParaRPr lang="en-US" sz="24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467CC73-0C36-8F51-5540-345D69DF7998}"/>
              </a:ext>
            </a:extLst>
          </p:cNvPr>
          <p:cNvPicPr>
            <a:picLocks noChangeAspect="1"/>
          </p:cNvPicPr>
          <p:nvPr/>
        </p:nvPicPr>
        <p:blipFill>
          <a:blip r:embed="rId3"/>
          <a:stretch>
            <a:fillRect/>
          </a:stretch>
        </p:blipFill>
        <p:spPr>
          <a:xfrm>
            <a:off x="894353" y="1267048"/>
            <a:ext cx="7266495" cy="5058598"/>
          </a:xfrm>
          <a:prstGeom prst="rect">
            <a:avLst/>
          </a:prstGeom>
        </p:spPr>
      </p:pic>
    </p:spTree>
    <p:extLst>
      <p:ext uri="{BB962C8B-B14F-4D97-AF65-F5344CB8AC3E}">
        <p14:creationId xmlns:p14="http://schemas.microsoft.com/office/powerpoint/2010/main" val="16051549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C016E02-70E4-399B-DAA1-921850B311F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9EE171D-749F-21B8-02D4-6C2A1B104C8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106AE6F-9F55-5232-A470-6660D828C36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grpSp>
        <p:nvGrpSpPr>
          <p:cNvPr id="2" name="Group 1">
            <a:extLst>
              <a:ext uri="{FF2B5EF4-FFF2-40B4-BE49-F238E27FC236}">
                <a16:creationId xmlns:a16="http://schemas.microsoft.com/office/drawing/2014/main" id="{55C21FAD-7517-3425-9551-72A8A1C1AD9B}"/>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0991865E-EC8F-0838-CE14-A268ECE4347B}"/>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CFBC300D-3F6F-FAA6-C62E-FB56889AD12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0ECE00B-C2C7-B62B-9A86-8F30F000E0D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367192E-6D6F-49B1-9177-094C1E4C358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BC69E29-F83A-13C4-8328-E964FDFFD2E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295C5BF-6437-9796-6F0C-ED4F1E48D277}"/>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Nếu màn hình Trust the Author xuất hiện như bên dưới thì nhấn Yes</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7C6137E-AED9-27C3-8E90-5BE6AC1678F3}"/>
              </a:ext>
            </a:extLst>
          </p:cNvPr>
          <p:cNvPicPr>
            <a:picLocks noChangeAspect="1"/>
          </p:cNvPicPr>
          <p:nvPr/>
        </p:nvPicPr>
        <p:blipFill>
          <a:blip r:embed="rId3"/>
          <a:stretch>
            <a:fillRect/>
          </a:stretch>
        </p:blipFill>
        <p:spPr>
          <a:xfrm>
            <a:off x="838772" y="1409207"/>
            <a:ext cx="9093203" cy="4830764"/>
          </a:xfrm>
          <a:prstGeom prst="rect">
            <a:avLst/>
          </a:prstGeom>
        </p:spPr>
      </p:pic>
    </p:spTree>
    <p:extLst>
      <p:ext uri="{BB962C8B-B14F-4D97-AF65-F5344CB8AC3E}">
        <p14:creationId xmlns:p14="http://schemas.microsoft.com/office/powerpoint/2010/main" val="6982521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FD285CE-3F94-4AA2-E495-76479E0EB2F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8C0E7B5-E5B1-C4F2-741D-06DCB083E65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7733714-6D2B-6BA4-65C8-9BFF5C7E792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grpSp>
        <p:nvGrpSpPr>
          <p:cNvPr id="2" name="Group 1">
            <a:extLst>
              <a:ext uri="{FF2B5EF4-FFF2-40B4-BE49-F238E27FC236}">
                <a16:creationId xmlns:a16="http://schemas.microsoft.com/office/drawing/2014/main" id="{427C2331-806B-11B9-A974-73FF69BF5035}"/>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B6A79633-42A1-51C0-2030-42E4CA1701FB}"/>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B5B91C8B-ECE1-ADDA-C97C-C12A8C41BFA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DF8EE01-8A3D-49AB-945D-129D68CE5A8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1BD56F0-120E-D43C-69D4-BC02FA58599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650DBBF-82BF-30D8-EECB-BAEC73F90CD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9B4BB35-6B4E-C728-0105-C1F1D7AA124C}"/>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Sau đó chọn “Save Workspace As…” để lưu Workspace</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A6120DD-1423-0198-2404-2ABD0A2D35C3}"/>
              </a:ext>
            </a:extLst>
          </p:cNvPr>
          <p:cNvPicPr>
            <a:picLocks noChangeAspect="1"/>
          </p:cNvPicPr>
          <p:nvPr/>
        </p:nvPicPr>
        <p:blipFill>
          <a:blip r:embed="rId3"/>
          <a:stretch>
            <a:fillRect/>
          </a:stretch>
        </p:blipFill>
        <p:spPr>
          <a:xfrm>
            <a:off x="831260" y="1617076"/>
            <a:ext cx="3677163" cy="2543530"/>
          </a:xfrm>
          <a:prstGeom prst="rect">
            <a:avLst/>
          </a:prstGeom>
        </p:spPr>
      </p:pic>
      <p:pic>
        <p:nvPicPr>
          <p:cNvPr id="10" name="Picture 9">
            <a:extLst>
              <a:ext uri="{FF2B5EF4-FFF2-40B4-BE49-F238E27FC236}">
                <a16:creationId xmlns:a16="http://schemas.microsoft.com/office/drawing/2014/main" id="{6E6A81A0-05B3-3D82-8B0E-63C3EED2C7D5}"/>
              </a:ext>
            </a:extLst>
          </p:cNvPr>
          <p:cNvPicPr>
            <a:picLocks noChangeAspect="1"/>
          </p:cNvPicPr>
          <p:nvPr/>
        </p:nvPicPr>
        <p:blipFill>
          <a:blip r:embed="rId4"/>
          <a:stretch>
            <a:fillRect/>
          </a:stretch>
        </p:blipFill>
        <p:spPr>
          <a:xfrm>
            <a:off x="6411689" y="1451073"/>
            <a:ext cx="3677163" cy="3391373"/>
          </a:xfrm>
          <a:prstGeom prst="rect">
            <a:avLst/>
          </a:prstGeom>
        </p:spPr>
      </p:pic>
    </p:spTree>
    <p:extLst>
      <p:ext uri="{BB962C8B-B14F-4D97-AF65-F5344CB8AC3E}">
        <p14:creationId xmlns:p14="http://schemas.microsoft.com/office/powerpoint/2010/main" val="26999841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3F647E3-C097-59EF-C022-89DF4BC5E98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C6DD646-5511-C148-8DFF-569B1E473A6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8B477C7-592E-53D5-21E9-B9EE8E087F1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grpSp>
        <p:nvGrpSpPr>
          <p:cNvPr id="2" name="Group 1">
            <a:extLst>
              <a:ext uri="{FF2B5EF4-FFF2-40B4-BE49-F238E27FC236}">
                <a16:creationId xmlns:a16="http://schemas.microsoft.com/office/drawing/2014/main" id="{CF47F5B0-B622-3816-B1AC-E27EDD8A18AA}"/>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0979DD06-29C1-9878-008E-233268DC8DF7}"/>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4F28D42B-C78F-9A7C-D4B2-CA14191CC6C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60D3AC3-674B-4E79-6CDA-E34E35C4470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A598B4A-DD39-B938-2600-D8A75807B2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D197935-35FB-C7EF-7468-C19E130AE7C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FB5D1D4-B5AD-E369-2B7E-579C84A7CFF6}"/>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Đặt tên Workspace (nên để mặc định) rồi bấm Save</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DBA107D-698E-E915-E980-81BE22C9D713}"/>
              </a:ext>
            </a:extLst>
          </p:cNvPr>
          <p:cNvPicPr>
            <a:picLocks noChangeAspect="1"/>
          </p:cNvPicPr>
          <p:nvPr/>
        </p:nvPicPr>
        <p:blipFill>
          <a:blip r:embed="rId3"/>
          <a:stretch>
            <a:fillRect/>
          </a:stretch>
        </p:blipFill>
        <p:spPr>
          <a:xfrm>
            <a:off x="1075917" y="1271674"/>
            <a:ext cx="7148618" cy="4976538"/>
          </a:xfrm>
          <a:prstGeom prst="rect">
            <a:avLst/>
          </a:prstGeom>
        </p:spPr>
      </p:pic>
    </p:spTree>
    <p:extLst>
      <p:ext uri="{BB962C8B-B14F-4D97-AF65-F5344CB8AC3E}">
        <p14:creationId xmlns:p14="http://schemas.microsoft.com/office/powerpoint/2010/main" val="3093629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7702BD5-0A52-D60E-04AA-8C1019D944E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E7E5C30-8261-F3C1-DBBC-68C96F6E603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1CCA714-294B-96C5-056A-3C9656F43F6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grpSp>
        <p:nvGrpSpPr>
          <p:cNvPr id="2" name="Group 1">
            <a:extLst>
              <a:ext uri="{FF2B5EF4-FFF2-40B4-BE49-F238E27FC236}">
                <a16:creationId xmlns:a16="http://schemas.microsoft.com/office/drawing/2014/main" id="{AA31A091-396A-4FE4-4971-85084522F912}"/>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1929B1E4-E2BF-07FF-B147-FACEA8562B52}"/>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A096ABCE-415E-32B9-67E0-F42108F7AA5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9941E85-A90C-48F0-661B-2613A151F66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91C7C53-F963-461A-09CF-80FEECE6E32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CF7B7CD-EAAF-2DDE-4D3B-F6399595017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BAF6A9E-74CC-CD9F-2D60-A3495247D0F9}"/>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Khi lưu Workspace thành công, nhấn chuột vào Workspace “LearnAngular”</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CD70523-5A44-5A78-3D7E-E989F966A849}"/>
              </a:ext>
            </a:extLst>
          </p:cNvPr>
          <p:cNvPicPr>
            <a:picLocks noChangeAspect="1"/>
          </p:cNvPicPr>
          <p:nvPr/>
        </p:nvPicPr>
        <p:blipFill>
          <a:blip r:embed="rId3"/>
          <a:stretch>
            <a:fillRect/>
          </a:stretch>
        </p:blipFill>
        <p:spPr>
          <a:xfrm>
            <a:off x="899000" y="1636183"/>
            <a:ext cx="4001058" cy="2162477"/>
          </a:xfrm>
          <a:prstGeom prst="rect">
            <a:avLst/>
          </a:prstGeom>
        </p:spPr>
      </p:pic>
      <p:pic>
        <p:nvPicPr>
          <p:cNvPr id="10" name="Picture 9">
            <a:extLst>
              <a:ext uri="{FF2B5EF4-FFF2-40B4-BE49-F238E27FC236}">
                <a16:creationId xmlns:a16="http://schemas.microsoft.com/office/drawing/2014/main" id="{905333F4-C8D5-27A4-1114-4EDB76C01282}"/>
              </a:ext>
            </a:extLst>
          </p:cNvPr>
          <p:cNvPicPr>
            <a:picLocks noChangeAspect="1"/>
          </p:cNvPicPr>
          <p:nvPr/>
        </p:nvPicPr>
        <p:blipFill>
          <a:blip r:embed="rId4"/>
          <a:stretch>
            <a:fillRect/>
          </a:stretch>
        </p:blipFill>
        <p:spPr>
          <a:xfrm>
            <a:off x="6842501" y="1636183"/>
            <a:ext cx="3962953" cy="1991003"/>
          </a:xfrm>
          <a:prstGeom prst="rect">
            <a:avLst/>
          </a:prstGeom>
        </p:spPr>
      </p:pic>
      <p:sp>
        <p:nvSpPr>
          <p:cNvPr id="11" name="Arrow: Right 10">
            <a:extLst>
              <a:ext uri="{FF2B5EF4-FFF2-40B4-BE49-F238E27FC236}">
                <a16:creationId xmlns:a16="http://schemas.microsoft.com/office/drawing/2014/main" id="{E43370B4-A3DC-95B2-B3C5-61D608AA0A91}"/>
              </a:ext>
            </a:extLst>
          </p:cNvPr>
          <p:cNvSpPr/>
          <p:nvPr/>
        </p:nvSpPr>
        <p:spPr>
          <a:xfrm>
            <a:off x="5156391" y="2179435"/>
            <a:ext cx="1161907" cy="3368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03783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170FBDB-79E4-F74A-21DF-F8AF1E79B55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0772B06-08DF-F1AF-D40F-05B10CAB91F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5AD2DB8-815F-EFC0-8BDF-E30D1305F5D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grpSp>
        <p:nvGrpSpPr>
          <p:cNvPr id="2" name="Group 1">
            <a:extLst>
              <a:ext uri="{FF2B5EF4-FFF2-40B4-BE49-F238E27FC236}">
                <a16:creationId xmlns:a16="http://schemas.microsoft.com/office/drawing/2014/main" id="{ECEBA300-C807-FE42-2054-35E76B28527F}"/>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C155D3F6-07B3-D351-DB84-DE0AEE2D8A0B}"/>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E851EB8E-52B9-F572-4F41-F4E925785D1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C9A6298-8361-9107-187E-5E0C6EE2182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06AC7E6-783B-F6FC-8F71-D1AE4C07F47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CB23A26-AC5F-44EE-8CBB-4CDFFF79BD6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04A722B-4E21-03FF-8DC9-60BCDDDC1011}"/>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Dưới đây là mã lệnh tạo mới dự án Angular</a:t>
            </a:r>
            <a:endParaRPr lang="en-US"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74979D5-02B9-9A65-7F7C-7AEFF678F25C}"/>
              </a:ext>
            </a:extLst>
          </p:cNvPr>
          <p:cNvSpPr txBox="1"/>
          <p:nvPr/>
        </p:nvSpPr>
        <p:spPr>
          <a:xfrm>
            <a:off x="969403" y="2967335"/>
            <a:ext cx="9639012" cy="523220"/>
          </a:xfrm>
          <a:prstGeom prst="rect">
            <a:avLst/>
          </a:prstGeom>
          <a:noFill/>
        </p:spPr>
        <p:txBody>
          <a:bodyPr wrap="square">
            <a:spAutoFit/>
          </a:bodyPr>
          <a:lstStyle/>
          <a:p>
            <a:pPr algn="ctr"/>
            <a:r>
              <a:rPr lang="en-US" sz="2800" dirty="0">
                <a:solidFill>
                  <a:srgbClr val="FF0000"/>
                </a:solidFill>
              </a:rPr>
              <a:t>ng new my-app --no-standalone --routing --</a:t>
            </a:r>
            <a:r>
              <a:rPr lang="en-US" sz="2800" dirty="0" err="1">
                <a:solidFill>
                  <a:srgbClr val="FF0000"/>
                </a:solidFill>
              </a:rPr>
              <a:t>ssr</a:t>
            </a:r>
            <a:r>
              <a:rPr lang="en-US" sz="2800" dirty="0">
                <a:solidFill>
                  <a:srgbClr val="FF0000"/>
                </a:solidFill>
              </a:rPr>
              <a:t>=false</a:t>
            </a:r>
          </a:p>
        </p:txBody>
      </p:sp>
    </p:spTree>
    <p:extLst>
      <p:ext uri="{BB962C8B-B14F-4D97-AF65-F5344CB8AC3E}">
        <p14:creationId xmlns:p14="http://schemas.microsoft.com/office/powerpoint/2010/main" val="21481616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8C78D8D-1F09-0CD8-A158-450E67BC0ED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FD922CF-114D-1696-A101-475EAFE730F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C0FF3CC-F6D9-BB3E-A795-C1A131CC97F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grpSp>
        <p:nvGrpSpPr>
          <p:cNvPr id="2" name="Group 1">
            <a:extLst>
              <a:ext uri="{FF2B5EF4-FFF2-40B4-BE49-F238E27FC236}">
                <a16:creationId xmlns:a16="http://schemas.microsoft.com/office/drawing/2014/main" id="{FEFF662F-78CD-6990-010E-28EF9BCB686C}"/>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649D05C2-4A90-851F-2800-190219ED1759}"/>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F8E0C03E-088D-FFE7-FFD0-0ACCAAE5E9B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FDC7049-B552-9E47-CEEF-FF348A11306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13138A7-416E-5F4E-07E6-538A4300A15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EF21C12-1388-21F6-3D4B-25B9ED0D983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5D982B6-2687-70FF-F1BC-F264891DFDE9}"/>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Trước tiên ta đưa dấu nhắc lệnh vào thư mục LearnAngular để tạo dự án</a:t>
            </a:r>
            <a:endParaRPr lang="en-US"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7400632-EB12-33D5-0649-AD71C60B7509}"/>
              </a:ext>
            </a:extLst>
          </p:cNvPr>
          <p:cNvPicPr>
            <a:picLocks noChangeAspect="1"/>
          </p:cNvPicPr>
          <p:nvPr/>
        </p:nvPicPr>
        <p:blipFill>
          <a:blip r:embed="rId3"/>
          <a:srcRect r="12933" b="25113"/>
          <a:stretch>
            <a:fillRect/>
          </a:stretch>
        </p:blipFill>
        <p:spPr>
          <a:xfrm>
            <a:off x="673415" y="1256707"/>
            <a:ext cx="10615290" cy="5135765"/>
          </a:xfrm>
          <a:prstGeom prst="rect">
            <a:avLst/>
          </a:prstGeom>
        </p:spPr>
      </p:pic>
      <p:sp>
        <p:nvSpPr>
          <p:cNvPr id="11" name="Rectangle 10">
            <a:extLst>
              <a:ext uri="{FF2B5EF4-FFF2-40B4-BE49-F238E27FC236}">
                <a16:creationId xmlns:a16="http://schemas.microsoft.com/office/drawing/2014/main" id="{E27C724B-1322-FBC2-6909-65F395E5CFA5}"/>
              </a:ext>
            </a:extLst>
          </p:cNvPr>
          <p:cNvSpPr/>
          <p:nvPr/>
        </p:nvSpPr>
        <p:spPr>
          <a:xfrm>
            <a:off x="1835675" y="3392109"/>
            <a:ext cx="3093835" cy="2698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28655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82D59C7-EE2E-DB1D-E671-BD17354E154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CDD412E-A19F-492C-EA9D-695BB0AE88C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4A83B5B-C183-78EA-B962-748D730ED7B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grpSp>
        <p:nvGrpSpPr>
          <p:cNvPr id="2" name="Group 1">
            <a:extLst>
              <a:ext uri="{FF2B5EF4-FFF2-40B4-BE49-F238E27FC236}">
                <a16:creationId xmlns:a16="http://schemas.microsoft.com/office/drawing/2014/main" id="{E2D4E9A3-60F6-C15C-4552-F4E59F364B50}"/>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1BEDC06C-2E14-17CD-180F-B1E217A41B35}"/>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BFD2B21E-1BA2-54DB-66D5-93437A630AF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087BAA8-C9DA-B0CF-241E-879A26CEFE7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A52585C-BE0D-48A5-41EB-AC5D8E7F084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25A74F0-27C6-C0C8-CF25-D12A5B2FCF0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CD91B52-44A4-8CE7-4952-E9C285A81466}"/>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Viết mã lệnh tạo mới dự án “my-app” như bên dưới rồi nhấn Enter:</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9764D8F-4AC1-9741-A338-DA302829B081}"/>
              </a:ext>
            </a:extLst>
          </p:cNvPr>
          <p:cNvPicPr>
            <a:picLocks noChangeAspect="1"/>
          </p:cNvPicPr>
          <p:nvPr/>
        </p:nvPicPr>
        <p:blipFill>
          <a:blip r:embed="rId3"/>
          <a:srcRect r="5147" b="26918"/>
          <a:stretch>
            <a:fillRect/>
          </a:stretch>
        </p:blipFill>
        <p:spPr>
          <a:xfrm>
            <a:off x="336884" y="1292655"/>
            <a:ext cx="11564547" cy="5012012"/>
          </a:xfrm>
          <a:prstGeom prst="rect">
            <a:avLst/>
          </a:prstGeom>
        </p:spPr>
      </p:pic>
      <p:sp>
        <p:nvSpPr>
          <p:cNvPr id="10" name="TextBox 9">
            <a:extLst>
              <a:ext uri="{FF2B5EF4-FFF2-40B4-BE49-F238E27FC236}">
                <a16:creationId xmlns:a16="http://schemas.microsoft.com/office/drawing/2014/main" id="{0CD39BBA-375B-E109-59A6-E80C7287AE21}"/>
              </a:ext>
            </a:extLst>
          </p:cNvPr>
          <p:cNvSpPr txBox="1"/>
          <p:nvPr/>
        </p:nvSpPr>
        <p:spPr>
          <a:xfrm>
            <a:off x="2516594" y="4559006"/>
            <a:ext cx="8200861" cy="461665"/>
          </a:xfrm>
          <a:prstGeom prst="rect">
            <a:avLst/>
          </a:prstGeom>
          <a:noFill/>
        </p:spPr>
        <p:txBody>
          <a:bodyPr wrap="square">
            <a:spAutoFit/>
          </a:bodyPr>
          <a:lstStyle/>
          <a:p>
            <a:r>
              <a:rPr lang="en-US" sz="2400" dirty="0">
                <a:solidFill>
                  <a:srgbClr val="FF0000"/>
                </a:solidFill>
              </a:rPr>
              <a:t>ng new my-app --no-standalone --routing --</a:t>
            </a:r>
            <a:r>
              <a:rPr lang="en-US" sz="2400" dirty="0" err="1">
                <a:solidFill>
                  <a:srgbClr val="FF0000"/>
                </a:solidFill>
              </a:rPr>
              <a:t>ssr</a:t>
            </a:r>
            <a:r>
              <a:rPr lang="en-US" sz="2400" dirty="0">
                <a:solidFill>
                  <a:srgbClr val="FF0000"/>
                </a:solidFill>
              </a:rPr>
              <a:t>=false</a:t>
            </a:r>
          </a:p>
        </p:txBody>
      </p:sp>
      <p:sp>
        <p:nvSpPr>
          <p:cNvPr id="11" name="Rectangle 10">
            <a:extLst>
              <a:ext uri="{FF2B5EF4-FFF2-40B4-BE49-F238E27FC236}">
                <a16:creationId xmlns:a16="http://schemas.microsoft.com/office/drawing/2014/main" id="{6B615992-C16D-84DE-2FBA-B6E1DF51F082}"/>
              </a:ext>
            </a:extLst>
          </p:cNvPr>
          <p:cNvSpPr/>
          <p:nvPr/>
        </p:nvSpPr>
        <p:spPr>
          <a:xfrm>
            <a:off x="2461317" y="5775158"/>
            <a:ext cx="6631886" cy="52950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F8C46369-B446-586B-C0AE-83DBD55A0A30}"/>
              </a:ext>
            </a:extLst>
          </p:cNvPr>
          <p:cNvSpPr/>
          <p:nvPr/>
        </p:nvSpPr>
        <p:spPr>
          <a:xfrm>
            <a:off x="5245769" y="4999691"/>
            <a:ext cx="261258" cy="7026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80410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3D26C7A-DECD-2B99-A1F0-5AF96F1E96B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1E6A751-0D16-8ECE-F354-5582A33FEA4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26E6242-AE0E-4BF0-2BF6-75B357FCA61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grpSp>
        <p:nvGrpSpPr>
          <p:cNvPr id="2" name="Group 1">
            <a:extLst>
              <a:ext uri="{FF2B5EF4-FFF2-40B4-BE49-F238E27FC236}">
                <a16:creationId xmlns:a16="http://schemas.microsoft.com/office/drawing/2014/main" id="{B0F44D75-A607-4FD8-9950-D36E37224548}"/>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040B0050-59B8-47D2-71DC-1B490BC37EBF}"/>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0A05177E-F0E4-78FA-7149-0B105EE31C3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218F0D0-79CC-756C-95AE-D028D2A0774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1A90308-EF65-3F50-380C-FD08A5DB712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57EE6EC-7414-F4EF-7A68-F72D65CA0EF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99305B2-4B61-76FB-788F-3968B3BBB179}"/>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Chọn </a:t>
            </a:r>
            <a:r>
              <a:rPr lang="en-US" sz="2400" b="1">
                <a:latin typeface="Times New Roman" panose="02020603050405020304" pitchFamily="18" charset="0"/>
                <a:cs typeface="Times New Roman" panose="02020603050405020304" pitchFamily="18" charset="0"/>
              </a:rPr>
              <a:t>CSS</a:t>
            </a:r>
            <a:r>
              <a:rPr lang="en-US" sz="2400">
                <a:latin typeface="Times New Roman" panose="02020603050405020304" pitchFamily="18" charset="0"/>
                <a:cs typeface="Times New Roman" panose="02020603050405020304" pitchFamily="18" charset="0"/>
              </a:rPr>
              <a:t> rồi nhấn Enter</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3AB919C-DD76-1D8C-588D-B8B8D52D4300}"/>
              </a:ext>
            </a:extLst>
          </p:cNvPr>
          <p:cNvPicPr>
            <a:picLocks noChangeAspect="1"/>
          </p:cNvPicPr>
          <p:nvPr/>
        </p:nvPicPr>
        <p:blipFill>
          <a:blip r:embed="rId3"/>
          <a:srcRect b="22581"/>
          <a:stretch>
            <a:fillRect/>
          </a:stretch>
        </p:blipFill>
        <p:spPr>
          <a:xfrm>
            <a:off x="0" y="1409421"/>
            <a:ext cx="12192000" cy="4916225"/>
          </a:xfrm>
          <a:prstGeom prst="rect">
            <a:avLst/>
          </a:prstGeom>
        </p:spPr>
      </p:pic>
    </p:spTree>
    <p:extLst>
      <p:ext uri="{BB962C8B-B14F-4D97-AF65-F5344CB8AC3E}">
        <p14:creationId xmlns:p14="http://schemas.microsoft.com/office/powerpoint/2010/main" val="20014273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A2D873B-E5FD-4042-A810-8CA619DE8F3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1F9D70A-FD8D-7A0B-7058-D87773BA7C7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C5737C3-F792-D281-7309-7FF01453051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grpSp>
        <p:nvGrpSpPr>
          <p:cNvPr id="2" name="Group 1">
            <a:extLst>
              <a:ext uri="{FF2B5EF4-FFF2-40B4-BE49-F238E27FC236}">
                <a16:creationId xmlns:a16="http://schemas.microsoft.com/office/drawing/2014/main" id="{9B29783B-2865-87B8-F6E6-56E862D7136D}"/>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39993803-D107-01DD-41DB-ECB0F9AEC645}"/>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D1D70856-B986-1CDE-F846-92A7C41C6DA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6985A67-1A1A-D165-6078-852FACC0144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3B68773-59E0-19D1-2F27-8F96222C093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B525E31-FC27-8E44-4303-E4E3364F16D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2B1B859-1239-4811-BEFF-3D127CC0CF04}"/>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Chọn None rồi nhấn Enter:</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2BCC90E-43FE-A618-E396-A4E7AC2D3776}"/>
              </a:ext>
            </a:extLst>
          </p:cNvPr>
          <p:cNvPicPr>
            <a:picLocks noChangeAspect="1"/>
          </p:cNvPicPr>
          <p:nvPr/>
        </p:nvPicPr>
        <p:blipFill>
          <a:blip r:embed="rId3"/>
          <a:srcRect b="13270"/>
          <a:stretch>
            <a:fillRect/>
          </a:stretch>
        </p:blipFill>
        <p:spPr>
          <a:xfrm>
            <a:off x="214276" y="1271674"/>
            <a:ext cx="11240932" cy="5077866"/>
          </a:xfrm>
          <a:prstGeom prst="rect">
            <a:avLst/>
          </a:prstGeom>
        </p:spPr>
      </p:pic>
    </p:spTree>
    <p:extLst>
      <p:ext uri="{BB962C8B-B14F-4D97-AF65-F5344CB8AC3E}">
        <p14:creationId xmlns:p14="http://schemas.microsoft.com/office/powerpoint/2010/main" val="980674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101B32B-2710-1FE6-0587-180E30FF3B6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5E9C93E-DA1A-8468-C2A8-07724EB6782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DF2614E-61E4-F4F0-E1D9-D0D2C66AC19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grpSp>
        <p:nvGrpSpPr>
          <p:cNvPr id="2" name="Group 1">
            <a:extLst>
              <a:ext uri="{FF2B5EF4-FFF2-40B4-BE49-F238E27FC236}">
                <a16:creationId xmlns:a16="http://schemas.microsoft.com/office/drawing/2014/main" id="{5E23DD38-060D-3ECB-E50E-89576941278B}"/>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ECEB2AA0-6CBF-F9A7-810D-C7FD3E8F4D71}"/>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FFF4AF1D-AB49-1B29-EE2C-32DE8E7ECE6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25B0A26-C0C4-CDA4-1A97-FE8C8A13316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9580BE1-87B4-66E8-13BE-9E41A9EE928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DC32CA6-1195-12F7-2C34-1DEDD1AA816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1DAE9A0-7968-F6C5-853A-E67E235A0D0E}"/>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Chờ dự án </a:t>
            </a:r>
            <a:r>
              <a:rPr lang="en-US" sz="2400" b="1">
                <a:latin typeface="Times New Roman" panose="02020603050405020304" pitchFamily="18" charset="0"/>
                <a:cs typeface="Times New Roman" panose="02020603050405020304" pitchFamily="18" charset="0"/>
              </a:rPr>
              <a:t>my-app</a:t>
            </a:r>
            <a:r>
              <a:rPr lang="en-US" sz="2400">
                <a:latin typeface="Times New Roman" panose="02020603050405020304" pitchFamily="18" charset="0"/>
                <a:cs typeface="Times New Roman" panose="02020603050405020304" pitchFamily="18" charset="0"/>
              </a:rPr>
              <a:t> được khởi tạo</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A2C5598-4682-E561-6ABE-FCD09BD10D66}"/>
              </a:ext>
            </a:extLst>
          </p:cNvPr>
          <p:cNvPicPr>
            <a:picLocks noChangeAspect="1"/>
          </p:cNvPicPr>
          <p:nvPr/>
        </p:nvPicPr>
        <p:blipFill>
          <a:blip r:embed="rId3"/>
          <a:stretch>
            <a:fillRect/>
          </a:stretch>
        </p:blipFill>
        <p:spPr>
          <a:xfrm>
            <a:off x="542786" y="1323532"/>
            <a:ext cx="9703370" cy="5053972"/>
          </a:xfrm>
          <a:prstGeom prst="rect">
            <a:avLst/>
          </a:prstGeom>
        </p:spPr>
      </p:pic>
    </p:spTree>
    <p:extLst>
      <p:ext uri="{BB962C8B-B14F-4D97-AF65-F5344CB8AC3E}">
        <p14:creationId xmlns:p14="http://schemas.microsoft.com/office/powerpoint/2010/main" val="11815698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EF7B268-E33C-4110-FC33-6D597359AEC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25E6C38-EB71-F040-6510-FACB6B5B089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5BF5B49-5E37-F6D8-A8D9-28D8078F7D1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grpSp>
        <p:nvGrpSpPr>
          <p:cNvPr id="2" name="Group 1">
            <a:extLst>
              <a:ext uri="{FF2B5EF4-FFF2-40B4-BE49-F238E27FC236}">
                <a16:creationId xmlns:a16="http://schemas.microsoft.com/office/drawing/2014/main" id="{78C4BD40-1EF9-F41E-6605-42DA57C1A87B}"/>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E4B96E7E-D36D-28A4-6477-EE694B35CD36}"/>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95A918D8-7126-DEC6-845B-4AEE7E130E0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7B29E3E-141F-C03F-A44E-0ECC0A418A5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41E886A-2E24-DA62-863A-B7182010B0C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2A8900A-9C6F-6336-378D-1CA302C2259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6644277-2B11-EC32-E810-9DBE8DE24E55}"/>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Dự án “my-app” đã tạo thành công</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5459D3C-C5A2-CCEE-5449-0334342B4B7B}"/>
              </a:ext>
            </a:extLst>
          </p:cNvPr>
          <p:cNvPicPr>
            <a:picLocks noChangeAspect="1"/>
          </p:cNvPicPr>
          <p:nvPr/>
        </p:nvPicPr>
        <p:blipFill>
          <a:blip r:embed="rId3"/>
          <a:srcRect b="7763"/>
          <a:stretch>
            <a:fillRect/>
          </a:stretch>
        </p:blipFill>
        <p:spPr>
          <a:xfrm>
            <a:off x="625642" y="1308033"/>
            <a:ext cx="9483176" cy="4920211"/>
          </a:xfrm>
          <a:prstGeom prst="rect">
            <a:avLst/>
          </a:prstGeom>
        </p:spPr>
      </p:pic>
    </p:spTree>
    <p:extLst>
      <p:ext uri="{BB962C8B-B14F-4D97-AF65-F5344CB8AC3E}">
        <p14:creationId xmlns:p14="http://schemas.microsoft.com/office/powerpoint/2010/main" val="21912494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4C1B8C9-E5AE-104F-54B3-389D318CA6C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F9DA79E-F85B-0EB3-E571-AC0DC2169C3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3F2BA89-F81C-E907-2541-5D6605F9889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grpSp>
        <p:nvGrpSpPr>
          <p:cNvPr id="2" name="Group 1">
            <a:extLst>
              <a:ext uri="{FF2B5EF4-FFF2-40B4-BE49-F238E27FC236}">
                <a16:creationId xmlns:a16="http://schemas.microsoft.com/office/drawing/2014/main" id="{158FEA7B-EA46-2C4C-7C82-13599DD2EC3A}"/>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4A3107C2-BB75-7F74-CBFF-ED39569F4021}"/>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2EEC721C-5E86-B554-A5D9-13B119AB9A0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854358B-567F-B073-FA40-6F7E8CE52F1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27E853C-7021-72CD-FC8C-7383122B401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3B2AC17-9548-F2D3-1B37-DC5A0C36E8D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E09ABB1-8B3A-1E1E-F878-43ACDEDF66F2}"/>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Mở rộng “my-app” để quan sát</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FDA5EA5-0393-F153-2A5A-56BA72B7FB0D}"/>
              </a:ext>
            </a:extLst>
          </p:cNvPr>
          <p:cNvPicPr>
            <a:picLocks noChangeAspect="1"/>
          </p:cNvPicPr>
          <p:nvPr/>
        </p:nvPicPr>
        <p:blipFill>
          <a:blip r:embed="rId3"/>
          <a:srcRect b="6238"/>
          <a:stretch>
            <a:fillRect/>
          </a:stretch>
        </p:blipFill>
        <p:spPr>
          <a:xfrm>
            <a:off x="728132" y="1323532"/>
            <a:ext cx="9453737" cy="4986029"/>
          </a:xfrm>
          <a:prstGeom prst="rect">
            <a:avLst/>
          </a:prstGeom>
        </p:spPr>
      </p:pic>
    </p:spTree>
    <p:extLst>
      <p:ext uri="{BB962C8B-B14F-4D97-AF65-F5344CB8AC3E}">
        <p14:creationId xmlns:p14="http://schemas.microsoft.com/office/powerpoint/2010/main" val="3275190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F51E6FF-6D86-DDB2-1E72-3D66920606E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3B161E6-35EF-8311-8DA6-57EC7F82790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287FEED-E145-E18D-6846-D13018FD41B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grpSp>
        <p:nvGrpSpPr>
          <p:cNvPr id="2" name="Group 1">
            <a:extLst>
              <a:ext uri="{FF2B5EF4-FFF2-40B4-BE49-F238E27FC236}">
                <a16:creationId xmlns:a16="http://schemas.microsoft.com/office/drawing/2014/main" id="{D09CB394-7C91-D924-C859-464349910FC3}"/>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E32D3091-6E27-23F1-8164-9FD9DB80D845}"/>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1.4.2. Tạo dự án Angular</a:t>
              </a:r>
              <a:endParaRPr lang="vi-VN" sz="2800" dirty="0">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C8E22D98-9015-6C22-71CA-6B41C42B51D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DCC40D0-C923-EBC2-4946-C5AA5294AF1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7D7C5F1-04BB-EAFA-B51F-15B0991840F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B8E5855-FB1C-DC70-F29F-FB81FDE84D6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DAAA332-3D90-5A9B-8B18-BD122261596C}"/>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Mở rộng “my-app” để quan sát</a:t>
            </a:r>
            <a:endParaRPr lang="en-US"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4188EA0-E0E6-569F-FDF8-BFD331E1697F}"/>
              </a:ext>
            </a:extLst>
          </p:cNvPr>
          <p:cNvPicPr>
            <a:picLocks noChangeAspect="1"/>
          </p:cNvPicPr>
          <p:nvPr/>
        </p:nvPicPr>
        <p:blipFill>
          <a:blip r:embed="rId3"/>
          <a:srcRect b="8471"/>
          <a:stretch>
            <a:fillRect/>
          </a:stretch>
        </p:blipFill>
        <p:spPr>
          <a:xfrm>
            <a:off x="564686" y="1308033"/>
            <a:ext cx="9745784" cy="5017613"/>
          </a:xfrm>
          <a:prstGeom prst="rect">
            <a:avLst/>
          </a:prstGeom>
        </p:spPr>
      </p:pic>
    </p:spTree>
    <p:extLst>
      <p:ext uri="{BB962C8B-B14F-4D97-AF65-F5344CB8AC3E}">
        <p14:creationId xmlns:p14="http://schemas.microsoft.com/office/powerpoint/2010/main" val="13864998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81C5C7E-EBCA-D117-DE71-0BE03F3183D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BF91916-5F6E-7AF0-F64E-C0E0D638474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BBDBF23-D085-8074-06BB-6D4F108A048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grpSp>
        <p:nvGrpSpPr>
          <p:cNvPr id="2" name="Group 1">
            <a:extLst>
              <a:ext uri="{FF2B5EF4-FFF2-40B4-BE49-F238E27FC236}">
                <a16:creationId xmlns:a16="http://schemas.microsoft.com/office/drawing/2014/main" id="{6C2D59BE-0EE1-938C-F1B8-BB4335A63BE1}"/>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8FDE530C-44BE-7875-D724-419E4D844D76}"/>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dirty="0">
                  <a:latin typeface="Times New Roman" panose="02020603050405020304" pitchFamily="18" charset="0"/>
                  <a:cs typeface="Times New Roman" panose="02020603050405020304" pitchFamily="18" charset="0"/>
                </a:rPr>
                <a:t>1.4.3. Thực thi dự án Angular</a:t>
              </a:r>
            </a:p>
          </p:txBody>
        </p:sp>
        <p:grpSp>
          <p:nvGrpSpPr>
            <p:cNvPr id="4" name="Group 17">
              <a:extLst>
                <a:ext uri="{FF2B5EF4-FFF2-40B4-BE49-F238E27FC236}">
                  <a16:creationId xmlns:a16="http://schemas.microsoft.com/office/drawing/2014/main" id="{4E2D4F71-6D81-26EA-5AFE-A3BC67E0490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4A5C5B-9E1C-A521-33C4-BF3E86E023B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B8BD2B4-F4A9-B516-5A75-F1FA837B411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6F2D713-7C3A-0D35-81B6-91281ED88B7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0ABAEE6-B8EE-6AF3-1EDE-CC0F7E45F110}"/>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Thực thi dự án “my-app”</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B67DF5D-CBC3-CD25-14B5-1092768DD454}"/>
              </a:ext>
            </a:extLst>
          </p:cNvPr>
          <p:cNvPicPr>
            <a:picLocks noChangeAspect="1"/>
          </p:cNvPicPr>
          <p:nvPr/>
        </p:nvPicPr>
        <p:blipFill>
          <a:blip r:embed="rId3"/>
          <a:srcRect r="26692" b="27218"/>
          <a:stretch>
            <a:fillRect/>
          </a:stretch>
        </p:blipFill>
        <p:spPr>
          <a:xfrm>
            <a:off x="673769" y="1271674"/>
            <a:ext cx="8937744" cy="4991386"/>
          </a:xfrm>
          <a:prstGeom prst="rect">
            <a:avLst/>
          </a:prstGeom>
        </p:spPr>
      </p:pic>
      <p:sp>
        <p:nvSpPr>
          <p:cNvPr id="10" name="Rectangle 9">
            <a:extLst>
              <a:ext uri="{FF2B5EF4-FFF2-40B4-BE49-F238E27FC236}">
                <a16:creationId xmlns:a16="http://schemas.microsoft.com/office/drawing/2014/main" id="{CE233245-9DEA-96D9-D74B-3EA00F14642C}"/>
              </a:ext>
            </a:extLst>
          </p:cNvPr>
          <p:cNvSpPr/>
          <p:nvPr/>
        </p:nvSpPr>
        <p:spPr>
          <a:xfrm>
            <a:off x="1913465" y="3509489"/>
            <a:ext cx="3208550" cy="31999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1637056-89CA-D522-8821-CB58AC236621}"/>
              </a:ext>
            </a:extLst>
          </p:cNvPr>
          <p:cNvSpPr txBox="1"/>
          <p:nvPr/>
        </p:nvSpPr>
        <p:spPr>
          <a:xfrm>
            <a:off x="5335147" y="3284764"/>
            <a:ext cx="5211392" cy="769441"/>
          </a:xfrm>
          <a:prstGeom prst="rect">
            <a:avLst/>
          </a:prstGeom>
          <a:noFill/>
        </p:spPr>
        <p:txBody>
          <a:bodyPr wrap="square" rtlCol="0">
            <a:spAutoFit/>
          </a:bodyPr>
          <a:lstStyle/>
          <a:p>
            <a:r>
              <a:rPr lang="en-US" sz="2200">
                <a:latin typeface="Times" panose="02020603050405020304" pitchFamily="18" charset="0"/>
                <a:cs typeface="Times" panose="02020603050405020304" pitchFamily="18" charset="0"/>
              </a:rPr>
              <a:t>Bấm chuột phải vào my-app chọn</a:t>
            </a:r>
          </a:p>
          <a:p>
            <a:r>
              <a:rPr lang="en-US" sz="2200" b="1">
                <a:latin typeface="Times" panose="02020603050405020304" pitchFamily="18" charset="0"/>
                <a:cs typeface="Times" panose="02020603050405020304" pitchFamily="18" charset="0"/>
              </a:rPr>
              <a:t> Open in Integrated Terminal</a:t>
            </a:r>
          </a:p>
        </p:txBody>
      </p:sp>
    </p:spTree>
    <p:extLst>
      <p:ext uri="{BB962C8B-B14F-4D97-AF65-F5344CB8AC3E}">
        <p14:creationId xmlns:p14="http://schemas.microsoft.com/office/powerpoint/2010/main" val="869295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952AE86-63E2-0849-BEFD-E89F4CD98A4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7897946-F374-31E4-E744-2BB8B95CEB9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E419747-05D1-515D-CC79-30BA9F25B7E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grpSp>
        <p:nvGrpSpPr>
          <p:cNvPr id="2" name="Group 1">
            <a:extLst>
              <a:ext uri="{FF2B5EF4-FFF2-40B4-BE49-F238E27FC236}">
                <a16:creationId xmlns:a16="http://schemas.microsoft.com/office/drawing/2014/main" id="{CCC7FBDC-CCCD-BFB4-80F4-6F94FC177014}"/>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4F754CDB-6AA7-7D68-5192-A1B15CCF501B}"/>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dirty="0">
                  <a:latin typeface="Times New Roman" panose="02020603050405020304" pitchFamily="18" charset="0"/>
                  <a:cs typeface="Times New Roman" panose="02020603050405020304" pitchFamily="18" charset="0"/>
                </a:rPr>
                <a:t>1.4.3. Thực thi dự án Angular</a:t>
              </a:r>
            </a:p>
          </p:txBody>
        </p:sp>
        <p:grpSp>
          <p:nvGrpSpPr>
            <p:cNvPr id="4" name="Group 17">
              <a:extLst>
                <a:ext uri="{FF2B5EF4-FFF2-40B4-BE49-F238E27FC236}">
                  <a16:creationId xmlns:a16="http://schemas.microsoft.com/office/drawing/2014/main" id="{41AB23A1-60EE-1A1C-AD1C-4D565CE2368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581E9BF-829D-944C-B4D0-E6F32903277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BE72877-2935-649C-ED1A-6457238F277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0172B3C-E8F6-B4B3-0B67-4EC212DDE41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86DBB48-9189-A13F-B1B3-6274322E47D2}"/>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Thực thi dự án “my-app”</a:t>
            </a:r>
            <a:endParaRPr lang="en-US" sz="24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DFEE0C94-D4D9-8626-7492-105ABD87117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8132" y="1264610"/>
            <a:ext cx="9716932" cy="5061036"/>
          </a:xfrm>
          <a:prstGeom prst="rect">
            <a:avLst/>
          </a:prstGeom>
        </p:spPr>
      </p:pic>
      <p:sp>
        <p:nvSpPr>
          <p:cNvPr id="13" name="TextBox 12">
            <a:extLst>
              <a:ext uri="{FF2B5EF4-FFF2-40B4-BE49-F238E27FC236}">
                <a16:creationId xmlns:a16="http://schemas.microsoft.com/office/drawing/2014/main" id="{FA44F75A-5620-FCA4-FA9B-2D274C0C81BC}"/>
              </a:ext>
            </a:extLst>
          </p:cNvPr>
          <p:cNvSpPr txBox="1"/>
          <p:nvPr/>
        </p:nvSpPr>
        <p:spPr>
          <a:xfrm>
            <a:off x="4615107" y="1965480"/>
            <a:ext cx="6095128" cy="584775"/>
          </a:xfrm>
          <a:prstGeom prst="rect">
            <a:avLst/>
          </a:prstGeom>
          <a:noFill/>
        </p:spPr>
        <p:txBody>
          <a:bodyPr wrap="square">
            <a:spAutoFit/>
          </a:bodyPr>
          <a:lstStyle/>
          <a:p>
            <a:r>
              <a:rPr lang="en-US" sz="3200">
                <a:solidFill>
                  <a:srgbClr val="FF0000"/>
                </a:solidFill>
              </a:rPr>
              <a:t>ng serve -o</a:t>
            </a:r>
          </a:p>
        </p:txBody>
      </p:sp>
      <p:sp>
        <p:nvSpPr>
          <p:cNvPr id="14" name="TextBox 13">
            <a:extLst>
              <a:ext uri="{FF2B5EF4-FFF2-40B4-BE49-F238E27FC236}">
                <a16:creationId xmlns:a16="http://schemas.microsoft.com/office/drawing/2014/main" id="{3D26D346-4530-7F66-A795-6C86FAB4E8F8}"/>
              </a:ext>
            </a:extLst>
          </p:cNvPr>
          <p:cNvSpPr txBox="1"/>
          <p:nvPr/>
        </p:nvSpPr>
        <p:spPr>
          <a:xfrm>
            <a:off x="4615107" y="2534965"/>
            <a:ext cx="6095128" cy="584775"/>
          </a:xfrm>
          <a:prstGeom prst="rect">
            <a:avLst/>
          </a:prstGeom>
          <a:noFill/>
        </p:spPr>
        <p:txBody>
          <a:bodyPr wrap="square">
            <a:spAutoFit/>
          </a:bodyPr>
          <a:lstStyle/>
          <a:p>
            <a:r>
              <a:rPr lang="en-US" sz="3200">
                <a:solidFill>
                  <a:srgbClr val="FF0000"/>
                </a:solidFill>
              </a:rPr>
              <a:t>ng serve --o</a:t>
            </a:r>
          </a:p>
        </p:txBody>
      </p:sp>
      <p:sp>
        <p:nvSpPr>
          <p:cNvPr id="15" name="Rectangle 14">
            <a:extLst>
              <a:ext uri="{FF2B5EF4-FFF2-40B4-BE49-F238E27FC236}">
                <a16:creationId xmlns:a16="http://schemas.microsoft.com/office/drawing/2014/main" id="{D757F182-02EB-720D-45E8-266323D933C5}"/>
              </a:ext>
            </a:extLst>
          </p:cNvPr>
          <p:cNvSpPr/>
          <p:nvPr/>
        </p:nvSpPr>
        <p:spPr>
          <a:xfrm>
            <a:off x="2557570" y="3537252"/>
            <a:ext cx="3538430" cy="2614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76751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E4D7A52-7DAA-7E34-39C3-EC7B1624E3A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11FADDC-08C5-D7BC-360C-973A1364097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D45D395-BBAB-2F99-3694-1FB95210077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grpSp>
        <p:nvGrpSpPr>
          <p:cNvPr id="2" name="Group 1">
            <a:extLst>
              <a:ext uri="{FF2B5EF4-FFF2-40B4-BE49-F238E27FC236}">
                <a16:creationId xmlns:a16="http://schemas.microsoft.com/office/drawing/2014/main" id="{EDBCEB19-B94E-1C12-D650-BA2703C644C2}"/>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0FDA7FC4-8A61-93BA-02B2-3F220E5CDD5A}"/>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dirty="0">
                  <a:latin typeface="Times New Roman" panose="02020603050405020304" pitchFamily="18" charset="0"/>
                  <a:cs typeface="Times New Roman" panose="02020603050405020304" pitchFamily="18" charset="0"/>
                </a:rPr>
                <a:t>1.4.3. Thực thi dự án Angular</a:t>
              </a:r>
            </a:p>
          </p:txBody>
        </p:sp>
        <p:grpSp>
          <p:nvGrpSpPr>
            <p:cNvPr id="4" name="Group 17">
              <a:extLst>
                <a:ext uri="{FF2B5EF4-FFF2-40B4-BE49-F238E27FC236}">
                  <a16:creationId xmlns:a16="http://schemas.microsoft.com/office/drawing/2014/main" id="{8A77E5F7-8072-A612-43B0-9DCC88F96D4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16A8A76-EDA6-C13C-01CF-DADEDB9A4BC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CAE58CA-A95D-99C9-5907-33DBAEA5BF5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43167C8-F2DF-B2F9-C14C-25E5AB69DDF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3FB2EC3-4448-4E59-F05B-72F7F1254281}"/>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Thực thi dự án “my-app”</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26D6A01-A70E-0121-15A4-2503E16B73E0}"/>
              </a:ext>
            </a:extLst>
          </p:cNvPr>
          <p:cNvPicPr>
            <a:picLocks noChangeAspect="1"/>
          </p:cNvPicPr>
          <p:nvPr/>
        </p:nvPicPr>
        <p:blipFill>
          <a:blip r:embed="rId3"/>
          <a:stretch>
            <a:fillRect/>
          </a:stretch>
        </p:blipFill>
        <p:spPr>
          <a:xfrm>
            <a:off x="542786" y="1211904"/>
            <a:ext cx="10099651" cy="5260374"/>
          </a:xfrm>
          <a:prstGeom prst="rect">
            <a:avLst/>
          </a:prstGeom>
        </p:spPr>
      </p:pic>
      <p:sp>
        <p:nvSpPr>
          <p:cNvPr id="10" name="TextBox 9">
            <a:extLst>
              <a:ext uri="{FF2B5EF4-FFF2-40B4-BE49-F238E27FC236}">
                <a16:creationId xmlns:a16="http://schemas.microsoft.com/office/drawing/2014/main" id="{7EE654F2-7516-87FB-DDFD-5592CBB5A5A0}"/>
              </a:ext>
            </a:extLst>
          </p:cNvPr>
          <p:cNvSpPr txBox="1"/>
          <p:nvPr/>
        </p:nvSpPr>
        <p:spPr>
          <a:xfrm>
            <a:off x="3238214" y="4694178"/>
            <a:ext cx="5211392" cy="430887"/>
          </a:xfrm>
          <a:prstGeom prst="rect">
            <a:avLst/>
          </a:prstGeom>
          <a:noFill/>
        </p:spPr>
        <p:txBody>
          <a:bodyPr wrap="square" rtlCol="0">
            <a:spAutoFit/>
          </a:bodyPr>
          <a:lstStyle/>
          <a:p>
            <a:r>
              <a:rPr lang="en-US" sz="2200">
                <a:latin typeface="Times" panose="02020603050405020304" pitchFamily="18" charset="0"/>
                <a:cs typeface="Times" panose="02020603050405020304" pitchFamily="18" charset="0"/>
              </a:rPr>
              <a:t>Nhấn </a:t>
            </a:r>
            <a:r>
              <a:rPr lang="en-US" sz="2200" b="1">
                <a:latin typeface="Times" panose="02020603050405020304" pitchFamily="18" charset="0"/>
                <a:cs typeface="Times" panose="02020603050405020304" pitchFamily="18" charset="0"/>
              </a:rPr>
              <a:t>y</a:t>
            </a:r>
            <a:r>
              <a:rPr lang="en-US" sz="2200">
                <a:latin typeface="Times" panose="02020603050405020304" pitchFamily="18" charset="0"/>
                <a:cs typeface="Times" panose="02020603050405020304" pitchFamily="18" charset="0"/>
              </a:rPr>
              <a:t> để tiếp tục</a:t>
            </a:r>
            <a:endParaRPr lang="en-US" sz="2200" b="1">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625386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1E59C6B-D034-08AA-8E3E-D045033BC78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3E6833C-ECE0-3BF2-2F48-A8BC4EB913E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AE8EE2B-CA4B-DD91-7432-DEA62BFD74B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grpSp>
        <p:nvGrpSpPr>
          <p:cNvPr id="2" name="Group 1">
            <a:extLst>
              <a:ext uri="{FF2B5EF4-FFF2-40B4-BE49-F238E27FC236}">
                <a16:creationId xmlns:a16="http://schemas.microsoft.com/office/drawing/2014/main" id="{18D76DD7-E52C-766F-3482-C6C7E4A336A8}"/>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855D5B19-68E4-94C1-B314-154CDBD505BE}"/>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dirty="0">
                  <a:latin typeface="Times New Roman" panose="02020603050405020304" pitchFamily="18" charset="0"/>
                  <a:cs typeface="Times New Roman" panose="02020603050405020304" pitchFamily="18" charset="0"/>
                </a:rPr>
                <a:t>1.4.3. Thực thi dự án Angular</a:t>
              </a:r>
            </a:p>
          </p:txBody>
        </p:sp>
        <p:grpSp>
          <p:nvGrpSpPr>
            <p:cNvPr id="4" name="Group 17">
              <a:extLst>
                <a:ext uri="{FF2B5EF4-FFF2-40B4-BE49-F238E27FC236}">
                  <a16:creationId xmlns:a16="http://schemas.microsoft.com/office/drawing/2014/main" id="{86B07F33-2206-1255-89BF-188EDE80831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38EBF6D-0795-FFF2-1127-C1385134EA3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0BE3E61-205F-709A-0FED-854129AD734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BB5FD55-205B-B5FF-0ADE-D0E2C6CED6A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BF86698-D482-7C90-2580-028C7B0F745F}"/>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Thực thi dự án “my-app”: Chờ building</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A481E7C-944A-ED2F-D695-11E3352AF73D}"/>
              </a:ext>
            </a:extLst>
          </p:cNvPr>
          <p:cNvPicPr>
            <a:picLocks noChangeAspect="1"/>
          </p:cNvPicPr>
          <p:nvPr/>
        </p:nvPicPr>
        <p:blipFill>
          <a:blip r:embed="rId3"/>
          <a:srcRect b="5625"/>
          <a:stretch>
            <a:fillRect/>
          </a:stretch>
        </p:blipFill>
        <p:spPr>
          <a:xfrm>
            <a:off x="728133" y="1223893"/>
            <a:ext cx="9722154" cy="5161129"/>
          </a:xfrm>
          <a:prstGeom prst="rect">
            <a:avLst/>
          </a:prstGeom>
        </p:spPr>
      </p:pic>
    </p:spTree>
    <p:extLst>
      <p:ext uri="{BB962C8B-B14F-4D97-AF65-F5344CB8AC3E}">
        <p14:creationId xmlns:p14="http://schemas.microsoft.com/office/powerpoint/2010/main" val="34829175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035EFD6-B51C-87E2-01E7-E527242B96F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C9C128F-5938-55AA-D3B7-016E24EABF9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89CF3A3-6222-DDA7-DF66-EB92A5C35EE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grpSp>
        <p:nvGrpSpPr>
          <p:cNvPr id="2" name="Group 1">
            <a:extLst>
              <a:ext uri="{FF2B5EF4-FFF2-40B4-BE49-F238E27FC236}">
                <a16:creationId xmlns:a16="http://schemas.microsoft.com/office/drawing/2014/main" id="{8F7834D0-C14C-2300-F41E-DEC62F0808CE}"/>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ADBE7298-50DE-B542-5C0A-53CD8091475B}"/>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dirty="0">
                  <a:latin typeface="Times New Roman" panose="02020603050405020304" pitchFamily="18" charset="0"/>
                  <a:cs typeface="Times New Roman" panose="02020603050405020304" pitchFamily="18" charset="0"/>
                </a:rPr>
                <a:t>1.4.3. Thực thi dự án Angular</a:t>
              </a:r>
            </a:p>
          </p:txBody>
        </p:sp>
        <p:grpSp>
          <p:nvGrpSpPr>
            <p:cNvPr id="4" name="Group 17">
              <a:extLst>
                <a:ext uri="{FF2B5EF4-FFF2-40B4-BE49-F238E27FC236}">
                  <a16:creationId xmlns:a16="http://schemas.microsoft.com/office/drawing/2014/main" id="{47D1AA70-C4E0-96BB-C0E0-D75BC101064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C3B13BC-FF3E-5B1E-9D57-0AB13BAAEA4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4222D0D-F40F-22FA-B3EE-B0562CF3986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BA0C81E-983E-BDF2-DF11-DFE971037A1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29001CC-F49E-3774-5CB9-B4DC50E007E8}"/>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Thực thi dự án “my-app”: Màn hình building hoàn tất</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99D3552-1B34-920E-7B73-218F537E18C0}"/>
              </a:ext>
            </a:extLst>
          </p:cNvPr>
          <p:cNvPicPr>
            <a:picLocks noChangeAspect="1"/>
          </p:cNvPicPr>
          <p:nvPr/>
        </p:nvPicPr>
        <p:blipFill>
          <a:blip r:embed="rId3"/>
          <a:srcRect b="6250"/>
          <a:stretch>
            <a:fillRect/>
          </a:stretch>
        </p:blipFill>
        <p:spPr>
          <a:xfrm>
            <a:off x="660017" y="1245485"/>
            <a:ext cx="9769643" cy="5151951"/>
          </a:xfrm>
          <a:prstGeom prst="rect">
            <a:avLst/>
          </a:prstGeom>
        </p:spPr>
      </p:pic>
    </p:spTree>
    <p:extLst>
      <p:ext uri="{BB962C8B-B14F-4D97-AF65-F5344CB8AC3E}">
        <p14:creationId xmlns:p14="http://schemas.microsoft.com/office/powerpoint/2010/main" val="35365397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7E3D83A-7341-EA32-9388-DABFA986E70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BFE5C8B-477E-9F7F-9C08-FF87864279F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86D0FC3-9CD8-1526-B752-2027C30E6E1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grpSp>
        <p:nvGrpSpPr>
          <p:cNvPr id="2" name="Group 1">
            <a:extLst>
              <a:ext uri="{FF2B5EF4-FFF2-40B4-BE49-F238E27FC236}">
                <a16:creationId xmlns:a16="http://schemas.microsoft.com/office/drawing/2014/main" id="{00DCC369-0E1B-3BC1-C36F-CD77C90AC622}"/>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0BCFAE13-9570-4EC6-A662-D25715A765EB}"/>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dirty="0">
                  <a:latin typeface="Times New Roman" panose="02020603050405020304" pitchFamily="18" charset="0"/>
                  <a:cs typeface="Times New Roman" panose="02020603050405020304" pitchFamily="18" charset="0"/>
                </a:rPr>
                <a:t>1.4.3. Thực thi dự án Angular</a:t>
              </a:r>
            </a:p>
          </p:txBody>
        </p:sp>
        <p:grpSp>
          <p:nvGrpSpPr>
            <p:cNvPr id="4" name="Group 17">
              <a:extLst>
                <a:ext uri="{FF2B5EF4-FFF2-40B4-BE49-F238E27FC236}">
                  <a16:creationId xmlns:a16="http://schemas.microsoft.com/office/drawing/2014/main" id="{F0D5F43A-1670-6756-7770-7F9C2D607A2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AB6E3BA-496F-81B2-58CE-BBC65111E83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68A1BFD-EEE4-F9FF-BDED-9867969B010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EEA71F4-896B-B603-85D8-52759BE3D7E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8E4426A-579E-D146-1607-E957C611C667}"/>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Thực thi dự án “my-app”: Kết quả thực thi Web</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13D0592-16E0-7E0C-26E6-60CA893A4179}"/>
              </a:ext>
            </a:extLst>
          </p:cNvPr>
          <p:cNvPicPr>
            <a:picLocks noChangeAspect="1"/>
          </p:cNvPicPr>
          <p:nvPr/>
        </p:nvPicPr>
        <p:blipFill>
          <a:blip r:embed="rId3"/>
          <a:srcRect b="7006"/>
          <a:stretch>
            <a:fillRect/>
          </a:stretch>
        </p:blipFill>
        <p:spPr>
          <a:xfrm>
            <a:off x="728132" y="1271674"/>
            <a:ext cx="9661778" cy="5053972"/>
          </a:xfrm>
          <a:prstGeom prst="rect">
            <a:avLst/>
          </a:prstGeom>
          <a:ln>
            <a:solidFill>
              <a:srgbClr val="002060"/>
            </a:solidFill>
          </a:ln>
        </p:spPr>
      </p:pic>
    </p:spTree>
    <p:extLst>
      <p:ext uri="{BB962C8B-B14F-4D97-AF65-F5344CB8AC3E}">
        <p14:creationId xmlns:p14="http://schemas.microsoft.com/office/powerpoint/2010/main" val="28088326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77A3F7B-DAE9-B41B-0B99-B6FE7F52445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42E2C13-B66E-CC04-005C-FCCC408461B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7CBC66D-0105-9709-E4BF-56224191FF2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grpSp>
        <p:nvGrpSpPr>
          <p:cNvPr id="2" name="Group 1">
            <a:extLst>
              <a:ext uri="{FF2B5EF4-FFF2-40B4-BE49-F238E27FC236}">
                <a16:creationId xmlns:a16="http://schemas.microsoft.com/office/drawing/2014/main" id="{2BDFEF25-C7CB-EEE0-7511-6619E074196D}"/>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FCD43F9C-1A41-2813-F303-EC4546682CD2}"/>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dirty="0">
                  <a:latin typeface="Times New Roman" panose="02020603050405020304" pitchFamily="18" charset="0"/>
                  <a:cs typeface="Times New Roman" panose="02020603050405020304" pitchFamily="18" charset="0"/>
                </a:rPr>
                <a:t>1.4.4. Xử lý lỗi Security khi tạo dự án Angular</a:t>
              </a:r>
            </a:p>
          </p:txBody>
        </p:sp>
        <p:grpSp>
          <p:nvGrpSpPr>
            <p:cNvPr id="4" name="Group 17">
              <a:extLst>
                <a:ext uri="{FF2B5EF4-FFF2-40B4-BE49-F238E27FC236}">
                  <a16:creationId xmlns:a16="http://schemas.microsoft.com/office/drawing/2014/main" id="{A059FE04-04DC-7F97-3AC9-8D11D37FA5C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1B74F7-4B62-0E46-9708-97D23963825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469F26F-FBBA-F886-63D9-C47176C77BC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F277C86-C12D-26FF-BD55-048A3106993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C73E498-475B-883A-51BE-570D204439DA}"/>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Mở rộng: Thực thi dự án “my-app”</a:t>
            </a:r>
            <a:endParaRPr lang="en-US"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447D323-5EA4-ABBF-8CEB-C7B6C7D843F6}"/>
              </a:ext>
            </a:extLst>
          </p:cNvPr>
          <p:cNvSpPr txBox="1"/>
          <p:nvPr/>
        </p:nvSpPr>
        <p:spPr>
          <a:xfrm>
            <a:off x="3920821" y="2767719"/>
            <a:ext cx="4097597" cy="584775"/>
          </a:xfrm>
          <a:prstGeom prst="rect">
            <a:avLst/>
          </a:prstGeom>
          <a:noFill/>
        </p:spPr>
        <p:txBody>
          <a:bodyPr wrap="none" rtlCol="0">
            <a:spAutoFit/>
          </a:bodyPr>
          <a:lstStyle/>
          <a:p>
            <a:r>
              <a:rPr lang="en-US" sz="3200">
                <a:latin typeface="Times New Roman" panose="02020603050405020304" pitchFamily="18" charset="0"/>
                <a:cs typeface="Times New Roman" panose="02020603050405020304" pitchFamily="18" charset="0"/>
              </a:rPr>
              <a:t>Xử lý lỗi </a:t>
            </a:r>
            <a:r>
              <a:rPr lang="en-US" sz="3200">
                <a:solidFill>
                  <a:srgbClr val="FF0000"/>
                </a:solidFill>
                <a:latin typeface="Times New Roman" panose="02020603050405020304" pitchFamily="18" charset="0"/>
                <a:cs typeface="Times New Roman" panose="02020603050405020304" pitchFamily="18" charset="0"/>
              </a:rPr>
              <a:t>SecurityError</a:t>
            </a:r>
            <a:r>
              <a:rPr lang="en-US" sz="320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285205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6BAC1D5-7683-9623-89E5-BA3298F45A3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01C5062-0E3D-CA9E-8F51-16943E4669C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8414E3D-18EF-38D1-99CD-E5C10A58256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grpSp>
        <p:nvGrpSpPr>
          <p:cNvPr id="2" name="Group 1">
            <a:extLst>
              <a:ext uri="{FF2B5EF4-FFF2-40B4-BE49-F238E27FC236}">
                <a16:creationId xmlns:a16="http://schemas.microsoft.com/office/drawing/2014/main" id="{F278583B-2CEA-F1BC-944D-64DBA668C124}"/>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9BD2C713-1027-9EEB-9203-6C71DA4B6924}"/>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dirty="0">
                  <a:latin typeface="Times New Roman" panose="02020603050405020304" pitchFamily="18" charset="0"/>
                  <a:cs typeface="Times New Roman" panose="02020603050405020304" pitchFamily="18" charset="0"/>
                </a:rPr>
                <a:t>1.4.4. Xử lý lỗi Security khi tạo dự án Angular</a:t>
              </a:r>
            </a:p>
          </p:txBody>
        </p:sp>
        <p:grpSp>
          <p:nvGrpSpPr>
            <p:cNvPr id="4" name="Group 17">
              <a:extLst>
                <a:ext uri="{FF2B5EF4-FFF2-40B4-BE49-F238E27FC236}">
                  <a16:creationId xmlns:a16="http://schemas.microsoft.com/office/drawing/2014/main" id="{E8C30180-FCFF-A04F-3F13-F2C49C99E1B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5E514CC-071B-1BE1-F253-E99C5F6DDBB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B124BC2-FA43-7A65-9A83-3F5AA2F86F2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F694F4A-B477-DB4D-1FFE-30043B09377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0CC4920-4CC4-2506-3C37-83DE1CE241F5}"/>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Xử lý lỗi khi tạo dự án thất bại: Lỗi </a:t>
            </a:r>
            <a:r>
              <a:rPr lang="en-US" sz="2400">
                <a:solidFill>
                  <a:srgbClr val="FF0000"/>
                </a:solidFill>
                <a:latin typeface="Times New Roman" panose="02020603050405020304" pitchFamily="18" charset="0"/>
                <a:cs typeface="Times New Roman" panose="02020603050405020304" pitchFamily="18" charset="0"/>
              </a:rPr>
              <a:t>SecurityError</a:t>
            </a:r>
            <a:r>
              <a:rPr lang="en-US" sz="240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5C5BC7D-FE5B-2370-41C1-41A829BBA375}"/>
              </a:ext>
            </a:extLst>
          </p:cNvPr>
          <p:cNvPicPr>
            <a:picLocks noChangeAspect="1"/>
          </p:cNvPicPr>
          <p:nvPr/>
        </p:nvPicPr>
        <p:blipFill>
          <a:blip r:embed="rId3"/>
          <a:stretch>
            <a:fillRect/>
          </a:stretch>
        </p:blipFill>
        <p:spPr>
          <a:xfrm>
            <a:off x="477130" y="1964223"/>
            <a:ext cx="11128188" cy="2181529"/>
          </a:xfrm>
          <a:prstGeom prst="rect">
            <a:avLst/>
          </a:prstGeom>
        </p:spPr>
      </p:pic>
      <p:sp>
        <p:nvSpPr>
          <p:cNvPr id="10" name="TextBox 9">
            <a:extLst>
              <a:ext uri="{FF2B5EF4-FFF2-40B4-BE49-F238E27FC236}">
                <a16:creationId xmlns:a16="http://schemas.microsoft.com/office/drawing/2014/main" id="{E8A030AF-557E-2F9A-5770-7C8155FB9531}"/>
              </a:ext>
            </a:extLst>
          </p:cNvPr>
          <p:cNvSpPr txBox="1"/>
          <p:nvPr/>
        </p:nvSpPr>
        <p:spPr>
          <a:xfrm>
            <a:off x="564686" y="4232109"/>
            <a:ext cx="10485512" cy="1815882"/>
          </a:xfrm>
          <a:prstGeom prst="rect">
            <a:avLst/>
          </a:prstGeom>
          <a:noFill/>
          <a:ln>
            <a:solidFill>
              <a:srgbClr val="002060"/>
            </a:solidFill>
          </a:ln>
        </p:spPr>
        <p:txBody>
          <a:bodyPr wrap="square">
            <a:spAutoFit/>
          </a:bodyPr>
          <a:lstStyle/>
          <a:p>
            <a:r>
              <a:rPr lang="en-US" dirty="0"/>
              <a:t>ng : File C:\Users\PC\AppData\Roaming\npm\ng.ps1 cannot be loaded because running scripts is disabled on this system. For more information, see </a:t>
            </a:r>
            <a:r>
              <a:rPr lang="en-US" dirty="0" err="1"/>
              <a:t>about_Execution_Policies</a:t>
            </a:r>
            <a:r>
              <a:rPr lang="en-US" dirty="0"/>
              <a:t> at </a:t>
            </a:r>
          </a:p>
          <a:p>
            <a:r>
              <a:rPr lang="en-US" dirty="0"/>
              <a:t>https:/go.microsoft.com/</a:t>
            </a:r>
            <a:r>
              <a:rPr lang="en-US" dirty="0" err="1"/>
              <a:t>fwlink</a:t>
            </a:r>
            <a:r>
              <a:rPr lang="en-US" dirty="0"/>
              <a:t>/?</a:t>
            </a:r>
            <a:r>
              <a:rPr lang="en-US" dirty="0" err="1"/>
              <a:t>LinkID</a:t>
            </a:r>
            <a:r>
              <a:rPr lang="en-US" dirty="0"/>
              <a:t>=135170.</a:t>
            </a:r>
          </a:p>
          <a:p>
            <a:r>
              <a:rPr lang="en-US" dirty="0"/>
              <a:t>At line:1 char:1</a:t>
            </a:r>
          </a:p>
          <a:p>
            <a:r>
              <a:rPr lang="en-US" dirty="0"/>
              <a:t>+ ng new my-app</a:t>
            </a:r>
          </a:p>
          <a:p>
            <a:r>
              <a:rPr lang="en-US" dirty="0"/>
              <a:t>+ ~~</a:t>
            </a:r>
          </a:p>
          <a:p>
            <a:r>
              <a:rPr lang="en-US" dirty="0"/>
              <a:t>    + CategoryInfo          : </a:t>
            </a:r>
            <a:r>
              <a:rPr lang="en-US" dirty="0" err="1"/>
              <a:t>SecurityError</a:t>
            </a:r>
            <a:r>
              <a:rPr lang="en-US" dirty="0"/>
              <a:t>: (:) [], </a:t>
            </a:r>
            <a:r>
              <a:rPr lang="en-US" dirty="0" err="1"/>
              <a:t>PSSecurityException</a:t>
            </a:r>
            <a:endParaRPr lang="en-US" dirty="0"/>
          </a:p>
          <a:p>
            <a:r>
              <a:rPr lang="en-US" dirty="0"/>
              <a:t>    + </a:t>
            </a:r>
            <a:r>
              <a:rPr lang="en-US" dirty="0" err="1"/>
              <a:t>FullyQualifiedErrorId</a:t>
            </a:r>
            <a:r>
              <a:rPr lang="en-US" dirty="0"/>
              <a:t> : </a:t>
            </a:r>
            <a:r>
              <a:rPr lang="en-US" dirty="0" err="1"/>
              <a:t>UnauthorizedAccess</a:t>
            </a:r>
            <a:endParaRPr lang="en-US" dirty="0"/>
          </a:p>
        </p:txBody>
      </p:sp>
      <p:sp>
        <p:nvSpPr>
          <p:cNvPr id="11" name="TextBox 10">
            <a:extLst>
              <a:ext uri="{FF2B5EF4-FFF2-40B4-BE49-F238E27FC236}">
                <a16:creationId xmlns:a16="http://schemas.microsoft.com/office/drawing/2014/main" id="{CCAD4DE4-2C19-0F4E-2F8A-3AB0FF17ED5B}"/>
              </a:ext>
            </a:extLst>
          </p:cNvPr>
          <p:cNvSpPr txBox="1"/>
          <p:nvPr/>
        </p:nvSpPr>
        <p:spPr>
          <a:xfrm>
            <a:off x="388797" y="1419265"/>
            <a:ext cx="10089622" cy="430887"/>
          </a:xfrm>
          <a:prstGeom prst="rect">
            <a:avLst/>
          </a:prstGeom>
          <a:noFill/>
        </p:spPr>
        <p:txBody>
          <a:bodyPr wrap="none" rtlCol="0">
            <a:spAutoFit/>
          </a:bodyPr>
          <a:lstStyle/>
          <a:p>
            <a:r>
              <a:rPr lang="en-US" sz="2200">
                <a:latin typeface="Times New Roman" panose="02020603050405020304" pitchFamily="18" charset="0"/>
                <a:cs typeface="Times New Roman" panose="02020603050405020304" pitchFamily="18" charset="0"/>
              </a:rPr>
              <a:t>Một số máy khi tạo dự nếu gặp lỗi Security Error như dưới đây thì làm theo hướng dẫn:</a:t>
            </a:r>
          </a:p>
        </p:txBody>
      </p:sp>
    </p:spTree>
    <p:extLst>
      <p:ext uri="{BB962C8B-B14F-4D97-AF65-F5344CB8AC3E}">
        <p14:creationId xmlns:p14="http://schemas.microsoft.com/office/powerpoint/2010/main" val="24059315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4564A17-1EFC-A793-BFEC-8332957A984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1AAF5E7-A29D-BB25-4AFA-77A280DA58A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5B7BE18-C059-1086-85F0-78BA6AF4FE8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grpSp>
        <p:nvGrpSpPr>
          <p:cNvPr id="2" name="Group 1">
            <a:extLst>
              <a:ext uri="{FF2B5EF4-FFF2-40B4-BE49-F238E27FC236}">
                <a16:creationId xmlns:a16="http://schemas.microsoft.com/office/drawing/2014/main" id="{1D439B16-D087-D6AA-4066-143AB2DBC60E}"/>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5D452B67-6430-93CA-EEC4-F46D010DF858}"/>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dirty="0">
                  <a:latin typeface="Times New Roman" panose="02020603050405020304" pitchFamily="18" charset="0"/>
                  <a:cs typeface="Times New Roman" panose="02020603050405020304" pitchFamily="18" charset="0"/>
                </a:rPr>
                <a:t>1.4.4. Xử lý lỗi Security khi tạo dự án Angular</a:t>
              </a:r>
            </a:p>
          </p:txBody>
        </p:sp>
        <p:grpSp>
          <p:nvGrpSpPr>
            <p:cNvPr id="4" name="Group 17">
              <a:extLst>
                <a:ext uri="{FF2B5EF4-FFF2-40B4-BE49-F238E27FC236}">
                  <a16:creationId xmlns:a16="http://schemas.microsoft.com/office/drawing/2014/main" id="{E908DF31-F5F9-F15C-5BC4-E953A5CDF78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6BADEC9-0A73-CF2D-C8C8-BEF8B11C74A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36FF56A-2E4B-F8C6-6B2E-16CFC9A6442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00B22A0-1738-187E-DFE2-E850F4F645D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C082F6E-43B7-29AE-3A5D-B7665605359C}"/>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Xử lý lỗi khi tạo dự án thất bại: Lỗi </a:t>
            </a:r>
            <a:r>
              <a:rPr lang="en-US" sz="2400">
                <a:solidFill>
                  <a:srgbClr val="FF0000"/>
                </a:solidFill>
                <a:latin typeface="Times New Roman" panose="02020603050405020304" pitchFamily="18" charset="0"/>
                <a:cs typeface="Times New Roman" panose="02020603050405020304" pitchFamily="18" charset="0"/>
              </a:rPr>
              <a:t>SecurityError</a:t>
            </a:r>
            <a:r>
              <a:rPr lang="en-US" sz="240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978CBB5-F2F2-1207-84AE-6F58E27AF396}"/>
              </a:ext>
            </a:extLst>
          </p:cNvPr>
          <p:cNvSpPr txBox="1"/>
          <p:nvPr/>
        </p:nvSpPr>
        <p:spPr>
          <a:xfrm>
            <a:off x="614456" y="1201476"/>
            <a:ext cx="6094476" cy="307777"/>
          </a:xfrm>
          <a:prstGeom prst="rect">
            <a:avLst/>
          </a:prstGeom>
          <a:noFill/>
        </p:spPr>
        <p:txBody>
          <a:bodyPr wrap="square">
            <a:spAutoFit/>
          </a:bodyPr>
          <a:lstStyle/>
          <a:p>
            <a:r>
              <a:rPr lang="en-US" dirty="0"/>
              <a:t>https:/go.microsoft.com/</a:t>
            </a:r>
            <a:r>
              <a:rPr lang="en-US" dirty="0" err="1"/>
              <a:t>fwlink</a:t>
            </a:r>
            <a:r>
              <a:rPr lang="en-US" dirty="0"/>
              <a:t>/?</a:t>
            </a:r>
            <a:r>
              <a:rPr lang="en-US" dirty="0" err="1"/>
              <a:t>LinkID</a:t>
            </a:r>
            <a:r>
              <a:rPr lang="en-US"/>
              <a:t>=135170   </a:t>
            </a:r>
            <a:endParaRPr lang="en-US" dirty="0"/>
          </a:p>
        </p:txBody>
      </p:sp>
      <p:pic>
        <p:nvPicPr>
          <p:cNvPr id="11" name="Picture 10">
            <a:extLst>
              <a:ext uri="{FF2B5EF4-FFF2-40B4-BE49-F238E27FC236}">
                <a16:creationId xmlns:a16="http://schemas.microsoft.com/office/drawing/2014/main" id="{68AA9551-8011-7844-3A9D-964EB7FC5718}"/>
              </a:ext>
            </a:extLst>
          </p:cNvPr>
          <p:cNvPicPr>
            <a:picLocks noChangeAspect="1"/>
          </p:cNvPicPr>
          <p:nvPr/>
        </p:nvPicPr>
        <p:blipFill>
          <a:blip r:embed="rId3"/>
          <a:srcRect b="15373"/>
          <a:stretch>
            <a:fillRect/>
          </a:stretch>
        </p:blipFill>
        <p:spPr>
          <a:xfrm>
            <a:off x="614456" y="1522458"/>
            <a:ext cx="10752794" cy="3778688"/>
          </a:xfrm>
          <a:prstGeom prst="rect">
            <a:avLst/>
          </a:prstGeom>
        </p:spPr>
      </p:pic>
      <p:sp>
        <p:nvSpPr>
          <p:cNvPr id="12" name="TextBox 11">
            <a:extLst>
              <a:ext uri="{FF2B5EF4-FFF2-40B4-BE49-F238E27FC236}">
                <a16:creationId xmlns:a16="http://schemas.microsoft.com/office/drawing/2014/main" id="{C86F9896-4B98-ED91-861C-584B42C48C7C}"/>
              </a:ext>
            </a:extLst>
          </p:cNvPr>
          <p:cNvSpPr txBox="1"/>
          <p:nvPr/>
        </p:nvSpPr>
        <p:spPr>
          <a:xfrm>
            <a:off x="1800661" y="5936352"/>
            <a:ext cx="7975856" cy="307777"/>
          </a:xfrm>
          <a:prstGeom prst="rect">
            <a:avLst/>
          </a:prstGeom>
          <a:noFill/>
          <a:ln>
            <a:solidFill>
              <a:srgbClr val="002060"/>
            </a:solidFill>
          </a:ln>
        </p:spPr>
        <p:txBody>
          <a:bodyPr wrap="square">
            <a:spAutoFit/>
          </a:bodyPr>
          <a:lstStyle/>
          <a:p>
            <a:pPr algn="ctr"/>
            <a:r>
              <a:rPr lang="en-US" dirty="0"/>
              <a:t>Set-</a:t>
            </a:r>
            <a:r>
              <a:rPr lang="en-US" dirty="0" err="1"/>
              <a:t>ExecutionPolicy</a:t>
            </a:r>
            <a:r>
              <a:rPr lang="en-US" dirty="0"/>
              <a:t> -</a:t>
            </a:r>
            <a:r>
              <a:rPr lang="en-US" dirty="0" err="1"/>
              <a:t>ExecutionPolicy</a:t>
            </a:r>
            <a:r>
              <a:rPr lang="en-US" dirty="0"/>
              <a:t> </a:t>
            </a:r>
            <a:r>
              <a:rPr lang="en-US" dirty="0" err="1"/>
              <a:t>RemoteSigned</a:t>
            </a:r>
            <a:r>
              <a:rPr lang="en-US" dirty="0"/>
              <a:t> -Scope </a:t>
            </a:r>
            <a:r>
              <a:rPr lang="en-US" dirty="0" err="1"/>
              <a:t>CurrentUser</a:t>
            </a:r>
            <a:endParaRPr lang="en-US" dirty="0"/>
          </a:p>
        </p:txBody>
      </p:sp>
      <p:sp>
        <p:nvSpPr>
          <p:cNvPr id="13" name="TextBox 12">
            <a:extLst>
              <a:ext uri="{FF2B5EF4-FFF2-40B4-BE49-F238E27FC236}">
                <a16:creationId xmlns:a16="http://schemas.microsoft.com/office/drawing/2014/main" id="{BFD19815-6BF7-1CB3-AC33-71D56CCD5F46}"/>
              </a:ext>
            </a:extLst>
          </p:cNvPr>
          <p:cNvSpPr txBox="1"/>
          <p:nvPr/>
        </p:nvSpPr>
        <p:spPr>
          <a:xfrm>
            <a:off x="728132" y="5386107"/>
            <a:ext cx="4334841" cy="430887"/>
          </a:xfrm>
          <a:prstGeom prst="rect">
            <a:avLst/>
          </a:prstGeom>
          <a:noFill/>
        </p:spPr>
        <p:txBody>
          <a:bodyPr wrap="none" rtlCol="0">
            <a:spAutoFit/>
          </a:bodyPr>
          <a:lstStyle/>
          <a:p>
            <a:r>
              <a:rPr lang="en-US" sz="2200">
                <a:latin typeface="Times New Roman" panose="02020603050405020304" pitchFamily="18" charset="0"/>
                <a:cs typeface="Times New Roman" panose="02020603050405020304" pitchFamily="18" charset="0"/>
              </a:rPr>
              <a:t>Mở power shell và gõ chạy lệnh sau:</a:t>
            </a:r>
          </a:p>
        </p:txBody>
      </p:sp>
    </p:spTree>
    <p:extLst>
      <p:ext uri="{BB962C8B-B14F-4D97-AF65-F5344CB8AC3E}">
        <p14:creationId xmlns:p14="http://schemas.microsoft.com/office/powerpoint/2010/main" val="24606039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31373ED-87FC-498F-F4CE-C1554A36FC0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A72A7D6-A34A-F880-243F-1D247EF7AE8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ED13D4E-89E0-6B41-867F-4BCF9E1E3F2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grpSp>
        <p:nvGrpSpPr>
          <p:cNvPr id="2" name="Group 1">
            <a:extLst>
              <a:ext uri="{FF2B5EF4-FFF2-40B4-BE49-F238E27FC236}">
                <a16:creationId xmlns:a16="http://schemas.microsoft.com/office/drawing/2014/main" id="{369C16B4-BE7C-6C80-AD4D-36D1421A2366}"/>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183471B5-0089-5826-1A06-B3F62240B84C}"/>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dirty="0">
                  <a:latin typeface="Times New Roman" panose="02020603050405020304" pitchFamily="18" charset="0"/>
                  <a:cs typeface="Times New Roman" panose="02020603050405020304" pitchFamily="18" charset="0"/>
                </a:rPr>
                <a:t>1.4.4. Xử lý lỗi Security khi tạo dự án Angular</a:t>
              </a:r>
            </a:p>
          </p:txBody>
        </p:sp>
        <p:grpSp>
          <p:nvGrpSpPr>
            <p:cNvPr id="4" name="Group 17">
              <a:extLst>
                <a:ext uri="{FF2B5EF4-FFF2-40B4-BE49-F238E27FC236}">
                  <a16:creationId xmlns:a16="http://schemas.microsoft.com/office/drawing/2014/main" id="{DFA44C95-64FC-79E0-27EF-D61E01968F0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72BD42C-44C6-77BE-B953-609031E9888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F480646-5198-DD97-08F2-94F647D2162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0F4DD06-16B5-0EEF-C17F-AC33511816B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656A2DA-9C58-5837-654E-379DBE954D59}"/>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Xử lý lỗi khi tạo dự án thất bại: Lỗi </a:t>
            </a:r>
            <a:r>
              <a:rPr lang="en-US" sz="2400">
                <a:solidFill>
                  <a:srgbClr val="FF0000"/>
                </a:solidFill>
                <a:latin typeface="Times New Roman" panose="02020603050405020304" pitchFamily="18" charset="0"/>
                <a:cs typeface="Times New Roman" panose="02020603050405020304" pitchFamily="18" charset="0"/>
              </a:rPr>
              <a:t>SecurityError</a:t>
            </a:r>
            <a:r>
              <a:rPr lang="en-US" sz="240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E89DAA5-53CC-A098-B5E0-8B189B620943}"/>
              </a:ext>
            </a:extLst>
          </p:cNvPr>
          <p:cNvPicPr>
            <a:picLocks noChangeAspect="1"/>
          </p:cNvPicPr>
          <p:nvPr/>
        </p:nvPicPr>
        <p:blipFill>
          <a:blip r:embed="rId3"/>
          <a:srcRect b="49797"/>
          <a:stretch/>
        </p:blipFill>
        <p:spPr>
          <a:xfrm>
            <a:off x="915728" y="1470786"/>
            <a:ext cx="9564435" cy="1979974"/>
          </a:xfrm>
          <a:prstGeom prst="rect">
            <a:avLst/>
          </a:prstGeom>
        </p:spPr>
      </p:pic>
      <p:pic>
        <p:nvPicPr>
          <p:cNvPr id="11" name="Picture 10">
            <a:extLst>
              <a:ext uri="{FF2B5EF4-FFF2-40B4-BE49-F238E27FC236}">
                <a16:creationId xmlns:a16="http://schemas.microsoft.com/office/drawing/2014/main" id="{C5B9326C-9E34-BCE6-400C-1ADA3CC46A55}"/>
              </a:ext>
            </a:extLst>
          </p:cNvPr>
          <p:cNvPicPr>
            <a:picLocks noChangeAspect="1"/>
          </p:cNvPicPr>
          <p:nvPr/>
        </p:nvPicPr>
        <p:blipFill>
          <a:blip r:embed="rId4"/>
          <a:srcRect b="25845"/>
          <a:stretch>
            <a:fillRect/>
          </a:stretch>
        </p:blipFill>
        <p:spPr>
          <a:xfrm>
            <a:off x="915728" y="3752254"/>
            <a:ext cx="9364382" cy="1857900"/>
          </a:xfrm>
          <a:prstGeom prst="rect">
            <a:avLst/>
          </a:prstGeom>
        </p:spPr>
      </p:pic>
      <p:sp>
        <p:nvSpPr>
          <p:cNvPr id="12" name="TextBox 11">
            <a:extLst>
              <a:ext uri="{FF2B5EF4-FFF2-40B4-BE49-F238E27FC236}">
                <a16:creationId xmlns:a16="http://schemas.microsoft.com/office/drawing/2014/main" id="{BA46DDB3-7FAD-4D5F-0E11-DFA62DA32F66}"/>
              </a:ext>
            </a:extLst>
          </p:cNvPr>
          <p:cNvSpPr txBox="1"/>
          <p:nvPr/>
        </p:nvSpPr>
        <p:spPr>
          <a:xfrm>
            <a:off x="728132" y="5752457"/>
            <a:ext cx="8930650" cy="430887"/>
          </a:xfrm>
          <a:prstGeom prst="rect">
            <a:avLst/>
          </a:prstGeom>
          <a:noFill/>
        </p:spPr>
        <p:txBody>
          <a:bodyPr wrap="none" rtlCol="0">
            <a:spAutoFit/>
          </a:bodyPr>
          <a:lstStyle/>
          <a:p>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lệnh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xong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thì</a:t>
            </a:r>
            <a:r>
              <a:rPr lang="en-US" sz="2200" dirty="0">
                <a:latin typeface="Times New Roman" panose="02020603050405020304" pitchFamily="18" charset="0"/>
                <a:cs typeface="Times New Roman" panose="02020603050405020304" pitchFamily="18" charset="0"/>
              </a:rPr>
              <a:t> quay </a:t>
            </a:r>
            <a:r>
              <a:rPr lang="en-US" sz="2200" dirty="0" err="1">
                <a:latin typeface="Times New Roman" panose="02020603050405020304" pitchFamily="18" charset="0"/>
                <a:cs typeface="Times New Roman" panose="02020603050405020304" pitchFamily="18" charset="0"/>
              </a:rPr>
              <a:t>lại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bước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tạo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dự</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án</a:t>
            </a:r>
            <a:r>
              <a:rPr lang="en-US" sz="2200" dirty="0">
                <a:latin typeface="Times New Roman" panose="02020603050405020304" pitchFamily="18" charset="0"/>
                <a:cs typeface="Times New Roman" panose="02020603050405020304" pitchFamily="18" charset="0"/>
              </a:rPr>
              <a:t> “my-app” </a:t>
            </a:r>
            <a:r>
              <a:rPr lang="en-US" sz="2200" dirty="0" err="1">
                <a:latin typeface="Times New Roman" panose="02020603050405020304" pitchFamily="18" charset="0"/>
                <a:cs typeface="Times New Roman" panose="02020603050405020304" pitchFamily="18" charset="0"/>
              </a:rPr>
              <a:t>sẽ</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thành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công</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92998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DFA259C-F262-ECFF-A71F-FB9355A112B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E1BA400-8787-520F-5B97-92E79C3C34F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9DEDC2A-3197-35BB-289B-F2F1BE11E0B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grpSp>
        <p:nvGrpSpPr>
          <p:cNvPr id="2" name="Group 1">
            <a:extLst>
              <a:ext uri="{FF2B5EF4-FFF2-40B4-BE49-F238E27FC236}">
                <a16:creationId xmlns:a16="http://schemas.microsoft.com/office/drawing/2014/main" id="{795F9E40-5AEC-39C0-DA7D-6079C0664856}"/>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C1C405F4-01D3-81CE-672D-599CEABFE930}"/>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600" dirty="0">
                  <a:latin typeface="Times New Roman" panose="02020603050405020304" pitchFamily="18" charset="0"/>
                  <a:cs typeface="Times New Roman" panose="02020603050405020304" pitchFamily="18" charset="0"/>
                </a:rPr>
                <a:t>1.4.5.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Component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Angular</a:t>
              </a:r>
              <a:endParaRPr lang="en-US" sz="260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9575F8E-EC9F-F38D-15E1-9C527190ADE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DC1E215-A4DA-C780-E6E8-D667E755491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D4A7B11-26E8-C219-2377-CEA44396E3A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9307189-7727-DA6F-9C48-305B12D7D54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D5F5D8D-20F5-C222-8EC1-8DC4A18716B0}"/>
              </a:ext>
            </a:extLst>
          </p:cNvPr>
          <p:cNvSpPr txBox="1"/>
          <p:nvPr/>
        </p:nvSpPr>
        <p:spPr>
          <a:xfrm>
            <a:off x="415252" y="810009"/>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hiểu</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Component là những thành phần giao diện nhỏ trong Angular, được tạo ra để ghép lại với nhau thành giao diện hoàn chỉnh của một trang web.</a:t>
            </a:r>
          </a:p>
        </p:txBody>
      </p:sp>
      <p:pic>
        <p:nvPicPr>
          <p:cNvPr id="11" name="Picture 10">
            <a:extLst>
              <a:ext uri="{FF2B5EF4-FFF2-40B4-BE49-F238E27FC236}">
                <a16:creationId xmlns:a16="http://schemas.microsoft.com/office/drawing/2014/main" id="{697B037B-84B6-6C8D-EDA0-0DEB16CD87ED}"/>
              </a:ext>
            </a:extLst>
          </p:cNvPr>
          <p:cNvPicPr>
            <a:picLocks noChangeAspect="1"/>
          </p:cNvPicPr>
          <p:nvPr/>
        </p:nvPicPr>
        <p:blipFill>
          <a:blip r:embed="rId3"/>
          <a:stretch>
            <a:fillRect/>
          </a:stretch>
        </p:blipFill>
        <p:spPr>
          <a:xfrm>
            <a:off x="2014927" y="1626456"/>
            <a:ext cx="7247945" cy="4757438"/>
          </a:xfrm>
          <a:prstGeom prst="rect">
            <a:avLst/>
          </a:prstGeom>
        </p:spPr>
      </p:pic>
    </p:spTree>
    <p:extLst>
      <p:ext uri="{BB962C8B-B14F-4D97-AF65-F5344CB8AC3E}">
        <p14:creationId xmlns:p14="http://schemas.microsoft.com/office/powerpoint/2010/main" val="34275284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498B232-908A-7E51-E17D-D096DDA3A27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7350923-8BCA-3C3B-3E81-636FBE9EB26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2A08369-C978-285E-A653-5F088929BA6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grpSp>
        <p:nvGrpSpPr>
          <p:cNvPr id="2" name="Group 1">
            <a:extLst>
              <a:ext uri="{FF2B5EF4-FFF2-40B4-BE49-F238E27FC236}">
                <a16:creationId xmlns:a16="http://schemas.microsoft.com/office/drawing/2014/main" id="{E05A8312-B806-D763-E2CB-A39E73B174D6}"/>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655E5B20-8906-C332-8514-66562FFD543D}"/>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600" dirty="0">
                  <a:latin typeface="Times New Roman" panose="02020603050405020304" pitchFamily="18" charset="0"/>
                  <a:cs typeface="Times New Roman" panose="02020603050405020304" pitchFamily="18" charset="0"/>
                </a:rPr>
                <a:t>1.4.5.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Component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Angular</a:t>
              </a:r>
              <a:endParaRPr lang="en-US" sz="260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69F5EE8-739D-2740-DDD6-367655F81EF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C6FFDD9-ED64-7919-4B20-0285BB1583B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052A11A-96E2-C8E1-6BFA-65411053E88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298A4DE-B92F-33D9-F228-517413FD4E4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6545176-D932-E907-966B-544B2C23F053}"/>
              </a:ext>
            </a:extLst>
          </p:cNvPr>
          <p:cNvSpPr txBox="1"/>
          <p:nvPr/>
        </p:nvSpPr>
        <p:spPr>
          <a:xfrm>
            <a:off x="415252" y="810009"/>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Để tạo một component, ta sử dụng cú pháp: </a:t>
            </a:r>
            <a:endParaRPr lang="vi-VN"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E484052-4D90-BB5B-2604-8A4B99F57671}"/>
              </a:ext>
            </a:extLst>
          </p:cNvPr>
          <p:cNvSpPr txBox="1"/>
          <p:nvPr/>
        </p:nvSpPr>
        <p:spPr>
          <a:xfrm>
            <a:off x="3805651" y="1624879"/>
            <a:ext cx="4200739" cy="523220"/>
          </a:xfrm>
          <a:prstGeom prst="rect">
            <a:avLst/>
          </a:prstGeom>
          <a:noFill/>
        </p:spPr>
        <p:txBody>
          <a:bodyPr wrap="square">
            <a:spAutoFit/>
          </a:bodyPr>
          <a:lstStyle/>
          <a:p>
            <a:pPr algn="ctr"/>
            <a:r>
              <a:rPr lang="en-US" sz="2800" b="1">
                <a:solidFill>
                  <a:srgbClr val="FF0000"/>
                </a:solidFill>
                <a:latin typeface="Times New Roman" panose="02020603050405020304" pitchFamily="18" charset="0"/>
                <a:cs typeface="Times New Roman" panose="02020603050405020304" pitchFamily="18" charset="0"/>
              </a:rPr>
              <a:t>ng</a:t>
            </a:r>
            <a:r>
              <a:rPr lang="en-US" sz="2800" b="1">
                <a:latin typeface="Times New Roman" panose="02020603050405020304" pitchFamily="18" charset="0"/>
                <a:cs typeface="Times New Roman" panose="02020603050405020304" pitchFamily="18" charset="0"/>
              </a:rPr>
              <a:t> g c </a:t>
            </a:r>
            <a:r>
              <a:rPr lang="en-US" sz="2800">
                <a:latin typeface="Times New Roman" panose="02020603050405020304" pitchFamily="18" charset="0"/>
                <a:cs typeface="Times New Roman" panose="02020603050405020304" pitchFamily="18" charset="0"/>
              </a:rPr>
              <a:t>component</a:t>
            </a:r>
          </a:p>
        </p:txBody>
      </p:sp>
      <p:sp>
        <p:nvSpPr>
          <p:cNvPr id="11" name="TextBox 10">
            <a:extLst>
              <a:ext uri="{FF2B5EF4-FFF2-40B4-BE49-F238E27FC236}">
                <a16:creationId xmlns:a16="http://schemas.microsoft.com/office/drawing/2014/main" id="{F735A9A8-C2FC-ABB7-43D8-581D4F1F4D31}"/>
              </a:ext>
            </a:extLst>
          </p:cNvPr>
          <p:cNvSpPr txBox="1"/>
          <p:nvPr/>
        </p:nvSpPr>
        <p:spPr>
          <a:xfrm>
            <a:off x="475309" y="2460229"/>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component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“contact”,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email, phone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table. Sau </a:t>
            </a:r>
            <a:r>
              <a:rPr lang="en-US" sz="2400" dirty="0" err="1">
                <a:latin typeface="Times New Roman" panose="02020603050405020304" pitchFamily="18" charset="0"/>
                <a:cs typeface="Times New Roman" panose="02020603050405020304" pitchFamily="18" charset="0"/>
              </a:rPr>
              <a:t>đó</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đưa</a:t>
            </a:r>
            <a:r>
              <a:rPr lang="en-US" sz="2400">
                <a:latin typeface="Times New Roman" panose="02020603050405020304" pitchFamily="18" charset="0"/>
                <a:cs typeface="Times New Roman" panose="02020603050405020304" pitchFamily="18" charset="0"/>
              </a:rPr>
              <a:t> Component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chủ</a:t>
            </a:r>
            <a:r>
              <a:rPr lang="en-US" sz="240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BECB66F-52A7-689C-3922-431FAF053307}"/>
              </a:ext>
            </a:extLst>
          </p:cNvPr>
          <p:cNvSpPr txBox="1"/>
          <p:nvPr/>
        </p:nvSpPr>
        <p:spPr>
          <a:xfrm>
            <a:off x="3496732" y="3547614"/>
            <a:ext cx="4200739" cy="523220"/>
          </a:xfrm>
          <a:prstGeom prst="rect">
            <a:avLst/>
          </a:prstGeom>
          <a:noFill/>
        </p:spPr>
        <p:txBody>
          <a:bodyPr wrap="square">
            <a:spAutoFit/>
          </a:bodyPr>
          <a:lstStyle/>
          <a:p>
            <a:pPr algn="ctr"/>
            <a:r>
              <a:rPr lang="en-US" sz="2800" b="1">
                <a:solidFill>
                  <a:srgbClr val="FF0000"/>
                </a:solidFill>
                <a:latin typeface="Times New Roman" panose="02020603050405020304" pitchFamily="18" charset="0"/>
                <a:cs typeface="Times New Roman" panose="02020603050405020304" pitchFamily="18" charset="0"/>
              </a:rPr>
              <a:t>ng</a:t>
            </a:r>
            <a:r>
              <a:rPr lang="en-US" sz="2800" b="1">
                <a:latin typeface="Times New Roman" panose="02020603050405020304" pitchFamily="18" charset="0"/>
                <a:cs typeface="Times New Roman" panose="02020603050405020304" pitchFamily="18" charset="0"/>
              </a:rPr>
              <a:t> g c </a:t>
            </a:r>
            <a:r>
              <a:rPr lang="en-US" sz="2800">
                <a:latin typeface="Times New Roman" panose="02020603050405020304" pitchFamily="18" charset="0"/>
                <a:cs typeface="Times New Roman" panose="02020603050405020304" pitchFamily="18" charset="0"/>
              </a:rPr>
              <a:t>contact</a:t>
            </a:r>
          </a:p>
        </p:txBody>
      </p:sp>
    </p:spTree>
    <p:extLst>
      <p:ext uri="{BB962C8B-B14F-4D97-AF65-F5344CB8AC3E}">
        <p14:creationId xmlns:p14="http://schemas.microsoft.com/office/powerpoint/2010/main" val="37885602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7EAA3F4-D9F7-A8E3-1D00-C670E058995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42B49B4-4027-CEE6-95A8-6A02388DEF1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FC8315E-2546-2819-1742-0CAC5433DB5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grpSp>
        <p:nvGrpSpPr>
          <p:cNvPr id="2" name="Group 1">
            <a:extLst>
              <a:ext uri="{FF2B5EF4-FFF2-40B4-BE49-F238E27FC236}">
                <a16:creationId xmlns:a16="http://schemas.microsoft.com/office/drawing/2014/main" id="{51F6D0CC-51F5-0D0F-9546-F8621A916842}"/>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9EE289FD-8DCB-7A1E-7549-E245AEB30C57}"/>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600" dirty="0">
                  <a:latin typeface="Times New Roman" panose="02020603050405020304" pitchFamily="18" charset="0"/>
                  <a:cs typeface="Times New Roman" panose="02020603050405020304" pitchFamily="18" charset="0"/>
                </a:rPr>
                <a:t>1.4.5.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Component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Angular</a:t>
              </a:r>
              <a:endParaRPr lang="en-US" sz="260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46F2793-4D81-D788-48C4-C5F0325C13E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F9D3C5D-A640-D782-3487-BF4A0AC8AA3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DC9EB27-71AD-76B5-53D6-7452CA92045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798FD40-C585-5DE6-D567-D9CE1CA685D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3" name="Picture 12">
            <a:extLst>
              <a:ext uri="{FF2B5EF4-FFF2-40B4-BE49-F238E27FC236}">
                <a16:creationId xmlns:a16="http://schemas.microsoft.com/office/drawing/2014/main" id="{05CF50B7-2060-B003-6DF6-43C95D5CF338}"/>
              </a:ext>
            </a:extLst>
          </p:cNvPr>
          <p:cNvPicPr>
            <a:picLocks noChangeAspect="1"/>
          </p:cNvPicPr>
          <p:nvPr/>
        </p:nvPicPr>
        <p:blipFill>
          <a:blip r:embed="rId3"/>
          <a:srcRect b="16577"/>
          <a:stretch>
            <a:fillRect/>
          </a:stretch>
        </p:blipFill>
        <p:spPr>
          <a:xfrm>
            <a:off x="2787655" y="1639554"/>
            <a:ext cx="6458851" cy="4037140"/>
          </a:xfrm>
          <a:prstGeom prst="rect">
            <a:avLst/>
          </a:prstGeom>
        </p:spPr>
      </p:pic>
      <p:sp>
        <p:nvSpPr>
          <p:cNvPr id="14" name="TextBox 13">
            <a:extLst>
              <a:ext uri="{FF2B5EF4-FFF2-40B4-BE49-F238E27FC236}">
                <a16:creationId xmlns:a16="http://schemas.microsoft.com/office/drawing/2014/main" id="{7D296B0C-6094-AFA2-1154-4C507F17A344}"/>
              </a:ext>
            </a:extLst>
          </p:cNvPr>
          <p:cNvSpPr txBox="1"/>
          <p:nvPr/>
        </p:nvSpPr>
        <p:spPr>
          <a:xfrm>
            <a:off x="234808" y="909974"/>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Bấm chuột phải vào “my-app” rồi chọn “Open in Integreated Terminal”</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93561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38A94CC-279B-1CCA-B146-B256F7A97F0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B0015DD-15B6-1833-CDCB-177C281746C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1470B5B-B8B9-3374-A95B-F9EE6799772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grpSp>
        <p:nvGrpSpPr>
          <p:cNvPr id="2" name="Group 1">
            <a:extLst>
              <a:ext uri="{FF2B5EF4-FFF2-40B4-BE49-F238E27FC236}">
                <a16:creationId xmlns:a16="http://schemas.microsoft.com/office/drawing/2014/main" id="{CE77F192-C1C4-0913-C66B-F8117F066BC6}"/>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D93104C7-E4F3-2EBE-1518-331263D05428}"/>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600" dirty="0">
                  <a:latin typeface="Times New Roman" panose="02020603050405020304" pitchFamily="18" charset="0"/>
                  <a:cs typeface="Times New Roman" panose="02020603050405020304" pitchFamily="18" charset="0"/>
                </a:rPr>
                <a:t>1.4.5.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Component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Angular</a:t>
              </a:r>
              <a:endParaRPr lang="en-US" sz="260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D419F4C-F0B3-15F8-5EE9-8001E51CC75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1025560-4FE8-87E2-F657-70DF9133040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E5C03D3-AC3E-5D46-E29C-D642CDA7CDA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5132C25-2176-79E5-DAAA-1A8C589E6A4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4" name="TextBox 13">
            <a:extLst>
              <a:ext uri="{FF2B5EF4-FFF2-40B4-BE49-F238E27FC236}">
                <a16:creationId xmlns:a16="http://schemas.microsoft.com/office/drawing/2014/main" id="{3EE6AC18-716A-401D-430C-ADAC2F3F1483}"/>
              </a:ext>
            </a:extLst>
          </p:cNvPr>
          <p:cNvSpPr txBox="1"/>
          <p:nvPr/>
        </p:nvSpPr>
        <p:spPr>
          <a:xfrm>
            <a:off x="234808" y="909974"/>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Sau đó gõ lệnh </a:t>
            </a:r>
            <a:r>
              <a:rPr lang="en-US" sz="2400" b="1">
                <a:solidFill>
                  <a:srgbClr val="FF0000"/>
                </a:solidFill>
                <a:latin typeface="Times New Roman" panose="02020603050405020304" pitchFamily="18" charset="0"/>
                <a:cs typeface="Times New Roman" panose="02020603050405020304" pitchFamily="18" charset="0"/>
              </a:rPr>
              <a:t>ng g c contact </a:t>
            </a:r>
            <a:r>
              <a:rPr lang="en-US" sz="2400">
                <a:latin typeface="Times New Roman" panose="02020603050405020304" pitchFamily="18" charset="0"/>
                <a:cs typeface="Times New Roman" panose="02020603050405020304" pitchFamily="18" charset="0"/>
              </a:rPr>
              <a:t>rồi nhấm phím Enter</a:t>
            </a:r>
            <a:endParaRPr lang="vi-VN" sz="24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08EFDC7-D559-9B39-3E71-0BD914112904}"/>
              </a:ext>
            </a:extLst>
          </p:cNvPr>
          <p:cNvPicPr>
            <a:picLocks noChangeAspect="1"/>
          </p:cNvPicPr>
          <p:nvPr/>
        </p:nvPicPr>
        <p:blipFill>
          <a:blip r:embed="rId3"/>
          <a:stretch>
            <a:fillRect/>
          </a:stretch>
        </p:blipFill>
        <p:spPr>
          <a:xfrm>
            <a:off x="1165927" y="1694057"/>
            <a:ext cx="8375106" cy="3703641"/>
          </a:xfrm>
          <a:prstGeom prst="rect">
            <a:avLst/>
          </a:prstGeom>
        </p:spPr>
      </p:pic>
    </p:spTree>
    <p:extLst>
      <p:ext uri="{BB962C8B-B14F-4D97-AF65-F5344CB8AC3E}">
        <p14:creationId xmlns:p14="http://schemas.microsoft.com/office/powerpoint/2010/main" val="19131513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E45F719-7AD6-473F-2D13-CD731F14EFF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8CBF46C-AFDB-C9D0-FB96-9921A5BFB69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0315C9A-32F7-62B3-F4EF-961D746D3A7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grpSp>
        <p:nvGrpSpPr>
          <p:cNvPr id="2" name="Group 1">
            <a:extLst>
              <a:ext uri="{FF2B5EF4-FFF2-40B4-BE49-F238E27FC236}">
                <a16:creationId xmlns:a16="http://schemas.microsoft.com/office/drawing/2014/main" id="{7CA20FDA-1F67-D5AD-FC46-94B714182F4E}"/>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4210DE51-C908-3106-F289-5F53561CE48F}"/>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600" dirty="0">
                  <a:latin typeface="Times New Roman" panose="02020603050405020304" pitchFamily="18" charset="0"/>
                  <a:cs typeface="Times New Roman" panose="02020603050405020304" pitchFamily="18" charset="0"/>
                </a:rPr>
                <a:t>1.4.5.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Component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Angular</a:t>
              </a:r>
              <a:endParaRPr lang="en-US" sz="260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53CC468-7D5D-CC8B-8DE9-6BE8BB5D2A3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EB45A91-CC3D-A985-E474-2941BC613AC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E1B7B45-5F4B-895A-7649-40E1DA2CF30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69B95CD-BFF3-6522-6E10-73AFFDA080B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4" name="TextBox 13">
            <a:extLst>
              <a:ext uri="{FF2B5EF4-FFF2-40B4-BE49-F238E27FC236}">
                <a16:creationId xmlns:a16="http://schemas.microsoft.com/office/drawing/2014/main" id="{450EDEA0-6248-833C-5896-0A47D044B99B}"/>
              </a:ext>
            </a:extLst>
          </p:cNvPr>
          <p:cNvSpPr txBox="1"/>
          <p:nvPr/>
        </p:nvSpPr>
        <p:spPr>
          <a:xfrm>
            <a:off x="234808" y="909974"/>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Component </a:t>
            </a:r>
            <a:r>
              <a:rPr lang="en-US" sz="2400" b="1">
                <a:solidFill>
                  <a:srgbClr val="FF0000"/>
                </a:solidFill>
                <a:latin typeface="Times New Roman" panose="02020603050405020304" pitchFamily="18" charset="0"/>
                <a:cs typeface="Times New Roman" panose="02020603050405020304" pitchFamily="18" charset="0"/>
              </a:rPr>
              <a:t>contact</a:t>
            </a:r>
            <a:r>
              <a:rPr lang="en-US" sz="2400">
                <a:latin typeface="Times New Roman" panose="02020603050405020304" pitchFamily="18" charset="0"/>
                <a:cs typeface="Times New Roman" panose="02020603050405020304" pitchFamily="18" charset="0"/>
              </a:rPr>
              <a:t> được tạo ra như dưới đây:</a:t>
            </a:r>
            <a:endParaRPr lang="vi-VN"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071B30BF-43DC-AB32-E9EF-5C9A9F4A0194}"/>
              </a:ext>
            </a:extLst>
          </p:cNvPr>
          <p:cNvPicPr>
            <a:picLocks noChangeAspect="1"/>
          </p:cNvPicPr>
          <p:nvPr/>
        </p:nvPicPr>
        <p:blipFill>
          <a:blip r:embed="rId3"/>
          <a:srcRect b="6738"/>
          <a:stretch>
            <a:fillRect/>
          </a:stretch>
        </p:blipFill>
        <p:spPr>
          <a:xfrm>
            <a:off x="1482788" y="1458791"/>
            <a:ext cx="8424358" cy="4918713"/>
          </a:xfrm>
          <a:prstGeom prst="rect">
            <a:avLst/>
          </a:prstGeom>
        </p:spPr>
      </p:pic>
    </p:spTree>
    <p:extLst>
      <p:ext uri="{BB962C8B-B14F-4D97-AF65-F5344CB8AC3E}">
        <p14:creationId xmlns:p14="http://schemas.microsoft.com/office/powerpoint/2010/main" val="34116284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949B2C4-3230-16CA-6DCA-B00929DF2BE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7965914-3FEA-F7FF-8CCD-2A7E1EAED2A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1ADA3B5-9FE8-6BCD-8764-1511A4F32C2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grpSp>
        <p:nvGrpSpPr>
          <p:cNvPr id="2" name="Group 1">
            <a:extLst>
              <a:ext uri="{FF2B5EF4-FFF2-40B4-BE49-F238E27FC236}">
                <a16:creationId xmlns:a16="http://schemas.microsoft.com/office/drawing/2014/main" id="{A9F0DA8C-A1B7-1305-9846-229BEC19369E}"/>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CB3EACBD-67C2-497B-28AC-FC8FE58BF009}"/>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600" dirty="0">
                  <a:latin typeface="Times New Roman" panose="02020603050405020304" pitchFamily="18" charset="0"/>
                  <a:cs typeface="Times New Roman" panose="02020603050405020304" pitchFamily="18" charset="0"/>
                </a:rPr>
                <a:t>1.4.5.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Component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Angular</a:t>
              </a:r>
              <a:endParaRPr lang="en-US" sz="260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042EB26-547B-13DA-F532-A273DF1B110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071C02D-F98F-3BF2-10D9-991F9895441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F600919-021E-08A6-8B7C-75518CB6612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EA0316A-3993-99FC-CCCF-2699D691117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a:extLst>
              <a:ext uri="{FF2B5EF4-FFF2-40B4-BE49-F238E27FC236}">
                <a16:creationId xmlns:a16="http://schemas.microsoft.com/office/drawing/2014/main" id="{FBC541E5-D16A-C19B-2348-95F1A1B1016A}"/>
              </a:ext>
            </a:extLst>
          </p:cNvPr>
          <p:cNvPicPr>
            <a:picLocks noChangeAspect="1"/>
          </p:cNvPicPr>
          <p:nvPr/>
        </p:nvPicPr>
        <p:blipFill>
          <a:blip r:embed="rId3"/>
          <a:stretch>
            <a:fillRect/>
          </a:stretch>
        </p:blipFill>
        <p:spPr>
          <a:xfrm>
            <a:off x="4778192" y="2149801"/>
            <a:ext cx="2331922" cy="1729890"/>
          </a:xfrm>
          <a:prstGeom prst="rect">
            <a:avLst/>
          </a:prstGeom>
        </p:spPr>
      </p:pic>
      <p:pic>
        <p:nvPicPr>
          <p:cNvPr id="15" name="Picture 14">
            <a:extLst>
              <a:ext uri="{FF2B5EF4-FFF2-40B4-BE49-F238E27FC236}">
                <a16:creationId xmlns:a16="http://schemas.microsoft.com/office/drawing/2014/main" id="{8FBF8A1A-D43B-1DFA-59B4-8E7A5DD7117B}"/>
              </a:ext>
            </a:extLst>
          </p:cNvPr>
          <p:cNvPicPr>
            <a:picLocks noChangeAspect="1"/>
          </p:cNvPicPr>
          <p:nvPr/>
        </p:nvPicPr>
        <p:blipFill>
          <a:blip r:embed="rId4"/>
          <a:stretch>
            <a:fillRect/>
          </a:stretch>
        </p:blipFill>
        <p:spPr>
          <a:xfrm>
            <a:off x="7610832" y="974675"/>
            <a:ext cx="4155361" cy="2440451"/>
          </a:xfrm>
          <a:prstGeom prst="rect">
            <a:avLst/>
          </a:prstGeom>
          <a:ln>
            <a:solidFill>
              <a:schemeClr val="accent1"/>
            </a:solidFill>
          </a:ln>
        </p:spPr>
      </p:pic>
      <p:pic>
        <p:nvPicPr>
          <p:cNvPr id="17" name="Picture 16">
            <a:extLst>
              <a:ext uri="{FF2B5EF4-FFF2-40B4-BE49-F238E27FC236}">
                <a16:creationId xmlns:a16="http://schemas.microsoft.com/office/drawing/2014/main" id="{80FAC69A-1B31-A922-6135-FE4E0C47A1DC}"/>
              </a:ext>
            </a:extLst>
          </p:cNvPr>
          <p:cNvPicPr>
            <a:picLocks noChangeAspect="1"/>
          </p:cNvPicPr>
          <p:nvPr/>
        </p:nvPicPr>
        <p:blipFill>
          <a:blip r:embed="rId5"/>
          <a:stretch>
            <a:fillRect/>
          </a:stretch>
        </p:blipFill>
        <p:spPr>
          <a:xfrm>
            <a:off x="306320" y="916723"/>
            <a:ext cx="3971154" cy="3299519"/>
          </a:xfrm>
          <a:prstGeom prst="rect">
            <a:avLst/>
          </a:prstGeom>
          <a:ln>
            <a:solidFill>
              <a:schemeClr val="accent1"/>
            </a:solidFill>
          </a:ln>
        </p:spPr>
      </p:pic>
      <p:pic>
        <p:nvPicPr>
          <p:cNvPr id="19" name="Picture 18">
            <a:extLst>
              <a:ext uri="{FF2B5EF4-FFF2-40B4-BE49-F238E27FC236}">
                <a16:creationId xmlns:a16="http://schemas.microsoft.com/office/drawing/2014/main" id="{7E6BA4CF-6CAE-5500-78C5-5DF4BAAAC446}"/>
              </a:ext>
            </a:extLst>
          </p:cNvPr>
          <p:cNvPicPr>
            <a:picLocks noChangeAspect="1"/>
          </p:cNvPicPr>
          <p:nvPr/>
        </p:nvPicPr>
        <p:blipFill>
          <a:blip r:embed="rId6"/>
          <a:stretch>
            <a:fillRect/>
          </a:stretch>
        </p:blipFill>
        <p:spPr>
          <a:xfrm>
            <a:off x="7044799" y="4344255"/>
            <a:ext cx="5029636" cy="2248095"/>
          </a:xfrm>
          <a:prstGeom prst="rect">
            <a:avLst/>
          </a:prstGeom>
          <a:ln>
            <a:solidFill>
              <a:schemeClr val="accent1"/>
            </a:solidFill>
          </a:ln>
        </p:spPr>
      </p:pic>
      <p:pic>
        <p:nvPicPr>
          <p:cNvPr id="21" name="Picture 20">
            <a:extLst>
              <a:ext uri="{FF2B5EF4-FFF2-40B4-BE49-F238E27FC236}">
                <a16:creationId xmlns:a16="http://schemas.microsoft.com/office/drawing/2014/main" id="{F48FC400-DDDD-6BCF-CFA3-57A6C8B922DE}"/>
              </a:ext>
            </a:extLst>
          </p:cNvPr>
          <p:cNvPicPr>
            <a:picLocks noChangeAspect="1"/>
          </p:cNvPicPr>
          <p:nvPr/>
        </p:nvPicPr>
        <p:blipFill>
          <a:blip r:embed="rId7"/>
          <a:srcRect b="29125"/>
          <a:stretch>
            <a:fillRect/>
          </a:stretch>
        </p:blipFill>
        <p:spPr>
          <a:xfrm>
            <a:off x="131380" y="4431876"/>
            <a:ext cx="6332769" cy="1852577"/>
          </a:xfrm>
          <a:prstGeom prst="rect">
            <a:avLst/>
          </a:prstGeom>
          <a:ln>
            <a:solidFill>
              <a:schemeClr val="accent1"/>
            </a:solidFill>
          </a:ln>
        </p:spPr>
      </p:pic>
      <p:sp>
        <p:nvSpPr>
          <p:cNvPr id="22" name="TextBox 21">
            <a:extLst>
              <a:ext uri="{FF2B5EF4-FFF2-40B4-BE49-F238E27FC236}">
                <a16:creationId xmlns:a16="http://schemas.microsoft.com/office/drawing/2014/main" id="{91177546-E924-9187-3ED8-78647799B3C5}"/>
              </a:ext>
            </a:extLst>
          </p:cNvPr>
          <p:cNvSpPr txBox="1"/>
          <p:nvPr/>
        </p:nvSpPr>
        <p:spPr>
          <a:xfrm>
            <a:off x="5117186" y="1487014"/>
            <a:ext cx="1568058" cy="707886"/>
          </a:xfrm>
          <a:prstGeom prst="rect">
            <a:avLst/>
          </a:prstGeom>
          <a:noFill/>
        </p:spPr>
        <p:txBody>
          <a:bodyPr wrap="none" rtlCol="0">
            <a:spAutoFit/>
          </a:bodyPr>
          <a:lstStyle/>
          <a:p>
            <a:pPr algn="ctr"/>
            <a:r>
              <a:rPr lang="en-US" sz="2000" b="1">
                <a:solidFill>
                  <a:srgbClr val="FF0000"/>
                </a:solidFill>
              </a:rPr>
              <a:t>contact</a:t>
            </a:r>
            <a:r>
              <a:rPr lang="en-US" b="1"/>
              <a:t> </a:t>
            </a:r>
          </a:p>
          <a:p>
            <a:pPr algn="ctr"/>
            <a:r>
              <a:rPr lang="en-US" sz="2000" b="1"/>
              <a:t>component</a:t>
            </a:r>
            <a:endParaRPr lang="en-US" b="1"/>
          </a:p>
        </p:txBody>
      </p:sp>
      <p:sp>
        <p:nvSpPr>
          <p:cNvPr id="23" name="TextBox 22">
            <a:extLst>
              <a:ext uri="{FF2B5EF4-FFF2-40B4-BE49-F238E27FC236}">
                <a16:creationId xmlns:a16="http://schemas.microsoft.com/office/drawing/2014/main" id="{ED5AF85A-02D2-97D8-5F1A-4419F5534BBD}"/>
              </a:ext>
            </a:extLst>
          </p:cNvPr>
          <p:cNvSpPr txBox="1"/>
          <p:nvPr/>
        </p:nvSpPr>
        <p:spPr>
          <a:xfrm>
            <a:off x="2173554" y="916723"/>
            <a:ext cx="2093843" cy="400110"/>
          </a:xfrm>
          <a:prstGeom prst="rect">
            <a:avLst/>
          </a:prstGeom>
          <a:solidFill>
            <a:schemeClr val="accent6">
              <a:lumMod val="20000"/>
              <a:lumOff val="80000"/>
            </a:schemeClr>
          </a:solidFill>
        </p:spPr>
        <p:txBody>
          <a:bodyPr wrap="none" rtlCol="0">
            <a:spAutoFit/>
          </a:bodyPr>
          <a:lstStyle/>
          <a:p>
            <a:r>
              <a:rPr lang="en-US" sz="2000" b="1">
                <a:solidFill>
                  <a:srgbClr val="FF0000"/>
                </a:solidFill>
              </a:rPr>
              <a:t>contact.spec.ts</a:t>
            </a:r>
            <a:endParaRPr lang="en-US" b="1"/>
          </a:p>
        </p:txBody>
      </p:sp>
      <p:sp>
        <p:nvSpPr>
          <p:cNvPr id="24" name="TextBox 23">
            <a:extLst>
              <a:ext uri="{FF2B5EF4-FFF2-40B4-BE49-F238E27FC236}">
                <a16:creationId xmlns:a16="http://schemas.microsoft.com/office/drawing/2014/main" id="{9C43E2BD-B349-9D0A-E4F4-DF3BD8958D5C}"/>
              </a:ext>
            </a:extLst>
          </p:cNvPr>
          <p:cNvSpPr txBox="1"/>
          <p:nvPr/>
        </p:nvSpPr>
        <p:spPr>
          <a:xfrm>
            <a:off x="10333815" y="974675"/>
            <a:ext cx="1438214" cy="400110"/>
          </a:xfrm>
          <a:prstGeom prst="rect">
            <a:avLst/>
          </a:prstGeom>
          <a:solidFill>
            <a:schemeClr val="accent6">
              <a:lumMod val="20000"/>
              <a:lumOff val="80000"/>
            </a:schemeClr>
          </a:solidFill>
        </p:spPr>
        <p:txBody>
          <a:bodyPr wrap="none" rtlCol="0">
            <a:spAutoFit/>
          </a:bodyPr>
          <a:lstStyle/>
          <a:p>
            <a:pPr algn="ctr"/>
            <a:r>
              <a:rPr lang="en-US" sz="2000" b="1">
                <a:solidFill>
                  <a:srgbClr val="FF0000"/>
                </a:solidFill>
              </a:rPr>
              <a:t>contact.ts</a:t>
            </a:r>
            <a:endParaRPr lang="en-US" b="1"/>
          </a:p>
        </p:txBody>
      </p:sp>
      <p:sp>
        <p:nvSpPr>
          <p:cNvPr id="25" name="TextBox 24">
            <a:extLst>
              <a:ext uri="{FF2B5EF4-FFF2-40B4-BE49-F238E27FC236}">
                <a16:creationId xmlns:a16="http://schemas.microsoft.com/office/drawing/2014/main" id="{62074FB5-643B-4058-4356-60511D45145D}"/>
              </a:ext>
            </a:extLst>
          </p:cNvPr>
          <p:cNvSpPr txBox="1"/>
          <p:nvPr/>
        </p:nvSpPr>
        <p:spPr>
          <a:xfrm>
            <a:off x="4892622" y="4431876"/>
            <a:ext cx="1595309" cy="400110"/>
          </a:xfrm>
          <a:prstGeom prst="rect">
            <a:avLst/>
          </a:prstGeom>
          <a:solidFill>
            <a:schemeClr val="accent6">
              <a:lumMod val="20000"/>
              <a:lumOff val="80000"/>
            </a:schemeClr>
          </a:solidFill>
        </p:spPr>
        <p:txBody>
          <a:bodyPr wrap="none" rtlCol="0">
            <a:spAutoFit/>
          </a:bodyPr>
          <a:lstStyle/>
          <a:p>
            <a:pPr algn="ctr"/>
            <a:r>
              <a:rPr lang="en-US" sz="2000" b="1">
                <a:solidFill>
                  <a:srgbClr val="FF0000"/>
                </a:solidFill>
              </a:rPr>
              <a:t>contact.css</a:t>
            </a:r>
            <a:endParaRPr lang="en-US" b="1"/>
          </a:p>
        </p:txBody>
      </p:sp>
      <p:sp>
        <p:nvSpPr>
          <p:cNvPr id="26" name="TextBox 25">
            <a:extLst>
              <a:ext uri="{FF2B5EF4-FFF2-40B4-BE49-F238E27FC236}">
                <a16:creationId xmlns:a16="http://schemas.microsoft.com/office/drawing/2014/main" id="{76E1AA2C-0E81-56B1-C67E-47831C9B3508}"/>
              </a:ext>
            </a:extLst>
          </p:cNvPr>
          <p:cNvSpPr txBox="1"/>
          <p:nvPr/>
        </p:nvSpPr>
        <p:spPr>
          <a:xfrm>
            <a:off x="10371631" y="4344255"/>
            <a:ext cx="1707520" cy="400110"/>
          </a:xfrm>
          <a:prstGeom prst="rect">
            <a:avLst/>
          </a:prstGeom>
          <a:solidFill>
            <a:schemeClr val="accent6">
              <a:lumMod val="20000"/>
              <a:lumOff val="80000"/>
            </a:schemeClr>
          </a:solidFill>
        </p:spPr>
        <p:txBody>
          <a:bodyPr wrap="none" rtlCol="0">
            <a:spAutoFit/>
          </a:bodyPr>
          <a:lstStyle/>
          <a:p>
            <a:pPr algn="ctr"/>
            <a:r>
              <a:rPr lang="en-US" sz="2000" b="1">
                <a:solidFill>
                  <a:srgbClr val="FF0000"/>
                </a:solidFill>
              </a:rPr>
              <a:t>contact.html</a:t>
            </a:r>
            <a:endParaRPr lang="en-US" b="1"/>
          </a:p>
        </p:txBody>
      </p:sp>
      <p:sp>
        <p:nvSpPr>
          <p:cNvPr id="27" name="Arrow: Down 26">
            <a:extLst>
              <a:ext uri="{FF2B5EF4-FFF2-40B4-BE49-F238E27FC236}">
                <a16:creationId xmlns:a16="http://schemas.microsoft.com/office/drawing/2014/main" id="{5903771C-D168-0DAB-38E0-BDE4B2EE9696}"/>
              </a:ext>
            </a:extLst>
          </p:cNvPr>
          <p:cNvSpPr/>
          <p:nvPr/>
        </p:nvSpPr>
        <p:spPr>
          <a:xfrm rot="3276941">
            <a:off x="4796248" y="3875260"/>
            <a:ext cx="123753" cy="617109"/>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Down 27">
            <a:extLst>
              <a:ext uri="{FF2B5EF4-FFF2-40B4-BE49-F238E27FC236}">
                <a16:creationId xmlns:a16="http://schemas.microsoft.com/office/drawing/2014/main" id="{31CE024F-AB64-1A8F-EFE4-38A2AB57CFB3}"/>
              </a:ext>
            </a:extLst>
          </p:cNvPr>
          <p:cNvSpPr/>
          <p:nvPr/>
        </p:nvSpPr>
        <p:spPr>
          <a:xfrm rot="7751514">
            <a:off x="4362227" y="1598308"/>
            <a:ext cx="123753" cy="617109"/>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Down 28">
            <a:extLst>
              <a:ext uri="{FF2B5EF4-FFF2-40B4-BE49-F238E27FC236}">
                <a16:creationId xmlns:a16="http://schemas.microsoft.com/office/drawing/2014/main" id="{104DAC2B-4B5F-6A1D-6A5D-5FE018B712F6}"/>
              </a:ext>
            </a:extLst>
          </p:cNvPr>
          <p:cNvSpPr/>
          <p:nvPr/>
        </p:nvSpPr>
        <p:spPr>
          <a:xfrm rot="13862435">
            <a:off x="7327074" y="1766149"/>
            <a:ext cx="123753" cy="617109"/>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Down 29">
            <a:extLst>
              <a:ext uri="{FF2B5EF4-FFF2-40B4-BE49-F238E27FC236}">
                <a16:creationId xmlns:a16="http://schemas.microsoft.com/office/drawing/2014/main" id="{7D45AC4D-2119-4C69-5DCB-F1A8A5A26565}"/>
              </a:ext>
            </a:extLst>
          </p:cNvPr>
          <p:cNvSpPr/>
          <p:nvPr/>
        </p:nvSpPr>
        <p:spPr>
          <a:xfrm rot="19357633">
            <a:off x="6698769" y="3875259"/>
            <a:ext cx="123753" cy="617109"/>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9CD5F5B-42DA-0A22-C074-2F9F0FD46E22}"/>
              </a:ext>
            </a:extLst>
          </p:cNvPr>
          <p:cNvSpPr/>
          <p:nvPr/>
        </p:nvSpPr>
        <p:spPr>
          <a:xfrm>
            <a:off x="8339603" y="1959429"/>
            <a:ext cx="2289438" cy="1903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07448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4FFB68A-B4DB-39A1-8E98-192C809375F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518F6D5-3C66-D307-E3EC-C085B3022F1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DB84B95-406C-2DF7-6A1A-C456D314140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grpSp>
        <p:nvGrpSpPr>
          <p:cNvPr id="2" name="Group 1">
            <a:extLst>
              <a:ext uri="{FF2B5EF4-FFF2-40B4-BE49-F238E27FC236}">
                <a16:creationId xmlns:a16="http://schemas.microsoft.com/office/drawing/2014/main" id="{4E9FB922-C1EE-9818-54AF-06B969C8DC19}"/>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F1D6B825-4EFE-CAB6-B1CC-E0524D64106F}"/>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600" dirty="0">
                  <a:latin typeface="Times New Roman" panose="02020603050405020304" pitchFamily="18" charset="0"/>
                  <a:cs typeface="Times New Roman" panose="02020603050405020304" pitchFamily="18" charset="0"/>
                </a:rPr>
                <a:t>1.4.5.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Component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Angular</a:t>
              </a:r>
              <a:endParaRPr lang="en-US" sz="260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7C21A8F-F081-B23E-C03F-D185BF092AD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5EB6B33-B6BC-9111-FD79-62A139CA705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4FCF4AE-233C-C625-B761-ED9A48FE501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0B8840F-12A9-2ACD-BEF8-F947DED56DF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84916C3C-774A-2BED-B6FF-EEB8755E1D94}"/>
              </a:ext>
            </a:extLst>
          </p:cNvPr>
          <p:cNvSpPr txBox="1"/>
          <p:nvPr/>
        </p:nvSpPr>
        <p:spPr>
          <a:xfrm>
            <a:off x="313726" y="877587"/>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component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“contact”,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email, phone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table. Sau </a:t>
            </a:r>
            <a:r>
              <a:rPr lang="en-US" sz="2400" dirty="0" err="1">
                <a:latin typeface="Times New Roman" panose="02020603050405020304" pitchFamily="18" charset="0"/>
                <a:cs typeface="Times New Roman" panose="02020603050405020304" pitchFamily="18" charset="0"/>
              </a:rPr>
              <a:t>đó</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đưa</a:t>
            </a:r>
            <a:r>
              <a:rPr lang="en-US" sz="2400">
                <a:latin typeface="Times New Roman" panose="02020603050405020304" pitchFamily="18" charset="0"/>
                <a:cs typeface="Times New Roman" panose="02020603050405020304" pitchFamily="18" charset="0"/>
              </a:rPr>
              <a:t> Component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chủ</a:t>
            </a:r>
            <a:r>
              <a:rPr lang="en-US" sz="240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6022A4A-CE97-70FB-1C3B-BF508AFB3C85}"/>
              </a:ext>
            </a:extLst>
          </p:cNvPr>
          <p:cNvSpPr txBox="1"/>
          <p:nvPr/>
        </p:nvSpPr>
        <p:spPr>
          <a:xfrm>
            <a:off x="415252" y="1724348"/>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u="sng">
                <a:latin typeface="Times New Roman" panose="02020603050405020304" pitchFamily="18" charset="0"/>
                <a:cs typeface="Times New Roman" panose="02020603050405020304" pitchFamily="18" charset="0"/>
              </a:rPr>
              <a:t>Step 1:</a:t>
            </a:r>
            <a:r>
              <a:rPr lang="en-US" sz="2400">
                <a:latin typeface="Times New Roman" panose="02020603050405020304" pitchFamily="18" charset="0"/>
                <a:cs typeface="Times New Roman" panose="02020603050405020304" pitchFamily="18" charset="0"/>
              </a:rPr>
              <a:t> Vào </a:t>
            </a:r>
            <a:r>
              <a:rPr lang="en-US" sz="2400" b="1">
                <a:solidFill>
                  <a:srgbClr val="FF0000"/>
                </a:solidFill>
                <a:latin typeface="Times New Roman" panose="02020603050405020304" pitchFamily="18" charset="0"/>
                <a:cs typeface="Times New Roman" panose="02020603050405020304" pitchFamily="18" charset="0"/>
              </a:rPr>
              <a:t>contact.html </a:t>
            </a:r>
            <a:r>
              <a:rPr lang="en-US" sz="2400">
                <a:latin typeface="Times New Roman" panose="02020603050405020304" pitchFamily="18" charset="0"/>
                <a:cs typeface="Times New Roman" panose="02020603050405020304" pitchFamily="18" charset="0"/>
              </a:rPr>
              <a:t>tạo table</a:t>
            </a:r>
            <a:endParaRPr lang="vi-VN" sz="24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28D0D03-CA40-72CB-DEFC-C645A2A7BBCC}"/>
              </a:ext>
            </a:extLst>
          </p:cNvPr>
          <p:cNvPicPr>
            <a:picLocks noChangeAspect="1"/>
          </p:cNvPicPr>
          <p:nvPr/>
        </p:nvPicPr>
        <p:blipFill>
          <a:blip r:embed="rId3"/>
          <a:stretch>
            <a:fillRect/>
          </a:stretch>
        </p:blipFill>
        <p:spPr>
          <a:xfrm>
            <a:off x="6972472" y="1797052"/>
            <a:ext cx="4440339" cy="4554929"/>
          </a:xfrm>
          <a:prstGeom prst="rect">
            <a:avLst/>
          </a:prstGeom>
          <a:ln>
            <a:solidFill>
              <a:srgbClr val="002060"/>
            </a:solidFill>
          </a:ln>
        </p:spPr>
      </p:pic>
      <p:sp>
        <p:nvSpPr>
          <p:cNvPr id="13" name="TextBox 12">
            <a:extLst>
              <a:ext uri="{FF2B5EF4-FFF2-40B4-BE49-F238E27FC236}">
                <a16:creationId xmlns:a16="http://schemas.microsoft.com/office/drawing/2014/main" id="{54D6AF92-28B2-D0ED-8DDF-A90578648A84}"/>
              </a:ext>
            </a:extLst>
          </p:cNvPr>
          <p:cNvSpPr txBox="1"/>
          <p:nvPr/>
        </p:nvSpPr>
        <p:spPr>
          <a:xfrm>
            <a:off x="1049372" y="2184711"/>
            <a:ext cx="3970777" cy="4194097"/>
          </a:xfrm>
          <a:prstGeom prst="rect">
            <a:avLst/>
          </a:prstGeom>
          <a:noFill/>
          <a:ln>
            <a:solidFill>
              <a:srgbClr val="002060"/>
            </a:solidFill>
          </a:ln>
        </p:spPr>
        <p:txBody>
          <a:bodyPr wrap="square">
            <a:spAutoFit/>
          </a:bodyPr>
          <a:lstStyle/>
          <a:p>
            <a:pPr>
              <a:lnSpc>
                <a:spcPts val="2250"/>
              </a:lnSpc>
              <a:buNone/>
            </a:pPr>
            <a:r>
              <a:rPr lang="en-US" b="0">
                <a:solidFill>
                  <a:srgbClr val="800000"/>
                </a:solidFill>
                <a:effectLst/>
                <a:latin typeface="Consolas" panose="020B0609020204030204" pitchFamily="49" charset="0"/>
              </a:rPr>
              <a:t>&lt;table&gt;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Name:</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Trần Duy Thanh</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Email:</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thanhtd@uel.edu.vn</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Phone:</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0987773061</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800000"/>
                </a:solidFill>
                <a:effectLst/>
                <a:latin typeface="Consolas" panose="020B0609020204030204" pitchFamily="49" charset="0"/>
              </a:rPr>
              <a:t>&lt;/table&gt;</a:t>
            </a:r>
            <a:endParaRPr lang="en-US"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4930442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965849E-B337-7E06-C9B1-5A944DAA7EB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DC24816-CF1B-339D-3548-FFCC4D5EA1E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CAA2DC8-08D9-A498-8E9E-D8DEE93878F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grpSp>
        <p:nvGrpSpPr>
          <p:cNvPr id="2" name="Group 1">
            <a:extLst>
              <a:ext uri="{FF2B5EF4-FFF2-40B4-BE49-F238E27FC236}">
                <a16:creationId xmlns:a16="http://schemas.microsoft.com/office/drawing/2014/main" id="{6072A812-3459-0621-5545-1D102BAE0A17}"/>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E7F8E4E3-9374-866B-96F1-CC76B681E44D}"/>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600" dirty="0">
                  <a:latin typeface="Times New Roman" panose="02020603050405020304" pitchFamily="18" charset="0"/>
                  <a:cs typeface="Times New Roman" panose="02020603050405020304" pitchFamily="18" charset="0"/>
                </a:rPr>
                <a:t>1.4.5.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Component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Angular</a:t>
              </a:r>
              <a:endParaRPr lang="en-US" sz="260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E609E27-BFF1-2702-E542-93E0D51660D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304997B-8F38-E06D-91C6-CD0454FAE9F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F549D3B-EBF0-35BA-DC30-0D9F9F580BC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D202C8B-D81C-1D6D-39C9-A6A7AC7D88A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2CFBECE-00AC-4C85-D979-F49649D2600F}"/>
              </a:ext>
            </a:extLst>
          </p:cNvPr>
          <p:cNvSpPr txBox="1"/>
          <p:nvPr/>
        </p:nvSpPr>
        <p:spPr>
          <a:xfrm>
            <a:off x="415252" y="96120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u="sng">
                <a:latin typeface="Times New Roman" panose="02020603050405020304" pitchFamily="18" charset="0"/>
                <a:cs typeface="Times New Roman" panose="02020603050405020304" pitchFamily="18" charset="0"/>
              </a:rPr>
              <a:t>Step 2:</a:t>
            </a:r>
            <a:r>
              <a:rPr lang="en-US" sz="2400">
                <a:latin typeface="Times New Roman" panose="02020603050405020304" pitchFamily="18" charset="0"/>
                <a:cs typeface="Times New Roman" panose="02020603050405020304" pitchFamily="18" charset="0"/>
              </a:rPr>
              <a:t> Vào </a:t>
            </a:r>
            <a:r>
              <a:rPr lang="en-US" sz="2400" b="1">
                <a:solidFill>
                  <a:srgbClr val="FF0000"/>
                </a:solidFill>
                <a:latin typeface="Times New Roman" panose="02020603050405020304" pitchFamily="18" charset="0"/>
                <a:cs typeface="Times New Roman" panose="02020603050405020304" pitchFamily="18" charset="0"/>
              </a:rPr>
              <a:t>contact.css </a:t>
            </a:r>
            <a:r>
              <a:rPr lang="en-US" sz="2400">
                <a:latin typeface="Times New Roman" panose="02020603050405020304" pitchFamily="18" charset="0"/>
                <a:cs typeface="Times New Roman" panose="02020603050405020304" pitchFamily="18" charset="0"/>
              </a:rPr>
              <a:t>chỉnh format</a:t>
            </a:r>
            <a:endParaRPr lang="vi-VN" sz="24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9C947016-1436-C37A-7B15-E2F47E97B3C4}"/>
              </a:ext>
            </a:extLst>
          </p:cNvPr>
          <p:cNvPicPr>
            <a:picLocks noChangeAspect="1"/>
          </p:cNvPicPr>
          <p:nvPr/>
        </p:nvPicPr>
        <p:blipFill>
          <a:blip r:embed="rId3"/>
          <a:stretch>
            <a:fillRect/>
          </a:stretch>
        </p:blipFill>
        <p:spPr>
          <a:xfrm>
            <a:off x="5502507" y="1610419"/>
            <a:ext cx="5105842" cy="2034716"/>
          </a:xfrm>
          <a:prstGeom prst="rect">
            <a:avLst/>
          </a:prstGeom>
        </p:spPr>
      </p:pic>
      <p:sp>
        <p:nvSpPr>
          <p:cNvPr id="15" name="TextBox 14">
            <a:extLst>
              <a:ext uri="{FF2B5EF4-FFF2-40B4-BE49-F238E27FC236}">
                <a16:creationId xmlns:a16="http://schemas.microsoft.com/office/drawing/2014/main" id="{713E69F1-4813-D265-1353-A9CCD8B83E0E}"/>
              </a:ext>
            </a:extLst>
          </p:cNvPr>
          <p:cNvSpPr txBox="1"/>
          <p:nvPr/>
        </p:nvSpPr>
        <p:spPr>
          <a:xfrm>
            <a:off x="728132" y="1627936"/>
            <a:ext cx="3870731" cy="1257780"/>
          </a:xfrm>
          <a:prstGeom prst="rect">
            <a:avLst/>
          </a:prstGeom>
          <a:noFill/>
          <a:ln>
            <a:solidFill>
              <a:srgbClr val="002060"/>
            </a:solidFill>
          </a:ln>
        </p:spPr>
        <p:txBody>
          <a:bodyPr wrap="square">
            <a:spAutoFit/>
          </a:bodyPr>
          <a:lstStyle/>
          <a:p>
            <a:pPr>
              <a:lnSpc>
                <a:spcPts val="2250"/>
              </a:lnSpc>
              <a:buNone/>
            </a:pPr>
            <a:r>
              <a:rPr lang="en-US" sz="1800" b="0">
                <a:solidFill>
                  <a:srgbClr val="800000"/>
                </a:solidFill>
                <a:effectLst/>
                <a:latin typeface="Consolas" panose="020B0609020204030204" pitchFamily="49" charset="0"/>
              </a:rPr>
              <a:t>table</a:t>
            </a:r>
            <a:r>
              <a:rPr lang="en-US" sz="1800" b="0">
                <a:solidFill>
                  <a:srgbClr val="000000"/>
                </a:solidFill>
                <a:effectLst/>
                <a:latin typeface="Consolas" panose="020B0609020204030204" pitchFamily="49" charset="0"/>
              </a:rPr>
              <a:t>,</a:t>
            </a:r>
            <a:r>
              <a:rPr lang="en-US" sz="1800" b="0">
                <a:solidFill>
                  <a:srgbClr val="800000"/>
                </a:solidFill>
                <a:effectLst/>
                <a:latin typeface="Consolas" panose="020B0609020204030204" pitchFamily="49" charset="0"/>
              </a:rPr>
              <a:t>tr</a:t>
            </a:r>
            <a:r>
              <a:rPr lang="en-US" sz="1800" b="0">
                <a:solidFill>
                  <a:srgbClr val="000000"/>
                </a:solidFill>
                <a:effectLst/>
                <a:latin typeface="Consolas" panose="020B0609020204030204" pitchFamily="49" charset="0"/>
              </a:rPr>
              <a:t>,</a:t>
            </a:r>
            <a:r>
              <a:rPr lang="en-US" sz="1800" b="0">
                <a:solidFill>
                  <a:srgbClr val="800000"/>
                </a:solidFill>
                <a:effectLst/>
                <a:latin typeface="Consolas" panose="020B0609020204030204" pitchFamily="49" charset="0"/>
              </a:rPr>
              <a:t>td</a:t>
            </a:r>
            <a:r>
              <a:rPr lang="en-US" sz="1800" b="0">
                <a:solidFill>
                  <a:srgbClr val="000000"/>
                </a:solidFill>
                <a:effectLst/>
                <a:latin typeface="Consolas" panose="020B0609020204030204" pitchFamily="49" charset="0"/>
              </a:rPr>
              <a:t>{</a:t>
            </a:r>
          </a:p>
          <a:p>
            <a:pPr>
              <a:lnSpc>
                <a:spcPts val="2250"/>
              </a:lnSpc>
              <a:buNone/>
            </a:pP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border</a:t>
            </a:r>
            <a:r>
              <a:rPr lang="en-US" sz="1800" b="0">
                <a:solidFill>
                  <a:srgbClr val="000000"/>
                </a:solidFill>
                <a:effectLst/>
                <a:latin typeface="Consolas" panose="020B0609020204030204" pitchFamily="49" charset="0"/>
              </a:rPr>
              <a:t>: </a:t>
            </a:r>
            <a:r>
              <a:rPr lang="en-US" sz="1800" b="0">
                <a:solidFill>
                  <a:srgbClr val="098658"/>
                </a:solidFill>
                <a:effectLst/>
                <a:latin typeface="Consolas" panose="020B0609020204030204" pitchFamily="49" charset="0"/>
              </a:rPr>
              <a:t>1px</a:t>
            </a:r>
            <a:r>
              <a:rPr lang="en-US" sz="1800" b="0">
                <a:solidFill>
                  <a:srgbClr val="000000"/>
                </a:solidFill>
                <a:effectLst/>
                <a:latin typeface="Consolas" panose="020B0609020204030204" pitchFamily="49" charset="0"/>
              </a:rPr>
              <a:t>;</a:t>
            </a:r>
          </a:p>
          <a:p>
            <a:pPr>
              <a:lnSpc>
                <a:spcPts val="2250"/>
              </a:lnSpc>
              <a:buNone/>
            </a:pP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border-style</a:t>
            </a:r>
            <a:r>
              <a:rPr lang="en-US" sz="1800" b="0">
                <a:solidFill>
                  <a:srgbClr val="000000"/>
                </a:solidFill>
                <a:effectLst/>
                <a:latin typeface="Consolas" panose="020B0609020204030204" pitchFamily="49" charset="0"/>
              </a:rPr>
              <a:t>: </a:t>
            </a:r>
            <a:r>
              <a:rPr lang="en-US" sz="1800" b="0">
                <a:solidFill>
                  <a:srgbClr val="0451A5"/>
                </a:solidFill>
                <a:effectLst/>
                <a:latin typeface="Consolas" panose="020B0609020204030204" pitchFamily="49" charset="0"/>
              </a:rPr>
              <a:t>solid</a:t>
            </a:r>
            <a:r>
              <a:rPr lang="en-US" sz="1800" b="0">
                <a:solidFill>
                  <a:srgbClr val="000000"/>
                </a:solidFill>
                <a:effectLst/>
                <a:latin typeface="Consolas" panose="020B0609020204030204" pitchFamily="49" charset="0"/>
              </a:rPr>
              <a:t>;</a:t>
            </a:r>
          </a:p>
          <a:p>
            <a:pPr>
              <a:lnSpc>
                <a:spcPts val="2250"/>
              </a:lnSpc>
              <a:buNone/>
            </a:pPr>
            <a:r>
              <a:rPr lang="en-US" sz="18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3179770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F957105-9ECC-D41A-2948-CF9C34A2ABD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9958638-BE6B-E6AA-0FDA-17FFB9CA1CC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862B6E3-92B0-F7AB-D5EB-6194E315C06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grpSp>
        <p:nvGrpSpPr>
          <p:cNvPr id="2" name="Group 1">
            <a:extLst>
              <a:ext uri="{FF2B5EF4-FFF2-40B4-BE49-F238E27FC236}">
                <a16:creationId xmlns:a16="http://schemas.microsoft.com/office/drawing/2014/main" id="{755F6D2E-92BE-848E-7442-BBCC76A49894}"/>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D0182AAE-D5AE-A5CD-3941-25A114E48D91}"/>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600" dirty="0">
                  <a:latin typeface="Times New Roman" panose="02020603050405020304" pitchFamily="18" charset="0"/>
                  <a:cs typeface="Times New Roman" panose="02020603050405020304" pitchFamily="18" charset="0"/>
                </a:rPr>
                <a:t>1.4.5.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Component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Angular</a:t>
              </a:r>
              <a:endParaRPr lang="en-US" sz="260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B8EF060-6B5B-CFB6-15C8-523DEF61875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CB9C46D-35D1-8AAE-062D-94B82A3489E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55E1E14-9BAD-7B10-3E72-EAFBCCE604A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BB463BC-5053-7A2F-FC98-72E375008BC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D0ECDF1-A8D4-C2B8-D002-D27B36B1DE42}"/>
              </a:ext>
            </a:extLst>
          </p:cNvPr>
          <p:cNvSpPr txBox="1"/>
          <p:nvPr/>
        </p:nvSpPr>
        <p:spPr>
          <a:xfrm>
            <a:off x="415252" y="961202"/>
            <a:ext cx="11564547" cy="830997"/>
          </a:xfrm>
          <a:prstGeom prst="rect">
            <a:avLst/>
          </a:prstGeom>
          <a:noFill/>
        </p:spPr>
        <p:txBody>
          <a:bodyPr wrap="square">
            <a:spAutoFit/>
          </a:bodyPr>
          <a:lstStyle/>
          <a:p>
            <a:pPr marL="457200" indent="-457200" algn="just">
              <a:buFont typeface="Wingdings" panose="05000000000000000000" pitchFamily="2" charset="2"/>
              <a:buChar char="q"/>
            </a:pPr>
            <a:r>
              <a:rPr lang="en-US" sz="2400" b="1" u="sng">
                <a:latin typeface="Times New Roman" panose="02020603050405020304" pitchFamily="18" charset="0"/>
                <a:cs typeface="Times New Roman" panose="02020603050405020304" pitchFamily="18" charset="0"/>
              </a:rPr>
              <a:t>Step 3:</a:t>
            </a:r>
            <a:r>
              <a:rPr lang="en-US" sz="2400">
                <a:latin typeface="Times New Roman" panose="02020603050405020304" pitchFamily="18" charset="0"/>
                <a:cs typeface="Times New Roman" panose="02020603050405020304" pitchFamily="18" charset="0"/>
              </a:rPr>
              <a:t> Sử dụng </a:t>
            </a:r>
            <a:r>
              <a:rPr lang="en-US" sz="2400" b="1">
                <a:latin typeface="Times New Roman" panose="02020603050405020304" pitchFamily="18" charset="0"/>
                <a:cs typeface="Times New Roman" panose="02020603050405020304" pitchFamily="18" charset="0"/>
              </a:rPr>
              <a:t>contact</a:t>
            </a:r>
            <a:r>
              <a:rPr lang="en-US" sz="2400">
                <a:latin typeface="Times New Roman" panose="02020603050405020304" pitchFamily="18" charset="0"/>
                <a:cs typeface="Times New Roman" panose="02020603050405020304" pitchFamily="18" charset="0"/>
              </a:rPr>
              <a:t> component. Lấy selector ‘</a:t>
            </a:r>
            <a:r>
              <a:rPr lang="en-US" sz="2400" b="1">
                <a:latin typeface="Times New Roman" panose="02020603050405020304" pitchFamily="18" charset="0"/>
                <a:cs typeface="Times New Roman" panose="02020603050405020304" pitchFamily="18" charset="0"/>
              </a:rPr>
              <a:t>app-contact</a:t>
            </a:r>
            <a:r>
              <a:rPr lang="en-US" sz="2400">
                <a:latin typeface="Times New Roman" panose="02020603050405020304" pitchFamily="18" charset="0"/>
                <a:cs typeface="Times New Roman" panose="02020603050405020304" pitchFamily="18" charset="0"/>
              </a:rPr>
              <a:t>’ trong file contact.ts được tạo ra. Gán selector này ở trang chủ </a:t>
            </a:r>
            <a:r>
              <a:rPr lang="en-US" sz="2400" b="1">
                <a:solidFill>
                  <a:srgbClr val="FF0000"/>
                </a:solidFill>
                <a:latin typeface="Times New Roman" panose="02020603050405020304" pitchFamily="18" charset="0"/>
                <a:cs typeface="Times New Roman" panose="02020603050405020304" pitchFamily="18" charset="0"/>
              </a:rPr>
              <a:t>app.html</a:t>
            </a:r>
            <a:r>
              <a:rPr lang="en-US" sz="240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13036EC1-6115-8DA7-2430-E1825CFC0581}"/>
              </a:ext>
            </a:extLst>
          </p:cNvPr>
          <p:cNvPicPr>
            <a:picLocks noChangeAspect="1"/>
          </p:cNvPicPr>
          <p:nvPr/>
        </p:nvPicPr>
        <p:blipFill>
          <a:blip r:embed="rId3"/>
          <a:stretch>
            <a:fillRect/>
          </a:stretch>
        </p:blipFill>
        <p:spPr>
          <a:xfrm>
            <a:off x="1647528" y="1724156"/>
            <a:ext cx="8204617" cy="4679278"/>
          </a:xfrm>
          <a:prstGeom prst="rect">
            <a:avLst/>
          </a:prstGeom>
        </p:spPr>
      </p:pic>
    </p:spTree>
    <p:extLst>
      <p:ext uri="{BB962C8B-B14F-4D97-AF65-F5344CB8AC3E}">
        <p14:creationId xmlns:p14="http://schemas.microsoft.com/office/powerpoint/2010/main" val="6288043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8D96FD6-F9FD-58EF-1EC4-027203D8A5C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770BFB7-27A1-6D5B-720D-ECACFE7F9F3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F7DE70E-F6A5-9C5E-A3DF-A88A16C05F3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grpSp>
        <p:nvGrpSpPr>
          <p:cNvPr id="2" name="Group 1">
            <a:extLst>
              <a:ext uri="{FF2B5EF4-FFF2-40B4-BE49-F238E27FC236}">
                <a16:creationId xmlns:a16="http://schemas.microsoft.com/office/drawing/2014/main" id="{4AC00896-D701-4961-B180-A3C56AA3CE47}"/>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41198599-9447-B557-5AEE-11969279EE2D}"/>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600" dirty="0">
                  <a:latin typeface="Times New Roman" panose="02020603050405020304" pitchFamily="18" charset="0"/>
                  <a:cs typeface="Times New Roman" panose="02020603050405020304" pitchFamily="18" charset="0"/>
                </a:rPr>
                <a:t>1.4.5.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Component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Angular</a:t>
              </a:r>
              <a:endParaRPr lang="en-US" sz="260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47F8735-5386-1174-336B-DE83811A3D3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8A433FB-BEA5-956F-4F5A-B2B1532DEF9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F0D9532-5F5E-22D9-3EC3-B65AC937779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8DA9B9A-E3DE-3207-1DD2-E11BBC6124B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1EDA89A-8B37-7EBE-6D8C-375CD5DDFF66}"/>
              </a:ext>
            </a:extLst>
          </p:cNvPr>
          <p:cNvSpPr txBox="1"/>
          <p:nvPr/>
        </p:nvSpPr>
        <p:spPr>
          <a:xfrm>
            <a:off x="415252" y="961202"/>
            <a:ext cx="11564547" cy="1200329"/>
          </a:xfrm>
          <a:prstGeom prst="rect">
            <a:avLst/>
          </a:prstGeom>
          <a:noFill/>
        </p:spPr>
        <p:txBody>
          <a:bodyPr wrap="square">
            <a:spAutoFit/>
          </a:bodyPr>
          <a:lstStyle/>
          <a:p>
            <a:pPr marL="457200" indent="-457200" algn="just">
              <a:buFont typeface="Wingdings" panose="05000000000000000000" pitchFamily="2" charset="2"/>
              <a:buChar char="q"/>
            </a:pPr>
            <a:r>
              <a:rPr lang="en-US" sz="2400" b="1" u="sng">
                <a:latin typeface="Times New Roman" panose="02020603050405020304" pitchFamily="18" charset="0"/>
                <a:cs typeface="Times New Roman" panose="02020603050405020304" pitchFamily="18" charset="0"/>
              </a:rPr>
              <a:t>Step 3:</a:t>
            </a:r>
            <a:r>
              <a:rPr lang="en-US" sz="2400">
                <a:latin typeface="Times New Roman" panose="02020603050405020304" pitchFamily="18" charset="0"/>
                <a:cs typeface="Times New Roman" panose="02020603050405020304" pitchFamily="18" charset="0"/>
              </a:rPr>
              <a:t> Sử dụng contact component. Lấy selector ‘</a:t>
            </a:r>
            <a:r>
              <a:rPr lang="en-US" sz="2400" b="1">
                <a:latin typeface="Times New Roman" panose="02020603050405020304" pitchFamily="18" charset="0"/>
                <a:cs typeface="Times New Roman" panose="02020603050405020304" pitchFamily="18" charset="0"/>
              </a:rPr>
              <a:t>app-contact</a:t>
            </a:r>
            <a:r>
              <a:rPr lang="en-US" sz="2400">
                <a:latin typeface="Times New Roman" panose="02020603050405020304" pitchFamily="18" charset="0"/>
                <a:cs typeface="Times New Roman" panose="02020603050405020304" pitchFamily="18" charset="0"/>
              </a:rPr>
              <a:t>’ trong file contact.ts được tạo ra. Gán selector này ở trang chủ </a:t>
            </a:r>
            <a:r>
              <a:rPr lang="en-US" sz="2400" b="1">
                <a:solidFill>
                  <a:srgbClr val="FF0000"/>
                </a:solidFill>
                <a:latin typeface="Times New Roman" panose="02020603050405020304" pitchFamily="18" charset="0"/>
                <a:cs typeface="Times New Roman" panose="02020603050405020304" pitchFamily="18" charset="0"/>
              </a:rPr>
              <a:t>app.html</a:t>
            </a:r>
            <a:r>
              <a:rPr lang="en-US" sz="2400">
                <a:latin typeface="Times New Roman" panose="02020603050405020304" pitchFamily="18" charset="0"/>
                <a:cs typeface="Times New Roman" panose="02020603050405020304" pitchFamily="18" charset="0"/>
              </a:rPr>
              <a:t>. Xóa dữ liệu mặc định, giữa lại router-outlet, bổ sung selector ‘app-contact’ vào app.html</a:t>
            </a:r>
            <a:endParaRPr lang="vi-VN" sz="24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3FAD04B-CEB5-FAD3-D5B5-949B488D92E3}"/>
              </a:ext>
            </a:extLst>
          </p:cNvPr>
          <p:cNvPicPr>
            <a:picLocks noChangeAspect="1"/>
          </p:cNvPicPr>
          <p:nvPr/>
        </p:nvPicPr>
        <p:blipFill>
          <a:blip r:embed="rId3"/>
          <a:stretch>
            <a:fillRect/>
          </a:stretch>
        </p:blipFill>
        <p:spPr>
          <a:xfrm>
            <a:off x="5966346" y="2256019"/>
            <a:ext cx="5700254" cy="2027096"/>
          </a:xfrm>
          <a:prstGeom prst="rect">
            <a:avLst/>
          </a:prstGeom>
        </p:spPr>
      </p:pic>
      <p:sp>
        <p:nvSpPr>
          <p:cNvPr id="13" name="TextBox 12">
            <a:extLst>
              <a:ext uri="{FF2B5EF4-FFF2-40B4-BE49-F238E27FC236}">
                <a16:creationId xmlns:a16="http://schemas.microsoft.com/office/drawing/2014/main" id="{D3C65EB6-F234-11C2-1A1D-73475FF23DF0}"/>
              </a:ext>
            </a:extLst>
          </p:cNvPr>
          <p:cNvSpPr txBox="1"/>
          <p:nvPr/>
        </p:nvSpPr>
        <p:spPr>
          <a:xfrm>
            <a:off x="5823284" y="5004675"/>
            <a:ext cx="5986378" cy="667875"/>
          </a:xfrm>
          <a:prstGeom prst="rect">
            <a:avLst/>
          </a:prstGeom>
          <a:noFill/>
          <a:ln>
            <a:solidFill>
              <a:srgbClr val="002060"/>
            </a:solidFill>
          </a:ln>
        </p:spPr>
        <p:txBody>
          <a:bodyPr wrap="square">
            <a:spAutoFit/>
          </a:bodyPr>
          <a:lstStyle/>
          <a:p>
            <a:pPr>
              <a:lnSpc>
                <a:spcPts val="2250"/>
              </a:lnSpc>
              <a:buNone/>
            </a:pPr>
            <a:r>
              <a:rPr lang="en-US" sz="1800" b="0">
                <a:solidFill>
                  <a:srgbClr val="800000"/>
                </a:solidFill>
                <a:effectLst/>
                <a:latin typeface="Consolas" panose="020B0609020204030204" pitchFamily="49" charset="0"/>
              </a:rPr>
              <a:t>&lt;app-contact&gt;&lt;/app-contact&gt;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800000"/>
                </a:solidFill>
                <a:effectLst/>
                <a:latin typeface="Consolas" panose="020B0609020204030204" pitchFamily="49" charset="0"/>
              </a:rPr>
              <a:t>&lt;router-outlet</a:t>
            </a: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p:txBody>
      </p:sp>
      <p:pic>
        <p:nvPicPr>
          <p:cNvPr id="14" name="Picture 13">
            <a:extLst>
              <a:ext uri="{FF2B5EF4-FFF2-40B4-BE49-F238E27FC236}">
                <a16:creationId xmlns:a16="http://schemas.microsoft.com/office/drawing/2014/main" id="{27F2CFCF-77D1-78C1-7BE5-DC45B0AA3343}"/>
              </a:ext>
            </a:extLst>
          </p:cNvPr>
          <p:cNvPicPr>
            <a:picLocks noChangeAspect="1"/>
          </p:cNvPicPr>
          <p:nvPr/>
        </p:nvPicPr>
        <p:blipFill>
          <a:blip r:embed="rId4"/>
          <a:stretch>
            <a:fillRect/>
          </a:stretch>
        </p:blipFill>
        <p:spPr>
          <a:xfrm>
            <a:off x="542786" y="2256019"/>
            <a:ext cx="4155361" cy="2440451"/>
          </a:xfrm>
          <a:prstGeom prst="rect">
            <a:avLst/>
          </a:prstGeom>
          <a:ln>
            <a:solidFill>
              <a:schemeClr val="accent1"/>
            </a:solidFill>
          </a:ln>
        </p:spPr>
      </p:pic>
      <p:sp>
        <p:nvSpPr>
          <p:cNvPr id="15" name="TextBox 14">
            <a:extLst>
              <a:ext uri="{FF2B5EF4-FFF2-40B4-BE49-F238E27FC236}">
                <a16:creationId xmlns:a16="http://schemas.microsoft.com/office/drawing/2014/main" id="{397C0020-25DD-E11A-3002-58ED62447F32}"/>
              </a:ext>
            </a:extLst>
          </p:cNvPr>
          <p:cNvSpPr txBox="1"/>
          <p:nvPr/>
        </p:nvSpPr>
        <p:spPr>
          <a:xfrm>
            <a:off x="3265769" y="2256019"/>
            <a:ext cx="1438214" cy="400110"/>
          </a:xfrm>
          <a:prstGeom prst="rect">
            <a:avLst/>
          </a:prstGeom>
          <a:solidFill>
            <a:schemeClr val="accent6">
              <a:lumMod val="20000"/>
              <a:lumOff val="80000"/>
            </a:schemeClr>
          </a:solidFill>
        </p:spPr>
        <p:txBody>
          <a:bodyPr wrap="none" rtlCol="0">
            <a:spAutoFit/>
          </a:bodyPr>
          <a:lstStyle/>
          <a:p>
            <a:pPr algn="ctr"/>
            <a:r>
              <a:rPr lang="en-US" sz="2000" b="1">
                <a:solidFill>
                  <a:srgbClr val="FF0000"/>
                </a:solidFill>
              </a:rPr>
              <a:t>contact.ts</a:t>
            </a:r>
            <a:endParaRPr lang="en-US" b="1"/>
          </a:p>
        </p:txBody>
      </p:sp>
      <p:sp>
        <p:nvSpPr>
          <p:cNvPr id="16" name="Rectangle 15">
            <a:extLst>
              <a:ext uri="{FF2B5EF4-FFF2-40B4-BE49-F238E27FC236}">
                <a16:creationId xmlns:a16="http://schemas.microsoft.com/office/drawing/2014/main" id="{7A795935-DAF2-A597-39AA-2182A3B85297}"/>
              </a:ext>
            </a:extLst>
          </p:cNvPr>
          <p:cNvSpPr/>
          <p:nvPr/>
        </p:nvSpPr>
        <p:spPr>
          <a:xfrm>
            <a:off x="1271557" y="3240773"/>
            <a:ext cx="2289438" cy="1903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2F37E483-1797-BC05-C700-C6B5835F5F56}"/>
              </a:ext>
            </a:extLst>
          </p:cNvPr>
          <p:cNvSpPr/>
          <p:nvPr/>
        </p:nvSpPr>
        <p:spPr>
          <a:xfrm>
            <a:off x="4547616" y="3300762"/>
            <a:ext cx="1438214" cy="188227"/>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60021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1E597EE-472E-3720-C44B-2EF2EF7F09F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3973F15-107C-6E8B-9C36-33217680A15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BF25674-580F-C461-48B8-848B3244737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grpSp>
        <p:nvGrpSpPr>
          <p:cNvPr id="2" name="Group 1">
            <a:extLst>
              <a:ext uri="{FF2B5EF4-FFF2-40B4-BE49-F238E27FC236}">
                <a16:creationId xmlns:a16="http://schemas.microsoft.com/office/drawing/2014/main" id="{15511982-B180-826A-1667-0E60217143CE}"/>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918BFA46-F2FA-2747-7012-C588E58AA2ED}"/>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600" dirty="0">
                  <a:latin typeface="Times New Roman" panose="02020603050405020304" pitchFamily="18" charset="0"/>
                  <a:cs typeface="Times New Roman" panose="02020603050405020304" pitchFamily="18" charset="0"/>
                </a:rPr>
                <a:t>1.4.5.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dụng</a:t>
              </a:r>
              <a:r>
                <a:rPr lang="en-US" sz="2600" dirty="0">
                  <a:latin typeface="Times New Roman" panose="02020603050405020304" pitchFamily="18" charset="0"/>
                  <a:cs typeface="Times New Roman" panose="02020603050405020304" pitchFamily="18" charset="0"/>
                </a:rPr>
                <a:t> Component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Angular</a:t>
              </a:r>
              <a:endParaRPr lang="en-US" sz="260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59C5AFE-A35F-1FDD-856B-AEACF158A54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4050C65-13F6-69BE-1463-AC6EFCECA6D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34DFD2D-8546-2A6E-C6AB-E50F1C86A98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1EC5FF4-197C-3600-9EC5-87A6E374ECC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EC3C23B-7C85-C654-5279-FF1DDC9A4B04}"/>
              </a:ext>
            </a:extLst>
          </p:cNvPr>
          <p:cNvSpPr txBox="1"/>
          <p:nvPr/>
        </p:nvSpPr>
        <p:spPr>
          <a:xfrm>
            <a:off x="415252" y="961202"/>
            <a:ext cx="11564547" cy="1200329"/>
          </a:xfrm>
          <a:prstGeom prst="rect">
            <a:avLst/>
          </a:prstGeom>
          <a:noFill/>
        </p:spPr>
        <p:txBody>
          <a:bodyPr wrap="square">
            <a:spAutoFit/>
          </a:bodyPr>
          <a:lstStyle/>
          <a:p>
            <a:pPr marL="457200" indent="-457200" algn="just">
              <a:buFont typeface="Wingdings" panose="05000000000000000000" pitchFamily="2" charset="2"/>
              <a:buChar char="q"/>
            </a:pPr>
            <a:r>
              <a:rPr lang="en-US" sz="2400" b="1" u="sng">
                <a:latin typeface="Times New Roman" panose="02020603050405020304" pitchFamily="18" charset="0"/>
                <a:cs typeface="Times New Roman" panose="02020603050405020304" pitchFamily="18" charset="0"/>
              </a:rPr>
              <a:t>Step 4:</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Nhấn lưu rồi chạy lại dự án với lệnh </a:t>
            </a:r>
            <a:r>
              <a:rPr lang="en-US" sz="2400">
                <a:solidFill>
                  <a:srgbClr val="FF0000"/>
                </a:solidFill>
                <a:latin typeface="Times New Roman" panose="02020603050405020304" pitchFamily="18" charset="0"/>
                <a:cs typeface="Times New Roman" panose="02020603050405020304" pitchFamily="18" charset="0"/>
              </a:rPr>
              <a:t>ng serve --o </a:t>
            </a:r>
            <a:r>
              <a:rPr lang="en-US" sz="2400">
                <a:latin typeface="Times New Roman" panose="02020603050405020304" pitchFamily="18" charset="0"/>
                <a:cs typeface="Times New Roman" panose="02020603050405020304" pitchFamily="18" charset="0"/>
              </a:rPr>
              <a:t>nếu chưa chạy hoặc đã tắt trước đó. Còn nếu đang chạy thì chỉ cần xem lại trình duyệt, giao diện trang chủ sẽ được thay thế bởi giao diện của contact component dưới đây:</a:t>
            </a:r>
            <a:endParaRPr lang="vi-V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652B8B2-EBB2-1B01-DCFB-4EA685DFF188}"/>
              </a:ext>
            </a:extLst>
          </p:cNvPr>
          <p:cNvPicPr>
            <a:picLocks noChangeAspect="1"/>
          </p:cNvPicPr>
          <p:nvPr/>
        </p:nvPicPr>
        <p:blipFill>
          <a:blip r:embed="rId3"/>
          <a:stretch>
            <a:fillRect/>
          </a:stretch>
        </p:blipFill>
        <p:spPr>
          <a:xfrm>
            <a:off x="2102840" y="2161531"/>
            <a:ext cx="7460547" cy="3440669"/>
          </a:xfrm>
          <a:prstGeom prst="rect">
            <a:avLst/>
          </a:prstGeom>
        </p:spPr>
      </p:pic>
      <p:sp>
        <p:nvSpPr>
          <p:cNvPr id="8" name="TextBox 7">
            <a:extLst>
              <a:ext uri="{FF2B5EF4-FFF2-40B4-BE49-F238E27FC236}">
                <a16:creationId xmlns:a16="http://schemas.microsoft.com/office/drawing/2014/main" id="{60AB9DB4-E6DF-F912-CEC4-156A1A185FE0}"/>
              </a:ext>
            </a:extLst>
          </p:cNvPr>
          <p:cNvSpPr txBox="1"/>
          <p:nvPr/>
        </p:nvSpPr>
        <p:spPr>
          <a:xfrm>
            <a:off x="415252" y="5784949"/>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Component sinh ra để tái sử dụng, nên ta có thể gọi nó nhiều lần ở các nơi khác nhau</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54499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77647D5-1F8D-74FE-0F38-69F5E351BAB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6E877CD-ADC9-DCC1-4F8C-8687103AD7A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EF30269-338D-A242-4C48-CB092FD847B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grpSp>
        <p:nvGrpSpPr>
          <p:cNvPr id="2" name="Group 1">
            <a:extLst>
              <a:ext uri="{FF2B5EF4-FFF2-40B4-BE49-F238E27FC236}">
                <a16:creationId xmlns:a16="http://schemas.microsoft.com/office/drawing/2014/main" id="{445886C3-5316-86B6-C2AC-A2E25107EA65}"/>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330B9B41-EAE2-62C5-F34D-064F0586875A}"/>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6573DB0-23AD-7B65-17D4-DF374374558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CB2A22B-B222-1FBF-4D33-9437F72D66E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680FD63-9CB9-11FE-C58C-800C57E0278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6D7230F-0688-E89C-4F43-38559CA0106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8" name="Picture 7">
            <a:extLst>
              <a:ext uri="{FF2B5EF4-FFF2-40B4-BE49-F238E27FC236}">
                <a16:creationId xmlns:a16="http://schemas.microsoft.com/office/drawing/2014/main" id="{0103DB95-403F-532C-F3D7-D80599891B90}"/>
              </a:ext>
            </a:extLst>
          </p:cNvPr>
          <p:cNvPicPr>
            <a:picLocks noChangeAspect="1"/>
          </p:cNvPicPr>
          <p:nvPr/>
        </p:nvPicPr>
        <p:blipFill>
          <a:blip r:embed="rId3"/>
          <a:stretch>
            <a:fillRect/>
          </a:stretch>
        </p:blipFill>
        <p:spPr>
          <a:xfrm>
            <a:off x="8200573" y="868884"/>
            <a:ext cx="3576175" cy="5439869"/>
          </a:xfrm>
          <a:prstGeom prst="rect">
            <a:avLst/>
          </a:prstGeom>
        </p:spPr>
      </p:pic>
      <p:sp>
        <p:nvSpPr>
          <p:cNvPr id="9" name="TextBox 8">
            <a:extLst>
              <a:ext uri="{FF2B5EF4-FFF2-40B4-BE49-F238E27FC236}">
                <a16:creationId xmlns:a16="http://schemas.microsoft.com/office/drawing/2014/main" id="{3B7E347C-AB47-883D-D5FA-0D75322F971B}"/>
              </a:ext>
            </a:extLst>
          </p:cNvPr>
          <p:cNvSpPr txBox="1"/>
          <p:nvPr/>
        </p:nvSpPr>
        <p:spPr>
          <a:xfrm>
            <a:off x="415252" y="937636"/>
            <a:ext cx="5197257" cy="492443"/>
          </a:xfrm>
          <a:prstGeom prst="rect">
            <a:avLst/>
          </a:prstGeom>
          <a:noFill/>
        </p:spPr>
        <p:txBody>
          <a:bodyPr wrap="none" rtlCol="0">
            <a:spAutoFit/>
          </a:bodyPr>
          <a:lstStyle/>
          <a:p>
            <a:pPr marL="457200" indent="-457200">
              <a:buFont typeface="Wingdings" panose="05000000000000000000" pitchFamily="2" charset="2"/>
              <a:buChar char="q"/>
            </a:pPr>
            <a:r>
              <a:rPr lang="en-US" sz="2600">
                <a:latin typeface="Times New Roman" panose="02020603050405020304" pitchFamily="18" charset="0"/>
                <a:cs typeface="Times New Roman" panose="02020603050405020304" pitchFamily="18" charset="0"/>
              </a:rPr>
              <a:t>Chi tiết thành phần dự án Angular</a:t>
            </a:r>
          </a:p>
        </p:txBody>
      </p:sp>
      <p:sp>
        <p:nvSpPr>
          <p:cNvPr id="11" name="TextBox 10">
            <a:extLst>
              <a:ext uri="{FF2B5EF4-FFF2-40B4-BE49-F238E27FC236}">
                <a16:creationId xmlns:a16="http://schemas.microsoft.com/office/drawing/2014/main" id="{349C4592-4FEF-CBA1-3474-6CE850B99BBC}"/>
              </a:ext>
            </a:extLst>
          </p:cNvPr>
          <p:cNvSpPr txBox="1"/>
          <p:nvPr/>
        </p:nvSpPr>
        <p:spPr>
          <a:xfrm>
            <a:off x="388797" y="1563462"/>
            <a:ext cx="7811776" cy="430887"/>
          </a:xfrm>
          <a:prstGeom prst="rect">
            <a:avLst/>
          </a:prstGeom>
          <a:noFill/>
        </p:spPr>
        <p:txBody>
          <a:bodyPr wrap="square">
            <a:spAutoFit/>
          </a:bodyPr>
          <a:lstStyle/>
          <a:p>
            <a:r>
              <a:rPr lang="en-US" sz="2200" b="1">
                <a:latin typeface="Times New Roman" panose="02020603050405020304" pitchFamily="18" charset="0"/>
                <a:cs typeface="Times New Roman" panose="02020603050405020304" pitchFamily="18" charset="0"/>
              </a:rPr>
              <a:t>1. </a:t>
            </a:r>
            <a:r>
              <a:rPr lang="vi-VN" sz="2200" b="1">
                <a:latin typeface="Times New Roman" panose="02020603050405020304" pitchFamily="18" charset="0"/>
                <a:cs typeface="Times New Roman" panose="02020603050405020304" pitchFamily="18" charset="0"/>
              </a:rPr>
              <a:t>Tầng Source Code </a:t>
            </a:r>
            <a:r>
              <a:rPr lang="vi-VN" sz="2200">
                <a:latin typeface="Times New Roman" panose="02020603050405020304" pitchFamily="18" charset="0"/>
                <a:cs typeface="Times New Roman" panose="02020603050405020304" pitchFamily="18" charset="0"/>
              </a:rPr>
              <a:t>(Thư mục </a:t>
            </a:r>
            <a:r>
              <a:rPr lang="vi-VN" sz="2200" b="1">
                <a:latin typeface="Times New Roman" panose="02020603050405020304" pitchFamily="18" charset="0"/>
                <a:cs typeface="Times New Roman" panose="02020603050405020304" pitchFamily="18" charset="0"/>
              </a:rPr>
              <a:t>src/app/</a:t>
            </a:r>
            <a:r>
              <a:rPr lang="vi-VN" sz="2200">
                <a:latin typeface="Times New Roman" panose="02020603050405020304" pitchFamily="18" charset="0"/>
                <a:cs typeface="Times New Roman" panose="02020603050405020304" pitchFamily="18" charset="0"/>
              </a:rPr>
              <a:t>) - "Nơi làm việc chính"</a:t>
            </a:r>
            <a:endParaRPr lang="en-US" sz="2200">
              <a:latin typeface="Times New Roman" panose="02020603050405020304" pitchFamily="18" charset="0"/>
              <a:cs typeface="Times New Roman" panose="02020603050405020304" pitchFamily="18" charset="0"/>
            </a:endParaRPr>
          </a:p>
        </p:txBody>
      </p:sp>
      <p:sp>
        <p:nvSpPr>
          <p:cNvPr id="12" name="Rectangle 1">
            <a:extLst>
              <a:ext uri="{FF2B5EF4-FFF2-40B4-BE49-F238E27FC236}">
                <a16:creationId xmlns:a16="http://schemas.microsoft.com/office/drawing/2014/main" id="{D22B27D3-8BC2-7626-D44A-1CDA06242FE5}"/>
              </a:ext>
            </a:extLst>
          </p:cNvPr>
          <p:cNvSpPr>
            <a:spLocks noChangeArrowheads="1"/>
          </p:cNvSpPr>
          <p:nvPr/>
        </p:nvSpPr>
        <p:spPr bwMode="auto">
          <a:xfrm>
            <a:off x="542786" y="1943080"/>
            <a:ext cx="7447925" cy="4094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app-module.ts</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Root module. Nơi khai báo (declare) tất cả các component/directive và import các module thư viện cần thiết.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app-routing-module.ts</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Bản đồ định tuyến của ứng dụng.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app.component.ts/html/css</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Root component (Component gốc). Mọi nội dung hiển thị của ứng dụng thường nằm dưới sự quản lý của component này.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app.spec.ts</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File dùng cho Unit Testing (sinh viên thường bỏ qua nhưng dân chuyên nghiệp phải biết).</a:t>
            </a:r>
          </a:p>
        </p:txBody>
      </p:sp>
      <p:sp>
        <p:nvSpPr>
          <p:cNvPr id="13" name="Rectangle 12">
            <a:extLst>
              <a:ext uri="{FF2B5EF4-FFF2-40B4-BE49-F238E27FC236}">
                <a16:creationId xmlns:a16="http://schemas.microsoft.com/office/drawing/2014/main" id="{13A14893-FF5F-CF01-1187-A3B2F860D148}"/>
              </a:ext>
            </a:extLst>
          </p:cNvPr>
          <p:cNvSpPr/>
          <p:nvPr/>
        </p:nvSpPr>
        <p:spPr>
          <a:xfrm>
            <a:off x="8490857" y="2578195"/>
            <a:ext cx="3285891" cy="19525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40156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EB476F2-156F-5770-51BE-B235A83AC00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5E55A07-F5CA-9004-5D60-77FEC1A39B2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B403480-4D65-FD61-D964-BA5291013EB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grpSp>
        <p:nvGrpSpPr>
          <p:cNvPr id="2" name="Group 1">
            <a:extLst>
              <a:ext uri="{FF2B5EF4-FFF2-40B4-BE49-F238E27FC236}">
                <a16:creationId xmlns:a16="http://schemas.microsoft.com/office/drawing/2014/main" id="{AD40DE49-2EAC-D7DB-C1A4-DBB0C223C2DB}"/>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2A087891-02B2-BC3D-5C82-6EA723FC30F9}"/>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EFF1867-F491-4C08-4D02-E73F8B0A031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10FD205-4B78-E8F0-CCF0-57B8A9D5BA1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73463D5-20DF-CBCA-A31C-9E1FD1DF41A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B74DC21-9D74-E739-C21B-CF54537334F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8" name="Picture 7">
            <a:extLst>
              <a:ext uri="{FF2B5EF4-FFF2-40B4-BE49-F238E27FC236}">
                <a16:creationId xmlns:a16="http://schemas.microsoft.com/office/drawing/2014/main" id="{DAB63D88-8DC0-A31E-FBE8-1FF1DCC4C85C}"/>
              </a:ext>
            </a:extLst>
          </p:cNvPr>
          <p:cNvPicPr>
            <a:picLocks noChangeAspect="1"/>
          </p:cNvPicPr>
          <p:nvPr/>
        </p:nvPicPr>
        <p:blipFill>
          <a:blip r:embed="rId3"/>
          <a:stretch>
            <a:fillRect/>
          </a:stretch>
        </p:blipFill>
        <p:spPr>
          <a:xfrm>
            <a:off x="8538219" y="841384"/>
            <a:ext cx="3576175" cy="5439869"/>
          </a:xfrm>
          <a:prstGeom prst="rect">
            <a:avLst/>
          </a:prstGeom>
        </p:spPr>
      </p:pic>
      <p:sp>
        <p:nvSpPr>
          <p:cNvPr id="9" name="TextBox 8">
            <a:extLst>
              <a:ext uri="{FF2B5EF4-FFF2-40B4-BE49-F238E27FC236}">
                <a16:creationId xmlns:a16="http://schemas.microsoft.com/office/drawing/2014/main" id="{F6747B9D-AD93-283D-2B71-0A01C783A09B}"/>
              </a:ext>
            </a:extLst>
          </p:cNvPr>
          <p:cNvSpPr txBox="1"/>
          <p:nvPr/>
        </p:nvSpPr>
        <p:spPr>
          <a:xfrm>
            <a:off x="415252" y="937636"/>
            <a:ext cx="5197257" cy="492443"/>
          </a:xfrm>
          <a:prstGeom prst="rect">
            <a:avLst/>
          </a:prstGeom>
          <a:noFill/>
        </p:spPr>
        <p:txBody>
          <a:bodyPr wrap="none" rtlCol="0">
            <a:spAutoFit/>
          </a:bodyPr>
          <a:lstStyle/>
          <a:p>
            <a:pPr marL="457200" indent="-457200">
              <a:buFont typeface="Wingdings" panose="05000000000000000000" pitchFamily="2" charset="2"/>
              <a:buChar char="q"/>
            </a:pPr>
            <a:r>
              <a:rPr lang="en-US" sz="2600">
                <a:latin typeface="Times New Roman" panose="02020603050405020304" pitchFamily="18" charset="0"/>
                <a:cs typeface="Times New Roman" panose="02020603050405020304" pitchFamily="18" charset="0"/>
              </a:rPr>
              <a:t>Chi tiết thành phần dự án Angular</a:t>
            </a:r>
          </a:p>
        </p:txBody>
      </p:sp>
      <p:sp>
        <p:nvSpPr>
          <p:cNvPr id="13" name="TextBox 12">
            <a:extLst>
              <a:ext uri="{FF2B5EF4-FFF2-40B4-BE49-F238E27FC236}">
                <a16:creationId xmlns:a16="http://schemas.microsoft.com/office/drawing/2014/main" id="{437259E0-8C7D-EFF1-2593-3CBD9F6490F9}"/>
              </a:ext>
            </a:extLst>
          </p:cNvPr>
          <p:cNvSpPr txBox="1"/>
          <p:nvPr/>
        </p:nvSpPr>
        <p:spPr>
          <a:xfrm>
            <a:off x="471365" y="1481937"/>
            <a:ext cx="6297672" cy="430887"/>
          </a:xfrm>
          <a:prstGeom prst="rect">
            <a:avLst/>
          </a:prstGeom>
          <a:noFill/>
        </p:spPr>
        <p:txBody>
          <a:bodyPr wrap="square">
            <a:spAutoFit/>
          </a:bodyPr>
          <a:lstStyle/>
          <a:p>
            <a:r>
              <a:rPr lang="en-US" sz="2200" b="1">
                <a:latin typeface="Times New Roman" panose="02020603050405020304" pitchFamily="18" charset="0"/>
                <a:cs typeface="Times New Roman" panose="02020603050405020304" pitchFamily="18" charset="0"/>
              </a:rPr>
              <a:t>2. Tầng Cấu hình &amp; Build (Project Configuration)</a:t>
            </a:r>
          </a:p>
        </p:txBody>
      </p:sp>
      <p:sp>
        <p:nvSpPr>
          <p:cNvPr id="14" name="Rectangle 1">
            <a:extLst>
              <a:ext uri="{FF2B5EF4-FFF2-40B4-BE49-F238E27FC236}">
                <a16:creationId xmlns:a16="http://schemas.microsoft.com/office/drawing/2014/main" id="{E0633D83-B97B-2D75-156E-C9DF742BC9E6}"/>
              </a:ext>
            </a:extLst>
          </p:cNvPr>
          <p:cNvSpPr>
            <a:spLocks noChangeArrowheads="1"/>
          </p:cNvSpPr>
          <p:nvPr/>
        </p:nvSpPr>
        <p:spPr bwMode="auto">
          <a:xfrm>
            <a:off x="542787" y="1827334"/>
            <a:ext cx="7995432" cy="4602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angular.json</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Nơi </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cấu hình của Angular CLI. Nó định nghĩa cách dự án được build, nơi chứa asset, cấu hình môi trường (production/development), và các thư viện CSS/Script global.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main.ts</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Entry point của ứng dụng. Đây là file đầu tiên chạy sau khi trình duyệt load xong script, chịu trách nhiệm bootstrap AppModule.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index.html</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File HTML duy nhất của toàn bộ SPA. </a:t>
            </a:r>
            <a:b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Thẻ </a:t>
            </a: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&lt;app-root&gt;&lt;/app-root&gt; </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ở đây – đó là nơi Angular "inject" giao diện vào.</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styles.css</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Nơi chứa style global (áp dụng cho toàn bộ dự án).</a:t>
            </a:r>
          </a:p>
        </p:txBody>
      </p:sp>
      <p:sp>
        <p:nvSpPr>
          <p:cNvPr id="15" name="Rectangle 14">
            <a:extLst>
              <a:ext uri="{FF2B5EF4-FFF2-40B4-BE49-F238E27FC236}">
                <a16:creationId xmlns:a16="http://schemas.microsoft.com/office/drawing/2014/main" id="{2682714F-2BC0-4BE5-B389-B04F9A969DE8}"/>
              </a:ext>
            </a:extLst>
          </p:cNvPr>
          <p:cNvSpPr/>
          <p:nvPr/>
        </p:nvSpPr>
        <p:spPr>
          <a:xfrm>
            <a:off x="8906109" y="4503248"/>
            <a:ext cx="3285891" cy="177113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58145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6F54153-E476-6971-E95E-2DA9D82FD1E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CC7CA79-F1E5-B9A1-B758-06A30302122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1E3670B-3309-0036-4A0E-8AB1ECCF91E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grpSp>
        <p:nvGrpSpPr>
          <p:cNvPr id="2" name="Group 1">
            <a:extLst>
              <a:ext uri="{FF2B5EF4-FFF2-40B4-BE49-F238E27FC236}">
                <a16:creationId xmlns:a16="http://schemas.microsoft.com/office/drawing/2014/main" id="{6DC65A60-E6FC-C133-CF21-619DC10D02BA}"/>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B8A8647B-707D-297F-3469-784719FBFC3E}"/>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CEC8DFA-4037-D14B-86A5-111F6C3EE8C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DCB62E6-9E83-948C-F039-2A54CA62391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661A8F3-D6BC-8C8B-F235-2E11F774F65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2A927AB-0852-1DC4-6043-02E51B80920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FCA519A-33D6-5C8C-0A42-75F499C104B8}"/>
              </a:ext>
            </a:extLst>
          </p:cNvPr>
          <p:cNvSpPr txBox="1"/>
          <p:nvPr/>
        </p:nvSpPr>
        <p:spPr>
          <a:xfrm>
            <a:off x="415252" y="937636"/>
            <a:ext cx="5197257" cy="492443"/>
          </a:xfrm>
          <a:prstGeom prst="rect">
            <a:avLst/>
          </a:prstGeom>
          <a:noFill/>
        </p:spPr>
        <p:txBody>
          <a:bodyPr wrap="none" rtlCol="0">
            <a:spAutoFit/>
          </a:bodyPr>
          <a:lstStyle/>
          <a:p>
            <a:pPr marL="457200" indent="-457200">
              <a:buFont typeface="Wingdings" panose="05000000000000000000" pitchFamily="2" charset="2"/>
              <a:buChar char="q"/>
            </a:pPr>
            <a:r>
              <a:rPr lang="en-US" sz="2600">
                <a:latin typeface="Times New Roman" panose="02020603050405020304" pitchFamily="18" charset="0"/>
                <a:cs typeface="Times New Roman" panose="02020603050405020304" pitchFamily="18" charset="0"/>
              </a:rPr>
              <a:t>Chi tiết thành phần dự án Angular</a:t>
            </a:r>
          </a:p>
        </p:txBody>
      </p:sp>
      <p:sp>
        <p:nvSpPr>
          <p:cNvPr id="13" name="TextBox 12">
            <a:extLst>
              <a:ext uri="{FF2B5EF4-FFF2-40B4-BE49-F238E27FC236}">
                <a16:creationId xmlns:a16="http://schemas.microsoft.com/office/drawing/2014/main" id="{5C322BB9-054A-94AC-FAC3-9F5D89AAF6F5}"/>
              </a:ext>
            </a:extLst>
          </p:cNvPr>
          <p:cNvSpPr txBox="1"/>
          <p:nvPr/>
        </p:nvSpPr>
        <p:spPr>
          <a:xfrm>
            <a:off x="471365" y="1481937"/>
            <a:ext cx="6297672" cy="430887"/>
          </a:xfrm>
          <a:prstGeom prst="rect">
            <a:avLst/>
          </a:prstGeom>
          <a:noFill/>
        </p:spPr>
        <p:txBody>
          <a:bodyPr wrap="square">
            <a:spAutoFit/>
          </a:bodyPr>
          <a:lstStyle/>
          <a:p>
            <a:r>
              <a:rPr lang="en-US" sz="2200" b="1">
                <a:latin typeface="Times New Roman" panose="02020603050405020304" pitchFamily="18" charset="0"/>
                <a:cs typeface="Times New Roman" panose="02020603050405020304" pitchFamily="18" charset="0"/>
              </a:rPr>
              <a:t>3. </a:t>
            </a:r>
            <a:r>
              <a:rPr lang="vi-VN" sz="2200" b="1">
                <a:latin typeface="Times New Roman" panose="02020603050405020304" pitchFamily="18" charset="0"/>
                <a:cs typeface="Times New Roman" panose="02020603050405020304" pitchFamily="18" charset="0"/>
              </a:rPr>
              <a:t>Tầng Môi trường &amp; Dependencies</a:t>
            </a:r>
          </a:p>
        </p:txBody>
      </p:sp>
      <p:sp>
        <p:nvSpPr>
          <p:cNvPr id="11" name="TextBox 10">
            <a:extLst>
              <a:ext uri="{FF2B5EF4-FFF2-40B4-BE49-F238E27FC236}">
                <a16:creationId xmlns:a16="http://schemas.microsoft.com/office/drawing/2014/main" id="{AE5A974E-7535-80B8-9F4F-DFE0C5B0DFDF}"/>
              </a:ext>
            </a:extLst>
          </p:cNvPr>
          <p:cNvSpPr txBox="1"/>
          <p:nvPr/>
        </p:nvSpPr>
        <p:spPr>
          <a:xfrm>
            <a:off x="471365" y="1964682"/>
            <a:ext cx="7606981" cy="4094198"/>
          </a:xfrm>
          <a:prstGeom prst="rect">
            <a:avLst/>
          </a:prstGeom>
          <a:noFill/>
        </p:spPr>
        <p:txBody>
          <a:bodyPr wrap="square">
            <a:spAutoFit/>
          </a:bodyPr>
          <a:lstStyle/>
          <a:p>
            <a:pPr algn="just">
              <a:lnSpc>
                <a:spcPct val="150000"/>
              </a:lnSpc>
              <a:buFont typeface="Arial" panose="020B0604020202020204" pitchFamily="34" charset="0"/>
              <a:buChar char="•"/>
            </a:pPr>
            <a:r>
              <a:rPr lang="vi-VN" sz="2200" b="1">
                <a:latin typeface="+mj-lt"/>
              </a:rPr>
              <a:t>node_modules/</a:t>
            </a:r>
            <a:r>
              <a:rPr lang="vi-VN" sz="2200">
                <a:latin typeface="+mj-lt"/>
              </a:rPr>
              <a:t>: Thư viện dependencies. </a:t>
            </a:r>
            <a:r>
              <a:rPr lang="vi-VN" sz="2200" b="1">
                <a:latin typeface="+mj-lt"/>
              </a:rPr>
              <a:t>Tuyệt đối không chỉnh sửa</a:t>
            </a:r>
            <a:r>
              <a:rPr lang="vi-VN" sz="2200">
                <a:latin typeface="+mj-lt"/>
              </a:rPr>
              <a:t>.</a:t>
            </a:r>
          </a:p>
          <a:p>
            <a:pPr algn="just">
              <a:lnSpc>
                <a:spcPct val="150000"/>
              </a:lnSpc>
              <a:buFont typeface="Arial" panose="020B0604020202020204" pitchFamily="34" charset="0"/>
              <a:buChar char="•"/>
            </a:pPr>
            <a:r>
              <a:rPr lang="vi-VN" sz="2200" b="1">
                <a:latin typeface="+mj-lt"/>
              </a:rPr>
              <a:t>package.json</a:t>
            </a:r>
            <a:r>
              <a:rPr lang="vi-VN" sz="2200">
                <a:latin typeface="+mj-lt"/>
              </a:rPr>
              <a:t>: Danh sách thư viện (dependencies) và các script lệnh (ví dụ: ng serve, ng build).</a:t>
            </a:r>
          </a:p>
          <a:p>
            <a:pPr algn="just">
              <a:lnSpc>
                <a:spcPct val="150000"/>
              </a:lnSpc>
              <a:buFont typeface="Arial" panose="020B0604020202020204" pitchFamily="34" charset="0"/>
              <a:buChar char="•"/>
            </a:pPr>
            <a:r>
              <a:rPr lang="vi-VN" sz="2200" b="1">
                <a:latin typeface="+mj-lt"/>
              </a:rPr>
              <a:t>.gitignore</a:t>
            </a:r>
            <a:r>
              <a:rPr lang="vi-VN" sz="2200">
                <a:latin typeface="+mj-lt"/>
              </a:rPr>
              <a:t>: Danh sách file/thư mục không đưa lên Git (thường là node_modules, dist).</a:t>
            </a:r>
          </a:p>
          <a:p>
            <a:pPr algn="just">
              <a:lnSpc>
                <a:spcPct val="150000"/>
              </a:lnSpc>
              <a:buFont typeface="Arial" panose="020B0604020202020204" pitchFamily="34" charset="0"/>
              <a:buChar char="•"/>
            </a:pPr>
            <a:r>
              <a:rPr lang="vi-VN" sz="2200" b="1">
                <a:latin typeface="+mj-lt"/>
              </a:rPr>
              <a:t>.editorconfig</a:t>
            </a:r>
            <a:r>
              <a:rPr lang="vi-VN" sz="2200">
                <a:latin typeface="+mj-lt"/>
              </a:rPr>
              <a:t>: Định nghĩa chuẩn format code (tab/space, end-of-line) cho team.</a:t>
            </a:r>
          </a:p>
        </p:txBody>
      </p:sp>
      <p:pic>
        <p:nvPicPr>
          <p:cNvPr id="17" name="Picture 16">
            <a:extLst>
              <a:ext uri="{FF2B5EF4-FFF2-40B4-BE49-F238E27FC236}">
                <a16:creationId xmlns:a16="http://schemas.microsoft.com/office/drawing/2014/main" id="{91B59C9B-A574-8211-AE1F-A837E29CDAD4}"/>
              </a:ext>
            </a:extLst>
          </p:cNvPr>
          <p:cNvPicPr>
            <a:picLocks noChangeAspect="1"/>
          </p:cNvPicPr>
          <p:nvPr/>
        </p:nvPicPr>
        <p:blipFill>
          <a:blip r:embed="rId3"/>
          <a:stretch>
            <a:fillRect/>
          </a:stretch>
        </p:blipFill>
        <p:spPr>
          <a:xfrm>
            <a:off x="8365543" y="385722"/>
            <a:ext cx="3098325" cy="6184231"/>
          </a:xfrm>
          <a:prstGeom prst="rect">
            <a:avLst/>
          </a:prstGeom>
        </p:spPr>
      </p:pic>
      <p:sp>
        <p:nvSpPr>
          <p:cNvPr id="18" name="Rectangle 17">
            <a:extLst>
              <a:ext uri="{FF2B5EF4-FFF2-40B4-BE49-F238E27FC236}">
                <a16:creationId xmlns:a16="http://schemas.microsoft.com/office/drawing/2014/main" id="{DAFB0F66-46C2-5949-3FD7-C8AAB864E411}"/>
              </a:ext>
            </a:extLst>
          </p:cNvPr>
          <p:cNvSpPr/>
          <p:nvPr/>
        </p:nvSpPr>
        <p:spPr>
          <a:xfrm>
            <a:off x="8271759" y="1381121"/>
            <a:ext cx="3285891" cy="31625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2E64C8A-40D7-CDC0-D974-775BC53FC883}"/>
              </a:ext>
            </a:extLst>
          </p:cNvPr>
          <p:cNvSpPr/>
          <p:nvPr/>
        </p:nvSpPr>
        <p:spPr>
          <a:xfrm>
            <a:off x="8303668" y="5267976"/>
            <a:ext cx="3285891" cy="2501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7DCE38A-CC28-5F24-709A-34C371FE78C0}"/>
              </a:ext>
            </a:extLst>
          </p:cNvPr>
          <p:cNvSpPr/>
          <p:nvPr/>
        </p:nvSpPr>
        <p:spPr>
          <a:xfrm>
            <a:off x="8271759" y="4283242"/>
            <a:ext cx="3285891" cy="4373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63426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B221B34-E862-1216-7280-BB8A997270E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E2F459D-8CFE-383B-90B8-00065A2A9A8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FCE327C-AC93-8BC2-5F7F-44F74A8F8B2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grpSp>
        <p:nvGrpSpPr>
          <p:cNvPr id="2" name="Group 1">
            <a:extLst>
              <a:ext uri="{FF2B5EF4-FFF2-40B4-BE49-F238E27FC236}">
                <a16:creationId xmlns:a16="http://schemas.microsoft.com/office/drawing/2014/main" id="{DAFB1821-A768-6FAD-50DC-D41CFC479BB6}"/>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9E25884E-4E75-539C-95B9-CD991FBA3BB9}"/>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C86681F-A3C8-678E-9816-D25D142FCC7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2DE8CD9-74E9-B198-FDF2-9602204566E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75689F1-2A43-AF8A-BCD6-5F10FA26C8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AC8F60D-CDEF-5F5A-6EB7-B1EBDF291B9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1F3936E-D129-C7CC-7BDC-FCE5486645FB}"/>
              </a:ext>
            </a:extLst>
          </p:cNvPr>
          <p:cNvSpPr txBox="1"/>
          <p:nvPr/>
        </p:nvSpPr>
        <p:spPr>
          <a:xfrm>
            <a:off x="415252" y="877587"/>
            <a:ext cx="3842719" cy="492443"/>
          </a:xfrm>
          <a:prstGeom prst="rect">
            <a:avLst/>
          </a:prstGeom>
          <a:noFill/>
        </p:spPr>
        <p:txBody>
          <a:bodyPr wrap="none" rtlCol="0">
            <a:spAutoFit/>
          </a:bodyPr>
          <a:lstStyle/>
          <a:p>
            <a:pPr marL="457200" indent="-457200">
              <a:buFont typeface="Wingdings" panose="05000000000000000000" pitchFamily="2" charset="2"/>
              <a:buChar char="q"/>
            </a:pPr>
            <a:r>
              <a:rPr lang="en-US" sz="2600" b="1">
                <a:latin typeface="Times New Roman" panose="02020603050405020304" pitchFamily="18" charset="0"/>
                <a:cs typeface="Times New Roman" panose="02020603050405020304" pitchFamily="18" charset="0"/>
              </a:rPr>
              <a:t>app-routing-module.ts</a:t>
            </a:r>
          </a:p>
        </p:txBody>
      </p:sp>
      <p:pic>
        <p:nvPicPr>
          <p:cNvPr id="10" name="Picture 9">
            <a:extLst>
              <a:ext uri="{FF2B5EF4-FFF2-40B4-BE49-F238E27FC236}">
                <a16:creationId xmlns:a16="http://schemas.microsoft.com/office/drawing/2014/main" id="{0F639648-8A43-FD10-66CD-690C2A87EF26}"/>
              </a:ext>
            </a:extLst>
          </p:cNvPr>
          <p:cNvPicPr>
            <a:picLocks noChangeAspect="1"/>
          </p:cNvPicPr>
          <p:nvPr/>
        </p:nvPicPr>
        <p:blipFill>
          <a:blip r:embed="rId3"/>
          <a:srcRect b="8772"/>
          <a:stretch>
            <a:fillRect/>
          </a:stretch>
        </p:blipFill>
        <p:spPr>
          <a:xfrm>
            <a:off x="728132" y="1380385"/>
            <a:ext cx="9839032" cy="5048977"/>
          </a:xfrm>
          <a:prstGeom prst="rect">
            <a:avLst/>
          </a:prstGeom>
        </p:spPr>
      </p:pic>
    </p:spTree>
    <p:extLst>
      <p:ext uri="{BB962C8B-B14F-4D97-AF65-F5344CB8AC3E}">
        <p14:creationId xmlns:p14="http://schemas.microsoft.com/office/powerpoint/2010/main" val="21854941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BB20A4F-7846-FDE7-6646-0F102B79E91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C5B97FF-6F13-3336-7813-2A77C2F8845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31B8B8B-5700-0AE7-2671-345F1A69385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grpSp>
        <p:nvGrpSpPr>
          <p:cNvPr id="2" name="Group 1">
            <a:extLst>
              <a:ext uri="{FF2B5EF4-FFF2-40B4-BE49-F238E27FC236}">
                <a16:creationId xmlns:a16="http://schemas.microsoft.com/office/drawing/2014/main" id="{9550BEC5-7852-15D8-5C7F-D7E220652A01}"/>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BAD6D19A-5322-9CB1-E7CC-B64E6B3C030C}"/>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9ADC41C-55A3-5EAB-881D-4FAA2576EC8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BFCDE51-5020-7ECD-3E4C-4BD4EA33A4F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53FAEF7-EEFC-2DF6-952B-7E75F002379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30E81EA-4967-F776-91B9-D01F61C22CE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8" name="Picture 7">
            <a:extLst>
              <a:ext uri="{FF2B5EF4-FFF2-40B4-BE49-F238E27FC236}">
                <a16:creationId xmlns:a16="http://schemas.microsoft.com/office/drawing/2014/main" id="{88521171-A9E1-CD88-3132-4276BC9F016F}"/>
              </a:ext>
            </a:extLst>
          </p:cNvPr>
          <p:cNvPicPr>
            <a:picLocks noChangeAspect="1"/>
          </p:cNvPicPr>
          <p:nvPr/>
        </p:nvPicPr>
        <p:blipFill>
          <a:blip r:embed="rId3"/>
          <a:stretch>
            <a:fillRect/>
          </a:stretch>
        </p:blipFill>
        <p:spPr>
          <a:xfrm>
            <a:off x="5087001" y="2034892"/>
            <a:ext cx="2860570" cy="3876532"/>
          </a:xfrm>
          <a:prstGeom prst="rect">
            <a:avLst/>
          </a:prstGeom>
        </p:spPr>
      </p:pic>
      <p:sp>
        <p:nvSpPr>
          <p:cNvPr id="11" name="TextBox 10">
            <a:extLst>
              <a:ext uri="{FF2B5EF4-FFF2-40B4-BE49-F238E27FC236}">
                <a16:creationId xmlns:a16="http://schemas.microsoft.com/office/drawing/2014/main" id="{34B2F74E-0F4D-F20F-A242-8B7E3D594941}"/>
              </a:ext>
            </a:extLst>
          </p:cNvPr>
          <p:cNvSpPr txBox="1"/>
          <p:nvPr/>
        </p:nvSpPr>
        <p:spPr>
          <a:xfrm>
            <a:off x="673752" y="946576"/>
            <a:ext cx="4629794" cy="769441"/>
          </a:xfrm>
          <a:prstGeom prst="rect">
            <a:avLst/>
          </a:prstGeom>
          <a:noFill/>
        </p:spPr>
        <p:txBody>
          <a:bodyPr wrap="none" rtlCol="0">
            <a:spAutoFit/>
          </a:bodyPr>
          <a:lstStyle/>
          <a:p>
            <a:r>
              <a:rPr lang="en-US" sz="2200" b="1">
                <a:latin typeface="Times New Roman" panose="02020603050405020304" pitchFamily="18" charset="0"/>
                <a:cs typeface="Times New Roman" panose="02020603050405020304" pitchFamily="18" charset="0"/>
              </a:rPr>
              <a:t>App component: </a:t>
            </a:r>
          </a:p>
          <a:p>
            <a:r>
              <a:rPr lang="en-US" sz="2200">
                <a:latin typeface="Times New Roman" panose="02020603050405020304" pitchFamily="18" charset="0"/>
                <a:cs typeface="Times New Roman" panose="02020603050405020304" pitchFamily="18" charset="0"/>
              </a:rPr>
              <a:t>3 thành phần: HTML, CSS, TypeScript</a:t>
            </a:r>
          </a:p>
        </p:txBody>
      </p:sp>
    </p:spTree>
    <p:extLst>
      <p:ext uri="{BB962C8B-B14F-4D97-AF65-F5344CB8AC3E}">
        <p14:creationId xmlns:p14="http://schemas.microsoft.com/office/powerpoint/2010/main" val="23062445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242A446-F798-A217-0EC9-3568F7E483B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C01CEF6-852A-408A-CE90-A3135E78673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6375F9D-8838-7E3D-DBEB-34A54BCA1E5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grpSp>
        <p:nvGrpSpPr>
          <p:cNvPr id="2" name="Group 1">
            <a:extLst>
              <a:ext uri="{FF2B5EF4-FFF2-40B4-BE49-F238E27FC236}">
                <a16:creationId xmlns:a16="http://schemas.microsoft.com/office/drawing/2014/main" id="{7FA3E6DB-8E2A-455D-93DC-814E438A6E44}"/>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4E6F74B0-D61B-0CD2-1387-7DD7786BCFFA}"/>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F11232F-01D8-35DC-50FF-ABF8CECC8AF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61CA598-FB3A-F761-59FF-50F259FFCD0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DD5E273-113F-0260-6CA0-C825C8BC30C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33D4C43-20D3-F858-EA92-B94E7DB1DFD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8" name="Picture 7">
            <a:extLst>
              <a:ext uri="{FF2B5EF4-FFF2-40B4-BE49-F238E27FC236}">
                <a16:creationId xmlns:a16="http://schemas.microsoft.com/office/drawing/2014/main" id="{C524D689-B8CC-AE7F-AA94-65C5C0032E74}"/>
              </a:ext>
            </a:extLst>
          </p:cNvPr>
          <p:cNvPicPr>
            <a:picLocks noChangeAspect="1"/>
          </p:cNvPicPr>
          <p:nvPr/>
        </p:nvPicPr>
        <p:blipFill>
          <a:blip r:embed="rId3"/>
          <a:srcRect r="1827" b="8485"/>
          <a:stretch>
            <a:fillRect/>
          </a:stretch>
        </p:blipFill>
        <p:spPr>
          <a:xfrm>
            <a:off x="564687" y="1258176"/>
            <a:ext cx="9713720" cy="5093400"/>
          </a:xfrm>
          <a:prstGeom prst="rect">
            <a:avLst/>
          </a:prstGeom>
        </p:spPr>
      </p:pic>
      <p:sp>
        <p:nvSpPr>
          <p:cNvPr id="9" name="TextBox 8">
            <a:extLst>
              <a:ext uri="{FF2B5EF4-FFF2-40B4-BE49-F238E27FC236}">
                <a16:creationId xmlns:a16="http://schemas.microsoft.com/office/drawing/2014/main" id="{A6AA7786-D1AC-1E2E-DEF5-432441849247}"/>
              </a:ext>
            </a:extLst>
          </p:cNvPr>
          <p:cNvSpPr txBox="1"/>
          <p:nvPr/>
        </p:nvSpPr>
        <p:spPr>
          <a:xfrm>
            <a:off x="564686" y="801360"/>
            <a:ext cx="1260281" cy="430887"/>
          </a:xfrm>
          <a:prstGeom prst="rect">
            <a:avLst/>
          </a:prstGeom>
          <a:noFill/>
        </p:spPr>
        <p:txBody>
          <a:bodyPr wrap="none" rtlCol="0">
            <a:spAutoFit/>
          </a:bodyPr>
          <a:lstStyle/>
          <a:p>
            <a:pPr marL="342900" indent="-342900">
              <a:buFont typeface="Wingdings" panose="05000000000000000000" pitchFamily="2" charset="2"/>
              <a:buChar char="q"/>
            </a:pPr>
            <a:r>
              <a:rPr lang="en-US" sz="2200" b="1">
                <a:latin typeface="Times New Roman" panose="02020603050405020304" pitchFamily="18" charset="0"/>
                <a:cs typeface="Times New Roman" panose="02020603050405020304" pitchFamily="18" charset="0"/>
              </a:rPr>
              <a:t>app.ts</a:t>
            </a:r>
            <a:endParaRPr lang="en-US" sz="2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86514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716750E-C853-8213-36DE-0CF796CA163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7AA8B78-4F7E-84E7-C127-E2F3DE3EB51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D343A19-7AF6-7F2A-E9E9-A49ED0F756F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grpSp>
        <p:nvGrpSpPr>
          <p:cNvPr id="2" name="Group 1">
            <a:extLst>
              <a:ext uri="{FF2B5EF4-FFF2-40B4-BE49-F238E27FC236}">
                <a16:creationId xmlns:a16="http://schemas.microsoft.com/office/drawing/2014/main" id="{1108059D-E78A-4A1F-1677-E341392BC53B}"/>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FE2472FA-AE5D-2415-797F-48AA4A6DA714}"/>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2719454-2222-1955-D743-6385CA56A31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7541F1F-5C16-C514-4441-A425C515136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1729803-BE85-69D2-D28F-5CB7D5CEA4F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F559FF5-3EDC-424E-CC71-849C10ADF2A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CB5624A-DC2B-F21A-18FE-BF8D0A6FE404}"/>
              </a:ext>
            </a:extLst>
          </p:cNvPr>
          <p:cNvSpPr txBox="1"/>
          <p:nvPr/>
        </p:nvSpPr>
        <p:spPr>
          <a:xfrm>
            <a:off x="564686" y="801360"/>
            <a:ext cx="1909497" cy="430887"/>
          </a:xfrm>
          <a:prstGeom prst="rect">
            <a:avLst/>
          </a:prstGeom>
          <a:noFill/>
        </p:spPr>
        <p:txBody>
          <a:bodyPr wrap="none" rtlCol="0">
            <a:spAutoFit/>
          </a:bodyPr>
          <a:lstStyle/>
          <a:p>
            <a:pPr marL="342900" indent="-342900">
              <a:buFont typeface="Wingdings" panose="05000000000000000000" pitchFamily="2" charset="2"/>
              <a:buChar char="q"/>
            </a:pPr>
            <a:r>
              <a:rPr lang="en-US" sz="2200" b="1">
                <a:latin typeface="Times New Roman" panose="02020603050405020304" pitchFamily="18" charset="0"/>
                <a:cs typeface="Times New Roman" panose="02020603050405020304" pitchFamily="18" charset="0"/>
              </a:rPr>
              <a:t>app.spec.ts</a:t>
            </a:r>
            <a:endParaRPr lang="en-US" sz="22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3C1C91A-DC0E-D0F9-6CD4-6D695F93DD67}"/>
              </a:ext>
            </a:extLst>
          </p:cNvPr>
          <p:cNvPicPr>
            <a:picLocks noChangeAspect="1"/>
          </p:cNvPicPr>
          <p:nvPr/>
        </p:nvPicPr>
        <p:blipFill>
          <a:blip r:embed="rId3"/>
          <a:srcRect r="470" b="8872"/>
          <a:stretch>
            <a:fillRect/>
          </a:stretch>
        </p:blipFill>
        <p:spPr>
          <a:xfrm>
            <a:off x="632517" y="1259956"/>
            <a:ext cx="9936711" cy="5117547"/>
          </a:xfrm>
          <a:prstGeom prst="rect">
            <a:avLst/>
          </a:prstGeom>
        </p:spPr>
      </p:pic>
    </p:spTree>
    <p:extLst>
      <p:ext uri="{BB962C8B-B14F-4D97-AF65-F5344CB8AC3E}">
        <p14:creationId xmlns:p14="http://schemas.microsoft.com/office/powerpoint/2010/main" val="13304151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79CAB45-BCA8-2FB3-CEC3-B950640FBCA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531D773-4E56-FDCB-AA24-A00A4DB5D2F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8498357-A4E5-F79C-CA71-E2E7EE8E53E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grpSp>
        <p:nvGrpSpPr>
          <p:cNvPr id="2" name="Group 1">
            <a:extLst>
              <a:ext uri="{FF2B5EF4-FFF2-40B4-BE49-F238E27FC236}">
                <a16:creationId xmlns:a16="http://schemas.microsoft.com/office/drawing/2014/main" id="{2549DDFC-C6BD-D902-40E5-60C01CFA8A17}"/>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9FFB566E-DFA6-6FDF-1D1F-269F1C5784F6}"/>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C5460B4-8DF5-CAFB-E8C4-CF3FC0AABF9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41991E8-AAE8-7E49-9C6B-00FAD1B4F3D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AC47F4D-B419-8541-C6DA-C0F806A3550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FE627C7-9401-CF53-7CF3-4B5E97BB8B5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190EE9E-EC8C-9125-2710-25DFE94F0946}"/>
              </a:ext>
            </a:extLst>
          </p:cNvPr>
          <p:cNvSpPr txBox="1"/>
          <p:nvPr/>
        </p:nvSpPr>
        <p:spPr>
          <a:xfrm>
            <a:off x="564686" y="801360"/>
            <a:ext cx="1622560" cy="430887"/>
          </a:xfrm>
          <a:prstGeom prst="rect">
            <a:avLst/>
          </a:prstGeom>
          <a:noFill/>
        </p:spPr>
        <p:txBody>
          <a:bodyPr wrap="none" rtlCol="0">
            <a:spAutoFit/>
          </a:bodyPr>
          <a:lstStyle/>
          <a:p>
            <a:pPr marL="342900" indent="-342900">
              <a:buFont typeface="Wingdings" panose="05000000000000000000" pitchFamily="2" charset="2"/>
              <a:buChar char="q"/>
            </a:pPr>
            <a:r>
              <a:rPr lang="en-US" sz="2200" b="1">
                <a:latin typeface="Times New Roman" panose="02020603050405020304" pitchFamily="18" charset="0"/>
                <a:cs typeface="Times New Roman" panose="02020603050405020304" pitchFamily="18" charset="0"/>
              </a:rPr>
              <a:t>app.html</a:t>
            </a:r>
            <a:endParaRPr lang="en-US" sz="220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8253D34-D7B3-15CF-DB7F-55CF90EB20D7}"/>
              </a:ext>
            </a:extLst>
          </p:cNvPr>
          <p:cNvPicPr>
            <a:picLocks noChangeAspect="1"/>
          </p:cNvPicPr>
          <p:nvPr/>
        </p:nvPicPr>
        <p:blipFill>
          <a:blip r:embed="rId3"/>
          <a:srcRect r="1034" b="8872"/>
          <a:stretch>
            <a:fillRect/>
          </a:stretch>
        </p:blipFill>
        <p:spPr>
          <a:xfrm>
            <a:off x="728132" y="1231196"/>
            <a:ext cx="9885882" cy="5120380"/>
          </a:xfrm>
          <a:prstGeom prst="rect">
            <a:avLst/>
          </a:prstGeom>
        </p:spPr>
      </p:pic>
    </p:spTree>
    <p:extLst>
      <p:ext uri="{BB962C8B-B14F-4D97-AF65-F5344CB8AC3E}">
        <p14:creationId xmlns:p14="http://schemas.microsoft.com/office/powerpoint/2010/main" val="23210220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6017F4F-C057-33F2-55D5-8940F0FCB6E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B9827CB-B7F8-4CE8-BDFD-0CF812AD42E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901CA51-A646-8AB6-B294-A9A53B52A87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grpSp>
        <p:nvGrpSpPr>
          <p:cNvPr id="2" name="Group 1">
            <a:extLst>
              <a:ext uri="{FF2B5EF4-FFF2-40B4-BE49-F238E27FC236}">
                <a16:creationId xmlns:a16="http://schemas.microsoft.com/office/drawing/2014/main" id="{FD3405CB-1963-C2D9-2056-4277DE83389A}"/>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8F62C459-D0EC-08E2-CD79-D223BF9F5A97}"/>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BEC3A64-BDED-204D-B9F2-BC77827E41B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83452BE-F385-6548-10F4-DBA576F0B46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4612F70-D7ED-9937-CDC5-0AC1957285D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B87FFC2-9C9B-3E91-82A4-4C8E8B3F92E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73B1CE0-B454-249D-BA0D-91DC024AC3AE}"/>
              </a:ext>
            </a:extLst>
          </p:cNvPr>
          <p:cNvSpPr txBox="1"/>
          <p:nvPr/>
        </p:nvSpPr>
        <p:spPr>
          <a:xfrm>
            <a:off x="564686" y="801360"/>
            <a:ext cx="1399742" cy="430887"/>
          </a:xfrm>
          <a:prstGeom prst="rect">
            <a:avLst/>
          </a:prstGeom>
          <a:noFill/>
        </p:spPr>
        <p:txBody>
          <a:bodyPr wrap="none" rtlCol="0">
            <a:spAutoFit/>
          </a:bodyPr>
          <a:lstStyle/>
          <a:p>
            <a:pPr marL="342900" indent="-342900">
              <a:buFont typeface="Wingdings" panose="05000000000000000000" pitchFamily="2" charset="2"/>
              <a:buChar char="q"/>
            </a:pPr>
            <a:r>
              <a:rPr lang="en-US" sz="2200" b="1">
                <a:latin typeface="Times New Roman" panose="02020603050405020304" pitchFamily="18" charset="0"/>
                <a:cs typeface="Times New Roman" panose="02020603050405020304" pitchFamily="18" charset="0"/>
              </a:rPr>
              <a:t>app.css</a:t>
            </a:r>
            <a:endParaRPr lang="en-US" sz="22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2FC679B-958B-C005-0D0F-EF9D7109C423}"/>
              </a:ext>
            </a:extLst>
          </p:cNvPr>
          <p:cNvPicPr>
            <a:picLocks noChangeAspect="1"/>
          </p:cNvPicPr>
          <p:nvPr/>
        </p:nvPicPr>
        <p:blipFill>
          <a:blip r:embed="rId3"/>
          <a:srcRect r="470" b="8972"/>
          <a:stretch>
            <a:fillRect/>
          </a:stretch>
        </p:blipFill>
        <p:spPr>
          <a:xfrm>
            <a:off x="626695" y="1279185"/>
            <a:ext cx="9919844" cy="5103240"/>
          </a:xfrm>
          <a:prstGeom prst="rect">
            <a:avLst/>
          </a:prstGeom>
        </p:spPr>
      </p:pic>
    </p:spTree>
    <p:extLst>
      <p:ext uri="{BB962C8B-B14F-4D97-AF65-F5344CB8AC3E}">
        <p14:creationId xmlns:p14="http://schemas.microsoft.com/office/powerpoint/2010/main" val="30790239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4BC2D46-619F-CC3B-7C8D-04170B6A803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EAF4032-500C-C6A8-F13E-B86A4CFB092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B54239D-EE08-DC76-87C0-DA6D2B044FC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grpSp>
        <p:nvGrpSpPr>
          <p:cNvPr id="2" name="Group 1">
            <a:extLst>
              <a:ext uri="{FF2B5EF4-FFF2-40B4-BE49-F238E27FC236}">
                <a16:creationId xmlns:a16="http://schemas.microsoft.com/office/drawing/2014/main" id="{E042EC83-9633-BCC0-BE7D-C09DF4F799A9}"/>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58D0CEE8-F0DC-4441-FBF3-CE1BD1371791}"/>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63F4BE1-6BA7-875F-1987-DDA34D0D07C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7133E34-E92A-0573-A2F7-266E8735EAD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6FAEE44-AA20-0541-ED32-A46E3E3829F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B86269F-9996-0355-7691-A5213E3CD99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8BA519D-F731-36A5-7340-F342F79CADAD}"/>
              </a:ext>
            </a:extLst>
          </p:cNvPr>
          <p:cNvSpPr txBox="1"/>
          <p:nvPr/>
        </p:nvSpPr>
        <p:spPr>
          <a:xfrm>
            <a:off x="564686" y="801360"/>
            <a:ext cx="1826141" cy="430887"/>
          </a:xfrm>
          <a:prstGeom prst="rect">
            <a:avLst/>
          </a:prstGeom>
          <a:noFill/>
        </p:spPr>
        <p:txBody>
          <a:bodyPr wrap="none" rtlCol="0">
            <a:spAutoFit/>
          </a:bodyPr>
          <a:lstStyle/>
          <a:p>
            <a:pPr marL="342900" indent="-342900">
              <a:buFont typeface="Wingdings" panose="05000000000000000000" pitchFamily="2" charset="2"/>
              <a:buChar char="q"/>
            </a:pPr>
            <a:r>
              <a:rPr lang="en-US" sz="2200" b="1">
                <a:latin typeface="Times New Roman" panose="02020603050405020304" pitchFamily="18" charset="0"/>
                <a:cs typeface="Times New Roman" panose="02020603050405020304" pitchFamily="18" charset="0"/>
              </a:rPr>
              <a:t>index.html</a:t>
            </a:r>
            <a:endParaRPr lang="en-US" sz="22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882BBD4-7042-A5BA-E430-4E5A6446B7C1}"/>
              </a:ext>
            </a:extLst>
          </p:cNvPr>
          <p:cNvPicPr>
            <a:picLocks noChangeAspect="1"/>
          </p:cNvPicPr>
          <p:nvPr/>
        </p:nvPicPr>
        <p:blipFill>
          <a:blip r:embed="rId3"/>
          <a:srcRect r="3749"/>
          <a:stretch>
            <a:fillRect/>
          </a:stretch>
        </p:blipFill>
        <p:spPr>
          <a:xfrm>
            <a:off x="234808" y="1297383"/>
            <a:ext cx="11734894" cy="5106051"/>
          </a:xfrm>
          <a:prstGeom prst="rect">
            <a:avLst/>
          </a:prstGeom>
        </p:spPr>
      </p:pic>
      <p:sp>
        <p:nvSpPr>
          <p:cNvPr id="12" name="Rectangle 11">
            <a:extLst>
              <a:ext uri="{FF2B5EF4-FFF2-40B4-BE49-F238E27FC236}">
                <a16:creationId xmlns:a16="http://schemas.microsoft.com/office/drawing/2014/main" id="{FF9BA1B7-F437-8304-5E4B-777127CBB547}"/>
              </a:ext>
            </a:extLst>
          </p:cNvPr>
          <p:cNvSpPr/>
          <p:nvPr/>
        </p:nvSpPr>
        <p:spPr>
          <a:xfrm>
            <a:off x="3860654" y="4503249"/>
            <a:ext cx="2877030" cy="3231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Connector: Elbow 13">
            <a:extLst>
              <a:ext uri="{FF2B5EF4-FFF2-40B4-BE49-F238E27FC236}">
                <a16:creationId xmlns:a16="http://schemas.microsoft.com/office/drawing/2014/main" id="{92026A4C-DB48-1889-E6A5-63BED5E141C9}"/>
              </a:ext>
            </a:extLst>
          </p:cNvPr>
          <p:cNvCxnSpPr/>
          <p:nvPr/>
        </p:nvCxnSpPr>
        <p:spPr>
          <a:xfrm rot="10800000" flipV="1">
            <a:off x="6710183" y="2365065"/>
            <a:ext cx="2337564" cy="2303188"/>
          </a:xfrm>
          <a:prstGeom prst="bentConnector3">
            <a:avLst>
              <a:gd name="adj1" fmla="val 294"/>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40105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649E8DD-CA65-3C54-DAA0-5114074EFE9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D4545C8-49D1-B7B7-49F5-14F3AA273AD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DC9C3C3-C368-89A2-9CD9-5DD1E62B027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grpSp>
        <p:nvGrpSpPr>
          <p:cNvPr id="2" name="Group 1">
            <a:extLst>
              <a:ext uri="{FF2B5EF4-FFF2-40B4-BE49-F238E27FC236}">
                <a16:creationId xmlns:a16="http://schemas.microsoft.com/office/drawing/2014/main" id="{AB23D95F-C36C-15D2-4591-BCA7F0615001}"/>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E706DDAF-A4F4-5461-7CA2-A45B1FD61C1D}"/>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43BFA18-15AE-FAD5-020C-9DADEBBD6B2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8597A0E-D2D0-0E9E-C727-2E3775639FB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922AD6E-1290-1DFE-F772-899C1B0DB5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F28F2E3-41C6-3E23-B69E-C7BF8D856D4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04A4710-EA6D-DC2E-C133-63E05EFCF477}"/>
              </a:ext>
            </a:extLst>
          </p:cNvPr>
          <p:cNvSpPr txBox="1"/>
          <p:nvPr/>
        </p:nvSpPr>
        <p:spPr>
          <a:xfrm>
            <a:off x="564686" y="801360"/>
            <a:ext cx="1417376" cy="430887"/>
          </a:xfrm>
          <a:prstGeom prst="rect">
            <a:avLst/>
          </a:prstGeom>
          <a:noFill/>
        </p:spPr>
        <p:txBody>
          <a:bodyPr wrap="none" rtlCol="0">
            <a:spAutoFit/>
          </a:bodyPr>
          <a:lstStyle/>
          <a:p>
            <a:pPr marL="342900" indent="-342900">
              <a:buFont typeface="Wingdings" panose="05000000000000000000" pitchFamily="2" charset="2"/>
              <a:buChar char="q"/>
            </a:pPr>
            <a:r>
              <a:rPr lang="en-US" sz="2200" b="1">
                <a:latin typeface="Times New Roman" panose="02020603050405020304" pitchFamily="18" charset="0"/>
                <a:cs typeface="Times New Roman" panose="02020603050405020304" pitchFamily="18" charset="0"/>
              </a:rPr>
              <a:t>main.ts</a:t>
            </a:r>
            <a:endParaRPr lang="en-US" sz="220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91DEB86-98FC-F181-266F-FA1F269E6C20}"/>
              </a:ext>
            </a:extLst>
          </p:cNvPr>
          <p:cNvPicPr>
            <a:picLocks noChangeAspect="1"/>
          </p:cNvPicPr>
          <p:nvPr/>
        </p:nvPicPr>
        <p:blipFill>
          <a:blip r:embed="rId3"/>
          <a:srcRect r="1147" b="8672"/>
          <a:stretch>
            <a:fillRect/>
          </a:stretch>
        </p:blipFill>
        <p:spPr>
          <a:xfrm>
            <a:off x="632517" y="1168669"/>
            <a:ext cx="10045702" cy="5220556"/>
          </a:xfrm>
          <a:prstGeom prst="rect">
            <a:avLst/>
          </a:prstGeom>
        </p:spPr>
      </p:pic>
    </p:spTree>
    <p:extLst>
      <p:ext uri="{BB962C8B-B14F-4D97-AF65-F5344CB8AC3E}">
        <p14:creationId xmlns:p14="http://schemas.microsoft.com/office/powerpoint/2010/main" val="223625113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B99AF54-DCEE-D607-3807-936210F180E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D948EC1-891F-9F4E-59E7-A6404F88656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18852E7-4FCD-675C-1683-F8DE1699689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grpSp>
        <p:nvGrpSpPr>
          <p:cNvPr id="2" name="Group 1">
            <a:extLst>
              <a:ext uri="{FF2B5EF4-FFF2-40B4-BE49-F238E27FC236}">
                <a16:creationId xmlns:a16="http://schemas.microsoft.com/office/drawing/2014/main" id="{49717B66-A3EC-2FDC-613E-35A685769416}"/>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12DA69B0-7EF7-0AD3-3609-3C806E2C1A9A}"/>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2466E8B-DD9F-8F57-3441-856242CA9A6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D114651-1D99-EA40-F29D-A7BD14F631D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7653037-5C4B-8CE0-FC0D-C77E5AC4828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ED2B933-4814-1D46-015F-5B715299571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5EDA3FB-F1BD-9312-CFDD-7AFE7C17F451}"/>
              </a:ext>
            </a:extLst>
          </p:cNvPr>
          <p:cNvSpPr txBox="1"/>
          <p:nvPr/>
        </p:nvSpPr>
        <p:spPr>
          <a:xfrm>
            <a:off x="564686" y="801360"/>
            <a:ext cx="1492716" cy="430887"/>
          </a:xfrm>
          <a:prstGeom prst="rect">
            <a:avLst/>
          </a:prstGeom>
          <a:noFill/>
        </p:spPr>
        <p:txBody>
          <a:bodyPr wrap="none" rtlCol="0">
            <a:spAutoFit/>
          </a:bodyPr>
          <a:lstStyle/>
          <a:p>
            <a:pPr marL="342900" indent="-342900">
              <a:buFont typeface="Wingdings" panose="05000000000000000000" pitchFamily="2" charset="2"/>
              <a:buChar char="q"/>
            </a:pPr>
            <a:r>
              <a:rPr lang="en-US" sz="2200" b="1">
                <a:latin typeface="Times New Roman" panose="02020603050405020304" pitchFamily="18" charset="0"/>
                <a:cs typeface="Times New Roman" panose="02020603050405020304" pitchFamily="18" charset="0"/>
              </a:rPr>
              <a:t>style.css</a:t>
            </a:r>
            <a:endParaRPr lang="en-US" sz="22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F50D5F2-E8E3-7F48-B74B-DD183FC009C8}"/>
              </a:ext>
            </a:extLst>
          </p:cNvPr>
          <p:cNvPicPr>
            <a:picLocks noChangeAspect="1"/>
          </p:cNvPicPr>
          <p:nvPr/>
        </p:nvPicPr>
        <p:blipFill>
          <a:blip r:embed="rId3"/>
          <a:srcRect r="470" b="8872"/>
          <a:stretch>
            <a:fillRect/>
          </a:stretch>
        </p:blipFill>
        <p:spPr>
          <a:xfrm>
            <a:off x="660019" y="1284104"/>
            <a:ext cx="9789131" cy="5041541"/>
          </a:xfrm>
          <a:prstGeom prst="rect">
            <a:avLst/>
          </a:prstGeom>
        </p:spPr>
      </p:pic>
    </p:spTree>
    <p:extLst>
      <p:ext uri="{BB962C8B-B14F-4D97-AF65-F5344CB8AC3E}">
        <p14:creationId xmlns:p14="http://schemas.microsoft.com/office/powerpoint/2010/main" val="27459385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E1EBCE1-A07C-0EAD-9F30-A77A0C0ED88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1F641C9-C139-5860-E289-5077CC974CC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D63CB55-9F72-490F-5845-2136991B70E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grpSp>
        <p:nvGrpSpPr>
          <p:cNvPr id="2" name="Group 1">
            <a:extLst>
              <a:ext uri="{FF2B5EF4-FFF2-40B4-BE49-F238E27FC236}">
                <a16:creationId xmlns:a16="http://schemas.microsoft.com/office/drawing/2014/main" id="{92DD929B-C823-E775-8F46-2A137AF051DF}"/>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80FFB254-BC5E-D10E-DE3A-61F1C0D65ECC}"/>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BA97CCA-6865-3044-BC17-254917B1393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C65AFFE-23AB-942C-EDFC-28DA4155D90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0DFD5D2-254E-965E-3B61-7EDD9299235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60D8563-7A3A-72F1-EAC7-419EB3BA5BE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A935D30-03F8-C618-2B56-956C71B9C444}"/>
              </a:ext>
            </a:extLst>
          </p:cNvPr>
          <p:cNvSpPr txBox="1"/>
          <p:nvPr/>
        </p:nvSpPr>
        <p:spPr>
          <a:xfrm>
            <a:off x="564686" y="801360"/>
            <a:ext cx="2106667" cy="430887"/>
          </a:xfrm>
          <a:prstGeom prst="rect">
            <a:avLst/>
          </a:prstGeom>
          <a:noFill/>
        </p:spPr>
        <p:txBody>
          <a:bodyPr wrap="none" rtlCol="0">
            <a:spAutoFit/>
          </a:bodyPr>
          <a:lstStyle/>
          <a:p>
            <a:pPr marL="342900" indent="-342900">
              <a:buFont typeface="Wingdings" panose="05000000000000000000" pitchFamily="2" charset="2"/>
              <a:buChar char="q"/>
            </a:pPr>
            <a:r>
              <a:rPr lang="en-US" sz="2200" b="1">
                <a:latin typeface="Times New Roman" panose="02020603050405020304" pitchFamily="18" charset="0"/>
                <a:cs typeface="Times New Roman" panose="02020603050405020304" pitchFamily="18" charset="0"/>
              </a:rPr>
              <a:t>angular.json</a:t>
            </a:r>
            <a:endParaRPr lang="en-US" sz="220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F543BFD-8346-E073-F586-24C03727A496}"/>
              </a:ext>
            </a:extLst>
          </p:cNvPr>
          <p:cNvPicPr>
            <a:picLocks noChangeAspect="1"/>
          </p:cNvPicPr>
          <p:nvPr/>
        </p:nvPicPr>
        <p:blipFill>
          <a:blip r:embed="rId3"/>
          <a:srcRect b="8972"/>
          <a:stretch>
            <a:fillRect/>
          </a:stretch>
        </p:blipFill>
        <p:spPr>
          <a:xfrm>
            <a:off x="845648" y="1280706"/>
            <a:ext cx="9758183" cy="4996483"/>
          </a:xfrm>
          <a:prstGeom prst="rect">
            <a:avLst/>
          </a:prstGeom>
        </p:spPr>
      </p:pic>
    </p:spTree>
    <p:extLst>
      <p:ext uri="{BB962C8B-B14F-4D97-AF65-F5344CB8AC3E}">
        <p14:creationId xmlns:p14="http://schemas.microsoft.com/office/powerpoint/2010/main" val="36080367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6D9FAA4-E005-AA95-218A-88D36074C0F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46EB160-506A-6D2C-46DE-4E1F0A8F6C1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4D48D74-6901-37A1-F101-319D7161D3F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grpSp>
        <p:nvGrpSpPr>
          <p:cNvPr id="2" name="Group 1">
            <a:extLst>
              <a:ext uri="{FF2B5EF4-FFF2-40B4-BE49-F238E27FC236}">
                <a16:creationId xmlns:a16="http://schemas.microsoft.com/office/drawing/2014/main" id="{7573C3E1-DE77-8209-193B-4B4693F73B49}"/>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45B65A66-88BC-FF1A-0CED-CE2684A8E6FD}"/>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84DC534-BE95-9266-47C7-111108C567B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50B15B8-58BF-3533-688F-BB1ECAF853F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D38BB27-6DF3-F0DC-EC0B-1FD2E07BB63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418C7CD-AD27-8351-7962-101F882D944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316FE8A-8E62-032D-199E-D259162F4A79}"/>
              </a:ext>
            </a:extLst>
          </p:cNvPr>
          <p:cNvSpPr txBox="1"/>
          <p:nvPr/>
        </p:nvSpPr>
        <p:spPr>
          <a:xfrm>
            <a:off x="564686" y="801360"/>
            <a:ext cx="2090637" cy="430887"/>
          </a:xfrm>
          <a:prstGeom prst="rect">
            <a:avLst/>
          </a:prstGeom>
          <a:noFill/>
        </p:spPr>
        <p:txBody>
          <a:bodyPr wrap="none" rtlCol="0">
            <a:spAutoFit/>
          </a:bodyPr>
          <a:lstStyle/>
          <a:p>
            <a:pPr marL="342900" indent="-342900">
              <a:buFont typeface="Wingdings" panose="05000000000000000000" pitchFamily="2" charset="2"/>
              <a:buChar char="q"/>
            </a:pPr>
            <a:r>
              <a:rPr lang="en-US" sz="2200" b="1">
                <a:latin typeface="Times New Roman" panose="02020603050405020304" pitchFamily="18" charset="0"/>
                <a:cs typeface="Times New Roman" panose="02020603050405020304" pitchFamily="18" charset="0"/>
              </a:rPr>
              <a:t>package.json</a:t>
            </a:r>
            <a:endParaRPr lang="en-US" sz="22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40F4C48-7C11-7386-8B14-CB88395E245F}"/>
              </a:ext>
            </a:extLst>
          </p:cNvPr>
          <p:cNvPicPr>
            <a:picLocks noChangeAspect="1"/>
          </p:cNvPicPr>
          <p:nvPr/>
        </p:nvPicPr>
        <p:blipFill>
          <a:blip r:embed="rId3"/>
          <a:srcRect r="38308" b="18814"/>
          <a:stretch>
            <a:fillRect/>
          </a:stretch>
        </p:blipFill>
        <p:spPr>
          <a:xfrm>
            <a:off x="728132" y="1235103"/>
            <a:ext cx="7343339" cy="5194260"/>
          </a:xfrm>
          <a:prstGeom prst="rect">
            <a:avLst/>
          </a:prstGeom>
        </p:spPr>
      </p:pic>
    </p:spTree>
    <p:extLst>
      <p:ext uri="{BB962C8B-B14F-4D97-AF65-F5344CB8AC3E}">
        <p14:creationId xmlns:p14="http://schemas.microsoft.com/office/powerpoint/2010/main" val="4778644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A0ABC0F-0C85-B351-330A-2BAB36766D8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36C7C50-E453-2E87-302A-F5263A33C1E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2750083-CB74-DC42-16C3-5EB669150BE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84</a:t>
            </a:fld>
            <a:endParaRPr/>
          </a:p>
        </p:txBody>
      </p:sp>
      <p:grpSp>
        <p:nvGrpSpPr>
          <p:cNvPr id="2" name="Group 1">
            <a:extLst>
              <a:ext uri="{FF2B5EF4-FFF2-40B4-BE49-F238E27FC236}">
                <a16:creationId xmlns:a16="http://schemas.microsoft.com/office/drawing/2014/main" id="{CCA80F87-6ECF-38E2-69EB-FC376B949367}"/>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8442B830-C859-54E6-77EF-DEB6687F13CC}"/>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CD3324B-6FAB-5F40-4F0D-D97CF649CC6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A77C579-B237-BBD1-A966-4CD6372DCA3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0F59CFA-6C9A-5C13-A5E2-F2F7E0C76A8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B35A51A-4A86-307D-C3B7-669116DE780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78BC03E-54FD-B096-71F4-7F7207376C4E}"/>
              </a:ext>
            </a:extLst>
          </p:cNvPr>
          <p:cNvSpPr txBox="1"/>
          <p:nvPr/>
        </p:nvSpPr>
        <p:spPr>
          <a:xfrm>
            <a:off x="564686" y="801360"/>
            <a:ext cx="2662908" cy="430887"/>
          </a:xfrm>
          <a:prstGeom prst="rect">
            <a:avLst/>
          </a:prstGeom>
          <a:noFill/>
        </p:spPr>
        <p:txBody>
          <a:bodyPr wrap="none" rtlCol="0">
            <a:spAutoFit/>
          </a:bodyPr>
          <a:lstStyle/>
          <a:p>
            <a:pPr marL="342900" indent="-342900">
              <a:buFont typeface="Wingdings" panose="05000000000000000000" pitchFamily="2" charset="2"/>
              <a:buChar char="q"/>
            </a:pPr>
            <a:r>
              <a:rPr lang="en-US" sz="2200" b="1">
                <a:latin typeface="Times New Roman" panose="02020603050405020304" pitchFamily="18" charset="0"/>
                <a:cs typeface="Times New Roman" panose="02020603050405020304" pitchFamily="18" charset="0"/>
              </a:rPr>
              <a:t>tsconfig.app.json</a:t>
            </a:r>
            <a:endParaRPr lang="en-US" sz="220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AD3BB51-EBDC-4B7D-5728-A8AB741D3455}"/>
              </a:ext>
            </a:extLst>
          </p:cNvPr>
          <p:cNvPicPr>
            <a:picLocks noChangeAspect="1"/>
          </p:cNvPicPr>
          <p:nvPr/>
        </p:nvPicPr>
        <p:blipFill>
          <a:blip r:embed="rId3"/>
          <a:srcRect r="16700" b="30152"/>
          <a:stretch>
            <a:fillRect/>
          </a:stretch>
        </p:blipFill>
        <p:spPr>
          <a:xfrm>
            <a:off x="631169" y="1341621"/>
            <a:ext cx="10156001" cy="4577287"/>
          </a:xfrm>
          <a:prstGeom prst="rect">
            <a:avLst/>
          </a:prstGeom>
        </p:spPr>
      </p:pic>
    </p:spTree>
    <p:extLst>
      <p:ext uri="{BB962C8B-B14F-4D97-AF65-F5344CB8AC3E}">
        <p14:creationId xmlns:p14="http://schemas.microsoft.com/office/powerpoint/2010/main" val="6988752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496BAF4-632C-5C56-ABD5-3B8130D28D8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3168B0A-63C0-1631-BAF3-BD4918905FF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9845CB9-79A6-CAD2-42E9-A1E26604ABD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85</a:t>
            </a:fld>
            <a:endParaRPr/>
          </a:p>
        </p:txBody>
      </p:sp>
      <p:grpSp>
        <p:nvGrpSpPr>
          <p:cNvPr id="2" name="Group 1">
            <a:extLst>
              <a:ext uri="{FF2B5EF4-FFF2-40B4-BE49-F238E27FC236}">
                <a16:creationId xmlns:a16="http://schemas.microsoft.com/office/drawing/2014/main" id="{2312C0BB-0E42-BAFE-83BC-A1C2D8C73DD6}"/>
              </a:ext>
            </a:extLst>
          </p:cNvPr>
          <p:cNvGrpSpPr/>
          <p:nvPr/>
        </p:nvGrpSpPr>
        <p:grpSpPr>
          <a:xfrm>
            <a:off x="214276" y="265650"/>
            <a:ext cx="7091780" cy="508000"/>
            <a:chOff x="789624" y="1191463"/>
            <a:chExt cx="7091780" cy="508000"/>
          </a:xfrm>
        </p:grpSpPr>
        <p:sp>
          <p:nvSpPr>
            <p:cNvPr id="3" name="AutoShape 52">
              <a:extLst>
                <a:ext uri="{FF2B5EF4-FFF2-40B4-BE49-F238E27FC236}">
                  <a16:creationId xmlns:a16="http://schemas.microsoft.com/office/drawing/2014/main" id="{E32CD237-55C5-D534-7B76-018C311D8893}"/>
                </a:ext>
              </a:extLst>
            </p:cNvPr>
            <p:cNvSpPr>
              <a:spLocks noChangeArrowheads="1"/>
            </p:cNvSpPr>
            <p:nvPr/>
          </p:nvSpPr>
          <p:spPr bwMode="gray">
            <a:xfrm>
              <a:off x="990600" y="1191463"/>
              <a:ext cx="689080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550" dirty="0">
                  <a:latin typeface="Times New Roman" panose="02020603050405020304" pitchFamily="18" charset="0"/>
                  <a:cs typeface="Times New Roman" panose="02020603050405020304" pitchFamily="18" charset="0"/>
                </a:rPr>
                <a:t>1.4.6. Cấu trúc các thành phần trong dự án Angular</a:t>
              </a:r>
              <a:endParaRPr lang="en-US" sz="2550"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1D8BD0B-18A7-7170-1C92-061DE811083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9DB11E6-B0E2-1729-DAC9-B95D7230A88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4285729-3C94-B448-FB94-ED570E4B37A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1E542D9-6C82-6BAA-968E-002CCA8D5F8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164E85D-FAB2-AD79-9BDA-6339AE7C12CB}"/>
              </a:ext>
            </a:extLst>
          </p:cNvPr>
          <p:cNvSpPr txBox="1"/>
          <p:nvPr/>
        </p:nvSpPr>
        <p:spPr>
          <a:xfrm>
            <a:off x="564686" y="801360"/>
            <a:ext cx="4267515" cy="430887"/>
          </a:xfrm>
          <a:prstGeom prst="rect">
            <a:avLst/>
          </a:prstGeom>
          <a:noFill/>
        </p:spPr>
        <p:txBody>
          <a:bodyPr wrap="none" rtlCol="0">
            <a:spAutoFit/>
          </a:bodyPr>
          <a:lstStyle/>
          <a:p>
            <a:pPr marL="342900" indent="-342900">
              <a:buFont typeface="Wingdings" panose="05000000000000000000" pitchFamily="2" charset="2"/>
              <a:buChar char="q"/>
            </a:pPr>
            <a:r>
              <a:rPr lang="en-US" sz="2200" b="1">
                <a:latin typeface="Times New Roman" panose="02020603050405020304" pitchFamily="18" charset="0"/>
                <a:cs typeface="Times New Roman" panose="02020603050405020304" pitchFamily="18" charset="0"/>
              </a:rPr>
              <a:t>LearnAngular.code-workspace</a:t>
            </a:r>
            <a:endParaRPr lang="en-US" sz="22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C5FACC5-BB6D-10F3-FDCB-37409081B697}"/>
              </a:ext>
            </a:extLst>
          </p:cNvPr>
          <p:cNvPicPr>
            <a:picLocks noChangeAspect="1"/>
          </p:cNvPicPr>
          <p:nvPr/>
        </p:nvPicPr>
        <p:blipFill>
          <a:blip r:embed="rId3"/>
          <a:stretch>
            <a:fillRect/>
          </a:stretch>
        </p:blipFill>
        <p:spPr>
          <a:xfrm>
            <a:off x="728132" y="1232247"/>
            <a:ext cx="9295892" cy="4996542"/>
          </a:xfrm>
          <a:prstGeom prst="rect">
            <a:avLst/>
          </a:prstGeom>
        </p:spPr>
      </p:pic>
    </p:spTree>
    <p:extLst>
      <p:ext uri="{BB962C8B-B14F-4D97-AF65-F5344CB8AC3E}">
        <p14:creationId xmlns:p14="http://schemas.microsoft.com/office/powerpoint/2010/main" val="24929854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86</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6565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Bài học tiếp theo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D56F04-295F-5363-D417-108007E712F9}"/>
              </a:ext>
            </a:extLst>
          </p:cNvPr>
          <p:cNvSpPr txBox="1"/>
          <p:nvPr/>
        </p:nvSpPr>
        <p:spPr>
          <a:xfrm>
            <a:off x="415252" y="810009"/>
            <a:ext cx="11564547" cy="4690387"/>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2.1. Kỹ thuật Binding</a:t>
            </a:r>
          </a:p>
          <a:p>
            <a:pPr marL="457200" indent="-457200" algn="just">
              <a:lnSpc>
                <a:spcPct val="114000"/>
              </a:lnSpc>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2.1.2. Binding Property</a:t>
            </a:r>
          </a:p>
          <a:p>
            <a:pPr marL="457200" indent="-457200" algn="just">
              <a:lnSpc>
                <a:spcPct val="114000"/>
              </a:lnSpc>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2.1.2.</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Binding Class</a:t>
            </a:r>
          </a:p>
          <a:p>
            <a:pPr marL="457200" indent="-457200" algn="just">
              <a:lnSpc>
                <a:spcPct val="114000"/>
              </a:lnSpc>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2.1.3.</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Binding Style</a:t>
            </a:r>
          </a:p>
          <a:p>
            <a:pPr marL="457200" indent="-457200" algn="just">
              <a:lnSpc>
                <a:spcPct val="114000"/>
              </a:lnSpc>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2.1.4. Binding Event</a:t>
            </a:r>
          </a:p>
          <a:p>
            <a:pPr marL="457200" indent="-457200" algn="just">
              <a:lnSpc>
                <a:spcPct val="114000"/>
              </a:lnSpc>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2.1.5.</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Binding Two-Way</a:t>
            </a:r>
          </a:p>
          <a:p>
            <a:pPr marL="457200" indent="-457200" algn="just">
              <a:lnSpc>
                <a:spcPct val="114000"/>
              </a:lnSpc>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2.2. Built-in Directives</a:t>
            </a:r>
          </a:p>
          <a:p>
            <a:pPr marL="457200" indent="-457200" algn="just">
              <a:lnSpc>
                <a:spcPct val="114000"/>
              </a:lnSpc>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2.2.1. ngIf directive</a:t>
            </a:r>
          </a:p>
          <a:p>
            <a:pPr marL="457200" indent="-457200" algn="just">
              <a:lnSpc>
                <a:spcPct val="114000"/>
              </a:lnSpc>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2.2.2. ngSwitch directive</a:t>
            </a:r>
          </a:p>
          <a:p>
            <a:pPr marL="457200" indent="-457200" algn="just">
              <a:lnSpc>
                <a:spcPct val="114000"/>
              </a:lnSpc>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2.2.3. ngFor directive</a:t>
            </a:r>
          </a:p>
          <a:p>
            <a:pPr marL="342900" indent="-342900" algn="just">
              <a:lnSpc>
                <a:spcPct val="114000"/>
              </a:lnSpc>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2.3. Component Interaction</a:t>
            </a:r>
          </a:p>
        </p:txBody>
      </p:sp>
    </p:spTree>
    <p:extLst>
      <p:ext uri="{BB962C8B-B14F-4D97-AF65-F5344CB8AC3E}">
        <p14:creationId xmlns:p14="http://schemas.microsoft.com/office/powerpoint/2010/main" val="26358999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dirty="0"/>
              <a:t>THANK 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1961</TotalTime>
  <Words>4292</Words>
  <Application>Microsoft Office PowerPoint</Application>
  <PresentationFormat>Widescreen</PresentationFormat>
  <Paragraphs>580</Paragraphs>
  <Slides>87</Slides>
  <Notes>87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87</vt:i4>
      </vt:variant>
    </vt:vector>
  </HeadingPairs>
  <TitlesOfParts>
    <vt:vector size="98" baseType="lpstr">
      <vt:lpstr>Lato Black</vt:lpstr>
      <vt:lpstr>Times New Roman</vt:lpstr>
      <vt:lpstr>Wingdings</vt:lpstr>
      <vt:lpstr>Lato</vt:lpstr>
      <vt:lpstr>Times</vt:lpstr>
      <vt:lpstr>Calibri</vt:lpstr>
      <vt:lpstr>Cambria</vt:lpstr>
      <vt:lpstr>Georgia</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 Trần</cp:lastModifiedBy>
  <cp:revision>743</cp:revision>
  <dcterms:created xsi:type="dcterms:W3CDTF">2022-12-02T04:21:00Z</dcterms:created>
  <dcterms:modified xsi:type="dcterms:W3CDTF">2026-04-19T10:20:00Z</dcterms:modified>
</cp:coreProperties>
</file>