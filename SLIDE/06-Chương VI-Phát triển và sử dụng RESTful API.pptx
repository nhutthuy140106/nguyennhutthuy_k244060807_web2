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4"/>
  </p:notesMasterIdLst>
  <p:sldIdLst>
    <p:sldId id="256" r:id="rId2"/>
    <p:sldId id="274" r:id="rId3"/>
    <p:sldId id="268" r:id="rId4"/>
    <p:sldId id="278" r:id="rId5"/>
    <p:sldId id="286" r:id="rId6"/>
    <p:sldId id="287" r:id="rId7"/>
    <p:sldId id="288" r:id="rId8"/>
    <p:sldId id="290" r:id="rId9"/>
    <p:sldId id="279" r:id="rId10"/>
    <p:sldId id="289" r:id="rId11"/>
    <p:sldId id="291" r:id="rId12"/>
    <p:sldId id="292" r:id="rId13"/>
    <p:sldId id="280"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281" r:id="rId29"/>
    <p:sldId id="312" r:id="rId30"/>
    <p:sldId id="313" r:id="rId31"/>
    <p:sldId id="314" r:id="rId32"/>
    <p:sldId id="315" r:id="rId33"/>
    <p:sldId id="316" r:id="rId34"/>
    <p:sldId id="317" r:id="rId35"/>
    <p:sldId id="318" r:id="rId36"/>
    <p:sldId id="319" r:id="rId37"/>
    <p:sldId id="320" r:id="rId38"/>
    <p:sldId id="321" r:id="rId39"/>
    <p:sldId id="282" r:id="rId40"/>
    <p:sldId id="322" r:id="rId41"/>
    <p:sldId id="323" r:id="rId42"/>
    <p:sldId id="324" r:id="rId43"/>
    <p:sldId id="325" r:id="rId44"/>
    <p:sldId id="326" r:id="rId45"/>
    <p:sldId id="327" r:id="rId46"/>
    <p:sldId id="328" r:id="rId47"/>
    <p:sldId id="283" r:id="rId48"/>
    <p:sldId id="329" r:id="rId49"/>
    <p:sldId id="330" r:id="rId50"/>
    <p:sldId id="331" r:id="rId51"/>
    <p:sldId id="332" r:id="rId52"/>
    <p:sldId id="333" r:id="rId53"/>
    <p:sldId id="334" r:id="rId54"/>
    <p:sldId id="335" r:id="rId55"/>
    <p:sldId id="284" r:id="rId56"/>
    <p:sldId id="307" r:id="rId57"/>
    <p:sldId id="338" r:id="rId58"/>
    <p:sldId id="339" r:id="rId59"/>
    <p:sldId id="337" r:id="rId60"/>
    <p:sldId id="336" r:id="rId61"/>
    <p:sldId id="340" r:id="rId62"/>
    <p:sldId id="341" r:id="rId63"/>
    <p:sldId id="342" r:id="rId64"/>
    <p:sldId id="343" r:id="rId65"/>
    <p:sldId id="344" r:id="rId66"/>
    <p:sldId id="345" r:id="rId67"/>
    <p:sldId id="346" r:id="rId68"/>
    <p:sldId id="347" r:id="rId69"/>
    <p:sldId id="348" r:id="rId70"/>
    <p:sldId id="349" r:id="rId71"/>
    <p:sldId id="350" r:id="rId72"/>
    <p:sldId id="351" r:id="rId73"/>
    <p:sldId id="352" r:id="rId74"/>
    <p:sldId id="353" r:id="rId75"/>
    <p:sldId id="354" r:id="rId76"/>
    <p:sldId id="308" r:id="rId77"/>
    <p:sldId id="355" r:id="rId78"/>
    <p:sldId id="356" r:id="rId79"/>
    <p:sldId id="357" r:id="rId80"/>
    <p:sldId id="358" r:id="rId81"/>
    <p:sldId id="359" r:id="rId82"/>
    <p:sldId id="360" r:id="rId83"/>
    <p:sldId id="361" r:id="rId84"/>
    <p:sldId id="362" r:id="rId85"/>
    <p:sldId id="363" r:id="rId86"/>
    <p:sldId id="364" r:id="rId87"/>
    <p:sldId id="365" r:id="rId88"/>
    <p:sldId id="366" r:id="rId89"/>
    <p:sldId id="309" r:id="rId90"/>
    <p:sldId id="367" r:id="rId91"/>
    <p:sldId id="368" r:id="rId92"/>
    <p:sldId id="369" r:id="rId93"/>
    <p:sldId id="370" r:id="rId94"/>
    <p:sldId id="371" r:id="rId95"/>
    <p:sldId id="372" r:id="rId96"/>
    <p:sldId id="373" r:id="rId97"/>
    <p:sldId id="374" r:id="rId98"/>
    <p:sldId id="375" r:id="rId99"/>
    <p:sldId id="376" r:id="rId100"/>
    <p:sldId id="377" r:id="rId101"/>
    <p:sldId id="378" r:id="rId102"/>
    <p:sldId id="379" r:id="rId103"/>
    <p:sldId id="380" r:id="rId104"/>
    <p:sldId id="381" r:id="rId105"/>
    <p:sldId id="382" r:id="rId106"/>
    <p:sldId id="383" r:id="rId107"/>
    <p:sldId id="310" r:id="rId108"/>
    <p:sldId id="384" r:id="rId109"/>
    <p:sldId id="385" r:id="rId110"/>
    <p:sldId id="386" r:id="rId111"/>
    <p:sldId id="387" r:id="rId112"/>
    <p:sldId id="388" r:id="rId113"/>
    <p:sldId id="390" r:id="rId114"/>
    <p:sldId id="391" r:id="rId115"/>
    <p:sldId id="389" r:id="rId116"/>
    <p:sldId id="392" r:id="rId117"/>
    <p:sldId id="393" r:id="rId118"/>
    <p:sldId id="398" r:id="rId119"/>
    <p:sldId id="399" r:id="rId120"/>
    <p:sldId id="394" r:id="rId121"/>
    <p:sldId id="400" r:id="rId122"/>
    <p:sldId id="401" r:id="rId123"/>
    <p:sldId id="395" r:id="rId124"/>
    <p:sldId id="396" r:id="rId125"/>
    <p:sldId id="397" r:id="rId126"/>
    <p:sldId id="402" r:id="rId127"/>
    <p:sldId id="311" r:id="rId128"/>
    <p:sldId id="409" r:id="rId129"/>
    <p:sldId id="403" r:id="rId130"/>
    <p:sldId id="405" r:id="rId131"/>
    <p:sldId id="406" r:id="rId132"/>
    <p:sldId id="404" r:id="rId133"/>
    <p:sldId id="407" r:id="rId134"/>
    <p:sldId id="408" r:id="rId135"/>
    <p:sldId id="414" r:id="rId136"/>
    <p:sldId id="410" r:id="rId137"/>
    <p:sldId id="415" r:id="rId138"/>
    <p:sldId id="411" r:id="rId139"/>
    <p:sldId id="412" r:id="rId140"/>
    <p:sldId id="413" r:id="rId141"/>
    <p:sldId id="277" r:id="rId142"/>
    <p:sldId id="263" r:id="rId143"/>
  </p:sldIdLst>
  <p:sldSz cx="12192000" cy="6858000"/>
  <p:notesSz cx="6858000" cy="9144000"/>
  <p:embeddedFontLst>
    <p:embeddedFont>
      <p:font typeface="Cambria" panose="02040503050406030204" pitchFamily="18" charset="0"/>
      <p:regular r:id="rId145"/>
      <p:bold r:id="rId146"/>
      <p:italic r:id="rId147"/>
      <p:boldItalic r:id="rId148"/>
    </p:embeddedFont>
    <p:embeddedFont>
      <p:font typeface="Consolas" panose="020B0609020204030204" pitchFamily="49" charset="0"/>
      <p:regular r:id="rId149"/>
      <p:bold r:id="rId150"/>
      <p:italic r:id="rId151"/>
      <p:boldItalic r:id="rId152"/>
    </p:embeddedFont>
    <p:embeddedFont>
      <p:font typeface="Georgia" panose="02040502050405020303" pitchFamily="18" charset="0"/>
      <p:regular r:id="rId153"/>
      <p:bold r:id="rId154"/>
      <p:italic r:id="rId155"/>
      <p:boldItalic r:id="rId156"/>
    </p:embeddedFont>
    <p:embeddedFont>
      <p:font typeface="Lato" panose="020F0502020204030203" pitchFamily="34" charset="0"/>
      <p:regular r:id="rId157"/>
      <p:bold r:id="rId158"/>
      <p:italic r:id="rId159"/>
      <p:boldItalic r:id="rId160"/>
    </p:embeddedFont>
    <p:embeddedFont>
      <p:font typeface="Lato Black" panose="020F0502020204030203" pitchFamily="34" charset="0"/>
      <p:bold r:id="rId161"/>
      <p:boldItalic r:id="rId162"/>
    </p:embeddedFont>
    <p:embeddedFont>
      <p:font typeface="Times" panose="02020603050405020304" pitchFamily="18" charset="0"/>
      <p:regular r:id="rId163"/>
      <p:bold r:id="rId164"/>
      <p:italic r:id="rId165"/>
      <p:boldItalic r:id="rId1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7"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6" autoAdjust="0"/>
    <p:restoredTop sz="81067" autoAdjust="0"/>
  </p:normalViewPr>
  <p:slideViewPr>
    <p:cSldViewPr snapToGrid="0">
      <p:cViewPr varScale="1">
        <p:scale>
          <a:sx n="95" d="100"/>
          <a:sy n="95" d="100"/>
        </p:scale>
        <p:origin x="1469" y="62"/>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15.fntdata"/><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5.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16.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6.fntdata"/><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1.fntdata"/><Relationship Id="rId161" Type="http://schemas.openxmlformats.org/officeDocument/2006/relationships/font" Target="fonts/font17.fntdata"/><Relationship Id="rId166"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7.fntdata"/><Relationship Id="rId156" Type="http://schemas.openxmlformats.org/officeDocument/2006/relationships/font" Target="fonts/font12.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2.fntdata"/><Relationship Id="rId167"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1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3.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3.fntdata"/><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1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4.fntdata"/><Relationship Id="rId164" Type="http://schemas.openxmlformats.org/officeDocument/2006/relationships/font" Target="fonts/font20.fntdata"/><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0.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notesMaster" Target="notesMasters/notesMaster1.xml"/><Relationship Id="rId90" Type="http://schemas.openxmlformats.org/officeDocument/2006/relationships/slide" Target="slides/slide89.xml"/><Relationship Id="rId165" Type="http://schemas.openxmlformats.org/officeDocument/2006/relationships/font" Target="fonts/font21.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1.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7558946-44E1-F218-1F0D-595FA87D9B4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3099EF0-167E-B067-6B80-EDDB76FD1B7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72826E0-B18D-A109-A2BF-BD562F1D94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8057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46551C5-AF36-BCDA-7053-A299214DB5D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D1127F3-FD3C-6EC2-9FF9-4F16E5AD24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9875F7-32B4-ED02-8D0D-BD4B40C21F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6680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36D94E5-8FEF-D80F-5C87-174253A26C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6E8BD13-F2E1-3BE1-43C4-FB360777B4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2527147-45D8-E1FB-39C2-EC489BA667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8432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3105FB7-4B59-4325-10A3-70F846FC88F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FAB26D9-5B53-6745-197E-DFCDAC44F4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F1826FA-08CA-2A13-194E-30811DB6AF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3898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E221470-FC89-5BA6-66EF-F9EB8A7748A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8362D87-4C12-AEF1-0ECE-4E106C7ED6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11EC1DB-F7B3-AB3F-BF7C-9BC1400BFB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365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CEC16F-C0B0-FEEC-BD79-A0786AA9A04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98F6EEA-8AB5-3419-7DA6-91CFF21B17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90E1EFC-54B4-F9E2-8524-F5990A69B2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1302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530214C-C16B-6130-91AB-092661B369E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F1146A8-7CF7-9510-3365-89915AC6779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E88502C-E617-DCEF-2781-2EFD57F01F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4964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7274207-4236-5194-B770-58E59C27AB7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D0BA894-8ACA-296C-C117-C251EB57CA3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3CE57D4-0835-A6D3-3AEF-81E1868B81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92351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F11D39A-4F7E-F5C3-BCA7-C361E8594FE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DD2CEAD-0D2F-BE33-0DBD-BB842619D05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1B037EE-3C55-9268-4284-BB63D62A0FE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4948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7C615C9-6B06-19CE-DF3E-1FB02A029FE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7801F3-F4A3-04D2-5322-7ABDC3DB7B9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6164852-1738-41B3-0580-F30DEAE3EB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849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BA3DC3F-C5F1-9199-73EE-E144A15512A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FD31052-9C3A-4E5B-5791-707C47CCCB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3B2D3C0-CCA6-A047-B5D4-5A80CBE0B1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2658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C64192B-4137-8D75-EC40-DF95A8680E7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5DB0662-395D-7BE7-CA34-0742F5D2AB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export interface IFakeProductRating{</a:t>
            </a:r>
          </a:p>
          <a:p>
            <a:r>
              <a:rPr lang="en-US" sz="1200" b="0" i="0" u="none" strike="noStrike" cap="none">
                <a:solidFill>
                  <a:schemeClr val="dk1"/>
                </a:solidFill>
                <a:effectLst/>
                <a:latin typeface="Calibri"/>
                <a:ea typeface="Calibri"/>
                <a:cs typeface="Calibri"/>
                <a:sym typeface="Calibri"/>
              </a:rPr>
              <a:t>    rate:number,</a:t>
            </a:r>
          </a:p>
          <a:p>
            <a:r>
              <a:rPr lang="en-US" sz="1200" b="0" i="0" u="none" strike="noStrike" cap="none">
                <a:solidFill>
                  <a:schemeClr val="dk1"/>
                </a:solidFill>
                <a:effectLst/>
                <a:latin typeface="Calibri"/>
                <a:ea typeface="Calibri"/>
                <a:cs typeface="Calibri"/>
                <a:sym typeface="Calibri"/>
              </a:rPr>
              <a:t>    count:number</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F0012E-41B8-C961-8AAB-24B0287DFF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6691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86D8069-D162-1737-E58B-0A7E7DD7CFE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D750F36-426F-BC03-6F3A-29A818A6321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IFakeProductRating } from "./IFakeProductRating";</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export interface IFakeProduct{</a:t>
            </a:r>
          </a:p>
          <a:p>
            <a:r>
              <a:rPr lang="en-US" sz="1200" b="0" i="0" u="none" strike="noStrike" cap="none">
                <a:solidFill>
                  <a:schemeClr val="dk1"/>
                </a:solidFill>
                <a:effectLst/>
                <a:latin typeface="Calibri"/>
                <a:ea typeface="Calibri"/>
                <a:cs typeface="Calibri"/>
                <a:sym typeface="Calibri"/>
              </a:rPr>
              <a:t>   id:number,</a:t>
            </a:r>
          </a:p>
          <a:p>
            <a:r>
              <a:rPr lang="en-US" sz="1200" b="0" i="0" u="none" strike="noStrike" cap="none">
                <a:solidFill>
                  <a:schemeClr val="dk1"/>
                </a:solidFill>
                <a:effectLst/>
                <a:latin typeface="Calibri"/>
                <a:ea typeface="Calibri"/>
                <a:cs typeface="Calibri"/>
                <a:sym typeface="Calibri"/>
              </a:rPr>
              <a:t>   title:string,</a:t>
            </a:r>
          </a:p>
          <a:p>
            <a:r>
              <a:rPr lang="en-US" sz="1200" b="0" i="0" u="none" strike="noStrike" cap="none">
                <a:solidFill>
                  <a:schemeClr val="dk1"/>
                </a:solidFill>
                <a:effectLst/>
                <a:latin typeface="Calibri"/>
                <a:ea typeface="Calibri"/>
                <a:cs typeface="Calibri"/>
                <a:sym typeface="Calibri"/>
              </a:rPr>
              <a:t>   price:number,</a:t>
            </a:r>
          </a:p>
          <a:p>
            <a:r>
              <a:rPr lang="en-US" sz="1200" b="0" i="0" u="none" strike="noStrike" cap="none">
                <a:solidFill>
                  <a:schemeClr val="dk1"/>
                </a:solidFill>
                <a:effectLst/>
                <a:latin typeface="Calibri"/>
                <a:ea typeface="Calibri"/>
                <a:cs typeface="Calibri"/>
                <a:sym typeface="Calibri"/>
              </a:rPr>
              <a:t>   description:string,</a:t>
            </a:r>
          </a:p>
          <a:p>
            <a:r>
              <a:rPr lang="en-US" sz="1200" b="0" i="0" u="none" strike="noStrike" cap="none">
                <a:solidFill>
                  <a:schemeClr val="dk1"/>
                </a:solidFill>
                <a:effectLst/>
                <a:latin typeface="Calibri"/>
                <a:ea typeface="Calibri"/>
                <a:cs typeface="Calibri"/>
                <a:sym typeface="Calibri"/>
              </a:rPr>
              <a:t>   category:string,</a:t>
            </a:r>
          </a:p>
          <a:p>
            <a:r>
              <a:rPr lang="en-US" sz="1200" b="0" i="0" u="none" strike="noStrike" cap="none">
                <a:solidFill>
                  <a:schemeClr val="dk1"/>
                </a:solidFill>
                <a:effectLst/>
                <a:latin typeface="Calibri"/>
                <a:ea typeface="Calibri"/>
                <a:cs typeface="Calibri"/>
                <a:sym typeface="Calibri"/>
              </a:rPr>
              <a:t>   image:string   ,</a:t>
            </a:r>
          </a:p>
          <a:p>
            <a:r>
              <a:rPr lang="en-US" sz="1200" b="0" i="0" u="none" strike="noStrike" cap="none">
                <a:solidFill>
                  <a:schemeClr val="dk1"/>
                </a:solidFill>
                <a:effectLst/>
                <a:latin typeface="Calibri"/>
                <a:ea typeface="Calibri"/>
                <a:cs typeface="Calibri"/>
                <a:sym typeface="Calibri"/>
              </a:rPr>
              <a:t>   rating:IFakeProductRating</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66F3916A-CA15-F9AB-4388-82A44E34F9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2644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8E54518-CCB7-1E88-2C80-7203568D466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D95F77E-7D71-AFE1-1DA9-0C5BAC2811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868EBB0-3E7F-4504-C68E-574E240BBC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8712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3236EF8-B7CF-EF38-C6F5-860114412CB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CB04105-3400-C104-2D14-5242D1D856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HttpClient, HttpErrorResponse, HttpHeaders } from '@angular/common/http';</a:t>
            </a:r>
          </a:p>
          <a:p>
            <a:r>
              <a:rPr lang="en-US" sz="1200" b="0" i="0" u="none" strike="noStrike" cap="none">
                <a:solidFill>
                  <a:schemeClr val="dk1"/>
                </a:solidFill>
                <a:effectLst/>
                <a:latin typeface="Calibri"/>
                <a:ea typeface="Calibri"/>
                <a:cs typeface="Calibri"/>
                <a:sym typeface="Calibri"/>
              </a:rPr>
              <a:t>import { Injectable } from '@angular/core';</a:t>
            </a:r>
          </a:p>
          <a:p>
            <a:r>
              <a:rPr lang="en-US" sz="1200" b="0" i="0" u="none" strike="noStrike" cap="none">
                <a:solidFill>
                  <a:schemeClr val="dk1"/>
                </a:solidFill>
                <a:effectLst/>
                <a:latin typeface="Calibri"/>
                <a:ea typeface="Calibri"/>
                <a:cs typeface="Calibri"/>
                <a:sym typeface="Calibri"/>
              </a:rPr>
              <a:t>import { catchError, map, Observable, retry, throwError } from 'rxjs';</a:t>
            </a:r>
          </a:p>
          <a:p>
            <a:r>
              <a:rPr lang="en-US" sz="1200" b="0" i="0" u="none" strike="noStrike" cap="none">
                <a:solidFill>
                  <a:schemeClr val="dk1"/>
                </a:solidFill>
                <a:effectLst/>
                <a:latin typeface="Calibri"/>
                <a:ea typeface="Calibri"/>
                <a:cs typeface="Calibri"/>
                <a:sym typeface="Calibri"/>
              </a:rPr>
              <a:t>import { IFakeProduct } from '../classes/IFakeProduct';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@Injectable({</a:t>
            </a:r>
          </a:p>
          <a:p>
            <a:r>
              <a:rPr lang="en-US" sz="1200" b="0" i="0" u="none" strike="noStrike" cap="none">
                <a:solidFill>
                  <a:schemeClr val="dk1"/>
                </a:solidFill>
                <a:effectLst/>
                <a:latin typeface="Calibri"/>
                <a:ea typeface="Calibri"/>
                <a:cs typeface="Calibri"/>
                <a:sym typeface="Calibri"/>
              </a:rPr>
              <a:t>  providedIn: 'root',</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FakeProductService {</a:t>
            </a:r>
          </a:p>
          <a:p>
            <a:r>
              <a:rPr lang="en-US" sz="1200" b="0" i="0" u="none" strike="noStrike" cap="none">
                <a:solidFill>
                  <a:schemeClr val="dk1"/>
                </a:solidFill>
                <a:effectLst/>
                <a:latin typeface="Calibri"/>
                <a:ea typeface="Calibri"/>
                <a:cs typeface="Calibri"/>
                <a:sym typeface="Calibri"/>
              </a:rPr>
              <a:t>  private _url:string="/products"</a:t>
            </a:r>
          </a:p>
          <a:p>
            <a:r>
              <a:rPr lang="en-US" sz="1200" b="0" i="0" u="none" strike="noStrike" cap="none">
                <a:solidFill>
                  <a:schemeClr val="dk1"/>
                </a:solidFill>
                <a:effectLst/>
                <a:latin typeface="Calibri"/>
                <a:ea typeface="Calibri"/>
                <a:cs typeface="Calibri"/>
                <a:sym typeface="Calibri"/>
              </a:rPr>
              <a:t>  constructor(private _http: HttpClient) { }</a:t>
            </a:r>
          </a:p>
          <a:p>
            <a:r>
              <a:rPr lang="en-US" sz="1200" b="0" i="0" u="none" strike="noStrike" cap="none">
                <a:solidFill>
                  <a:schemeClr val="dk1"/>
                </a:solidFill>
                <a:effectLst/>
                <a:latin typeface="Calibri"/>
                <a:ea typeface="Calibri"/>
                <a:cs typeface="Calibri"/>
                <a:sym typeface="Calibri"/>
              </a:rPr>
              <a:t>  getFakeProductData():Observable&lt;any&gt; {</a:t>
            </a:r>
          </a:p>
          <a:p>
            <a:r>
              <a:rPr lang="en-US" sz="1200" b="0" i="0" u="none" strike="noStrike" cap="none">
                <a:solidFill>
                  <a:schemeClr val="dk1"/>
                </a:solidFill>
                <a:effectLst/>
                <a:latin typeface="Calibri"/>
                <a:ea typeface="Calibri"/>
                <a:cs typeface="Calibri"/>
                <a:sym typeface="Calibri"/>
              </a:rPr>
              <a:t>    const headers=new HttpHeaders().set("Content-Type","text/plain;charset=utf-8")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this._http.get&lt;any&gt;(this._url,requestOptions).pipe(</a:t>
            </a:r>
          </a:p>
          <a:p>
            <a:r>
              <a:rPr lang="en-US" sz="1200" b="0" i="0" u="none" strike="noStrike" cap="none">
                <a:solidFill>
                  <a:schemeClr val="dk1"/>
                </a:solidFill>
                <a:effectLst/>
                <a:latin typeface="Calibri"/>
                <a:ea typeface="Calibri"/>
                <a:cs typeface="Calibri"/>
                <a:sym typeface="Calibri"/>
              </a:rPr>
              <a:t>        map(res=&gt;JSON.parse(res) as Array&lt;IFakeProduct&gt;),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handleError(error:HttpErrorResponse){</a:t>
            </a:r>
          </a:p>
          <a:p>
            <a:r>
              <a:rPr lang="en-US" sz="1200" b="0" i="0" u="none" strike="noStrike" cap="none">
                <a:solidFill>
                  <a:schemeClr val="dk1"/>
                </a:solidFill>
                <a:effectLst/>
                <a:latin typeface="Calibri"/>
                <a:ea typeface="Calibri"/>
                <a:cs typeface="Calibri"/>
                <a:sym typeface="Calibri"/>
              </a:rPr>
              <a:t>    return throwError(()=&gt;new Error(error.message))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0839032-F05C-E165-0D50-B1E0E9B675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61067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406801E-00FE-6BCC-D238-A813361B147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0B6433A-76BC-0117-F93D-EF60194A93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C4020B-C8E2-C095-CD8C-C5B65EDEAE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4971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BF7E94C-08F1-0A14-FC5B-32B3AA7BEAF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A312EF9-9EBA-EF2B-938E-9CE641C5348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FakeProductService } from '../services/fake-product-service';</a:t>
            </a:r>
          </a:p>
          <a:p>
            <a:r>
              <a:rPr lang="en-US" sz="1200" b="0" i="0" u="none" strike="noStrike" cap="none">
                <a:solidFill>
                  <a:schemeClr val="dk1"/>
                </a:solidFill>
                <a:effectLst/>
                <a:latin typeface="Calibri"/>
                <a:ea typeface="Calibri"/>
                <a:cs typeface="Calibri"/>
                <a:sym typeface="Calibri"/>
              </a:rPr>
              <a:t>import { IFakeProduct } from '../classes/IFakeProduct';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'app-fake-product-component',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'./fake-product-component.html',</a:t>
            </a:r>
          </a:p>
          <a:p>
            <a:r>
              <a:rPr lang="en-US" sz="1200" b="0" i="0" u="none" strike="noStrike" cap="none">
                <a:solidFill>
                  <a:schemeClr val="dk1"/>
                </a:solidFill>
                <a:effectLst/>
                <a:latin typeface="Calibri"/>
                <a:ea typeface="Calibri"/>
                <a:cs typeface="Calibri"/>
                <a:sym typeface="Calibri"/>
              </a:rPr>
              <a:t>  styleUrl: './fake-product-component.css',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FakeProductComponent {</a:t>
            </a:r>
          </a:p>
          <a:p>
            <a:r>
              <a:rPr lang="en-US" sz="1200" b="0" i="0" u="none" strike="noStrike" cap="none">
                <a:solidFill>
                  <a:schemeClr val="dk1"/>
                </a:solidFill>
                <a:effectLst/>
                <a:latin typeface="Calibri"/>
                <a:ea typeface="Calibri"/>
                <a:cs typeface="Calibri"/>
                <a:sym typeface="Calibri"/>
              </a:rPr>
              <a:t>  products=signal&lt;IFakeProduct[]&gt;([])</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constructor(private _service:FakeProductService){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ngOnInit():void</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this._service.getFakeProductData().subscribe({</a:t>
            </a:r>
          </a:p>
          <a:p>
            <a:r>
              <a:rPr lang="en-US" sz="1200" b="0" i="0" u="none" strike="noStrike" cap="none">
                <a:solidFill>
                  <a:schemeClr val="dk1"/>
                </a:solidFill>
                <a:effectLst/>
                <a:latin typeface="Calibri"/>
                <a:ea typeface="Calibri"/>
                <a:cs typeface="Calibri"/>
                <a:sym typeface="Calibri"/>
              </a:rPr>
              <a:t>      next:(data)=&gt;{ this.products.set(data)},</a:t>
            </a:r>
          </a:p>
          <a:p>
            <a:r>
              <a:rPr lang="en-US" sz="1200" b="0" i="0" u="none" strike="noStrike" cap="none">
                <a:solidFill>
                  <a:schemeClr val="dk1"/>
                </a:solidFill>
                <a:effectLst/>
                <a:latin typeface="Calibri"/>
                <a:ea typeface="Calibri"/>
                <a:cs typeface="Calibri"/>
                <a:sym typeface="Calibri"/>
              </a:rPr>
              <a:t>      error:(err)=&gt;{</a:t>
            </a:r>
          </a:p>
          <a:p>
            <a:r>
              <a:rPr lang="en-US" sz="1200" b="0" i="0" u="none" strike="noStrike" cap="none">
                <a:solidFill>
                  <a:schemeClr val="dk1"/>
                </a:solidFill>
                <a:effectLst/>
                <a:latin typeface="Calibri"/>
                <a:ea typeface="Calibri"/>
                <a:cs typeface="Calibri"/>
                <a:sym typeface="Calibri"/>
              </a:rPr>
              <a:t>        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81B18CF-6F66-B9D3-2407-9D1F3A72E3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9993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B175689-CC22-74AF-5D5D-CBC728EECDD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80A712B-43BC-5376-198E-2FE46117AB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{{errMessage()}}</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    &lt;thead&gt;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&lt;th&gt;Id&lt;/th&gt;</a:t>
            </a:r>
          </a:p>
          <a:p>
            <a:r>
              <a:rPr lang="en-US" sz="1200" b="0" i="0" u="none" strike="noStrike" cap="none">
                <a:solidFill>
                  <a:schemeClr val="dk1"/>
                </a:solidFill>
                <a:effectLst/>
                <a:latin typeface="Calibri"/>
                <a:ea typeface="Calibri"/>
                <a:cs typeface="Calibri"/>
                <a:sym typeface="Calibri"/>
              </a:rPr>
              <a:t>            &lt;th&gt;title&lt;/th&gt;</a:t>
            </a:r>
          </a:p>
          <a:p>
            <a:r>
              <a:rPr lang="en-US" sz="1200" b="0" i="0" u="none" strike="noStrike" cap="none">
                <a:solidFill>
                  <a:schemeClr val="dk1"/>
                </a:solidFill>
                <a:effectLst/>
                <a:latin typeface="Calibri"/>
                <a:ea typeface="Calibri"/>
                <a:cs typeface="Calibri"/>
                <a:sym typeface="Calibri"/>
              </a:rPr>
              <a:t>            &lt;th&gt;price&lt;/th&gt;</a:t>
            </a:r>
          </a:p>
          <a:p>
            <a:r>
              <a:rPr lang="en-US" sz="1200" b="0" i="0" u="none" strike="noStrike" cap="none">
                <a:solidFill>
                  <a:schemeClr val="dk1"/>
                </a:solidFill>
                <a:effectLst/>
                <a:latin typeface="Calibri"/>
                <a:ea typeface="Calibri"/>
                <a:cs typeface="Calibri"/>
                <a:sym typeface="Calibri"/>
              </a:rPr>
              <a:t>            &lt;th&gt;description&lt;/th&gt;</a:t>
            </a:r>
          </a:p>
          <a:p>
            <a:r>
              <a:rPr lang="en-US" sz="1200" b="0" i="0" u="none" strike="noStrike" cap="none">
                <a:solidFill>
                  <a:schemeClr val="dk1"/>
                </a:solidFill>
                <a:effectLst/>
                <a:latin typeface="Calibri"/>
                <a:ea typeface="Calibri"/>
                <a:cs typeface="Calibri"/>
                <a:sym typeface="Calibri"/>
              </a:rPr>
              <a:t>            &lt;th&gt;category&lt;/th&gt;</a:t>
            </a:r>
          </a:p>
          <a:p>
            <a:r>
              <a:rPr lang="en-US" sz="1200" b="0" i="0" u="none" strike="noStrike" cap="none">
                <a:solidFill>
                  <a:schemeClr val="dk1"/>
                </a:solidFill>
                <a:effectLst/>
                <a:latin typeface="Calibri"/>
                <a:ea typeface="Calibri"/>
                <a:cs typeface="Calibri"/>
                <a:sym typeface="Calibri"/>
              </a:rPr>
              <a:t>            &lt;th&gt;image&lt;/th&gt;</a:t>
            </a:r>
          </a:p>
          <a:p>
            <a:r>
              <a:rPr lang="en-US" sz="1200" b="0" i="0" u="none" strike="noStrike" cap="none">
                <a:solidFill>
                  <a:schemeClr val="dk1"/>
                </a:solidFill>
                <a:effectLst/>
                <a:latin typeface="Calibri"/>
                <a:ea typeface="Calibri"/>
                <a:cs typeface="Calibri"/>
                <a:sym typeface="Calibri"/>
              </a:rPr>
              <a:t>            &lt;th&gt;rating&lt;/th&gt;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&lt;/thead&gt;</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      @for (p of products(); track p) {</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&lt;td&gt;{{p.id}}&lt;/td&gt;</a:t>
            </a:r>
          </a:p>
          <a:p>
            <a:r>
              <a:rPr lang="en-US" sz="1200" b="0" i="0" u="none" strike="noStrike" cap="none">
                <a:solidFill>
                  <a:schemeClr val="dk1"/>
                </a:solidFill>
                <a:effectLst/>
                <a:latin typeface="Calibri"/>
                <a:ea typeface="Calibri"/>
                <a:cs typeface="Calibri"/>
                <a:sym typeface="Calibri"/>
              </a:rPr>
              <a:t>            &lt;td&gt;{{p.title}}&lt;/td&gt;</a:t>
            </a:r>
          </a:p>
          <a:p>
            <a:r>
              <a:rPr lang="en-US" sz="1200" b="0" i="0" u="none" strike="noStrike" cap="none">
                <a:solidFill>
                  <a:schemeClr val="dk1"/>
                </a:solidFill>
                <a:effectLst/>
                <a:latin typeface="Calibri"/>
                <a:ea typeface="Calibri"/>
                <a:cs typeface="Calibri"/>
                <a:sym typeface="Calibri"/>
              </a:rPr>
              <a:t>            &lt;td&gt;{{p.price}}&lt;/td&gt;</a:t>
            </a:r>
          </a:p>
          <a:p>
            <a:r>
              <a:rPr lang="en-US" sz="1200" b="0" i="0" u="none" strike="noStrike" cap="none">
                <a:solidFill>
                  <a:schemeClr val="dk1"/>
                </a:solidFill>
                <a:effectLst/>
                <a:latin typeface="Calibri"/>
                <a:ea typeface="Calibri"/>
                <a:cs typeface="Calibri"/>
                <a:sym typeface="Calibri"/>
              </a:rPr>
              <a:t>            &lt;td&gt;{{p.description}}&lt;/td&gt;</a:t>
            </a:r>
          </a:p>
          <a:p>
            <a:r>
              <a:rPr lang="en-US" sz="1200" b="0" i="0" u="none" strike="noStrike" cap="none">
                <a:solidFill>
                  <a:schemeClr val="dk1"/>
                </a:solidFill>
                <a:effectLst/>
                <a:latin typeface="Calibri"/>
                <a:ea typeface="Calibri"/>
                <a:cs typeface="Calibri"/>
                <a:sym typeface="Calibri"/>
              </a:rPr>
              <a:t>            &lt;td&gt;{{p.category}}&lt;/td&gt;</a:t>
            </a:r>
          </a:p>
          <a:p>
            <a:r>
              <a:rPr lang="en-US" sz="1200" b="0" i="0" u="none" strike="noStrike" cap="none">
                <a:solidFill>
                  <a:schemeClr val="dk1"/>
                </a:solidFill>
                <a:effectLst/>
                <a:latin typeface="Calibri"/>
                <a:ea typeface="Calibri"/>
                <a:cs typeface="Calibri"/>
                <a:sym typeface="Calibri"/>
              </a:rPr>
              <a:t>            &lt;td&gt;&lt;img src="{{p.image}}" width="250" height="250" &gt;&lt;/td&gt;</a:t>
            </a:r>
          </a:p>
          <a:p>
            <a:r>
              <a:rPr lang="en-US" sz="1200" b="0" i="0" u="none" strike="noStrike" cap="none">
                <a:solidFill>
                  <a:schemeClr val="dk1"/>
                </a:solidFill>
                <a:effectLst/>
                <a:latin typeface="Calibri"/>
                <a:ea typeface="Calibri"/>
                <a:cs typeface="Calibri"/>
                <a:sym typeface="Calibri"/>
              </a:rPr>
              <a:t>            &lt;td&gt;{{p.rating.rate}}&lt;/td&gt;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}@empty {</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colspan="7"&gt;No products available.&lt;/td&gt;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41F27C-D676-D4BF-6435-7EA7E7C6C7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5123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58E8D5A-BA7D-90A7-1F92-6DF71510778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FEC3E59-66F1-1E6E-8877-C18110E23B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C1077D8-4740-A5B4-8A9E-2AAB94D345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9921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BDAC8D7-DED6-C807-B20F-F3F54B0CE19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528A0D9-FC26-045E-DE0C-5B988108F2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BBB4ADE-DE4B-664B-4292-A5D750C09D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33754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12D760D-11BA-99AF-73DD-031DC4A86AF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6A716A9-9931-94C9-BD55-7BE087A226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7A90DE0-DC98-1964-126D-293E74D5C0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4462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174A155-5FF4-44CC-BAE1-D51FD525731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9C8DFEF-B292-A58A-E904-CBF1EF2AD5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"context": ["/products"],</a:t>
            </a:r>
          </a:p>
          <a:p>
            <a:r>
              <a:rPr lang="en-US" sz="1200" b="0" i="0" u="none" strike="noStrike" cap="none">
                <a:solidFill>
                  <a:schemeClr val="dk1"/>
                </a:solidFill>
                <a:effectLst/>
                <a:latin typeface="Calibri"/>
                <a:ea typeface="Calibri"/>
                <a:cs typeface="Calibri"/>
                <a:sym typeface="Calibri"/>
              </a:rPr>
              <a:t>        "target": "https://fakestoreapi.com",</a:t>
            </a:r>
          </a:p>
          <a:p>
            <a:r>
              <a:rPr lang="en-US" sz="1200" b="0" i="0" u="none" strike="noStrike" cap="none">
                <a:solidFill>
                  <a:schemeClr val="dk1"/>
                </a:solidFill>
                <a:effectLst/>
                <a:latin typeface="Calibri"/>
                <a:ea typeface="Calibri"/>
                <a:cs typeface="Calibri"/>
                <a:sym typeface="Calibri"/>
              </a:rPr>
              <a:t>        "secure": true,</a:t>
            </a:r>
          </a:p>
          <a:p>
            <a:r>
              <a:rPr lang="en-US" sz="1200" b="0" i="0" u="none" strike="noStrike" cap="none">
                <a:solidFill>
                  <a:schemeClr val="dk1"/>
                </a:solidFill>
                <a:effectLst/>
                <a:latin typeface="Calibri"/>
                <a:ea typeface="Calibri"/>
                <a:cs typeface="Calibri"/>
                <a:sym typeface="Calibri"/>
              </a:rPr>
              <a:t>        "changeOrigin":true,</a:t>
            </a:r>
          </a:p>
          <a:p>
            <a:r>
              <a:rPr lang="en-US" sz="1200" b="0" i="0" u="none" strike="noStrike" cap="none">
                <a:solidFill>
                  <a:schemeClr val="dk1"/>
                </a:solidFill>
                <a:effectLst/>
                <a:latin typeface="Calibri"/>
                <a:ea typeface="Calibri"/>
                <a:cs typeface="Calibri"/>
                <a:sym typeface="Calibri"/>
              </a:rPr>
              <a:t>        "logLevel":"debug"</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FD66A63-30A3-E8F6-15FF-ADC4C770C5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889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E831937-FB0C-83EB-5F00-CA899CA1824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C0D0352-474C-4A2E-5D60-1006906C27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FFB3B9A-4CDF-D883-346B-EFD92E7E3C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4228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01155C4-DD38-8072-8F08-CCDAFAB507F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9A56405-A743-469B-E1A8-758E253E91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13E9FB8-9ACB-4354-7E00-60AD75B74B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19765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0B3C17E-0674-4A39-1128-F51C404A954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6AE81BB-6F82-8BED-D8F9-FF66EC3D5B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5E1B590-0EC5-562B-6C58-67E7ECAA21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17593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CBDEF0-8494-175C-14FD-F72D59129E2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B3B193-3754-D058-7696-00F26E68B4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74BF172-C947-3626-F482-8AD839BEB6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2485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C997353-8174-3EEE-79BB-8C4187C59D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E3C272F-8B0B-6088-0F42-AFFC75A18DB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A6558F-BE6D-CCAF-CD21-71D0148527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68263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AD3020-8223-0BD9-5EB9-8D4F10535C8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D65EE3E-9484-3C45-7A3D-897248D50B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AB620AE-6871-6613-8290-A4AAF844A3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63455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4750F0F-3AA1-08D5-F735-27220299EA0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5A638F5-0024-2A2C-FE41-C096B44D01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4BD5624-9F80-658D-14A1-51152150D1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5812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9AF5FB-7523-49C0-F6CD-BA76760FC57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1061046-D063-A5CF-2AC1-AACC83D47C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A99D435-E222-9ABD-8315-F286DE0DD5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6430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6E0611B-9984-6D77-46DA-6FB896E69F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CBA4CBC-1113-6DA7-35B2-3729A23BB1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C95D709-7A6F-39CF-A25B-3969FEB763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8797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090730-CAA9-8462-11D3-970CE268F57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298A762-3349-B3DC-C674-045B5F83BF0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express=require("express")</a:t>
            </a:r>
          </a:p>
          <a:p>
            <a:r>
              <a:rPr lang="en-US" sz="1200" b="0" i="0" u="none" strike="noStrike" cap="none">
                <a:solidFill>
                  <a:schemeClr val="dk1"/>
                </a:solidFill>
                <a:effectLst/>
                <a:latin typeface="Calibri"/>
                <a:ea typeface="Calibri"/>
                <a:cs typeface="Calibri"/>
                <a:sym typeface="Calibri"/>
              </a:rPr>
              <a:t>const app=express()</a:t>
            </a:r>
          </a:p>
          <a:p>
            <a:r>
              <a:rPr lang="en-US" sz="1200" b="0" i="0" u="none" strike="noStrike" cap="none">
                <a:solidFill>
                  <a:schemeClr val="dk1"/>
                </a:solidFill>
                <a:effectLst/>
                <a:latin typeface="Calibri"/>
                <a:ea typeface="Calibri"/>
                <a:cs typeface="Calibri"/>
                <a:sym typeface="Calibri"/>
              </a:rPr>
              <a:t>const port=3000</a:t>
            </a:r>
          </a:p>
          <a:p>
            <a:r>
              <a:rPr lang="en-US" sz="1200" b="0" i="0" u="none" strike="noStrike" cap="none">
                <a:solidFill>
                  <a:schemeClr val="dk1"/>
                </a:solidFill>
                <a:effectLst/>
                <a:latin typeface="Calibri"/>
                <a:ea typeface="Calibri"/>
                <a:cs typeface="Calibri"/>
                <a:sym typeface="Calibri"/>
              </a:rPr>
              <a:t>//create default API</a:t>
            </a:r>
          </a:p>
          <a:p>
            <a:r>
              <a:rPr lang="en-US" sz="1200" b="0" i="0" u="none" strike="noStrike" cap="none">
                <a:solidFill>
                  <a:schemeClr val="dk1"/>
                </a:solidFill>
                <a:effectLst/>
                <a:latin typeface="Calibri"/>
                <a:ea typeface="Calibri"/>
                <a:cs typeface="Calibri"/>
                <a:sym typeface="Calibri"/>
              </a:rPr>
              <a:t>app.get("/",(req,res)=&gt;{</a:t>
            </a:r>
          </a:p>
          <a:p>
            <a:r>
              <a:rPr lang="en-US" sz="1200" b="0" i="0" u="none" strike="noStrike" cap="none">
                <a:solidFill>
                  <a:schemeClr val="dk1"/>
                </a:solidFill>
                <a:effectLst/>
                <a:latin typeface="Calibri"/>
                <a:ea typeface="Calibri"/>
                <a:cs typeface="Calibri"/>
                <a:sym typeface="Calibri"/>
              </a:rPr>
              <a:t>    res.send("Hello Restful API")</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app.listen(port,()=&gt;{</a:t>
            </a:r>
          </a:p>
          <a:p>
            <a:r>
              <a:rPr lang="en-US" sz="1200" b="0" i="0" u="none" strike="noStrike" cap="none">
                <a:solidFill>
                  <a:schemeClr val="dk1"/>
                </a:solidFill>
                <a:effectLst/>
                <a:latin typeface="Calibri"/>
                <a:ea typeface="Calibri"/>
                <a:cs typeface="Calibri"/>
                <a:sym typeface="Calibri"/>
              </a:rPr>
              <a:t>    console.log(`My Server listening on port ${port}`)</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3CEF00D-05E8-4A33-84A0-A980B1BB95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19891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45379C5-9AFB-5F24-CB97-5B7681F15CC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B3FEC1-9E67-118A-6A4B-55C4C81A5A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B5C7A36-5DB0-0546-26A8-A59BA285FC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0237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28A798C-AF99-CD45-9E82-5CFD62092FC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29B96D6-DDEA-A448-C7D9-1ACC7B2A7D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60FFBA5-0CC0-1907-9684-A8D2835DD5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20505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372A3E2-678E-1660-7CFC-6F4E44A5A52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8F3C9C2-0166-6D29-1DEA-93A143B373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DE19816-88A1-23D1-2EBB-F07B779B4C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20850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1742140-B0B1-E073-8AAB-510F1DB4FBD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CB85597-0ACB-1966-3F69-F2336E104C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DE03FA1-B1C9-88EF-2E81-4316ECD1E5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38960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B1E5DE9-3919-6B70-F463-9875B1F0FC3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8408B3C-6090-61CB-9FA7-8C398367E6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A58BB40-DA7D-240C-4CEA-E06EFF19BD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86097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3D0989-459F-09F6-956B-5C878B04D2F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7830711-73DF-3E33-58CB-840022EB27A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136BB33-AC54-0FFE-B32D-948016EE11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6407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6AB6B31-7B19-3814-F3B2-D8CB002BA12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D1E08BD-EDB7-CE0C-A359-B8ADFB9FAB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E3F749A-A94A-9DC5-B538-E52BF39FE1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0986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89EBE6-1011-720C-1E45-99544F4C485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5CD0DD3-8707-E920-1B53-97FD66FD98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A068D6-4218-2314-2C78-FD5D265704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83044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95181DC-7CF9-8EAA-45B3-438FF3FE699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F479B59-023F-D0BF-0B4B-5CAEEF97FA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A352669-5A2E-9EB6-20A6-BEE0B4867A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5864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B16DF1-6C8A-5A7B-1AF1-386AE8789A0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1EDB559-3C0F-756C-A638-775FC1288F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ECC24B7-4F51-30E8-AF5E-032741B437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83228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46DD12C-2987-16C8-A057-53321288948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D0AFFCC-FEB4-2E7F-9C76-E63EFF5CF1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6B6B7D3-BA1C-1F88-70CF-B8D1A94FCA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3945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FB64F47-2E70-B43E-5598-2967E6F8F7A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31E5516-F025-0D7E-40CC-E4A1234F7C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6B1728D-BBF0-0BB1-140F-3AC3DD6363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09595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7EA2313-810B-A30D-B070-32818FD1E82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75CD51-351E-8247-05BF-FD0776838D4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C818F99-4DE2-36D7-8080-84832550C0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6973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66145F2-C5B9-AE14-BC8E-B8E4B1BE686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5CEB022-7188-4AFD-B5DC-94CE11EBB69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AED83FD-0CB5-FEAB-235D-12FBABB824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37071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EDE969D-0FCF-EEBF-3907-FCE405FD3E1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F61B93C-876E-EA8F-DEBB-EA3E3D6414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express=require("express")</a:t>
            </a:r>
          </a:p>
          <a:p>
            <a:r>
              <a:rPr lang="en-US" sz="1200" b="0" i="0" u="none" strike="noStrike" cap="none">
                <a:solidFill>
                  <a:schemeClr val="dk1"/>
                </a:solidFill>
                <a:effectLst/>
                <a:latin typeface="Calibri"/>
                <a:ea typeface="Calibri"/>
                <a:cs typeface="Calibri"/>
                <a:sym typeface="Calibri"/>
              </a:rPr>
              <a:t>const app=express()</a:t>
            </a:r>
          </a:p>
          <a:p>
            <a:r>
              <a:rPr lang="en-US" sz="1200" b="0" i="0" u="none" strike="noStrike" cap="none">
                <a:solidFill>
                  <a:schemeClr val="dk1"/>
                </a:solidFill>
                <a:effectLst/>
                <a:latin typeface="Calibri"/>
                <a:ea typeface="Calibri"/>
                <a:cs typeface="Calibri"/>
                <a:sym typeface="Calibri"/>
              </a:rPr>
              <a:t>const port=3000</a:t>
            </a:r>
          </a:p>
          <a:p>
            <a:r>
              <a:rPr lang="en-US" sz="1200" b="0" i="0" u="none" strike="noStrike" cap="none">
                <a:solidFill>
                  <a:schemeClr val="dk1"/>
                </a:solidFill>
                <a:effectLst/>
                <a:latin typeface="Calibri"/>
                <a:ea typeface="Calibri"/>
                <a:cs typeface="Calibri"/>
                <a:sym typeface="Calibri"/>
              </a:rPr>
              <a:t>const morgan=require("morgan")</a:t>
            </a:r>
          </a:p>
          <a:p>
            <a:r>
              <a:rPr lang="en-US" sz="1200" b="0" i="0" u="none" strike="noStrike" cap="none">
                <a:solidFill>
                  <a:schemeClr val="dk1"/>
                </a:solidFill>
                <a:effectLst/>
                <a:latin typeface="Calibri"/>
                <a:ea typeface="Calibri"/>
                <a:cs typeface="Calibri"/>
                <a:sym typeface="Calibri"/>
              </a:rPr>
              <a:t>app.use(morgan("combined"))</a:t>
            </a:r>
          </a:p>
          <a:p>
            <a:r>
              <a:rPr lang="en-US" sz="1200" b="0" i="0" u="none" strike="noStrike" cap="none">
                <a:solidFill>
                  <a:schemeClr val="dk1"/>
                </a:solidFill>
                <a:effectLst/>
                <a:latin typeface="Calibri"/>
                <a:ea typeface="Calibri"/>
                <a:cs typeface="Calibri"/>
                <a:sym typeface="Calibri"/>
              </a:rPr>
              <a:t>//create default API</a:t>
            </a:r>
          </a:p>
          <a:p>
            <a:r>
              <a:rPr lang="en-US" sz="1200" b="0" i="0" u="none" strike="noStrike" cap="none">
                <a:solidFill>
                  <a:schemeClr val="dk1"/>
                </a:solidFill>
                <a:effectLst/>
                <a:latin typeface="Calibri"/>
                <a:ea typeface="Calibri"/>
                <a:cs typeface="Calibri"/>
                <a:sym typeface="Calibri"/>
              </a:rPr>
              <a:t>app.get("/",(req,res)=&gt;{</a:t>
            </a:r>
          </a:p>
          <a:p>
            <a:r>
              <a:rPr lang="en-US" sz="1200" b="0" i="0" u="none" strike="noStrike" cap="none">
                <a:solidFill>
                  <a:schemeClr val="dk1"/>
                </a:solidFill>
                <a:effectLst/>
                <a:latin typeface="Calibri"/>
                <a:ea typeface="Calibri"/>
                <a:cs typeface="Calibri"/>
                <a:sym typeface="Calibri"/>
              </a:rPr>
              <a:t>    res.send("Hello Restful API")    </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app.listen(port,()=&gt;{</a:t>
            </a:r>
          </a:p>
          <a:p>
            <a:r>
              <a:rPr lang="en-US" sz="1200" b="0" i="0" u="none" strike="noStrike" cap="none">
                <a:solidFill>
                  <a:schemeClr val="dk1"/>
                </a:solidFill>
                <a:effectLst/>
                <a:latin typeface="Calibri"/>
                <a:ea typeface="Calibri"/>
                <a:cs typeface="Calibri"/>
                <a:sym typeface="Calibri"/>
              </a:rPr>
              <a:t>    console.log(`My Server listening on port ${port}`)</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5AC7ACC-BE79-42F1-D155-F6B2ECA6CF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30914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905C70A-FD64-D447-ABF6-DDDEC67CF47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FD84754-CD3B-DD8D-05B0-1524A2720C7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4E34300-A9CD-80A9-B0BF-73B0BCD2A4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94018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491722-79A0-865A-EF57-43E357A1CF9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BB903D1-1B7E-2F36-A5C3-3AE4B1B4BB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4CF20F9-A387-94AB-8F3E-32371D412C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13467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099D860-FD8A-A354-9AD7-6FFA417FD8C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A7DA783-8DEB-2859-7F91-8B3F94A278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38F62F7-3656-B63E-1C6C-1A646E09D2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52161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79800E0-13A9-2D0E-E132-4C5185AA7B1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5D03069-04F3-7EC5-2D94-C68B0B49FE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421B254-621A-B38C-9083-EF90FD088E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21015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28C9B24-EF3A-A7DD-BBC0-5C00DF9148A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8A419D2-E443-2A06-493C-7165A4D29F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56C2DEA-9503-6ACD-7149-FBCC23903E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90533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5E5E78-C995-8B42-14C1-459DBBC1B30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4A4A9DA-C33C-F99D-806E-E93A72FC13C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0BF912C-EF1C-5D08-5CBC-FA6AC0DAC1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0086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4ECA68F-0251-BD56-51BE-47519614B77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8D8585A-5773-7102-1F61-95BF1E3C72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5FF66A5-6502-4982-1AC7-7B7F39B100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91670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C70468-E6D5-7EE1-C650-DA73ED2C7F7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BB647A3-CF7C-CF77-956B-9EA6CE145B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const express=require("express")</a:t>
            </a:r>
          </a:p>
          <a:p>
            <a:r>
              <a:rPr lang="en-US" sz="1200" b="0" i="0" u="none" strike="noStrike" cap="none">
                <a:solidFill>
                  <a:schemeClr val="dk1"/>
                </a:solidFill>
                <a:effectLst/>
                <a:latin typeface="Calibri"/>
                <a:ea typeface="Calibri"/>
                <a:cs typeface="Calibri"/>
                <a:sym typeface="Calibri"/>
              </a:rPr>
              <a:t>const app=express()</a:t>
            </a:r>
          </a:p>
          <a:p>
            <a:r>
              <a:rPr lang="en-US" sz="1200" b="0" i="0" u="none" strike="noStrike" cap="none">
                <a:solidFill>
                  <a:schemeClr val="dk1"/>
                </a:solidFill>
                <a:effectLst/>
                <a:latin typeface="Calibri"/>
                <a:ea typeface="Calibri"/>
                <a:cs typeface="Calibri"/>
                <a:sym typeface="Calibri"/>
              </a:rPr>
              <a:t>const port=3000</a:t>
            </a:r>
          </a:p>
          <a:p>
            <a:r>
              <a:rPr lang="en-US" sz="1200" b="0" i="0" u="none" strike="noStrike" cap="none">
                <a:solidFill>
                  <a:schemeClr val="dk1"/>
                </a:solidFill>
                <a:effectLst/>
                <a:latin typeface="Calibri"/>
                <a:ea typeface="Calibri"/>
                <a:cs typeface="Calibri"/>
                <a:sym typeface="Calibri"/>
              </a:rPr>
              <a:t>const morgan=require("morgan")</a:t>
            </a:r>
          </a:p>
          <a:p>
            <a:r>
              <a:rPr lang="en-US" sz="1200" b="0" i="0" u="none" strike="noStrike" cap="none">
                <a:solidFill>
                  <a:schemeClr val="dk1"/>
                </a:solidFill>
                <a:effectLst/>
                <a:latin typeface="Calibri"/>
                <a:ea typeface="Calibri"/>
                <a:cs typeface="Calibri"/>
                <a:sym typeface="Calibri"/>
              </a:rPr>
              <a:t>app.use(morgan("combined"))</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path=require("path")</a:t>
            </a:r>
          </a:p>
          <a:p>
            <a:r>
              <a:rPr lang="en-US" sz="1200" b="0" i="0" u="none" strike="noStrike" cap="none">
                <a:solidFill>
                  <a:schemeClr val="dk1"/>
                </a:solidFill>
                <a:effectLst/>
                <a:latin typeface="Calibri"/>
                <a:ea typeface="Calibri"/>
                <a:cs typeface="Calibri"/>
                <a:sym typeface="Calibri"/>
              </a:rPr>
              <a:t>app.use(express.static(path.join(__dirname,"public")))</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const cors=require("cors")</a:t>
            </a:r>
          </a:p>
          <a:p>
            <a:r>
              <a:rPr lang="en-US" sz="1200" b="0" i="0" u="none" strike="noStrike" cap="none">
                <a:solidFill>
                  <a:schemeClr val="dk1"/>
                </a:solidFill>
                <a:effectLst/>
                <a:latin typeface="Calibri"/>
                <a:ea typeface="Calibri"/>
                <a:cs typeface="Calibri"/>
                <a:sym typeface="Calibri"/>
              </a:rPr>
              <a:t>app.use(cors())</a:t>
            </a:r>
          </a:p>
          <a:p>
            <a:r>
              <a:rPr lang="en-US" sz="1200" b="0" i="0" u="none" strike="noStrike" cap="none">
                <a:solidFill>
                  <a:schemeClr val="dk1"/>
                </a:solidFill>
                <a:effectLst/>
                <a:latin typeface="Calibri"/>
                <a:ea typeface="Calibri"/>
                <a:cs typeface="Calibri"/>
                <a:sym typeface="Calibri"/>
              </a:rPr>
              <a:t>const bodyParser=require("body-parser")</a:t>
            </a:r>
          </a:p>
          <a:p>
            <a:r>
              <a:rPr lang="en-US" sz="1200" b="0" i="0" u="none" strike="noStrike" cap="none">
                <a:solidFill>
                  <a:schemeClr val="dk1"/>
                </a:solidFill>
                <a:effectLst/>
                <a:latin typeface="Calibri"/>
                <a:ea typeface="Calibri"/>
                <a:cs typeface="Calibri"/>
                <a:sym typeface="Calibri"/>
              </a:rPr>
              <a:t>app.use(bodyParser.json())</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//create default API</a:t>
            </a:r>
          </a:p>
          <a:p>
            <a:r>
              <a:rPr lang="en-US" sz="1200" b="0" i="0" u="none" strike="noStrike" cap="none">
                <a:solidFill>
                  <a:schemeClr val="dk1"/>
                </a:solidFill>
                <a:effectLst/>
                <a:latin typeface="Calibri"/>
                <a:ea typeface="Calibri"/>
                <a:cs typeface="Calibri"/>
                <a:sym typeface="Calibri"/>
              </a:rPr>
              <a:t>app.get("/",(req,res)=&gt;{</a:t>
            </a:r>
          </a:p>
          <a:p>
            <a:r>
              <a:rPr lang="en-US" sz="1200" b="0" i="0" u="none" strike="noStrike" cap="none">
                <a:solidFill>
                  <a:schemeClr val="dk1"/>
                </a:solidFill>
                <a:effectLst/>
                <a:latin typeface="Calibri"/>
                <a:ea typeface="Calibri"/>
                <a:cs typeface="Calibri"/>
                <a:sym typeface="Calibri"/>
              </a:rPr>
              <a:t>    res.send("Hello Restful API")    </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app.listen(port,()=&gt;{</a:t>
            </a:r>
          </a:p>
          <a:p>
            <a:r>
              <a:rPr lang="en-US" sz="1200" b="0" i="0" u="none" strike="noStrike" cap="none">
                <a:solidFill>
                  <a:schemeClr val="dk1"/>
                </a:solidFill>
                <a:effectLst/>
                <a:latin typeface="Calibri"/>
                <a:ea typeface="Calibri"/>
                <a:cs typeface="Calibri"/>
                <a:sym typeface="Calibri"/>
              </a:rPr>
              <a:t>    console.log(`My Server listening on port ${port}`)</a:t>
            </a:r>
          </a:p>
          <a:p>
            <a:r>
              <a:rPr lang="en-US" sz="1200" b="0" i="0" u="none" strike="noStrike" cap="none">
                <a:solidFill>
                  <a:schemeClr val="dk1"/>
                </a:solidFill>
                <a:effectLst/>
                <a:latin typeface="Calibri"/>
                <a:ea typeface="Calibri"/>
                <a:cs typeface="Calibri"/>
                <a:sym typeface="Calibri"/>
              </a:rPr>
              <a: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7F17ADC-F4AC-B1EE-DA4F-77A321DC7A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1695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B13F8EA-8B0E-E1D6-A5D3-27D48CCD52D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9E86029-A183-96E7-32D1-6D72274232F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u="none" strike="noStrike" cap="none">
                <a:solidFill>
                  <a:schemeClr val="dk1"/>
                </a:solidFill>
                <a:effectLst/>
                <a:latin typeface="Calibri"/>
                <a:ea typeface="Calibri"/>
                <a:cs typeface="Calibri"/>
                <a:sym typeface="Calibri"/>
              </a:rPr>
              <a:t>let  database=[</a:t>
            </a:r>
          </a:p>
          <a:p>
            <a:r>
              <a:rPr lang="vi-VN" sz="1200" b="0" i="0" u="none" strike="noStrike" cap="none">
                <a:solidFill>
                  <a:schemeClr val="dk1"/>
                </a:solidFill>
                <a:effectLst/>
                <a:latin typeface="Calibri"/>
                <a:ea typeface="Calibri"/>
                <a:cs typeface="Calibri"/>
                <a:sym typeface="Calibri"/>
              </a:rPr>
              <a:t>    {"BookId":"b1","BookName":"Kỹ thuật lập trình cơ bản","Price":70,"Image":"b1.png"},</a:t>
            </a:r>
          </a:p>
          <a:p>
            <a:r>
              <a:rPr lang="vi-VN" sz="1200" b="0" i="0" u="none" strike="noStrike" cap="none">
                <a:solidFill>
                  <a:schemeClr val="dk1"/>
                </a:solidFill>
                <a:effectLst/>
                <a:latin typeface="Calibri"/>
                <a:ea typeface="Calibri"/>
                <a:cs typeface="Calibri"/>
                <a:sym typeface="Calibri"/>
              </a:rPr>
              <a:t>    {"BookId":"b2","BookName":"Kỹ thuật lập trình nâng cao","Price":100,"Image":"b2.png"},</a:t>
            </a:r>
          </a:p>
          <a:p>
            <a:r>
              <a:rPr lang="vi-VN" sz="1200" b="0" i="0" u="none" strike="noStrike" cap="none">
                <a:solidFill>
                  <a:schemeClr val="dk1"/>
                </a:solidFill>
                <a:effectLst/>
                <a:latin typeface="Calibri"/>
                <a:ea typeface="Calibri"/>
                <a:cs typeface="Calibri"/>
                <a:sym typeface="Calibri"/>
              </a:rPr>
              <a:t>    {"BookId":"b3","BookName":"Máy học cơ bản","Price":200,"Image":"b3.png"},</a:t>
            </a:r>
          </a:p>
          <a:p>
            <a:r>
              <a:rPr lang="vi-VN" sz="1200" b="0" i="0" u="none" strike="noStrike" cap="none">
                <a:solidFill>
                  <a:schemeClr val="dk1"/>
                </a:solidFill>
                <a:effectLst/>
                <a:latin typeface="Calibri"/>
                <a:ea typeface="Calibri"/>
                <a:cs typeface="Calibri"/>
                <a:sym typeface="Calibri"/>
              </a:rPr>
              <a:t>    {"BookId":"b4","BookName":"Máy học nâng cao","Price":300,"Image":"b4.png"},</a:t>
            </a:r>
          </a:p>
          <a:p>
            <a:r>
              <a:rPr lang="vi-VN" sz="1200" b="0" i="0" u="none" strike="noStrike" cap="none">
                <a:solidFill>
                  <a:schemeClr val="dk1"/>
                </a:solidFill>
                <a:effectLst/>
                <a:latin typeface="Calibri"/>
                <a:ea typeface="Calibri"/>
                <a:cs typeface="Calibri"/>
                <a:sym typeface="Calibri"/>
              </a:rPr>
              <a:t>    {"BookId":"b5","BookName":"Lập trình Robot cơ bản","Price":250,"Image":"b5.png"},</a:t>
            </a:r>
          </a:p>
          <a:p>
            <a:r>
              <a:rPr lang="vi-VN" sz="1200" b="0" i="0" u="none" strike="noStrike" cap="none">
                <a:solidFill>
                  <a:schemeClr val="dk1"/>
                </a:solidFill>
                <a:effectLst/>
                <a:latin typeface="Calibri"/>
                <a:ea typeface="Calibri"/>
                <a:cs typeface="Calibri"/>
                <a:sym typeface="Calibri"/>
              </a:rPr>
              <a:t>  ]</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87757B1-4F15-EA2F-77A0-DF34C23CEE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50685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FB2B839-4142-8843-D784-8064E456650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BE8EC89-C410-A4B2-C38B-D4B83F625B3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u="none" strike="noStrike" cap="none">
                <a:solidFill>
                  <a:schemeClr val="dk1"/>
                </a:solidFill>
                <a:effectLst/>
                <a:latin typeface="Calibri"/>
                <a:ea typeface="Calibri"/>
                <a:cs typeface="Calibri"/>
                <a:sym typeface="Calibri"/>
              </a:rPr>
              <a:t>const express=require("express")</a:t>
            </a:r>
          </a:p>
          <a:p>
            <a:r>
              <a:rPr lang="vi-VN" sz="1200" b="0" i="0" u="none" strike="noStrike" cap="none">
                <a:solidFill>
                  <a:schemeClr val="dk1"/>
                </a:solidFill>
                <a:effectLst/>
                <a:latin typeface="Calibri"/>
                <a:ea typeface="Calibri"/>
                <a:cs typeface="Calibri"/>
                <a:sym typeface="Calibri"/>
              </a:rPr>
              <a:t>const app=express()</a:t>
            </a:r>
          </a:p>
          <a:p>
            <a:r>
              <a:rPr lang="vi-VN" sz="1200" b="0" i="0" u="none" strike="noStrike" cap="none">
                <a:solidFill>
                  <a:schemeClr val="dk1"/>
                </a:solidFill>
                <a:effectLst/>
                <a:latin typeface="Calibri"/>
                <a:ea typeface="Calibri"/>
                <a:cs typeface="Calibri"/>
                <a:sym typeface="Calibri"/>
              </a:rPr>
              <a:t>const port=3000</a:t>
            </a:r>
          </a:p>
          <a:p>
            <a:r>
              <a:rPr lang="vi-VN" sz="1200" b="0" i="0" u="none" strike="noStrike" cap="none">
                <a:solidFill>
                  <a:schemeClr val="dk1"/>
                </a:solidFill>
                <a:effectLst/>
                <a:latin typeface="Calibri"/>
                <a:ea typeface="Calibri"/>
                <a:cs typeface="Calibri"/>
                <a:sym typeface="Calibri"/>
              </a:rPr>
              <a:t>const morgan=require("morgan")</a:t>
            </a:r>
          </a:p>
          <a:p>
            <a:r>
              <a:rPr lang="vi-VN" sz="1200" b="0" i="0" u="none" strike="noStrike" cap="none">
                <a:solidFill>
                  <a:schemeClr val="dk1"/>
                </a:solidFill>
                <a:effectLst/>
                <a:latin typeface="Calibri"/>
                <a:ea typeface="Calibri"/>
                <a:cs typeface="Calibri"/>
                <a:sym typeface="Calibri"/>
              </a:rPr>
              <a:t>app.use(morgan("combined"))</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const path=require("path")</a:t>
            </a:r>
          </a:p>
          <a:p>
            <a:r>
              <a:rPr lang="vi-VN" sz="1200" b="0" i="0" u="none" strike="noStrike" cap="none">
                <a:solidFill>
                  <a:schemeClr val="dk1"/>
                </a:solidFill>
                <a:effectLst/>
                <a:latin typeface="Calibri"/>
                <a:ea typeface="Calibri"/>
                <a:cs typeface="Calibri"/>
                <a:sym typeface="Calibri"/>
              </a:rPr>
              <a:t>app.use(express.static(path.join(__dirname,"public")))</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const cors=require("cors")</a:t>
            </a:r>
          </a:p>
          <a:p>
            <a:r>
              <a:rPr lang="vi-VN" sz="1200" b="0" i="0" u="none" strike="noStrike" cap="none">
                <a:solidFill>
                  <a:schemeClr val="dk1"/>
                </a:solidFill>
                <a:effectLst/>
                <a:latin typeface="Calibri"/>
                <a:ea typeface="Calibri"/>
                <a:cs typeface="Calibri"/>
                <a:sym typeface="Calibri"/>
              </a:rPr>
              <a:t>app.use(cors())</a:t>
            </a:r>
          </a:p>
          <a:p>
            <a:r>
              <a:rPr lang="vi-VN" sz="1200" b="0" i="0" u="none" strike="noStrike" cap="none">
                <a:solidFill>
                  <a:schemeClr val="dk1"/>
                </a:solidFill>
                <a:effectLst/>
                <a:latin typeface="Calibri"/>
                <a:ea typeface="Calibri"/>
                <a:cs typeface="Calibri"/>
                <a:sym typeface="Calibri"/>
              </a:rPr>
              <a:t>const bodyParser=require("body-parser")</a:t>
            </a:r>
          </a:p>
          <a:p>
            <a:r>
              <a:rPr lang="vi-VN" sz="1200" b="0" i="0" u="none" strike="noStrike" cap="none">
                <a:solidFill>
                  <a:schemeClr val="dk1"/>
                </a:solidFill>
                <a:effectLst/>
                <a:latin typeface="Calibri"/>
                <a:ea typeface="Calibri"/>
                <a:cs typeface="Calibri"/>
                <a:sym typeface="Calibri"/>
              </a:rPr>
              <a:t>app.use(bodyParser.json())</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//create default API</a:t>
            </a:r>
          </a:p>
          <a:p>
            <a:r>
              <a:rPr lang="vi-VN" sz="1200" b="0" i="0" u="none" strike="noStrike" cap="none">
                <a:solidFill>
                  <a:schemeClr val="dk1"/>
                </a:solidFill>
                <a:effectLst/>
                <a:latin typeface="Calibri"/>
                <a:ea typeface="Calibri"/>
                <a:cs typeface="Calibri"/>
                <a:sym typeface="Calibri"/>
              </a:rPr>
              <a:t>app.get("/",(req,res)=&gt;{</a:t>
            </a:r>
          </a:p>
          <a:p>
            <a:r>
              <a:rPr lang="vi-VN" sz="1200" b="0" i="0" u="none" strike="noStrike" cap="none">
                <a:solidFill>
                  <a:schemeClr val="dk1"/>
                </a:solidFill>
                <a:effectLst/>
                <a:latin typeface="Calibri"/>
                <a:ea typeface="Calibri"/>
                <a:cs typeface="Calibri"/>
                <a:sym typeface="Calibri"/>
              </a:rPr>
              <a:t>    res.send("Hello Restful API")    </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app.listen(port,()=&gt;{</a:t>
            </a:r>
          </a:p>
          <a:p>
            <a:r>
              <a:rPr lang="vi-VN" sz="1200" b="0" i="0" u="none" strike="noStrike" cap="none">
                <a:solidFill>
                  <a:schemeClr val="dk1"/>
                </a:solidFill>
                <a:effectLst/>
                <a:latin typeface="Calibri"/>
                <a:ea typeface="Calibri"/>
                <a:cs typeface="Calibri"/>
                <a:sym typeface="Calibri"/>
              </a:rPr>
              <a:t>    console.log(`My Server listening on port ${port}`)</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let  database=[</a:t>
            </a:r>
          </a:p>
          <a:p>
            <a:r>
              <a:rPr lang="vi-VN" sz="1200" b="0" i="0" u="none" strike="noStrike" cap="none">
                <a:solidFill>
                  <a:schemeClr val="dk1"/>
                </a:solidFill>
                <a:effectLst/>
                <a:latin typeface="Calibri"/>
                <a:ea typeface="Calibri"/>
                <a:cs typeface="Calibri"/>
                <a:sym typeface="Calibri"/>
              </a:rPr>
              <a:t>    {"BookId":"b1","BookName":"Kỹ thuật lập trình cơ bản","Price":70,"Image":"b1.png"},</a:t>
            </a:r>
          </a:p>
          <a:p>
            <a:r>
              <a:rPr lang="vi-VN" sz="1200" b="0" i="0" u="none" strike="noStrike" cap="none">
                <a:solidFill>
                  <a:schemeClr val="dk1"/>
                </a:solidFill>
                <a:effectLst/>
                <a:latin typeface="Calibri"/>
                <a:ea typeface="Calibri"/>
                <a:cs typeface="Calibri"/>
                <a:sym typeface="Calibri"/>
              </a:rPr>
              <a:t>    {"BookId":"b2","BookName":"Kỹ thuật lập trình nâng cao","Price":100,"Image":"b2.png"},</a:t>
            </a:r>
          </a:p>
          <a:p>
            <a:r>
              <a:rPr lang="vi-VN" sz="1200" b="0" i="0" u="none" strike="noStrike" cap="none">
                <a:solidFill>
                  <a:schemeClr val="dk1"/>
                </a:solidFill>
                <a:effectLst/>
                <a:latin typeface="Calibri"/>
                <a:ea typeface="Calibri"/>
                <a:cs typeface="Calibri"/>
                <a:sym typeface="Calibri"/>
              </a:rPr>
              <a:t>    {"BookId":"b3","BookName":"Máy học cơ bản","Price":200,"Image":"b3.png"},</a:t>
            </a:r>
          </a:p>
          <a:p>
            <a:r>
              <a:rPr lang="vi-VN" sz="1200" b="0" i="0" u="none" strike="noStrike" cap="none">
                <a:solidFill>
                  <a:schemeClr val="dk1"/>
                </a:solidFill>
                <a:effectLst/>
                <a:latin typeface="Calibri"/>
                <a:ea typeface="Calibri"/>
                <a:cs typeface="Calibri"/>
                <a:sym typeface="Calibri"/>
              </a:rPr>
              <a:t>    {"BookId":"b4","BookName":"Máy học nâng cao","Price":300,"Image":"b4.png"},</a:t>
            </a:r>
          </a:p>
          <a:p>
            <a:r>
              <a:rPr lang="vi-VN" sz="1200" b="0" i="0" u="none" strike="noStrike" cap="none">
                <a:solidFill>
                  <a:schemeClr val="dk1"/>
                </a:solidFill>
                <a:effectLst/>
                <a:latin typeface="Calibri"/>
                <a:ea typeface="Calibri"/>
                <a:cs typeface="Calibri"/>
                <a:sym typeface="Calibri"/>
              </a:rPr>
              <a:t>    {"BookId":"b5","BookName":"Lập trình Robot cơ bản","Price":250,"Image":"b5.png"},</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app.get("/books",(req,res)=&gt;{</a:t>
            </a:r>
          </a:p>
          <a:p>
            <a:r>
              <a:rPr lang="vi-VN" sz="1200" b="0" i="0" u="none" strike="noStrike" cap="none">
                <a:solidFill>
                  <a:schemeClr val="dk1"/>
                </a:solidFill>
                <a:effectLst/>
                <a:latin typeface="Calibri"/>
                <a:ea typeface="Calibri"/>
                <a:cs typeface="Calibri"/>
                <a:sym typeface="Calibri"/>
              </a:rPr>
              <a:t>    res.send(database)</a:t>
            </a:r>
          </a:p>
          <a:p>
            <a:r>
              <a:rPr lang="vi-VN" sz="1200" b="0" i="0" u="none" strike="noStrike" cap="none">
                <a:solidFill>
                  <a:schemeClr val="dk1"/>
                </a:solidFill>
                <a:effectLst/>
                <a:latin typeface="Calibri"/>
                <a:ea typeface="Calibri"/>
                <a:cs typeface="Calibri"/>
                <a:sym typeface="Calibri"/>
              </a:rPr>
              <a:t>})</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FEF461F-5E24-51CB-40AC-B5E78EB441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37245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11EDFA8-DE11-D7FD-C529-E86C071F527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B330D5B-D732-EA16-0657-51208C3D7B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FEB7364-A504-1F53-E530-8220EF4639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0588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1F288CE-34F6-68E1-27B7-E2653B0A78C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E264E0B-0432-93AC-FD2F-9ABFBC9717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740EAC6-D85D-94B2-16E8-F5B82BB601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16591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F47FABD-7E7E-FCBF-B893-F05A3943033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921543C-A44B-39BE-0BCE-F2E9FC3D46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A30CCBE-B6DF-31A1-0942-7176914E4F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59732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97C190-04F8-4701-EAFB-75A30765D6C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F5A1722-F309-E1D2-D3E0-4E5B2D86E7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FE71AC2-7D98-F256-CE6B-04EA001DCD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56736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926AE36-8901-3B67-D074-4297220C1D2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A9ED998-E44B-7466-E73B-123C8175F4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export interface IBook{</a:t>
            </a:r>
          </a:p>
          <a:p>
            <a:r>
              <a:rPr lang="en-US" sz="1200" b="0" i="0" u="none" strike="noStrike" cap="none">
                <a:solidFill>
                  <a:schemeClr val="dk1"/>
                </a:solidFill>
                <a:effectLst/>
                <a:latin typeface="Calibri"/>
                <a:ea typeface="Calibri"/>
                <a:cs typeface="Calibri"/>
                <a:sym typeface="Calibri"/>
              </a:rPr>
              <a:t>    BookId:string,</a:t>
            </a:r>
          </a:p>
          <a:p>
            <a:r>
              <a:rPr lang="en-US" sz="1200" b="0" i="0" u="none" strike="noStrike" cap="none">
                <a:solidFill>
                  <a:schemeClr val="dk1"/>
                </a:solidFill>
                <a:effectLst/>
                <a:latin typeface="Calibri"/>
                <a:ea typeface="Calibri"/>
                <a:cs typeface="Calibri"/>
                <a:sym typeface="Calibri"/>
              </a:rPr>
              <a:t>    BookName:string,</a:t>
            </a:r>
          </a:p>
          <a:p>
            <a:r>
              <a:rPr lang="en-US" sz="1200" b="0" i="0" u="none" strike="noStrike" cap="none">
                <a:solidFill>
                  <a:schemeClr val="dk1"/>
                </a:solidFill>
                <a:effectLst/>
                <a:latin typeface="Calibri"/>
                <a:ea typeface="Calibri"/>
                <a:cs typeface="Calibri"/>
                <a:sym typeface="Calibri"/>
              </a:rPr>
              <a:t>    Price:number,</a:t>
            </a:r>
          </a:p>
          <a:p>
            <a:r>
              <a:rPr lang="en-US" sz="1200" b="0" i="0" u="none" strike="noStrike" cap="none">
                <a:solidFill>
                  <a:schemeClr val="dk1"/>
                </a:solidFill>
                <a:effectLst/>
                <a:latin typeface="Calibri"/>
                <a:ea typeface="Calibri"/>
                <a:cs typeface="Calibri"/>
                <a:sym typeface="Calibri"/>
              </a:rPr>
              <a:t>    Image:string</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AD319D-9990-C27E-EA7E-EA3F4C6F52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2323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36D9A35-69A0-ECAB-3D7C-EDFB92BDE82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CCB8CF1-D543-9FEE-07B0-28A80450AC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BC78B2A-6D7D-D21F-CF4D-B8A480315B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82831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FC17DD-B24C-19AE-1D34-6993E175981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BA68F7A-1911-CA28-B973-B48F7112BA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HttpClient, HttpErrorResponse, HttpHeaders } from '@angular/common/http';</a:t>
            </a:r>
          </a:p>
          <a:p>
            <a:r>
              <a:rPr lang="en-US" sz="1200" b="0" i="0" u="none" strike="noStrike" cap="none">
                <a:solidFill>
                  <a:schemeClr val="dk1"/>
                </a:solidFill>
                <a:effectLst/>
                <a:latin typeface="Calibri"/>
                <a:ea typeface="Calibri"/>
                <a:cs typeface="Calibri"/>
                <a:sym typeface="Calibri"/>
              </a:rPr>
              <a:t>import { Injectable } from '@angular/core';</a:t>
            </a:r>
          </a:p>
          <a:p>
            <a:r>
              <a:rPr lang="en-US" sz="1200" b="0" i="0" u="none" strike="noStrike" cap="none">
                <a:solidFill>
                  <a:schemeClr val="dk1"/>
                </a:solidFill>
                <a:effectLst/>
                <a:latin typeface="Calibri"/>
                <a:ea typeface="Calibri"/>
                <a:cs typeface="Calibri"/>
                <a:sym typeface="Calibri"/>
              </a:rPr>
              <a:t>import { catchError, map, Observable, retry, throwError } from 'rxjs';</a:t>
            </a:r>
          </a:p>
          <a:p>
            <a:r>
              <a:rPr lang="en-US" sz="1200" b="0" i="0" u="none" strike="noStrike" cap="none">
                <a:solidFill>
                  <a:schemeClr val="dk1"/>
                </a:solidFill>
                <a:effectLst/>
                <a:latin typeface="Calibri"/>
                <a:ea typeface="Calibri"/>
                <a:cs typeface="Calibri"/>
                <a:sym typeface="Calibri"/>
              </a:rPr>
              <a:t>import { IBook } from '../classes/Book';</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@Injectable({</a:t>
            </a:r>
          </a:p>
          <a:p>
            <a:r>
              <a:rPr lang="en-US" sz="1200" b="0" i="0" u="none" strike="noStrike" cap="none">
                <a:solidFill>
                  <a:schemeClr val="dk1"/>
                </a:solidFill>
                <a:effectLst/>
                <a:latin typeface="Calibri"/>
                <a:ea typeface="Calibri"/>
                <a:cs typeface="Calibri"/>
                <a:sym typeface="Calibri"/>
              </a:rPr>
              <a:t>  providedIn: 'root',</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BookAPIService {</a:t>
            </a:r>
          </a:p>
          <a:p>
            <a:r>
              <a:rPr lang="en-US" sz="1200" b="0" i="0" u="none" strike="noStrike" cap="none">
                <a:solidFill>
                  <a:schemeClr val="dk1"/>
                </a:solidFill>
                <a:effectLst/>
                <a:latin typeface="Calibri"/>
                <a:ea typeface="Calibri"/>
                <a:cs typeface="Calibri"/>
                <a:sym typeface="Calibri"/>
              </a:rPr>
              <a:t>  constructor(private _http: HttpClient) { }</a:t>
            </a:r>
          </a:p>
          <a:p>
            <a:r>
              <a:rPr lang="en-US" sz="1200" b="0" i="0" u="none" strike="noStrike" cap="none">
                <a:solidFill>
                  <a:schemeClr val="dk1"/>
                </a:solidFill>
                <a:effectLst/>
                <a:latin typeface="Calibri"/>
                <a:ea typeface="Calibri"/>
                <a:cs typeface="Calibri"/>
                <a:sym typeface="Calibri"/>
              </a:rPr>
              <a:t>  getBooks():Observable&lt;any&gt;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HttpHeaders().set("Content-Type","text/plain;charset=utf-8")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this._http.get&lt;any&gt;("/books",requestOptions).pipe(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handleError(error:HttpErrorResponse){</a:t>
            </a:r>
          </a:p>
          <a:p>
            <a:r>
              <a:rPr lang="en-US" sz="1200" b="0" i="0" u="none" strike="noStrike" cap="none">
                <a:solidFill>
                  <a:schemeClr val="dk1"/>
                </a:solidFill>
                <a:effectLst/>
                <a:latin typeface="Calibri"/>
                <a:ea typeface="Calibri"/>
                <a:cs typeface="Calibri"/>
                <a:sym typeface="Calibri"/>
              </a:rPr>
              <a:t>    return throwError(()=&gt;new Error(error.message))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6149DE73-C211-C88D-5549-D51F5F7107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268601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B238CB-BF12-C1CA-3C01-2D46AD9F638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2046708-63E8-0527-5793-6CBA783C58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2A2E2DC3-172E-B666-7D8C-A31555F76E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48850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DA03DA-F17E-29E5-73FF-2707C2B2C3D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27A615D-DBF0-08FE-3475-ECDBA497D8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7528910E-2F1C-8AB5-F947-CFFE1542E1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03787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AFD05C0-1424-D99F-974E-A5910E24DBE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6C8D6C9-0157-EEC4-C1FE-7C9463EE24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BookAPIService } from '../services/book-apiservice';</a:t>
            </a:r>
          </a:p>
          <a:p>
            <a:r>
              <a:rPr lang="en-US" sz="1200" b="0" i="0" u="none" strike="noStrike" cap="none">
                <a:solidFill>
                  <a:schemeClr val="dk1"/>
                </a:solidFill>
                <a:effectLst/>
                <a:latin typeface="Calibri"/>
                <a:ea typeface="Calibri"/>
                <a:cs typeface="Calibri"/>
                <a:sym typeface="Calibri"/>
              </a:rPr>
              <a:t>import { IBook } from '../classes/Book';</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'app-books-component',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'./books-component.html',</a:t>
            </a:r>
          </a:p>
          <a:p>
            <a:r>
              <a:rPr lang="en-US" sz="1200" b="0" i="0" u="none" strike="noStrike" cap="none">
                <a:solidFill>
                  <a:schemeClr val="dk1"/>
                </a:solidFill>
                <a:effectLst/>
                <a:latin typeface="Calibri"/>
                <a:ea typeface="Calibri"/>
                <a:cs typeface="Calibri"/>
                <a:sym typeface="Calibri"/>
              </a:rPr>
              <a:t>  styleUrl: './books-component.css',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BooksComponent {</a:t>
            </a:r>
          </a:p>
          <a:p>
            <a:r>
              <a:rPr lang="en-US" sz="1200" b="0" i="0" u="none" strike="noStrike" cap="none">
                <a:solidFill>
                  <a:schemeClr val="dk1"/>
                </a:solidFill>
                <a:effectLst/>
                <a:latin typeface="Calibri"/>
                <a:ea typeface="Calibri"/>
                <a:cs typeface="Calibri"/>
                <a:sym typeface="Calibri"/>
              </a:rPr>
              <a:t>  books=signal&lt;IBook[]&gt;([]);</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server_images_link="http://localhost:3000/images/"</a:t>
            </a:r>
          </a:p>
          <a:p>
            <a:r>
              <a:rPr lang="en-US" sz="1200" b="0" i="0" u="none" strike="noStrike" cap="none">
                <a:solidFill>
                  <a:schemeClr val="dk1"/>
                </a:solidFill>
                <a:effectLst/>
                <a:latin typeface="Calibri"/>
                <a:ea typeface="Calibri"/>
                <a:cs typeface="Calibri"/>
                <a:sym typeface="Calibri"/>
              </a:rPr>
              <a:t>  constructor(private _service: BookAPIService){</a:t>
            </a:r>
          </a:p>
          <a:p>
            <a:r>
              <a:rPr lang="en-US" sz="1200" b="0" i="0" u="none" strike="noStrike" cap="none">
                <a:solidFill>
                  <a:schemeClr val="dk1"/>
                </a:solidFill>
                <a:effectLst/>
                <a:latin typeface="Calibri"/>
                <a:ea typeface="Calibri"/>
                <a:cs typeface="Calibri"/>
                <a:sym typeface="Calibri"/>
              </a:rPr>
              <a:t>    this._service.getBooks().subscribe({</a:t>
            </a:r>
          </a:p>
          <a:p>
            <a:r>
              <a:rPr lang="en-US" sz="1200" b="0" i="0" u="none" strike="noStrike" cap="none">
                <a:solidFill>
                  <a:schemeClr val="dk1"/>
                </a:solidFill>
                <a:effectLst/>
                <a:latin typeface="Calibri"/>
                <a:ea typeface="Calibri"/>
                <a:cs typeface="Calibri"/>
                <a:sym typeface="Calibri"/>
              </a:rPr>
              <a:t>      next:(data)=&gt;{this.books.set(data)},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7F39E605-AD29-D7FA-F327-3C796B8D2B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47816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C405680-E19F-72F7-CFF2-2B13B7731C7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0903BD-9349-B21E-F777-07DA957D71C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{{errMessage()}}</a:t>
            </a:r>
          </a:p>
          <a:p>
            <a:r>
              <a:rPr lang="en-US" sz="1200" b="0" i="0" u="none" strike="noStrike" cap="none">
                <a:solidFill>
                  <a:schemeClr val="dk1"/>
                </a:solidFill>
                <a:effectLst/>
                <a:latin typeface="Calibri"/>
                <a:ea typeface="Calibri"/>
                <a:cs typeface="Calibri"/>
                <a:sym typeface="Calibri"/>
              </a:rPr>
              <a:t>&lt;table border="1"&gt;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&lt;td&gt;BookId&lt;/td&gt;</a:t>
            </a:r>
          </a:p>
          <a:p>
            <a:r>
              <a:rPr lang="en-US" sz="1200" b="0" i="0" u="none" strike="noStrike" cap="none">
                <a:solidFill>
                  <a:schemeClr val="dk1"/>
                </a:solidFill>
                <a:effectLst/>
                <a:latin typeface="Calibri"/>
                <a:ea typeface="Calibri"/>
                <a:cs typeface="Calibri"/>
                <a:sym typeface="Calibri"/>
              </a:rPr>
              <a:t>        &lt;td&gt;BookName&lt;/td&gt;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      @for (book of books();track book.BookId){</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&lt;td&gt;{{book.BookId}}&lt;/td&gt;</a:t>
            </a:r>
          </a:p>
          <a:p>
            <a:r>
              <a:rPr lang="en-US" sz="1200" b="0" i="0" u="none" strike="noStrike" cap="none">
                <a:solidFill>
                  <a:schemeClr val="dk1"/>
                </a:solidFill>
                <a:effectLst/>
                <a:latin typeface="Calibri"/>
                <a:ea typeface="Calibri"/>
                <a:cs typeface="Calibri"/>
                <a:sym typeface="Calibri"/>
              </a:rPr>
              <a:t>            &lt;td&gt;{{book.BookName}}&lt;/td&gt;</a:t>
            </a:r>
          </a:p>
          <a:p>
            <a:r>
              <a:rPr lang="en-US" sz="1200" b="0" i="0" u="none" strike="noStrike" cap="none">
                <a:solidFill>
                  <a:schemeClr val="dk1"/>
                </a:solidFill>
                <a:effectLst/>
                <a:latin typeface="Calibri"/>
                <a:ea typeface="Calibri"/>
                <a:cs typeface="Calibri"/>
                <a:sym typeface="Calibri"/>
              </a:rPr>
              <a:t>            &lt;td&gt;{{book.Price}}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&lt;img src="{{server_images_link}}/{{book.Image}}" width="50px" height="50px"&gt;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}@empty{</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colspan="4"&gt;Not found books&lt;/td&gt;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F55D0B3E-1685-C979-6281-CC9C98DFFD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54622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E7AF3AC-5C78-C43D-9FE5-D1AF6B39476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D139969-1C7D-DBCE-363D-CC890C1AC4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B872B058-6754-D59B-E084-1B64EBDC23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632090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DABBF24-8B47-7707-E9A0-17DF8662F03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5ED056C-2FC9-4890-6AC8-0F0DE1489BD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a:t>
            </a:r>
          </a:p>
          <a:p>
            <a:r>
              <a:rPr lang="en-US" sz="1200" b="0" i="0" u="none" strike="noStrike" cap="none">
                <a:solidFill>
                  <a:schemeClr val="dk1"/>
                </a:solidFill>
                <a:effectLst/>
                <a:latin typeface="Calibri"/>
                <a:ea typeface="Calibri"/>
                <a:cs typeface="Calibri"/>
                <a:sym typeface="Calibri"/>
              </a:rPr>
              <a:t>  &lt;a routerLink="/products"&gt;Products&lt;/a&gt;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routerLink="/searchproduct"&gt;Search 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routerLink="/fakeproducts"&gt;Fake 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routerLink="/samplenested"&gt;Sample Nested&lt;/a&gt;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routerLink="/course-register"&gt;Register Course&lt;/a&gt;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routerLink="/course-reactive-register"&gt;Register Reactive Course&lt;/a&gt;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routerLink="/contacts"&gt;Contacts&lt;/a&gt;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routerLink="/login"&gt;Login&lt;/a&gt;</a:t>
            </a:r>
          </a:p>
          <a:p>
            <a:r>
              <a:rPr lang="en-US" sz="1200" b="0" i="0" u="none" strike="noStrike" cap="none">
                <a:solidFill>
                  <a:schemeClr val="dk1"/>
                </a:solidFill>
                <a:effectLst/>
                <a:latin typeface="Calibri"/>
                <a:ea typeface="Calibri"/>
                <a:cs typeface="Calibri"/>
                <a:sym typeface="Calibri"/>
              </a:rPr>
              <a:t>&lt;/p&gt;</a:t>
            </a:r>
          </a:p>
          <a:p>
            <a:r>
              <a:rPr lang="en-US" sz="1200" b="0" i="0" u="none" strike="noStrike" cap="none">
                <a:solidFill>
                  <a:schemeClr val="dk1"/>
                </a:solidFill>
                <a:effectLst/>
                <a:latin typeface="Calibri"/>
                <a:ea typeface="Calibri"/>
                <a:cs typeface="Calibri"/>
                <a:sym typeface="Calibri"/>
              </a:rPr>
              <a:t>&lt;div&gt;</a:t>
            </a:r>
          </a:p>
          <a:p>
            <a:r>
              <a:rPr lang="en-US" sz="1200" b="0" i="0" u="none" strike="noStrike" cap="none">
                <a:solidFill>
                  <a:schemeClr val="dk1"/>
                </a:solidFill>
                <a:effectLst/>
                <a:latin typeface="Calibri"/>
                <a:ea typeface="Calibri"/>
                <a:cs typeface="Calibri"/>
                <a:sym typeface="Calibri"/>
              </a:rPr>
              <a:t>  &lt;p&gt;</a:t>
            </a:r>
          </a:p>
          <a:p>
            <a:r>
              <a:rPr lang="en-US" sz="1200" b="0" i="0" u="none" strike="noStrike" cap="none">
                <a:solidFill>
                  <a:schemeClr val="dk1"/>
                </a:solidFill>
                <a:effectLst/>
                <a:latin typeface="Calibri"/>
                <a:ea typeface="Calibri"/>
                <a:cs typeface="Calibri"/>
                <a:sym typeface="Calibri"/>
              </a:rPr>
              <a:t>    &lt;a routerLink="/book-list"&gt;List Books&lt;/a&gt;</a:t>
            </a:r>
          </a:p>
          <a:p>
            <a:r>
              <a:rPr lang="en-US" sz="1200" b="0" i="0" u="none" strike="noStrike" cap="none">
                <a:solidFill>
                  <a:schemeClr val="dk1"/>
                </a:solidFill>
                <a:effectLst/>
                <a:latin typeface="Calibri"/>
                <a:ea typeface="Calibri"/>
                <a:cs typeface="Calibri"/>
                <a:sym typeface="Calibri"/>
              </a:rPr>
              <a:t>  &lt;/p&gt;</a:t>
            </a:r>
          </a:p>
          <a:p>
            <a:r>
              <a:rPr lang="en-US" sz="1200" b="0" i="0" u="none" strike="noStrike" cap="none">
                <a:solidFill>
                  <a:schemeClr val="dk1"/>
                </a:solidFill>
                <a:effectLst/>
                <a:latin typeface="Calibri"/>
                <a:ea typeface="Calibri"/>
                <a:cs typeface="Calibri"/>
                <a:sym typeface="Calibri"/>
              </a:rPr>
              <a:t>&lt;/div&gt;</a:t>
            </a:r>
          </a:p>
          <a:p>
            <a:r>
              <a:rPr lang="en-US" sz="1200" b="0" i="0" u="none" strike="noStrike" cap="none">
                <a:solidFill>
                  <a:schemeClr val="dk1"/>
                </a:solidFill>
                <a:effectLst/>
                <a:latin typeface="Calibri"/>
                <a:ea typeface="Calibri"/>
                <a:cs typeface="Calibri"/>
                <a:sym typeface="Calibri"/>
              </a:rPr>
              <a:t>&lt;router-outlet /&gt;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146CE24A-C6C9-9264-0E73-F3DAF2FDC8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811598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4D54403-5686-65C3-B542-4FD02FF2678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78EDDE-50A1-46FC-BE96-45DCCC2D27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152786B7-CEBE-E7A1-7AB6-9A6B2C6DEA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21902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FB6086B-96FC-21E5-58F0-1F33998E0BA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0CC945F-799D-B44A-A0EA-A1023F3558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sz="1200" b="0" i="0" u="none" strike="noStrike" cap="none">
              <a:solidFill>
                <a:schemeClr val="dk1"/>
              </a:solidFill>
              <a:effectLst/>
              <a:latin typeface="Calibri"/>
              <a:ea typeface="Calibri"/>
              <a:cs typeface="Calibri"/>
              <a:sym typeface="Calibri"/>
            </a:endParaRPr>
          </a:p>
        </p:txBody>
      </p:sp>
      <p:sp>
        <p:nvSpPr>
          <p:cNvPr id="103" name="Google Shape;103;p3:notes">
            <a:extLst>
              <a:ext uri="{FF2B5EF4-FFF2-40B4-BE49-F238E27FC236}">
                <a16:creationId xmlns:a16="http://schemas.microsoft.com/office/drawing/2014/main" id="{CD90C374-DA22-6058-DBF4-9F63662314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3271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6F12257-7572-736A-9DC6-F0D571DFA88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2D9DB43-1AC3-2B7A-AD6F-EE29F2E3CA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1A10EF4-91EB-8C5F-6F04-E2083ED98E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067160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FA4B490-4C4A-ADE2-B53A-4535FF833FF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EF57CC9-FBE2-02AF-9AE3-34BCFCAFB3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65A278C-E16E-A650-B2F6-C1C6E8FFD6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145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BF2DA3B-2CC7-37C8-F3A9-4EF38AE50F3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46C5791-7C17-7DDC-99D8-36A6354420F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F6FF3EA-6EC1-91FF-55EB-DA6C0326C5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5957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4FCF0B-53E9-EF08-5BBB-E81E7EC58B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215ADE2-468B-E3E3-D33E-BE42B61B97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HttpClient, HttpErrorResponse, HttpHeaders } from '@angular/common/http';</a:t>
            </a:r>
          </a:p>
          <a:p>
            <a:r>
              <a:rPr lang="en-US" sz="1200" b="0" i="0" u="none" strike="noStrike" cap="none">
                <a:solidFill>
                  <a:schemeClr val="dk1"/>
                </a:solidFill>
                <a:effectLst/>
                <a:latin typeface="Calibri"/>
                <a:ea typeface="Calibri"/>
                <a:cs typeface="Calibri"/>
                <a:sym typeface="Calibri"/>
              </a:rPr>
              <a:t>import { Injectable } from '@angular/core';</a:t>
            </a:r>
          </a:p>
          <a:p>
            <a:r>
              <a:rPr lang="en-US" sz="1200" b="0" i="0" u="none" strike="noStrike" cap="none">
                <a:solidFill>
                  <a:schemeClr val="dk1"/>
                </a:solidFill>
                <a:effectLst/>
                <a:latin typeface="Calibri"/>
                <a:ea typeface="Calibri"/>
                <a:cs typeface="Calibri"/>
                <a:sym typeface="Calibri"/>
              </a:rPr>
              <a:t>import { catchError, map, Observable, retry, throwError } from 'rxjs';</a:t>
            </a:r>
          </a:p>
          <a:p>
            <a:r>
              <a:rPr lang="en-US" sz="1200" b="0" i="0" u="none" strike="noStrike" cap="none">
                <a:solidFill>
                  <a:schemeClr val="dk1"/>
                </a:solidFill>
                <a:effectLst/>
                <a:latin typeface="Calibri"/>
                <a:ea typeface="Calibri"/>
                <a:cs typeface="Calibri"/>
                <a:sym typeface="Calibri"/>
              </a:rPr>
              <a:t>import { IBook } from '../classes/Book';</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@Injectable({</a:t>
            </a:r>
          </a:p>
          <a:p>
            <a:r>
              <a:rPr lang="en-US" sz="1200" b="0" i="0" u="none" strike="noStrike" cap="none">
                <a:solidFill>
                  <a:schemeClr val="dk1"/>
                </a:solidFill>
                <a:effectLst/>
                <a:latin typeface="Calibri"/>
                <a:ea typeface="Calibri"/>
                <a:cs typeface="Calibri"/>
                <a:sym typeface="Calibri"/>
              </a:rPr>
              <a:t>  providedIn: 'root',</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BookAPIService {</a:t>
            </a:r>
          </a:p>
          <a:p>
            <a:r>
              <a:rPr lang="en-US" sz="1200" b="0" i="0" u="none" strike="noStrike" cap="none">
                <a:solidFill>
                  <a:schemeClr val="dk1"/>
                </a:solidFill>
                <a:effectLst/>
                <a:latin typeface="Calibri"/>
                <a:ea typeface="Calibri"/>
                <a:cs typeface="Calibri"/>
                <a:sym typeface="Calibri"/>
              </a:rPr>
              <a:t>  constructor(private _http: HttpClient) { }</a:t>
            </a:r>
          </a:p>
          <a:p>
            <a:r>
              <a:rPr lang="en-US" sz="1200" b="0" i="0" u="none" strike="noStrike" cap="none">
                <a:solidFill>
                  <a:schemeClr val="dk1"/>
                </a:solidFill>
                <a:effectLst/>
                <a:latin typeface="Calibri"/>
                <a:ea typeface="Calibri"/>
                <a:cs typeface="Calibri"/>
                <a:sym typeface="Calibri"/>
              </a:rPr>
              <a:t>  getBooks():Observable&lt;any&gt;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HttpHeaders().set("Content-Type","text/plain;charset=utf-8")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this._http.get&lt;any&gt;("/books",requestOptions).pipe(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handleError(error:HttpErrorResponse){</a:t>
            </a:r>
          </a:p>
          <a:p>
            <a:r>
              <a:rPr lang="en-US" sz="1200" b="0" i="0" u="none" strike="noStrike" cap="none">
                <a:solidFill>
                  <a:schemeClr val="dk1"/>
                </a:solidFill>
                <a:effectLst/>
                <a:latin typeface="Calibri"/>
                <a:ea typeface="Calibri"/>
                <a:cs typeface="Calibri"/>
                <a:sym typeface="Calibri"/>
              </a:rPr>
              <a:t>    return throwError(()=&gt;new Error(error.message))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getBook(bookId:string):Observable&lt;any&gt;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HttpHeaders().set("Content-Type","text/plain;charset=utf-8")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this._http.get&lt;any&gt;("/books/"+bookId,requestOptions).pipe(</a:t>
            </a:r>
          </a:p>
          <a:p>
            <a:r>
              <a:rPr lang="en-US" sz="1200" b="0" i="0" u="none" strike="noStrike" cap="none">
                <a:solidFill>
                  <a:schemeClr val="dk1"/>
                </a:solidFill>
                <a:effectLst/>
                <a:latin typeface="Calibri"/>
                <a:ea typeface="Calibri"/>
                <a:cs typeface="Calibri"/>
                <a:sym typeface="Calibri"/>
              </a:rPr>
              <a:t>        map(res=&gt;JSON.parse(res) as IBook),</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BD8CA44-115B-F6C2-EC6E-2EBE574EB8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80695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BE60AB5-5D25-91E8-3EC7-06818E5F746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01E0FC0-00D0-094B-C07C-EDC6D5D862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D6C564F-8D65-FB80-3371-3226027A22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580308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F2E285F-BF5C-A019-4B40-71ED5326004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B775CED-A8EC-D42B-03C9-A07DF17D4E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BookAPIService } from '../services/book-apiservice';</a:t>
            </a:r>
          </a:p>
          <a:p>
            <a:r>
              <a:rPr lang="en-US" sz="1200" b="0" i="0" u="none" strike="noStrike" cap="none">
                <a:solidFill>
                  <a:schemeClr val="dk1"/>
                </a:solidFill>
                <a:effectLst/>
                <a:latin typeface="Calibri"/>
                <a:ea typeface="Calibri"/>
                <a:cs typeface="Calibri"/>
                <a:sym typeface="Calibri"/>
              </a:rPr>
              <a:t>import { IBook } from '../classes/Book';</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'app-book-detail-component',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'./book-detail-component.html',</a:t>
            </a:r>
          </a:p>
          <a:p>
            <a:r>
              <a:rPr lang="en-US" sz="1200" b="0" i="0" u="none" strike="noStrike" cap="none">
                <a:solidFill>
                  <a:schemeClr val="dk1"/>
                </a:solidFill>
                <a:effectLst/>
                <a:latin typeface="Calibri"/>
                <a:ea typeface="Calibri"/>
                <a:cs typeface="Calibri"/>
                <a:sym typeface="Calibri"/>
              </a:rPr>
              <a:t>  styleUrl: './book-detail-component.css',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BookDetailComponent {</a:t>
            </a:r>
          </a:p>
          <a:p>
            <a:r>
              <a:rPr lang="en-US" sz="1200" b="0" i="0" u="none" strike="noStrike" cap="none">
                <a:solidFill>
                  <a:schemeClr val="dk1"/>
                </a:solidFill>
                <a:effectLst/>
                <a:latin typeface="Calibri"/>
                <a:ea typeface="Calibri"/>
                <a:cs typeface="Calibri"/>
                <a:sym typeface="Calibri"/>
              </a:rPr>
              <a:t>  book=signal&lt;IBook|null&gt;(null);</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server_images_link="http://localhost:3000/images/"</a:t>
            </a:r>
          </a:p>
          <a:p>
            <a:r>
              <a:rPr lang="en-US" sz="1200" b="0" i="0" u="none" strike="noStrike" cap="none">
                <a:solidFill>
                  <a:schemeClr val="dk1"/>
                </a:solidFill>
                <a:effectLst/>
                <a:latin typeface="Calibri"/>
                <a:ea typeface="Calibri"/>
                <a:cs typeface="Calibri"/>
                <a:sym typeface="Calibri"/>
              </a:rPr>
              <a:t>  constructor(private _service: BookAPIService){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searchBook(bookId:string)</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this.book.set(null)</a:t>
            </a:r>
          </a:p>
          <a:p>
            <a:r>
              <a:rPr lang="en-US" sz="1200" b="0" i="0" u="none" strike="noStrike" cap="none">
                <a:solidFill>
                  <a:schemeClr val="dk1"/>
                </a:solidFill>
                <a:effectLst/>
                <a:latin typeface="Calibri"/>
                <a:ea typeface="Calibri"/>
                <a:cs typeface="Calibri"/>
                <a:sym typeface="Calibri"/>
              </a:rPr>
              <a:t>    this.errMessage.set("")</a:t>
            </a:r>
          </a:p>
          <a:p>
            <a:r>
              <a:rPr lang="en-US" sz="1200" b="0" i="0" u="none" strike="noStrike" cap="none">
                <a:solidFill>
                  <a:schemeClr val="dk1"/>
                </a:solidFill>
                <a:effectLst/>
                <a:latin typeface="Calibri"/>
                <a:ea typeface="Calibri"/>
                <a:cs typeface="Calibri"/>
                <a:sym typeface="Calibri"/>
              </a:rPr>
              <a:t>    this._service.getBook(bookId).subscribe({</a:t>
            </a:r>
          </a:p>
          <a:p>
            <a:r>
              <a:rPr lang="en-US" sz="1200" b="0" i="0" u="none" strike="noStrike" cap="none">
                <a:solidFill>
                  <a:schemeClr val="dk1"/>
                </a:solidFill>
                <a:effectLst/>
                <a:latin typeface="Calibri"/>
                <a:ea typeface="Calibri"/>
                <a:cs typeface="Calibri"/>
                <a:sym typeface="Calibri"/>
              </a:rPr>
              <a:t>      next:(data)=&gt;{this.book.set(data)},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6C0F084-92E6-4B6D-1775-383D6F7C04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5851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E69A6C3-A365-B1B3-1C60-1F45D8B1950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96871FE-A04A-B4C3-76CA-86371283C1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&lt;p&gt;{{errMessage()}}&lt;/p&gt;</a:t>
            </a:r>
          </a:p>
          <a:p>
            <a:r>
              <a:rPr lang="en-US" sz="1200" b="0" i="0" u="none" strike="noStrike" cap="none">
                <a:solidFill>
                  <a:schemeClr val="dk1"/>
                </a:solidFill>
                <a:effectLst/>
                <a:latin typeface="Calibri"/>
                <a:ea typeface="Calibri"/>
                <a:cs typeface="Calibri"/>
                <a:sym typeface="Calibri"/>
              </a:rPr>
              <a:t>Book Id: &lt;input type="text" #bookId&gt; &lt;button (click)="searchBook(bookId.value)"&gt;Search&lt;/button&gt;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  @if (book()!=null){</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 Id:&lt;/td&gt;</a:t>
            </a:r>
          </a:p>
          <a:p>
            <a:r>
              <a:rPr lang="en-US" sz="1200" b="0" i="0" u="none" strike="noStrike" cap="none">
                <a:solidFill>
                  <a:schemeClr val="dk1"/>
                </a:solidFill>
                <a:effectLst/>
                <a:latin typeface="Calibri"/>
                <a:ea typeface="Calibri"/>
                <a:cs typeface="Calibri"/>
                <a:sym typeface="Calibri"/>
              </a:rPr>
              <a:t>        &lt;td&gt;{{book()?.BookId}}&lt;/td&gt;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 Name:&lt;/td&gt;</a:t>
            </a:r>
          </a:p>
          <a:p>
            <a:r>
              <a:rPr lang="en-US" sz="1200" b="0" i="0" u="none" strike="noStrike" cap="none">
                <a:solidFill>
                  <a:schemeClr val="dk1"/>
                </a:solidFill>
                <a:effectLst/>
                <a:latin typeface="Calibri"/>
                <a:ea typeface="Calibri"/>
                <a:cs typeface="Calibri"/>
                <a:sym typeface="Calibri"/>
              </a:rPr>
              <a:t>        &lt;td&gt;{{book()?.BookName}}&lt;/td&gt;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&lt;td&gt;{{book()?.Price}}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colspan="2"&gt;</a:t>
            </a:r>
          </a:p>
          <a:p>
            <a:r>
              <a:rPr lang="en-US" sz="1200" b="0" i="0" u="none" strike="noStrike" cap="none">
                <a:solidFill>
                  <a:schemeClr val="dk1"/>
                </a:solidFill>
                <a:effectLst/>
                <a:latin typeface="Calibri"/>
                <a:ea typeface="Calibri"/>
                <a:cs typeface="Calibri"/>
                <a:sym typeface="Calibri"/>
              </a:rPr>
              <a:t>            &lt;img src="{{server_images_link}}/{{book()?.Image}}"&gt;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}@else {</a:t>
            </a:r>
          </a:p>
          <a:p>
            <a:r>
              <a:rPr lang="en-US" sz="1200" b="0" i="0" u="none" strike="noStrike" cap="none">
                <a:solidFill>
                  <a:schemeClr val="dk1"/>
                </a:solidFill>
                <a:effectLst/>
                <a:latin typeface="Calibri"/>
                <a:ea typeface="Calibri"/>
                <a:cs typeface="Calibri"/>
                <a:sym typeface="Calibri"/>
              </a:rPr>
              <a:t>    &lt;tr&gt;&lt;td&gt;Not found Book&lt;/td&gt;&lt;/tr&gt;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E4E9CA4-2B37-E73C-065F-82A1956CF4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384330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01F3FA9-298A-B25E-90D5-E2E177522F8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D891B3F-1A1B-9AC2-8E1A-2825D2D0875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C42B86F-7921-ECCF-88FE-F0EAF5D3FE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152010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06E6A69-1037-2EB2-DEF2-0397289ED47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601C160-037C-60D5-C9BA-6E8CE567D3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A3C772D-61F2-B16E-B604-9F00F38C8E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646192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84A06E-C910-1702-66F5-80DF19DC6B5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B89038D-F814-7FFF-3F13-551006BEF7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F0DB9E8-71F5-E8A2-FC2D-055D5FAFC6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156312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BEFE037-A8BA-15DE-BA79-FCD84BFEAAC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CEC0DDC-44CF-A3F9-2385-D7C237BF7F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99908BC-D0A6-0751-FFB3-87559BD0CC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603606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1B1A2D8-D333-9C3A-B4C6-C83CB9C0A72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1A1FD61-A085-89C7-2799-7EB76FBFDA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7C6C1B3-CDE7-1758-981F-CCD6FC6BEF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347854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0C3C53-CF69-5220-286E-486BFBBA684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1A7617D-6AF8-24DD-3696-9A827069CC3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692A9EF-6FE1-B5AC-EA6C-409836989C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887326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5F9C680-00C5-FE60-02A5-2F2D3B1C25B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28ABA5D-9DE0-E9A9-914C-587C154E09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app.post("/books",cors(),(req,res)=&gt;{   </a:t>
            </a:r>
          </a:p>
          <a:p>
            <a:r>
              <a:rPr lang="en-US" sz="1200" b="0" i="0" u="none" strike="noStrike" cap="none">
                <a:solidFill>
                  <a:schemeClr val="dk1"/>
                </a:solidFill>
                <a:effectLst/>
                <a:latin typeface="Calibri"/>
                <a:ea typeface="Calibri"/>
                <a:cs typeface="Calibri"/>
                <a:sym typeface="Calibri"/>
              </a:rPr>
              <a:t>    //put json book into database</a:t>
            </a:r>
          </a:p>
          <a:p>
            <a:r>
              <a:rPr lang="en-US" sz="1200" b="0" i="0" u="none" strike="noStrike" cap="none">
                <a:solidFill>
                  <a:schemeClr val="dk1"/>
                </a:solidFill>
                <a:effectLst/>
                <a:latin typeface="Calibri"/>
                <a:ea typeface="Calibri"/>
                <a:cs typeface="Calibri"/>
                <a:sym typeface="Calibri"/>
              </a:rPr>
              <a:t>    database.push(req.body);</a:t>
            </a:r>
          </a:p>
          <a:p>
            <a:r>
              <a:rPr lang="en-US" sz="1200" b="0" i="0" u="none" strike="noStrike" cap="none">
                <a:solidFill>
                  <a:schemeClr val="dk1"/>
                </a:solidFill>
                <a:effectLst/>
                <a:latin typeface="Calibri"/>
                <a:ea typeface="Calibri"/>
                <a:cs typeface="Calibri"/>
                <a:sym typeface="Calibri"/>
              </a:rPr>
              <a:t>    //send message to client(send all database to client)</a:t>
            </a:r>
          </a:p>
          <a:p>
            <a:r>
              <a:rPr lang="en-US" sz="1200" b="0" i="0" u="none" strike="noStrike" cap="none">
                <a:solidFill>
                  <a:schemeClr val="dk1"/>
                </a:solidFill>
                <a:effectLst/>
                <a:latin typeface="Calibri"/>
                <a:ea typeface="Calibri"/>
                <a:cs typeface="Calibri"/>
                <a:sym typeface="Calibri"/>
              </a:rPr>
              <a:t>    res.send(database)</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A19224C-E412-A044-0A99-0DFBB7A079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389175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FD7DC69-CB10-3537-A61F-33DB02D02E2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44C42F2-8AF4-85D3-C535-B55F029D42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1814EC3-E880-38C0-FD2B-E725F890C8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480529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0445D09-8D17-9BDC-E740-F82ACB61BB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B76CACD-0726-1E54-B843-3F8E75DE3AD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2ECE6FF-3F26-FE86-CF03-43E0698525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880628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514802D-B6C5-4129-D287-E4C1DAEDB08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5665E7B-FAEE-6D3D-8F6E-7FFDA4D14FD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u="none" strike="noStrike" cap="none">
                <a:solidFill>
                  <a:schemeClr val="dk1"/>
                </a:solidFill>
                <a:effectLst/>
                <a:latin typeface="Calibri"/>
                <a:ea typeface="Calibri"/>
                <a:cs typeface="Calibri"/>
                <a:sym typeface="Calibri"/>
              </a:rPr>
              <a:t>const express=require("express")</a:t>
            </a:r>
          </a:p>
          <a:p>
            <a:r>
              <a:rPr lang="vi-VN" sz="1200" b="0" i="0" u="none" strike="noStrike" cap="none">
                <a:solidFill>
                  <a:schemeClr val="dk1"/>
                </a:solidFill>
                <a:effectLst/>
                <a:latin typeface="Calibri"/>
                <a:ea typeface="Calibri"/>
                <a:cs typeface="Calibri"/>
                <a:sym typeface="Calibri"/>
              </a:rPr>
              <a:t>const app=express()</a:t>
            </a:r>
          </a:p>
          <a:p>
            <a:r>
              <a:rPr lang="vi-VN" sz="1200" b="0" i="0" u="none" strike="noStrike" cap="none">
                <a:solidFill>
                  <a:schemeClr val="dk1"/>
                </a:solidFill>
                <a:effectLst/>
                <a:latin typeface="Calibri"/>
                <a:ea typeface="Calibri"/>
                <a:cs typeface="Calibri"/>
                <a:sym typeface="Calibri"/>
              </a:rPr>
              <a:t>const port=3000</a:t>
            </a:r>
          </a:p>
          <a:p>
            <a:r>
              <a:rPr lang="vi-VN" sz="1200" b="0" i="0" u="none" strike="noStrike" cap="none">
                <a:solidFill>
                  <a:schemeClr val="dk1"/>
                </a:solidFill>
                <a:effectLst/>
                <a:latin typeface="Calibri"/>
                <a:ea typeface="Calibri"/>
                <a:cs typeface="Calibri"/>
                <a:sym typeface="Calibri"/>
              </a:rPr>
              <a:t>const morgan=require("morgan")</a:t>
            </a:r>
          </a:p>
          <a:p>
            <a:r>
              <a:rPr lang="vi-VN" sz="1200" b="0" i="0" u="none" strike="noStrike" cap="none">
                <a:solidFill>
                  <a:schemeClr val="dk1"/>
                </a:solidFill>
                <a:effectLst/>
                <a:latin typeface="Calibri"/>
                <a:ea typeface="Calibri"/>
                <a:cs typeface="Calibri"/>
                <a:sym typeface="Calibri"/>
              </a:rPr>
              <a:t>app.use(morgan("combined"))</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const path=require("path")</a:t>
            </a:r>
          </a:p>
          <a:p>
            <a:r>
              <a:rPr lang="vi-VN" sz="1200" b="0" i="0" u="none" strike="noStrike" cap="none">
                <a:solidFill>
                  <a:schemeClr val="dk1"/>
                </a:solidFill>
                <a:effectLst/>
                <a:latin typeface="Calibri"/>
                <a:ea typeface="Calibri"/>
                <a:cs typeface="Calibri"/>
                <a:sym typeface="Calibri"/>
              </a:rPr>
              <a:t>const fs = require('fs');</a:t>
            </a:r>
          </a:p>
          <a:p>
            <a:r>
              <a:rPr lang="vi-VN" sz="1200" b="0" i="0" u="none" strike="noStrike" cap="none">
                <a:solidFill>
                  <a:schemeClr val="dk1"/>
                </a:solidFill>
                <a:effectLst/>
                <a:latin typeface="Calibri"/>
                <a:ea typeface="Calibri"/>
                <a:cs typeface="Calibri"/>
                <a:sym typeface="Calibri"/>
              </a:rPr>
              <a:t>app.use(express.static(path.join(__dirname,"public")))</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const cors=require("cors")</a:t>
            </a:r>
          </a:p>
          <a:p>
            <a:r>
              <a:rPr lang="vi-VN" sz="1200" b="0" i="0" u="none" strike="noStrike" cap="none">
                <a:solidFill>
                  <a:schemeClr val="dk1"/>
                </a:solidFill>
                <a:effectLst/>
                <a:latin typeface="Calibri"/>
                <a:ea typeface="Calibri"/>
                <a:cs typeface="Calibri"/>
                <a:sym typeface="Calibri"/>
              </a:rPr>
              <a:t>app.use(cors())</a:t>
            </a:r>
          </a:p>
          <a:p>
            <a:r>
              <a:rPr lang="vi-VN" sz="1200" b="0" i="0" u="none" strike="noStrike" cap="none">
                <a:solidFill>
                  <a:schemeClr val="dk1"/>
                </a:solidFill>
                <a:effectLst/>
                <a:latin typeface="Calibri"/>
                <a:ea typeface="Calibri"/>
                <a:cs typeface="Calibri"/>
                <a:sym typeface="Calibri"/>
              </a:rPr>
              <a:t>const bodyParser=require("body-parser")</a:t>
            </a:r>
          </a:p>
          <a:p>
            <a:r>
              <a:rPr lang="vi-VN" sz="1200" b="0" i="0" u="none" strike="noStrike" cap="none">
                <a:solidFill>
                  <a:schemeClr val="dk1"/>
                </a:solidFill>
                <a:effectLst/>
                <a:latin typeface="Calibri"/>
                <a:ea typeface="Calibri"/>
                <a:cs typeface="Calibri"/>
                <a:sym typeface="Calibri"/>
              </a:rPr>
              <a:t>//app.use(bodyParser.json())</a:t>
            </a:r>
          </a:p>
          <a:p>
            <a:r>
              <a:rPr lang="vi-VN" sz="1200" b="0" i="0" u="none" strike="noStrike" cap="none">
                <a:solidFill>
                  <a:schemeClr val="dk1"/>
                </a:solidFill>
                <a:effectLst/>
                <a:latin typeface="Calibri"/>
                <a:ea typeface="Calibri"/>
                <a:cs typeface="Calibri"/>
                <a:sym typeface="Calibri"/>
              </a:rPr>
              <a:t>app.use(bodyParser.json({ limit: '50mb' })); </a:t>
            </a:r>
          </a:p>
          <a:p>
            <a:r>
              <a:rPr lang="vi-VN" sz="1200" b="0" i="0" u="none" strike="noStrike" cap="none">
                <a:solidFill>
                  <a:schemeClr val="dk1"/>
                </a:solidFill>
                <a:effectLst/>
                <a:latin typeface="Calibri"/>
                <a:ea typeface="Calibri"/>
                <a:cs typeface="Calibri"/>
                <a:sym typeface="Calibri"/>
              </a:rPr>
              <a:t>app.use(bodyParser.urlencoded({ limit: '50mb', extended: true }));</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//create default API</a:t>
            </a:r>
          </a:p>
          <a:p>
            <a:r>
              <a:rPr lang="vi-VN" sz="1200" b="0" i="0" u="none" strike="noStrike" cap="none">
                <a:solidFill>
                  <a:schemeClr val="dk1"/>
                </a:solidFill>
                <a:effectLst/>
                <a:latin typeface="Calibri"/>
                <a:ea typeface="Calibri"/>
                <a:cs typeface="Calibri"/>
                <a:sym typeface="Calibri"/>
              </a:rPr>
              <a:t>app.get("/",(req,res)=&gt;{</a:t>
            </a:r>
          </a:p>
          <a:p>
            <a:r>
              <a:rPr lang="vi-VN" sz="1200" b="0" i="0" u="none" strike="noStrike" cap="none">
                <a:solidFill>
                  <a:schemeClr val="dk1"/>
                </a:solidFill>
                <a:effectLst/>
                <a:latin typeface="Calibri"/>
                <a:ea typeface="Calibri"/>
                <a:cs typeface="Calibri"/>
                <a:sym typeface="Calibri"/>
              </a:rPr>
              <a:t>    res.send("Hello Restful API")    </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app.listen(port,()=&gt;{</a:t>
            </a:r>
          </a:p>
          <a:p>
            <a:r>
              <a:rPr lang="vi-VN" sz="1200" b="0" i="0" u="none" strike="noStrike" cap="none">
                <a:solidFill>
                  <a:schemeClr val="dk1"/>
                </a:solidFill>
                <a:effectLst/>
                <a:latin typeface="Calibri"/>
                <a:ea typeface="Calibri"/>
                <a:cs typeface="Calibri"/>
                <a:sym typeface="Calibri"/>
              </a:rPr>
              <a:t>    console.log(`My Server listening on port ${port}`)</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let  database=[</a:t>
            </a:r>
          </a:p>
          <a:p>
            <a:r>
              <a:rPr lang="vi-VN" sz="1200" b="0" i="0" u="none" strike="noStrike" cap="none">
                <a:solidFill>
                  <a:schemeClr val="dk1"/>
                </a:solidFill>
                <a:effectLst/>
                <a:latin typeface="Calibri"/>
                <a:ea typeface="Calibri"/>
                <a:cs typeface="Calibri"/>
                <a:sym typeface="Calibri"/>
              </a:rPr>
              <a:t>    {"BookId":"b1","BookName":"Kỹ thuật lập trình cơ bản","Price":70,"Image":"b1.png"},</a:t>
            </a:r>
          </a:p>
          <a:p>
            <a:r>
              <a:rPr lang="vi-VN" sz="1200" b="0" i="0" u="none" strike="noStrike" cap="none">
                <a:solidFill>
                  <a:schemeClr val="dk1"/>
                </a:solidFill>
                <a:effectLst/>
                <a:latin typeface="Calibri"/>
                <a:ea typeface="Calibri"/>
                <a:cs typeface="Calibri"/>
                <a:sym typeface="Calibri"/>
              </a:rPr>
              <a:t>    {"BookId":"b2","BookName":"Kỹ thuật lập trình nâng cao","Price":100,"Image":"b2.png"},</a:t>
            </a:r>
          </a:p>
          <a:p>
            <a:r>
              <a:rPr lang="vi-VN" sz="1200" b="0" i="0" u="none" strike="noStrike" cap="none">
                <a:solidFill>
                  <a:schemeClr val="dk1"/>
                </a:solidFill>
                <a:effectLst/>
                <a:latin typeface="Calibri"/>
                <a:ea typeface="Calibri"/>
                <a:cs typeface="Calibri"/>
                <a:sym typeface="Calibri"/>
              </a:rPr>
              <a:t>    {"BookId":"b3","BookName":"Máy học cơ bản","Price":200,"Image":"b3.png"},</a:t>
            </a:r>
          </a:p>
          <a:p>
            <a:r>
              <a:rPr lang="vi-VN" sz="1200" b="0" i="0" u="none" strike="noStrike" cap="none">
                <a:solidFill>
                  <a:schemeClr val="dk1"/>
                </a:solidFill>
                <a:effectLst/>
                <a:latin typeface="Calibri"/>
                <a:ea typeface="Calibri"/>
                <a:cs typeface="Calibri"/>
                <a:sym typeface="Calibri"/>
              </a:rPr>
              <a:t>    {"BookId":"b4","BookName":"Máy học nâng cao","Price":300,"Image":"b4.png"},</a:t>
            </a:r>
          </a:p>
          <a:p>
            <a:r>
              <a:rPr lang="vi-VN" sz="1200" b="0" i="0" u="none" strike="noStrike" cap="none">
                <a:solidFill>
                  <a:schemeClr val="dk1"/>
                </a:solidFill>
                <a:effectLst/>
                <a:latin typeface="Calibri"/>
                <a:ea typeface="Calibri"/>
                <a:cs typeface="Calibri"/>
                <a:sym typeface="Calibri"/>
              </a:rPr>
              <a:t>    {"BookId":"b5","BookName":"Lập trình Robot cơ bản","Price":250,"Image":"b5.png"},</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app.get("/books",(req,res)=&gt;{</a:t>
            </a:r>
          </a:p>
          <a:p>
            <a:r>
              <a:rPr lang="vi-VN" sz="1200" b="0" i="0" u="none" strike="noStrike" cap="none">
                <a:solidFill>
                  <a:schemeClr val="dk1"/>
                </a:solidFill>
                <a:effectLst/>
                <a:latin typeface="Calibri"/>
                <a:ea typeface="Calibri"/>
                <a:cs typeface="Calibri"/>
                <a:sym typeface="Calibri"/>
              </a:rPr>
              <a:t>    res.send(database)</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app.get("/books/:id",cors(),(req,res)=&gt;{</a:t>
            </a:r>
          </a:p>
          <a:p>
            <a:r>
              <a:rPr lang="vi-VN" sz="1200" b="0" i="0" u="none" strike="noStrike" cap="none">
                <a:solidFill>
                  <a:schemeClr val="dk1"/>
                </a:solidFill>
                <a:effectLst/>
                <a:latin typeface="Calibri"/>
                <a:ea typeface="Calibri"/>
                <a:cs typeface="Calibri"/>
                <a:sym typeface="Calibri"/>
              </a:rPr>
              <a:t>    id=req.params["id"]</a:t>
            </a:r>
          </a:p>
          <a:p>
            <a:r>
              <a:rPr lang="vi-VN" sz="1200" b="0" i="0" u="none" strike="noStrike" cap="none">
                <a:solidFill>
                  <a:schemeClr val="dk1"/>
                </a:solidFill>
                <a:effectLst/>
                <a:latin typeface="Calibri"/>
                <a:ea typeface="Calibri"/>
                <a:cs typeface="Calibri"/>
                <a:sym typeface="Calibri"/>
              </a:rPr>
              <a:t>    let p=database.find(x=&gt;x.BookId==id)</a:t>
            </a:r>
          </a:p>
          <a:p>
            <a:r>
              <a:rPr lang="vi-VN" sz="1200" b="0" i="0" u="none" strike="noStrike" cap="none">
                <a:solidFill>
                  <a:schemeClr val="dk1"/>
                </a:solidFill>
                <a:effectLst/>
                <a:latin typeface="Calibri"/>
                <a:ea typeface="Calibri"/>
                <a:cs typeface="Calibri"/>
                <a:sym typeface="Calibri"/>
              </a:rPr>
              <a:t>    res.send(p)    </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API Lọc sách theo khoảng giá (min/max)</a:t>
            </a:r>
          </a:p>
          <a:p>
            <a:r>
              <a:rPr lang="vi-VN" sz="1200" b="0" i="0" u="none" strike="noStrike" cap="none">
                <a:solidFill>
                  <a:schemeClr val="dk1"/>
                </a:solidFill>
                <a:effectLst/>
                <a:latin typeface="Calibri"/>
                <a:ea typeface="Calibri"/>
                <a:cs typeface="Calibri"/>
                <a:sym typeface="Calibri"/>
              </a:rPr>
              <a:t>// URL Gọi: http://localhost:3000/books/filter/price?min=250&amp;max=300</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app.get("/books/filter/price", cors(), (req, res) =&gt; {</a:t>
            </a:r>
          </a:p>
          <a:p>
            <a:r>
              <a:rPr lang="vi-VN" sz="1200" b="0" i="0" u="none" strike="noStrike" cap="none">
                <a:solidFill>
                  <a:schemeClr val="dk1"/>
                </a:solidFill>
                <a:effectLst/>
                <a:latin typeface="Calibri"/>
                <a:ea typeface="Calibri"/>
                <a:cs typeface="Calibri"/>
                <a:sym typeface="Calibri"/>
              </a:rPr>
              <a:t>    // 1. Lấy giá trị min và max từ Query String</a:t>
            </a:r>
          </a:p>
          <a:p>
            <a:r>
              <a:rPr lang="vi-VN" sz="1200" b="0" i="0" u="none" strike="noStrike" cap="none">
                <a:solidFill>
                  <a:schemeClr val="dk1"/>
                </a:solidFill>
                <a:effectLst/>
                <a:latin typeface="Calibri"/>
                <a:ea typeface="Calibri"/>
                <a:cs typeface="Calibri"/>
                <a:sym typeface="Calibri"/>
              </a:rPr>
              <a:t>    let minPrice = req.query.min;</a:t>
            </a:r>
          </a:p>
          <a:p>
            <a:r>
              <a:rPr lang="vi-VN" sz="1200" b="0" i="0" u="none" strike="noStrike" cap="none">
                <a:solidFill>
                  <a:schemeClr val="dk1"/>
                </a:solidFill>
                <a:effectLst/>
                <a:latin typeface="Calibri"/>
                <a:ea typeface="Calibri"/>
                <a:cs typeface="Calibri"/>
                <a:sym typeface="Calibri"/>
              </a:rPr>
              <a:t>    let maxPrice = req.query.max;</a:t>
            </a:r>
          </a:p>
          <a:p>
            <a:r>
              <a:rPr lang="vi-VN" sz="1200" b="0" i="0" u="none" strike="noStrike" cap="none">
                <a:solidFill>
                  <a:schemeClr val="dk1"/>
                </a:solidFill>
                <a:effectLst/>
                <a:latin typeface="Calibri"/>
                <a:ea typeface="Calibri"/>
                <a:cs typeface="Calibri"/>
                <a:sym typeface="Calibri"/>
              </a:rPr>
              <a:t>    // 2. Kiểm tra tính hợp lệ của tham số</a:t>
            </a:r>
          </a:p>
          <a:p>
            <a:r>
              <a:rPr lang="vi-VN" sz="1200" b="0" i="0" u="none" strike="noStrike" cap="none">
                <a:solidFill>
                  <a:schemeClr val="dk1"/>
                </a:solidFill>
                <a:effectLst/>
                <a:latin typeface="Calibri"/>
                <a:ea typeface="Calibri"/>
                <a:cs typeface="Calibri"/>
                <a:sym typeface="Calibri"/>
              </a:rPr>
              <a:t>    if (!minPrice || !maxPrice) {</a:t>
            </a:r>
          </a:p>
          <a:p>
            <a:r>
              <a:rPr lang="vi-VN" sz="1200" b="0" i="0" u="none" strike="noStrike" cap="none">
                <a:solidFill>
                  <a:schemeClr val="dk1"/>
                </a:solidFill>
                <a:effectLst/>
                <a:latin typeface="Calibri"/>
                <a:ea typeface="Calibri"/>
                <a:cs typeface="Calibri"/>
                <a:sym typeface="Calibri"/>
              </a:rPr>
              <a:t>        return res.status(400)</a:t>
            </a:r>
          </a:p>
          <a:p>
            <a:r>
              <a:rPr lang="vi-VN" sz="1200" b="0" i="0" u="none" strike="noStrike" cap="none">
                <a:solidFill>
                  <a:schemeClr val="dk1"/>
                </a:solidFill>
                <a:effectLst/>
                <a:latin typeface="Calibri"/>
                <a:ea typeface="Calibri"/>
                <a:cs typeface="Calibri"/>
                <a:sym typeface="Calibri"/>
              </a:rPr>
              <a:t>                  .send("Vui lòng cung cấp đầy đủ tham số ?min=...&amp;max=...");</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 3. Ép kiểu về số và thực hiện lọc</a:t>
            </a:r>
          </a:p>
          <a:p>
            <a:r>
              <a:rPr lang="vi-VN" sz="1200" b="0" i="0" u="none" strike="noStrike" cap="none">
                <a:solidFill>
                  <a:schemeClr val="dk1"/>
                </a:solidFill>
                <a:effectLst/>
                <a:latin typeface="Calibri"/>
                <a:ea typeface="Calibri"/>
                <a:cs typeface="Calibri"/>
                <a:sym typeface="Calibri"/>
              </a:rPr>
              <a:t>    let min = parseFloat(minPrice);</a:t>
            </a:r>
          </a:p>
          <a:p>
            <a:r>
              <a:rPr lang="vi-VN" sz="1200" b="0" i="0" u="none" strike="noStrike" cap="none">
                <a:solidFill>
                  <a:schemeClr val="dk1"/>
                </a:solidFill>
                <a:effectLst/>
                <a:latin typeface="Calibri"/>
                <a:ea typeface="Calibri"/>
                <a:cs typeface="Calibri"/>
                <a:sym typeface="Calibri"/>
              </a:rPr>
              <a:t>    let max = parseFloat(maxPrice);</a:t>
            </a:r>
          </a:p>
          <a:p>
            <a:r>
              <a:rPr lang="vi-VN" sz="1200" b="0" i="0" u="none" strike="noStrike" cap="none">
                <a:solidFill>
                  <a:schemeClr val="dk1"/>
                </a:solidFill>
                <a:effectLst/>
                <a:latin typeface="Calibri"/>
                <a:ea typeface="Calibri"/>
                <a:cs typeface="Calibri"/>
                <a:sym typeface="Calibri"/>
              </a:rPr>
              <a:t>    let filteredBooks = database.filter(x =&gt; x.Price &gt;= min &amp;&amp; x.Price &lt;= max);</a:t>
            </a:r>
          </a:p>
          <a:p>
            <a:r>
              <a:rPr lang="vi-VN" sz="1200" b="0" i="0" u="none" strike="noStrike" cap="none">
                <a:solidFill>
                  <a:schemeClr val="dk1"/>
                </a:solidFill>
                <a:effectLst/>
                <a:latin typeface="Calibri"/>
                <a:ea typeface="Calibri"/>
                <a:cs typeface="Calibri"/>
                <a:sym typeface="Calibri"/>
              </a:rPr>
              <a:t>    // 4. Trả về kết quả</a:t>
            </a:r>
          </a:p>
          <a:p>
            <a:r>
              <a:rPr lang="vi-VN" sz="1200" b="0" i="0" u="none" strike="noStrike" cap="none">
                <a:solidFill>
                  <a:schemeClr val="dk1"/>
                </a:solidFill>
                <a:effectLst/>
                <a:latin typeface="Calibri"/>
                <a:ea typeface="Calibri"/>
                <a:cs typeface="Calibri"/>
                <a:sym typeface="Calibri"/>
              </a:rPr>
              <a:t>    res.send(filteredBooks);</a:t>
            </a:r>
          </a:p>
          <a:p>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app.post("/books",cors(),(req,res)=&gt;{   </a:t>
            </a:r>
          </a:p>
          <a:p>
            <a:r>
              <a:rPr lang="vi-VN" sz="1200" b="0" i="0" u="none" strike="noStrike" cap="none">
                <a:solidFill>
                  <a:schemeClr val="dk1"/>
                </a:solidFill>
                <a:effectLst/>
                <a:latin typeface="Calibri"/>
                <a:ea typeface="Calibri"/>
                <a:cs typeface="Calibri"/>
                <a:sym typeface="Calibri"/>
              </a:rPr>
              <a:t>    let newBook = req.body;</a:t>
            </a:r>
          </a:p>
          <a:p>
            <a:r>
              <a:rPr lang="vi-VN" sz="1200" b="0" i="0" u="none" strike="noStrike" cap="none">
                <a:solidFill>
                  <a:schemeClr val="dk1"/>
                </a:solidFill>
                <a:effectLst/>
                <a:latin typeface="Calibri"/>
                <a:ea typeface="Calibri"/>
                <a:cs typeface="Calibri"/>
                <a:sym typeface="Calibri"/>
              </a:rPr>
              <a:t>    if (newBook.ImageBase64) {</a:t>
            </a:r>
          </a:p>
          <a:p>
            <a:r>
              <a:rPr lang="vi-VN" sz="1200" b="0" i="0" u="none" strike="noStrike" cap="none">
                <a:solidFill>
                  <a:schemeClr val="dk1"/>
                </a:solidFill>
                <a:effectLst/>
                <a:latin typeface="Calibri"/>
                <a:ea typeface="Calibri"/>
                <a:cs typeface="Calibri"/>
                <a:sym typeface="Calibri"/>
              </a:rPr>
              <a:t>        // Tách bỏ phần header của Base64 (ví dụ: "data:image/png;base64,")</a:t>
            </a:r>
          </a:p>
          <a:p>
            <a:r>
              <a:rPr lang="vi-VN" sz="1200" b="0" i="0" u="none" strike="noStrike" cap="none">
                <a:solidFill>
                  <a:schemeClr val="dk1"/>
                </a:solidFill>
                <a:effectLst/>
                <a:latin typeface="Calibri"/>
                <a:ea typeface="Calibri"/>
                <a:cs typeface="Calibri"/>
                <a:sym typeface="Calibri"/>
              </a:rPr>
              <a:t>        const base64Data = newBook.ImageBase64.replace(/^data:image\/\w+;base64,/, "");</a:t>
            </a:r>
          </a:p>
          <a:p>
            <a:r>
              <a:rPr lang="vi-VN" sz="1200" b="0" i="0" u="none" strike="noStrike" cap="none">
                <a:solidFill>
                  <a:schemeClr val="dk1"/>
                </a:solidFill>
                <a:effectLst/>
                <a:latin typeface="Calibri"/>
                <a:ea typeface="Calibri"/>
                <a:cs typeface="Calibri"/>
                <a:sym typeface="Calibri"/>
              </a:rPr>
              <a:t>        const fileName = `${newBook.BookId}.png`;</a:t>
            </a:r>
          </a:p>
          <a:p>
            <a:r>
              <a:rPr lang="vi-VN" sz="1200" b="0" i="0" u="none" strike="noStrike" cap="none">
                <a:solidFill>
                  <a:schemeClr val="dk1"/>
                </a:solidFill>
                <a:effectLst/>
                <a:latin typeface="Calibri"/>
                <a:ea typeface="Calibri"/>
                <a:cs typeface="Calibri"/>
                <a:sym typeface="Calibri"/>
              </a:rPr>
              <a:t>        const destPath = path.join(__dirname, 'public', 'images', fileName);</a:t>
            </a:r>
          </a:p>
          <a:p>
            <a:r>
              <a:rPr lang="vi-VN" sz="1200" b="0" i="0" u="none" strike="noStrike" cap="none">
                <a:solidFill>
                  <a:schemeClr val="dk1"/>
                </a:solidFill>
                <a:effectLst/>
                <a:latin typeface="Calibri"/>
                <a:ea typeface="Calibri"/>
                <a:cs typeface="Calibri"/>
                <a:sym typeface="Calibri"/>
              </a:rPr>
              <a:t>        try {</a:t>
            </a:r>
          </a:p>
          <a:p>
            <a:r>
              <a:rPr lang="vi-VN" sz="1200" b="0" i="0" u="none" strike="noStrike" cap="none">
                <a:solidFill>
                  <a:schemeClr val="dk1"/>
                </a:solidFill>
                <a:effectLst/>
                <a:latin typeface="Calibri"/>
                <a:ea typeface="Calibri"/>
                <a:cs typeface="Calibri"/>
                <a:sym typeface="Calibri"/>
              </a:rPr>
              <a:t>            // Ghi chuỗi mã hóa thành file ảnh</a:t>
            </a:r>
          </a:p>
          <a:p>
            <a:r>
              <a:rPr lang="vi-VN" sz="1200" b="0" i="0" u="none" strike="noStrike" cap="none">
                <a:solidFill>
                  <a:schemeClr val="dk1"/>
                </a:solidFill>
                <a:effectLst/>
                <a:latin typeface="Calibri"/>
                <a:ea typeface="Calibri"/>
                <a:cs typeface="Calibri"/>
                <a:sym typeface="Calibri"/>
              </a:rPr>
              <a:t>            fs.writeFileSync(destPath, base64Data, 'base64');</a:t>
            </a:r>
          </a:p>
          <a:p>
            <a:r>
              <a:rPr lang="vi-VN" sz="1200" b="0" i="0" u="none" strike="noStrike" cap="none">
                <a:solidFill>
                  <a:schemeClr val="dk1"/>
                </a:solidFill>
                <a:effectLst/>
                <a:latin typeface="Calibri"/>
                <a:ea typeface="Calibri"/>
                <a:cs typeface="Calibri"/>
                <a:sym typeface="Calibri"/>
              </a:rPr>
              <a:t>            newBook.Image = fileName;</a:t>
            </a:r>
          </a:p>
          <a:p>
            <a:r>
              <a:rPr lang="vi-VN" sz="1200" b="0" i="0" u="none" strike="noStrike" cap="none">
                <a:solidFill>
                  <a:schemeClr val="dk1"/>
                </a:solidFill>
                <a:effectLst/>
                <a:latin typeface="Calibri"/>
                <a:ea typeface="Calibri"/>
                <a:cs typeface="Calibri"/>
                <a:sym typeface="Calibri"/>
              </a:rPr>
              <a:t>        } catch (error) {</a:t>
            </a:r>
          </a:p>
          <a:p>
            <a:r>
              <a:rPr lang="vi-VN" sz="1200" b="0" i="0" u="none" strike="noStrike" cap="none">
                <a:solidFill>
                  <a:schemeClr val="dk1"/>
                </a:solidFill>
                <a:effectLst/>
                <a:latin typeface="Calibri"/>
                <a:ea typeface="Calibri"/>
                <a:cs typeface="Calibri"/>
                <a:sym typeface="Calibri"/>
              </a:rPr>
              <a:t>            return res.status(500).send("Lỗi lưu ảnh Base64");</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delete newBook.ImageBase64;</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database.push(newBook);</a:t>
            </a:r>
          </a:p>
          <a:p>
            <a:r>
              <a:rPr lang="vi-VN" sz="1200" b="0" i="0" u="none" strike="noStrike" cap="none">
                <a:solidFill>
                  <a:schemeClr val="dk1"/>
                </a:solidFill>
                <a:effectLst/>
                <a:latin typeface="Calibri"/>
                <a:ea typeface="Calibri"/>
                <a:cs typeface="Calibri"/>
                <a:sym typeface="Calibri"/>
              </a:rPr>
              <a:t>    res.send(database);</a:t>
            </a:r>
          </a:p>
          <a:p>
            <a:r>
              <a:rPr lang="vi-VN" sz="1200" b="0" i="0" u="none" strike="noStrike" cap="none">
                <a:solidFill>
                  <a:schemeClr val="dk1"/>
                </a:solidFill>
                <a:effectLst/>
                <a:latin typeface="Calibri"/>
                <a:ea typeface="Calibri"/>
                <a:cs typeface="Calibri"/>
                <a:sym typeface="Calibri"/>
              </a:rPr>
              <a:t>})</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8DC7D7F-1F6F-2475-A2B2-2B9B9A8391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527578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4F64A76-B06A-A165-3179-E7A439BD204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A08BE7E-560F-395F-3161-598A7ED6FB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D890C70-29CB-4FD2-1F38-0215F42D42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75192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579EAB8-EE18-CFD9-3BD0-F086E2A4F10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C902E9-8E3C-C639-385C-C7B9F360C2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10E4F58-09DD-906D-C941-95099EE557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036062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177241C-9619-2FAB-811A-38F1E3330E8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8C6A132-E514-0504-B4CB-60CD05A5AF1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export interface IBook{</a:t>
            </a:r>
          </a:p>
          <a:p>
            <a:r>
              <a:rPr lang="en-US" sz="1200" b="0" i="0" u="none" strike="noStrike" cap="none">
                <a:solidFill>
                  <a:schemeClr val="dk1"/>
                </a:solidFill>
                <a:effectLst/>
                <a:latin typeface="Calibri"/>
                <a:ea typeface="Calibri"/>
                <a:cs typeface="Calibri"/>
                <a:sym typeface="Calibri"/>
              </a:rPr>
              <a:t>    BookId:string,</a:t>
            </a:r>
          </a:p>
          <a:p>
            <a:r>
              <a:rPr lang="en-US" sz="1200" b="0" i="0" u="none" strike="noStrike" cap="none">
                <a:solidFill>
                  <a:schemeClr val="dk1"/>
                </a:solidFill>
                <a:effectLst/>
                <a:latin typeface="Calibri"/>
                <a:ea typeface="Calibri"/>
                <a:cs typeface="Calibri"/>
                <a:sym typeface="Calibri"/>
              </a:rPr>
              <a:t>    BookName:string,</a:t>
            </a:r>
          </a:p>
          <a:p>
            <a:r>
              <a:rPr lang="en-US" sz="1200" b="0" i="0" u="none" strike="noStrike" cap="none">
                <a:solidFill>
                  <a:schemeClr val="dk1"/>
                </a:solidFill>
                <a:effectLst/>
                <a:latin typeface="Calibri"/>
                <a:ea typeface="Calibri"/>
                <a:cs typeface="Calibri"/>
                <a:sym typeface="Calibri"/>
              </a:rPr>
              <a:t>    Price:number,</a:t>
            </a:r>
          </a:p>
          <a:p>
            <a:r>
              <a:rPr lang="en-US" sz="1200" b="0" i="0" u="none" strike="noStrike" cap="none">
                <a:solidFill>
                  <a:schemeClr val="dk1"/>
                </a:solidFill>
                <a:effectLst/>
                <a:latin typeface="Calibri"/>
                <a:ea typeface="Calibri"/>
                <a:cs typeface="Calibri"/>
                <a:sym typeface="Calibri"/>
              </a:rPr>
              <a:t>    Image:string</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a:t>
            </a:r>
          </a:p>
          <a:p>
            <a:r>
              <a:rPr lang="en-US" sz="1200" b="0" i="0" u="none" strike="noStrike" cap="none">
                <a:solidFill>
                  <a:schemeClr val="dk1"/>
                </a:solidFill>
                <a:effectLst/>
                <a:latin typeface="Calibri"/>
                <a:ea typeface="Calibri"/>
                <a:cs typeface="Calibri"/>
                <a:sym typeface="Calibri"/>
              </a:rPr>
              <a:t>    constructor(</a:t>
            </a:r>
          </a:p>
          <a:p>
            <a:r>
              <a:rPr lang="en-US" sz="1200" b="0" i="0" u="none" strike="noStrike" cap="none">
                <a:solidFill>
                  <a:schemeClr val="dk1"/>
                </a:solidFill>
                <a:effectLst/>
                <a:latin typeface="Calibri"/>
                <a:ea typeface="Calibri"/>
                <a:cs typeface="Calibri"/>
                <a:sym typeface="Calibri"/>
              </a:rPr>
              <a:t>        public BookId:string="",</a:t>
            </a:r>
          </a:p>
          <a:p>
            <a:r>
              <a:rPr lang="en-US" sz="1200" b="0" i="0" u="none" strike="noStrike" cap="none">
                <a:solidFill>
                  <a:schemeClr val="dk1"/>
                </a:solidFill>
                <a:effectLst/>
                <a:latin typeface="Calibri"/>
                <a:ea typeface="Calibri"/>
                <a:cs typeface="Calibri"/>
                <a:sym typeface="Calibri"/>
              </a:rPr>
              <a:t>        public BookName:string="",</a:t>
            </a:r>
          </a:p>
          <a:p>
            <a:r>
              <a:rPr lang="en-US" sz="1200" b="0" i="0" u="none" strike="noStrike" cap="none">
                <a:solidFill>
                  <a:schemeClr val="dk1"/>
                </a:solidFill>
                <a:effectLst/>
                <a:latin typeface="Calibri"/>
                <a:ea typeface="Calibri"/>
                <a:cs typeface="Calibri"/>
                <a:sym typeface="Calibri"/>
              </a:rPr>
              <a:t>        public Price:number=0,</a:t>
            </a:r>
          </a:p>
          <a:p>
            <a:r>
              <a:rPr lang="en-US" sz="1200" b="0" i="0" u="none" strike="noStrike" cap="none">
                <a:solidFill>
                  <a:schemeClr val="dk1"/>
                </a:solidFill>
                <a:effectLst/>
                <a:latin typeface="Calibri"/>
                <a:ea typeface="Calibri"/>
                <a:cs typeface="Calibri"/>
                <a:sym typeface="Calibri"/>
              </a:rPr>
              <a:t>        public Image:string="",</a:t>
            </a:r>
          </a:p>
          <a:p>
            <a:r>
              <a:rPr lang="en-US" sz="1200" b="0" i="0" u="none" strike="noStrike" cap="none">
                <a:solidFill>
                  <a:schemeClr val="dk1"/>
                </a:solidFill>
                <a:effectLst/>
                <a:latin typeface="Calibri"/>
                <a:ea typeface="Calibri"/>
                <a:cs typeface="Calibri"/>
                <a:sym typeface="Calibri"/>
              </a:rPr>
              <a:t>        public ImageBase64:string="")</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5687CD4-8A39-8B47-20AF-167C9BF493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895884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DB95C30-4D36-A584-A3EE-CAACF3FB457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5764D5F-C80A-3E7B-C691-4673BC62B9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 postBook(aBook:any):Observable&lt;any&gt;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HttpHeaders().set("Content-Type","application/json;charset=utf-8")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this._http.post&lt;any&gt;("/books",JSON.stringify(aBook),requestOptions).pipe(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A5DC53D-3502-88AA-4F6C-C00E2225BD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173432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6F2A8F6-6A8A-9485-BBFC-6A4C21BC02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1019878-DC9B-A130-6036-7380600830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CBFAE78-5FC0-ECA3-D9F5-DF3A6C5E07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6777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5186F7-11EF-21A8-1132-0A9B86E2346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1C2E069-F689-488B-9F2C-BC04B0CADF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C37BC75-9796-8BD8-B839-D67F1E58D2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728397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7AA1BD3-8FFF-EE0B-55BB-76E3C11371B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318D0E5-9196-5633-9E33-1E6ED60207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240DF00-A462-A5E9-B546-4B18A8E21F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798887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ECEDECD-4C7D-D803-9C37-7856587685A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8644ADF-7DEB-50FF-D96B-09C205CAF7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Book, IBook } from '../classes/Book';</a:t>
            </a:r>
          </a:p>
          <a:p>
            <a:r>
              <a:rPr lang="en-US" sz="1200" b="0" i="0" u="none" strike="noStrike" cap="none">
                <a:solidFill>
                  <a:schemeClr val="dk1"/>
                </a:solidFill>
                <a:effectLst/>
                <a:latin typeface="Calibri"/>
                <a:ea typeface="Calibri"/>
                <a:cs typeface="Calibri"/>
                <a:sym typeface="Calibri"/>
              </a:rPr>
              <a:t>import { BookAPIService } from '../services/book-apiservice';</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'app-book-new-component',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'./book-new-component.html',</a:t>
            </a:r>
          </a:p>
          <a:p>
            <a:r>
              <a:rPr lang="en-US" sz="1200" b="0" i="0" u="none" strike="noStrike" cap="none">
                <a:solidFill>
                  <a:schemeClr val="dk1"/>
                </a:solidFill>
                <a:effectLst/>
                <a:latin typeface="Calibri"/>
                <a:ea typeface="Calibri"/>
                <a:cs typeface="Calibri"/>
                <a:sym typeface="Calibri"/>
              </a:rPr>
              <a:t>  styleUrl: './book-new-component.css',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BookNewComponent {</a:t>
            </a:r>
          </a:p>
          <a:p>
            <a:r>
              <a:rPr lang="en-US" sz="1200" b="0" i="0" u="none" strike="noStrike" cap="none">
                <a:solidFill>
                  <a:schemeClr val="dk1"/>
                </a:solidFill>
                <a:effectLst/>
                <a:latin typeface="Calibri"/>
                <a:ea typeface="Calibri"/>
                <a:cs typeface="Calibri"/>
                <a:sym typeface="Calibri"/>
              </a:rPr>
              <a:t>  book=new Book();</a:t>
            </a:r>
          </a:p>
          <a:p>
            <a:r>
              <a:rPr lang="en-US" sz="1200" b="0" i="0" u="none" strike="noStrike" cap="none">
                <a:solidFill>
                  <a:schemeClr val="dk1"/>
                </a:solidFill>
                <a:effectLst/>
                <a:latin typeface="Calibri"/>
                <a:ea typeface="Calibri"/>
                <a:cs typeface="Calibri"/>
                <a:sym typeface="Calibri"/>
              </a:rPr>
              <a:t>  books=signal&lt;IBook[]&gt;([])</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server_images_link="http://localhost:3000/images/"</a:t>
            </a:r>
          </a:p>
          <a:p>
            <a:r>
              <a:rPr lang="en-US" sz="1200" b="0" i="0" u="none" strike="noStrike" cap="none">
                <a:solidFill>
                  <a:schemeClr val="dk1"/>
                </a:solidFill>
                <a:effectLst/>
                <a:latin typeface="Calibri"/>
                <a:ea typeface="Calibri"/>
                <a:cs typeface="Calibri"/>
                <a:sym typeface="Calibri"/>
              </a:rPr>
              <a:t>  constructor(private _service: BookAPIService){</a:t>
            </a:r>
          </a:p>
          <a:p>
            <a:r>
              <a:rPr lang="en-US" sz="1200" b="0" i="0" u="none" strike="noStrike" cap="none">
                <a:solidFill>
                  <a:schemeClr val="dk1"/>
                </a:solidFill>
                <a:effectLst/>
                <a:latin typeface="Calibri"/>
                <a:ea typeface="Calibri"/>
                <a:cs typeface="Calibri"/>
                <a:sym typeface="Calibri"/>
              </a:rPr>
              <a:t>    this._service.getBooks().subscribe({</a:t>
            </a:r>
          </a:p>
          <a:p>
            <a:r>
              <a:rPr lang="en-US" sz="1200" b="0" i="0" u="none" strike="noStrike" cap="none">
                <a:solidFill>
                  <a:schemeClr val="dk1"/>
                </a:solidFill>
                <a:effectLst/>
                <a:latin typeface="Calibri"/>
                <a:ea typeface="Calibri"/>
                <a:cs typeface="Calibri"/>
                <a:sym typeface="Calibri"/>
              </a:rPr>
              <a:t>      next:(data)=&gt;{this.books.set(data)},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postBook()</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this._service.postBook(this.book).subscribe({</a:t>
            </a:r>
          </a:p>
          <a:p>
            <a:r>
              <a:rPr lang="en-US" sz="1200" b="0" i="0" u="none" strike="noStrike" cap="none">
                <a:solidFill>
                  <a:schemeClr val="dk1"/>
                </a:solidFill>
                <a:effectLst/>
                <a:latin typeface="Calibri"/>
                <a:ea typeface="Calibri"/>
                <a:cs typeface="Calibri"/>
                <a:sym typeface="Calibri"/>
              </a:rPr>
              <a:t>      next:(data)=&gt;{this.books.set(data)},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Function to handle file selection</a:t>
            </a:r>
          </a:p>
          <a:p>
            <a:r>
              <a:rPr lang="en-US" sz="1200" b="0" i="0" u="none" strike="noStrike" cap="none">
                <a:solidFill>
                  <a:schemeClr val="dk1"/>
                </a:solidFill>
                <a:effectLst/>
                <a:latin typeface="Calibri"/>
                <a:ea typeface="Calibri"/>
                <a:cs typeface="Calibri"/>
                <a:sym typeface="Calibri"/>
              </a:rPr>
              <a:t>  onFileSelected(event: any) {</a:t>
            </a:r>
          </a:p>
          <a:p>
            <a:r>
              <a:rPr lang="en-US" sz="1200" b="0" i="0" u="none" strike="noStrike" cap="none">
                <a:solidFill>
                  <a:schemeClr val="dk1"/>
                </a:solidFill>
                <a:effectLst/>
                <a:latin typeface="Calibri"/>
                <a:ea typeface="Calibri"/>
                <a:cs typeface="Calibri"/>
                <a:sym typeface="Calibri"/>
              </a:rPr>
              <a:t>    // Get the first file selected by the user</a:t>
            </a:r>
          </a:p>
          <a:p>
            <a:r>
              <a:rPr lang="en-US" sz="1200" b="0" i="0" u="none" strike="noStrike" cap="none">
                <a:solidFill>
                  <a:schemeClr val="dk1"/>
                </a:solidFill>
                <a:effectLst/>
                <a:latin typeface="Calibri"/>
                <a:ea typeface="Calibri"/>
                <a:cs typeface="Calibri"/>
                <a:sym typeface="Calibri"/>
              </a:rPr>
              <a:t>    const file: File = event.target.files[0];</a:t>
            </a:r>
          </a:p>
          <a:p>
            <a:r>
              <a:rPr lang="en-US" sz="1200" b="0" i="0" u="none" strike="noStrike" cap="none">
                <a:solidFill>
                  <a:schemeClr val="dk1"/>
                </a:solidFill>
                <a:effectLst/>
                <a:latin typeface="Calibri"/>
                <a:ea typeface="Calibri"/>
                <a:cs typeface="Calibri"/>
                <a:sym typeface="Calibri"/>
              </a:rPr>
              <a:t>    if (file) {</a:t>
            </a:r>
          </a:p>
          <a:p>
            <a:r>
              <a:rPr lang="en-US" sz="1200" b="0" i="0" u="none" strike="noStrike" cap="none">
                <a:solidFill>
                  <a:schemeClr val="dk1"/>
                </a:solidFill>
                <a:effectLst/>
                <a:latin typeface="Calibri"/>
                <a:ea typeface="Calibri"/>
                <a:cs typeface="Calibri"/>
                <a:sym typeface="Calibri"/>
              </a:rPr>
              <a:t>      // 1. Assign the original file name to the Image property</a:t>
            </a:r>
          </a:p>
          <a:p>
            <a:r>
              <a:rPr lang="en-US" sz="1200" b="0" i="0" u="none" strike="noStrike" cap="none">
                <a:solidFill>
                  <a:schemeClr val="dk1"/>
                </a:solidFill>
                <a:effectLst/>
                <a:latin typeface="Calibri"/>
                <a:ea typeface="Calibri"/>
                <a:cs typeface="Calibri"/>
                <a:sym typeface="Calibri"/>
              </a:rPr>
              <a:t>      // (for saving the name to the DB)</a:t>
            </a:r>
          </a:p>
          <a:p>
            <a:r>
              <a:rPr lang="en-US" sz="1200" b="0" i="0" u="none" strike="noStrike" cap="none">
                <a:solidFill>
                  <a:schemeClr val="dk1"/>
                </a:solidFill>
                <a:effectLst/>
                <a:latin typeface="Calibri"/>
                <a:ea typeface="Calibri"/>
                <a:cs typeface="Calibri"/>
                <a:sym typeface="Calibri"/>
              </a:rPr>
              <a:t>      this.book.Image = file.name;</a:t>
            </a:r>
          </a:p>
          <a:p>
            <a:r>
              <a:rPr lang="en-US" sz="1200" b="0" i="0" u="none" strike="noStrike" cap="none">
                <a:solidFill>
                  <a:schemeClr val="dk1"/>
                </a:solidFill>
                <a:effectLst/>
                <a:latin typeface="Calibri"/>
                <a:ea typeface="Calibri"/>
                <a:cs typeface="Calibri"/>
                <a:sym typeface="Calibri"/>
              </a:rPr>
              <a:t>      // 2. Initialize the FileReader object to read the file</a:t>
            </a:r>
          </a:p>
          <a:p>
            <a:r>
              <a:rPr lang="en-US" sz="1200" b="0" i="0" u="none" strike="noStrike" cap="none">
                <a:solidFill>
                  <a:schemeClr val="dk1"/>
                </a:solidFill>
                <a:effectLst/>
                <a:latin typeface="Calibri"/>
                <a:ea typeface="Calibri"/>
                <a:cs typeface="Calibri"/>
                <a:sym typeface="Calibri"/>
              </a:rPr>
              <a:t>      const reader = new FileReader();</a:t>
            </a:r>
          </a:p>
          <a:p>
            <a:r>
              <a:rPr lang="en-US" sz="1200" b="0" i="0" u="none" strike="noStrike" cap="none">
                <a:solidFill>
                  <a:schemeClr val="dk1"/>
                </a:solidFill>
                <a:effectLst/>
                <a:latin typeface="Calibri"/>
                <a:ea typeface="Calibri"/>
                <a:cs typeface="Calibri"/>
                <a:sym typeface="Calibri"/>
              </a:rPr>
              <a:t>      // 3. Define the action to be performed AFTER reading the file is complete</a:t>
            </a:r>
          </a:p>
          <a:p>
            <a:r>
              <a:rPr lang="en-US" sz="1200" b="0" i="0" u="none" strike="noStrike" cap="none">
                <a:solidFill>
                  <a:schemeClr val="dk1"/>
                </a:solidFill>
                <a:effectLst/>
                <a:latin typeface="Calibri"/>
                <a:ea typeface="Calibri"/>
                <a:cs typeface="Calibri"/>
                <a:sym typeface="Calibri"/>
              </a:rPr>
              <a:t>      reader.onload = (e: any) =&gt; {</a:t>
            </a:r>
          </a:p>
          <a:p>
            <a:r>
              <a:rPr lang="en-US" sz="1200" b="0" i="0" u="none" strike="noStrike" cap="none">
                <a:solidFill>
                  <a:schemeClr val="dk1"/>
                </a:solidFill>
                <a:effectLst/>
                <a:latin typeface="Calibri"/>
                <a:ea typeface="Calibri"/>
                <a:cs typeface="Calibri"/>
                <a:sym typeface="Calibri"/>
              </a:rPr>
              <a:t>        // The read result (e.target.result) is the Base64 string (Data URL)</a:t>
            </a:r>
          </a:p>
          <a:p>
            <a:r>
              <a:rPr lang="en-US" sz="1200" b="0" i="0" u="none" strike="noStrike" cap="none">
                <a:solidFill>
                  <a:schemeClr val="dk1"/>
                </a:solidFill>
                <a:effectLst/>
                <a:latin typeface="Calibri"/>
                <a:ea typeface="Calibri"/>
                <a:cs typeface="Calibri"/>
                <a:sym typeface="Calibri"/>
              </a:rPr>
              <a:t>        this.book.ImageBase64 = e.target.result;</a:t>
            </a:r>
          </a:p>
          <a:p>
            <a:r>
              <a:rPr lang="en-US" sz="1200" b="0" i="0" u="none" strike="noStrike" cap="none">
                <a:solidFill>
                  <a:schemeClr val="dk1"/>
                </a:solidFill>
                <a:effectLst/>
                <a:latin typeface="Calibri"/>
                <a:ea typeface="Calibri"/>
                <a:cs typeface="Calibri"/>
                <a:sym typeface="Calibri"/>
              </a:rPr>
              <a:t>        // console.log("Base64 string:", this.book.ImageBase64);</a:t>
            </a:r>
          </a:p>
          <a:p>
            <a:r>
              <a:rPr lang="en-US" sz="1200" b="0" i="0" u="none" strike="noStrike" cap="none">
                <a:solidFill>
                  <a:schemeClr val="dk1"/>
                </a:solidFill>
                <a:effectLst/>
                <a:latin typeface="Calibri"/>
                <a:ea typeface="Calibri"/>
                <a:cs typeface="Calibri"/>
                <a:sym typeface="Calibri"/>
              </a:rPr>
              <a:t>        //alert(this.book.ImageBase64)</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4. Execute the command to read the file as a Base64 string (Data URL)</a:t>
            </a:r>
          </a:p>
          <a:p>
            <a:r>
              <a:rPr lang="en-US" sz="1200" b="0" i="0" u="none" strike="noStrike" cap="none">
                <a:solidFill>
                  <a:schemeClr val="dk1"/>
                </a:solidFill>
                <a:effectLst/>
                <a:latin typeface="Calibri"/>
                <a:ea typeface="Calibri"/>
                <a:cs typeface="Calibri"/>
                <a:sym typeface="Calibri"/>
              </a:rPr>
              <a:t>      reader.readAsDataURL(file);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467988D-9CA3-8D86-E2D9-E0C92E9DFD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79810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087A734-C288-F7A1-F3FB-DE8036D87A4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5523A54-465E-9ADF-CDF6-602DBD9218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00C1544-B9BB-F0BE-722C-8DF7E8D6DC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307864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9C07355-18D1-9FF0-9108-469B82DC19C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8A471EF-AE6C-CF1B-0F7B-ED9078B74F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F72080F-9C82-BE34-C7A8-06F64CD27D4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873971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D0369C6-9572-A853-0FD5-B040BDD8A85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3ED3CE3-E4A7-4D0E-5F54-5F879F6B82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&lt;p&gt;{{errMessage()}}&lt;/p&gt;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 Id:&lt;/td&gt;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 name="BookId" id="BookId"</a:t>
            </a:r>
          </a:p>
          <a:p>
            <a:r>
              <a:rPr lang="en-US" sz="1200" b="0" i="0" u="none" strike="noStrike" cap="none">
                <a:solidFill>
                  <a:schemeClr val="dk1"/>
                </a:solidFill>
                <a:effectLst/>
                <a:latin typeface="Calibri"/>
                <a:ea typeface="Calibri"/>
                <a:cs typeface="Calibri"/>
                <a:sym typeface="Calibri"/>
              </a:rPr>
              <a:t>            placeholder="Enter Book Id" [(ngModel)]="book.BookId"/&gt;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 Name:&lt;/td&gt;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 name="BookName" id="BookName"</a:t>
            </a:r>
          </a:p>
          <a:p>
            <a:r>
              <a:rPr lang="en-US" sz="1200" b="0" i="0" u="none" strike="noStrike" cap="none">
                <a:solidFill>
                  <a:schemeClr val="dk1"/>
                </a:solidFill>
                <a:effectLst/>
                <a:latin typeface="Calibri"/>
                <a:ea typeface="Calibri"/>
                <a:cs typeface="Calibri"/>
                <a:sym typeface="Calibri"/>
              </a:rPr>
              <a:t>            placeholder="Enter Book Name" [(ngModel)]="book.BookName"/&gt;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 name="BookPrice" id="BookPrice"</a:t>
            </a:r>
          </a:p>
          <a:p>
            <a:r>
              <a:rPr lang="en-US" sz="1200" b="0" i="0" u="none" strike="noStrike" cap="none">
                <a:solidFill>
                  <a:schemeClr val="dk1"/>
                </a:solidFill>
                <a:effectLst/>
                <a:latin typeface="Calibri"/>
                <a:ea typeface="Calibri"/>
                <a:cs typeface="Calibri"/>
                <a:sym typeface="Calibri"/>
              </a:rPr>
              <a:t>            placeholder="Enter Price" [(ngModel)]="book.Price"/&gt;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type="file" class="form-control" name="Image" id="Image" placeholder="Pick image"</a:t>
            </a:r>
          </a:p>
          <a:p>
            <a:r>
              <a:rPr lang="en-US" sz="1200" b="0" i="0" u="none" strike="noStrike" cap="none">
                <a:solidFill>
                  <a:schemeClr val="dk1"/>
                </a:solidFill>
                <a:effectLst/>
                <a:latin typeface="Calibri"/>
                <a:ea typeface="Calibri"/>
                <a:cs typeface="Calibri"/>
                <a:sym typeface="Calibri"/>
              </a:rPr>
              <a:t>            (change)="onFileSelected($event)"/&gt;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colspan="2"&gt;</a:t>
            </a:r>
          </a:p>
          <a:p>
            <a:r>
              <a:rPr lang="en-US" sz="1200" b="0" i="0" u="none" strike="noStrike" cap="none">
                <a:solidFill>
                  <a:schemeClr val="dk1"/>
                </a:solidFill>
                <a:effectLst/>
                <a:latin typeface="Calibri"/>
                <a:ea typeface="Calibri"/>
                <a:cs typeface="Calibri"/>
                <a:sym typeface="Calibri"/>
              </a:rPr>
              <a:t>            &lt;button (click)="postBook()"&gt;Submit&lt;/button&gt;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&lt;table border="1"&gt;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&lt;td&gt;BookId&lt;/td&gt;</a:t>
            </a:r>
          </a:p>
          <a:p>
            <a:r>
              <a:rPr lang="en-US" sz="1200" b="0" i="0" u="none" strike="noStrike" cap="none">
                <a:solidFill>
                  <a:schemeClr val="dk1"/>
                </a:solidFill>
                <a:effectLst/>
                <a:latin typeface="Calibri"/>
                <a:ea typeface="Calibri"/>
                <a:cs typeface="Calibri"/>
                <a:sym typeface="Calibri"/>
              </a:rPr>
              <a:t>        &lt;td&gt;BookName&lt;/td&gt;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        @for (book of books();track book.BookId){</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&lt;td&gt;{{book.BookId}}&lt;/td&gt;</a:t>
            </a:r>
          </a:p>
          <a:p>
            <a:r>
              <a:rPr lang="en-US" sz="1200" b="0" i="0" u="none" strike="noStrike" cap="none">
                <a:solidFill>
                  <a:schemeClr val="dk1"/>
                </a:solidFill>
                <a:effectLst/>
                <a:latin typeface="Calibri"/>
                <a:ea typeface="Calibri"/>
                <a:cs typeface="Calibri"/>
                <a:sym typeface="Calibri"/>
              </a:rPr>
              <a:t>            &lt;td&gt;{{book.BookName}}&lt;/td&gt;</a:t>
            </a:r>
          </a:p>
          <a:p>
            <a:r>
              <a:rPr lang="en-US" sz="1200" b="0" i="0" u="none" strike="noStrike" cap="none">
                <a:solidFill>
                  <a:schemeClr val="dk1"/>
                </a:solidFill>
                <a:effectLst/>
                <a:latin typeface="Calibri"/>
                <a:ea typeface="Calibri"/>
                <a:cs typeface="Calibri"/>
                <a:sym typeface="Calibri"/>
              </a:rPr>
              <a:t>            &lt;td&gt;{{book.Price}}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&lt;img src="{{server_images_link}}/{{book.Image}}" width="50px" height="50px"&gt;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}@empty{</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colspan="4"&gt;Not found books&lt;/td&gt;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A42086-EC39-9E38-887C-D30A942F52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779842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3241D71-6E4A-0A7A-D3C2-7066601D5E2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85846A4-EE5B-5B3D-FA71-8708A8846F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9644603-B786-74DF-6542-DAD91A47DF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1963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5BEB935-A129-A5F5-49BD-2640DEEDE0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405D5FA-5480-0BF3-584D-880D633B80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a:t>
            </a:r>
          </a:p>
          <a:p>
            <a:r>
              <a:rPr lang="en-US" sz="1200" b="0" i="0" u="none" strike="noStrike" cap="none">
                <a:solidFill>
                  <a:schemeClr val="dk1"/>
                </a:solidFill>
                <a:effectLst/>
                <a:latin typeface="Calibri"/>
                <a:ea typeface="Calibri"/>
                <a:cs typeface="Calibri"/>
                <a:sym typeface="Calibri"/>
              </a:rPr>
              <a:t>  &lt;a routerLink="/products"&gt;Products&lt;/a&gt;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routerLink="/searchproduct"&gt;Search 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routerLink="/fakeproducts"&gt;Fake 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routerLink="/samplenested"&gt;Sample Nested&lt;/a&gt;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routerLink="/course-register"&gt;Register Course&lt;/a&gt;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routerLink="/course-reactive-register"&gt;Register Reactive Course&lt;/a&gt;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routerLink="/contacts"&gt;Contacts&lt;/a&gt;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routerLink="/login"&gt;Login&lt;/a&gt;</a:t>
            </a:r>
          </a:p>
          <a:p>
            <a:r>
              <a:rPr lang="en-US" sz="1200" b="0" i="0" u="none" strike="noStrike" cap="none">
                <a:solidFill>
                  <a:schemeClr val="dk1"/>
                </a:solidFill>
                <a:effectLst/>
                <a:latin typeface="Calibri"/>
                <a:ea typeface="Calibri"/>
                <a:cs typeface="Calibri"/>
                <a:sym typeface="Calibri"/>
              </a:rPr>
              <a:t>&lt;/p&gt;</a:t>
            </a:r>
          </a:p>
          <a:p>
            <a:r>
              <a:rPr lang="en-US" sz="1200" b="0" i="0" u="none" strike="noStrike" cap="none">
                <a:solidFill>
                  <a:schemeClr val="dk1"/>
                </a:solidFill>
                <a:effectLst/>
                <a:latin typeface="Calibri"/>
                <a:ea typeface="Calibri"/>
                <a:cs typeface="Calibri"/>
                <a:sym typeface="Calibri"/>
              </a:rPr>
              <a:t>&lt;div&gt;</a:t>
            </a:r>
          </a:p>
          <a:p>
            <a:r>
              <a:rPr lang="en-US" sz="1200" b="0" i="0" u="none" strike="noStrike" cap="none">
                <a:solidFill>
                  <a:schemeClr val="dk1"/>
                </a:solidFill>
                <a:effectLst/>
                <a:latin typeface="Calibri"/>
                <a:ea typeface="Calibri"/>
                <a:cs typeface="Calibri"/>
                <a:sym typeface="Calibri"/>
              </a:rPr>
              <a:t>  &lt;p&gt;</a:t>
            </a:r>
          </a:p>
          <a:p>
            <a:r>
              <a:rPr lang="en-US" sz="1200" b="0" i="0" u="none" strike="noStrike" cap="none">
                <a:solidFill>
                  <a:schemeClr val="dk1"/>
                </a:solidFill>
                <a:effectLst/>
                <a:latin typeface="Calibri"/>
                <a:ea typeface="Calibri"/>
                <a:cs typeface="Calibri"/>
                <a:sym typeface="Calibri"/>
              </a:rPr>
              <a:t>    &lt;a routerLink="/book-list"&gt;List Books&lt;/a&gt; |</a:t>
            </a:r>
          </a:p>
          <a:p>
            <a:r>
              <a:rPr lang="en-US" sz="1200" b="0" i="0" u="none" strike="noStrike" cap="none">
                <a:solidFill>
                  <a:schemeClr val="dk1"/>
                </a:solidFill>
                <a:effectLst/>
                <a:latin typeface="Calibri"/>
                <a:ea typeface="Calibri"/>
                <a:cs typeface="Calibri"/>
                <a:sym typeface="Calibri"/>
              </a:rPr>
              <a:t>    &lt;a routerLink="/book-detail"&gt;Book Detail&lt;/a&gt; |</a:t>
            </a:r>
          </a:p>
          <a:p>
            <a:r>
              <a:rPr lang="en-US" sz="1200" b="0" i="0" u="none" strike="noStrike" cap="none">
                <a:solidFill>
                  <a:schemeClr val="dk1"/>
                </a:solidFill>
                <a:effectLst/>
                <a:latin typeface="Calibri"/>
                <a:ea typeface="Calibri"/>
                <a:cs typeface="Calibri"/>
                <a:sym typeface="Calibri"/>
              </a:rPr>
              <a:t>    &lt;a routerLink="/book-new"&gt;Book New&lt;/a&gt;</a:t>
            </a:r>
          </a:p>
          <a:p>
            <a:r>
              <a:rPr lang="en-US" sz="1200" b="0" i="0" u="none" strike="noStrike" cap="none">
                <a:solidFill>
                  <a:schemeClr val="dk1"/>
                </a:solidFill>
                <a:effectLst/>
                <a:latin typeface="Calibri"/>
                <a:ea typeface="Calibri"/>
                <a:cs typeface="Calibri"/>
                <a:sym typeface="Calibri"/>
              </a:rPr>
              <a:t>  &lt;/p&gt;</a:t>
            </a:r>
          </a:p>
          <a:p>
            <a:r>
              <a:rPr lang="en-US" sz="1200" b="0" i="0" u="none" strike="noStrike" cap="none">
                <a:solidFill>
                  <a:schemeClr val="dk1"/>
                </a:solidFill>
                <a:effectLst/>
                <a:latin typeface="Calibri"/>
                <a:ea typeface="Calibri"/>
                <a:cs typeface="Calibri"/>
                <a:sym typeface="Calibri"/>
              </a:rPr>
              <a:t>&lt;/div&gt;</a:t>
            </a:r>
          </a:p>
          <a:p>
            <a:r>
              <a:rPr lang="en-US" sz="1200" b="0" i="0" u="none" strike="noStrike" cap="none">
                <a:solidFill>
                  <a:schemeClr val="dk1"/>
                </a:solidFill>
                <a:effectLst/>
                <a:latin typeface="Calibri"/>
                <a:ea typeface="Calibri"/>
                <a:cs typeface="Calibri"/>
                <a:sym typeface="Calibri"/>
              </a:rPr>
              <a:t>&lt;router-outlet /&gt;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2B6756A-1EF9-B860-D04E-68528484C1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131773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E651E9E-E893-0B0B-CDD8-D04F2DA869F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1310342-1AD8-962F-3880-D5DFC902E8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CFBE291-7C16-DB9F-A290-62BA896F81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072597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40D3A4E-DAE5-0F4D-4669-B07937C26BC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1D87524-78D1-D160-0E1D-A69B1EA579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675356C-2AEA-5439-E3DC-D44C60D7B0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18406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C7BA80B-7C6E-678D-3B34-1C984195CA4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9017E59-06BE-17BA-5546-FFA6AA9FB56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701B1B7-88AB-6A39-D05E-B810D70DDB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920923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B8F02C4-4B79-9041-EE9C-F2EE7EDB972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F4A68B7-11F2-EA50-F600-50EC179EC48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8566A7F-8EB1-81C0-FC0D-1FFD339D95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656142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4AA89B7-423B-79F6-02AA-446F23F8F0B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4A82811-47A7-0E4E-7E99-A36082881E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D147E8D-7398-7F86-F1C4-8A320CE091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589058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7FC6ED9-9156-6C6B-6B22-A38E3ADFC35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C327E77-D5E5-EE36-36EE-77490F2B4E4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B6D38B-6FC4-FAE3-B5F0-AB027ABCAB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298970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0DCCDB9-4EBF-E0B0-C0C3-8E70944F2AA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F964931-F4A7-417F-EEE9-D81337E401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27EB483-5E9E-8D55-7CF0-85812ED798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862015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10B414D-3E1B-74B3-2C15-668B52369EE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E65EEB1-761F-3050-6EC3-E45E6AEB3A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F2680D7-702F-76F2-8097-897F1544DC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602352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127CCB9-341F-7A54-7BDF-7B8539B35D1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647116A-3172-FCED-A1B2-DB08A4C5D6F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7194BE0-6952-BE31-53E8-49DB59D0C8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336188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067A018-F013-2643-F3F0-EC1D1DBFB29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58866A8-2235-8265-0D59-B55613C6E5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  putBook(aBook:any):Observable&lt;any&gt;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HttpHeaders().set("Content-Type","application/json;charset=utf-8")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this._http.put&lt;any&gt;("/books",JSON.stringify(aBook),requestOptions).pipe(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6DFCACB-6C48-B5F5-A18F-2A76D3B760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637849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16891DE-05EB-1069-057A-649D11FE09B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1DF5AA2-87E7-7923-14AE-AF4AEAF4F80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58961D4-B34D-28EB-65C5-B3EEF5E665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176101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4AFFA9F-8121-4F51-8E2A-044A1EA2F9D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5302D54-5308-F21A-C735-A08437EBA05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423DB5A-5565-5D9A-455B-18D7F8889B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775123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62704A-781D-5431-CAA0-242620464F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5A436E3-E1D0-DA36-49C3-84D3C41E70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C511642-88AB-B90B-4E17-04F62E097D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712659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D66213D-50FD-A09D-7485-0489A9DD1ED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9451044-6948-ECEB-E51D-F631A45381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ChangeDetectorRef, Component, signal } from '@angular/core';</a:t>
            </a:r>
          </a:p>
          <a:p>
            <a:r>
              <a:rPr lang="en-US" sz="1200" b="0" i="0" u="none" strike="noStrike" cap="none">
                <a:solidFill>
                  <a:schemeClr val="dk1"/>
                </a:solidFill>
                <a:effectLst/>
                <a:latin typeface="Calibri"/>
                <a:ea typeface="Calibri"/>
                <a:cs typeface="Calibri"/>
                <a:sym typeface="Calibri"/>
              </a:rPr>
              <a:t>import { Book, IBook } from '../classes/Book';</a:t>
            </a:r>
          </a:p>
          <a:p>
            <a:r>
              <a:rPr lang="en-US" sz="1200" b="0" i="0" u="none" strike="noStrike" cap="none">
                <a:solidFill>
                  <a:schemeClr val="dk1"/>
                </a:solidFill>
                <a:effectLst/>
                <a:latin typeface="Calibri"/>
                <a:ea typeface="Calibri"/>
                <a:cs typeface="Calibri"/>
                <a:sym typeface="Calibri"/>
              </a:rPr>
              <a:t>import { BookAPIService } from '../services/book-apiservice';</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'app-book-update-component',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'./book-update-component.html',</a:t>
            </a:r>
          </a:p>
          <a:p>
            <a:r>
              <a:rPr lang="en-US" sz="1200" b="0" i="0" u="none" strike="noStrike" cap="none">
                <a:solidFill>
                  <a:schemeClr val="dk1"/>
                </a:solidFill>
                <a:effectLst/>
                <a:latin typeface="Calibri"/>
                <a:ea typeface="Calibri"/>
                <a:cs typeface="Calibri"/>
                <a:sym typeface="Calibri"/>
              </a:rPr>
              <a:t>  styleUrl: './book-update-component.css',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BookUpdateComponent {</a:t>
            </a:r>
          </a:p>
          <a:p>
            <a:r>
              <a:rPr lang="en-US" sz="1200" b="0" i="0" u="none" strike="noStrike" cap="none">
                <a:solidFill>
                  <a:schemeClr val="dk1"/>
                </a:solidFill>
                <a:effectLst/>
                <a:latin typeface="Calibri"/>
                <a:ea typeface="Calibri"/>
                <a:cs typeface="Calibri"/>
                <a:sym typeface="Calibri"/>
              </a:rPr>
              <a:t>  book=new Book();</a:t>
            </a:r>
          </a:p>
          <a:p>
            <a:r>
              <a:rPr lang="en-US" sz="1200" b="0" i="0" u="none" strike="noStrike" cap="none">
                <a:solidFill>
                  <a:schemeClr val="dk1"/>
                </a:solidFill>
                <a:effectLst/>
                <a:latin typeface="Calibri"/>
                <a:ea typeface="Calibri"/>
                <a:cs typeface="Calibri"/>
                <a:sym typeface="Calibri"/>
              </a:rPr>
              <a:t>  books=signal&lt;IBook[]&gt;([])</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server_images_link="http://localhost:3000/images/"</a:t>
            </a:r>
          </a:p>
          <a:p>
            <a:r>
              <a:rPr lang="en-US" sz="1200" b="0" i="0" u="none" strike="noStrike" cap="none">
                <a:solidFill>
                  <a:schemeClr val="dk1"/>
                </a:solidFill>
                <a:effectLst/>
                <a:latin typeface="Calibri"/>
                <a:ea typeface="Calibri"/>
                <a:cs typeface="Calibri"/>
                <a:sym typeface="Calibri"/>
              </a:rPr>
              <a:t>  constructor(private _service: BookAPIService,private _cdr: ChangeDetectorRef){</a:t>
            </a:r>
          </a:p>
          <a:p>
            <a:r>
              <a:rPr lang="en-US" sz="1200" b="0" i="0" u="none" strike="noStrike" cap="none">
                <a:solidFill>
                  <a:schemeClr val="dk1"/>
                </a:solidFill>
                <a:effectLst/>
                <a:latin typeface="Calibri"/>
                <a:ea typeface="Calibri"/>
                <a:cs typeface="Calibri"/>
                <a:sym typeface="Calibri"/>
              </a:rPr>
              <a:t>    this._service.getBooks().subscribe({</a:t>
            </a:r>
          </a:p>
          <a:p>
            <a:r>
              <a:rPr lang="en-US" sz="1200" b="0" i="0" u="none" strike="noStrike" cap="none">
                <a:solidFill>
                  <a:schemeClr val="dk1"/>
                </a:solidFill>
                <a:effectLst/>
                <a:latin typeface="Calibri"/>
                <a:ea typeface="Calibri"/>
                <a:cs typeface="Calibri"/>
                <a:sym typeface="Calibri"/>
              </a:rPr>
              <a:t>      next:(data)=&gt;{this.books.set(data)},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Function to handle row click</a:t>
            </a:r>
          </a:p>
          <a:p>
            <a:r>
              <a:rPr lang="en-US" sz="1200" b="0" i="0" u="none" strike="noStrike" cap="none">
                <a:solidFill>
                  <a:schemeClr val="dk1"/>
                </a:solidFill>
                <a:effectLst/>
                <a:latin typeface="Calibri"/>
                <a:ea typeface="Calibri"/>
                <a:cs typeface="Calibri"/>
                <a:sym typeface="Calibri"/>
              </a:rPr>
              <a:t>  selectBook(bookId: string) {</a:t>
            </a:r>
          </a:p>
          <a:p>
            <a:r>
              <a:rPr lang="en-US" sz="1200" b="0" i="0" u="none" strike="noStrike" cap="none">
                <a:solidFill>
                  <a:schemeClr val="dk1"/>
                </a:solidFill>
                <a:effectLst/>
                <a:latin typeface="Calibri"/>
                <a:ea typeface="Calibri"/>
                <a:cs typeface="Calibri"/>
                <a:sym typeface="Calibri"/>
              </a:rPr>
              <a:t>    this._service.getBook(bookId).subscribe({</a:t>
            </a:r>
          </a:p>
          <a:p>
            <a:r>
              <a:rPr lang="en-US" sz="1200" b="0" i="0" u="none" strike="noStrike" cap="none">
                <a:solidFill>
                  <a:schemeClr val="dk1"/>
                </a:solidFill>
                <a:effectLst/>
                <a:latin typeface="Calibri"/>
                <a:ea typeface="Calibri"/>
                <a:cs typeface="Calibri"/>
                <a:sym typeface="Calibri"/>
              </a:rPr>
              <a:t>      next: (data) =&gt; {</a:t>
            </a:r>
          </a:p>
          <a:p>
            <a:r>
              <a:rPr lang="en-US" sz="1200" b="0" i="0" u="none" strike="noStrike" cap="none">
                <a:solidFill>
                  <a:schemeClr val="dk1"/>
                </a:solidFill>
                <a:effectLst/>
                <a:latin typeface="Calibri"/>
                <a:ea typeface="Calibri"/>
                <a:cs typeface="Calibri"/>
                <a:sym typeface="Calibri"/>
              </a:rPr>
              <a:t>        // Assign the returned data to the current book object on the form.</a:t>
            </a:r>
          </a:p>
          <a:p>
            <a:r>
              <a:rPr lang="en-US" sz="1200" b="0" i="0" u="none" strike="noStrike" cap="none">
                <a:solidFill>
                  <a:schemeClr val="dk1"/>
                </a:solidFill>
                <a:effectLst/>
                <a:latin typeface="Calibri"/>
                <a:ea typeface="Calibri"/>
                <a:cs typeface="Calibri"/>
                <a:sym typeface="Calibri"/>
              </a:rPr>
              <a:t>        //this.book.BookId= data.BookId</a:t>
            </a:r>
          </a:p>
          <a:p>
            <a:r>
              <a:rPr lang="en-US" sz="1200" b="0" i="0" u="none" strike="noStrike" cap="none">
                <a:solidFill>
                  <a:schemeClr val="dk1"/>
                </a:solidFill>
                <a:effectLst/>
                <a:latin typeface="Calibri"/>
                <a:ea typeface="Calibri"/>
                <a:cs typeface="Calibri"/>
                <a:sym typeface="Calibri"/>
              </a:rPr>
              <a:t>        this.book=data</a:t>
            </a:r>
          </a:p>
          <a:p>
            <a:r>
              <a:rPr lang="en-US" sz="1200" b="0" i="0" u="none" strike="noStrike" cap="none">
                <a:solidFill>
                  <a:schemeClr val="dk1"/>
                </a:solidFill>
                <a:effectLst/>
                <a:latin typeface="Calibri"/>
                <a:ea typeface="Calibri"/>
                <a:cs typeface="Calibri"/>
                <a:sym typeface="Calibri"/>
              </a:rPr>
              <a:t>        this._cdr.detectChanges();</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error: (err) =&gt; {</a:t>
            </a:r>
          </a:p>
          <a:p>
            <a:r>
              <a:rPr lang="en-US" sz="1200" b="0" i="0" u="none" strike="noStrike" cap="none">
                <a:solidFill>
                  <a:schemeClr val="dk1"/>
                </a:solidFill>
                <a:effectLst/>
                <a:latin typeface="Calibri"/>
                <a:ea typeface="Calibri"/>
                <a:cs typeface="Calibri"/>
                <a:sym typeface="Calibri"/>
              </a:rPr>
              <a:t>        this.errMessage.set(err.message);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putBook()</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this._service.putBook(this.book).subscribe({</a:t>
            </a:r>
          </a:p>
          <a:p>
            <a:r>
              <a:rPr lang="en-US" sz="1200" b="0" i="0" u="none" strike="noStrike" cap="none">
                <a:solidFill>
                  <a:schemeClr val="dk1"/>
                </a:solidFill>
                <a:effectLst/>
                <a:latin typeface="Calibri"/>
                <a:ea typeface="Calibri"/>
                <a:cs typeface="Calibri"/>
                <a:sym typeface="Calibri"/>
              </a:rPr>
              <a:t>      next:(data)=&gt;{this.books.set(data)},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Function to handle file selection</a:t>
            </a:r>
          </a:p>
          <a:p>
            <a:r>
              <a:rPr lang="en-US" sz="1200" b="0" i="0" u="none" strike="noStrike" cap="none">
                <a:solidFill>
                  <a:schemeClr val="dk1"/>
                </a:solidFill>
                <a:effectLst/>
                <a:latin typeface="Calibri"/>
                <a:ea typeface="Calibri"/>
                <a:cs typeface="Calibri"/>
                <a:sym typeface="Calibri"/>
              </a:rPr>
              <a:t>  onFileSelected(event: any) {</a:t>
            </a:r>
          </a:p>
          <a:p>
            <a:r>
              <a:rPr lang="en-US" sz="1200" b="0" i="0" u="none" strike="noStrike" cap="none">
                <a:solidFill>
                  <a:schemeClr val="dk1"/>
                </a:solidFill>
                <a:effectLst/>
                <a:latin typeface="Calibri"/>
                <a:ea typeface="Calibri"/>
                <a:cs typeface="Calibri"/>
                <a:sym typeface="Calibri"/>
              </a:rPr>
              <a:t>    // Get the first file selected by the user</a:t>
            </a:r>
          </a:p>
          <a:p>
            <a:r>
              <a:rPr lang="en-US" sz="1200" b="0" i="0" u="none" strike="noStrike" cap="none">
                <a:solidFill>
                  <a:schemeClr val="dk1"/>
                </a:solidFill>
                <a:effectLst/>
                <a:latin typeface="Calibri"/>
                <a:ea typeface="Calibri"/>
                <a:cs typeface="Calibri"/>
                <a:sym typeface="Calibri"/>
              </a:rPr>
              <a:t>    const file: File = event.target.files[0];</a:t>
            </a:r>
          </a:p>
          <a:p>
            <a:r>
              <a:rPr lang="en-US" sz="1200" b="0" i="0" u="none" strike="noStrike" cap="none">
                <a:solidFill>
                  <a:schemeClr val="dk1"/>
                </a:solidFill>
                <a:effectLst/>
                <a:latin typeface="Calibri"/>
                <a:ea typeface="Calibri"/>
                <a:cs typeface="Calibri"/>
                <a:sym typeface="Calibri"/>
              </a:rPr>
              <a:t>    if (file) {</a:t>
            </a:r>
          </a:p>
          <a:p>
            <a:r>
              <a:rPr lang="en-US" sz="1200" b="0" i="0" u="none" strike="noStrike" cap="none">
                <a:solidFill>
                  <a:schemeClr val="dk1"/>
                </a:solidFill>
                <a:effectLst/>
                <a:latin typeface="Calibri"/>
                <a:ea typeface="Calibri"/>
                <a:cs typeface="Calibri"/>
                <a:sym typeface="Calibri"/>
              </a:rPr>
              <a:t>      // 1. Assign the original file name to the Image property</a:t>
            </a:r>
          </a:p>
          <a:p>
            <a:r>
              <a:rPr lang="en-US" sz="1200" b="0" i="0" u="none" strike="noStrike" cap="none">
                <a:solidFill>
                  <a:schemeClr val="dk1"/>
                </a:solidFill>
                <a:effectLst/>
                <a:latin typeface="Calibri"/>
                <a:ea typeface="Calibri"/>
                <a:cs typeface="Calibri"/>
                <a:sym typeface="Calibri"/>
              </a:rPr>
              <a:t>      // (for saving the name to the DB)</a:t>
            </a:r>
          </a:p>
          <a:p>
            <a:r>
              <a:rPr lang="en-US" sz="1200" b="0" i="0" u="none" strike="noStrike" cap="none">
                <a:solidFill>
                  <a:schemeClr val="dk1"/>
                </a:solidFill>
                <a:effectLst/>
                <a:latin typeface="Calibri"/>
                <a:ea typeface="Calibri"/>
                <a:cs typeface="Calibri"/>
                <a:sym typeface="Calibri"/>
              </a:rPr>
              <a:t>      this.book.Image = file.name;</a:t>
            </a:r>
          </a:p>
          <a:p>
            <a:r>
              <a:rPr lang="en-US" sz="1200" b="0" i="0" u="none" strike="noStrike" cap="none">
                <a:solidFill>
                  <a:schemeClr val="dk1"/>
                </a:solidFill>
                <a:effectLst/>
                <a:latin typeface="Calibri"/>
                <a:ea typeface="Calibri"/>
                <a:cs typeface="Calibri"/>
                <a:sym typeface="Calibri"/>
              </a:rPr>
              <a:t>      // 2. Initialize the FileReader object to read the file</a:t>
            </a:r>
          </a:p>
          <a:p>
            <a:r>
              <a:rPr lang="en-US" sz="1200" b="0" i="0" u="none" strike="noStrike" cap="none">
                <a:solidFill>
                  <a:schemeClr val="dk1"/>
                </a:solidFill>
                <a:effectLst/>
                <a:latin typeface="Calibri"/>
                <a:ea typeface="Calibri"/>
                <a:cs typeface="Calibri"/>
                <a:sym typeface="Calibri"/>
              </a:rPr>
              <a:t>      const reader = new FileReader();</a:t>
            </a:r>
          </a:p>
          <a:p>
            <a:r>
              <a:rPr lang="en-US" sz="1200" b="0" i="0" u="none" strike="noStrike" cap="none">
                <a:solidFill>
                  <a:schemeClr val="dk1"/>
                </a:solidFill>
                <a:effectLst/>
                <a:latin typeface="Calibri"/>
                <a:ea typeface="Calibri"/>
                <a:cs typeface="Calibri"/>
                <a:sym typeface="Calibri"/>
              </a:rPr>
              <a:t>      // 3. Define the action to be performed AFTER reading the file is complete</a:t>
            </a:r>
          </a:p>
          <a:p>
            <a:r>
              <a:rPr lang="en-US" sz="1200" b="0" i="0" u="none" strike="noStrike" cap="none">
                <a:solidFill>
                  <a:schemeClr val="dk1"/>
                </a:solidFill>
                <a:effectLst/>
                <a:latin typeface="Calibri"/>
                <a:ea typeface="Calibri"/>
                <a:cs typeface="Calibri"/>
                <a:sym typeface="Calibri"/>
              </a:rPr>
              <a:t>      reader.onload = (e: any) =&gt; {</a:t>
            </a:r>
          </a:p>
          <a:p>
            <a:r>
              <a:rPr lang="en-US" sz="1200" b="0" i="0" u="none" strike="noStrike" cap="none">
                <a:solidFill>
                  <a:schemeClr val="dk1"/>
                </a:solidFill>
                <a:effectLst/>
                <a:latin typeface="Calibri"/>
                <a:ea typeface="Calibri"/>
                <a:cs typeface="Calibri"/>
                <a:sym typeface="Calibri"/>
              </a:rPr>
              <a:t>        // The read result (e.target.result) is the Base64 string (Data URL)</a:t>
            </a:r>
          </a:p>
          <a:p>
            <a:r>
              <a:rPr lang="en-US" sz="1200" b="0" i="0" u="none" strike="noStrike" cap="none">
                <a:solidFill>
                  <a:schemeClr val="dk1"/>
                </a:solidFill>
                <a:effectLst/>
                <a:latin typeface="Calibri"/>
                <a:ea typeface="Calibri"/>
                <a:cs typeface="Calibri"/>
                <a:sym typeface="Calibri"/>
              </a:rPr>
              <a:t>        this.book.ImageBase64 = e.target.result;</a:t>
            </a:r>
          </a:p>
          <a:p>
            <a:r>
              <a:rPr lang="en-US" sz="1200" b="0" i="0" u="none" strike="noStrike" cap="none">
                <a:solidFill>
                  <a:schemeClr val="dk1"/>
                </a:solidFill>
                <a:effectLst/>
                <a:latin typeface="Calibri"/>
                <a:ea typeface="Calibri"/>
                <a:cs typeface="Calibri"/>
                <a:sym typeface="Calibri"/>
              </a:rPr>
              <a:t>        // console.log("Base64 string:", this.book.ImageBase64);</a:t>
            </a:r>
          </a:p>
          <a:p>
            <a:r>
              <a:rPr lang="en-US" sz="1200" b="0" i="0" u="none" strike="noStrike" cap="none">
                <a:solidFill>
                  <a:schemeClr val="dk1"/>
                </a:solidFill>
                <a:effectLst/>
                <a:latin typeface="Calibri"/>
                <a:ea typeface="Calibri"/>
                <a:cs typeface="Calibri"/>
                <a:sym typeface="Calibri"/>
              </a:rPr>
              <a:t>        //alert(this.book.ImageBase64)</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4. Execute the command to read the file as a Base64 string (Data URL)</a:t>
            </a:r>
          </a:p>
          <a:p>
            <a:r>
              <a:rPr lang="en-US" sz="1200" b="0" i="0" u="none" strike="noStrike" cap="none">
                <a:solidFill>
                  <a:schemeClr val="dk1"/>
                </a:solidFill>
                <a:effectLst/>
                <a:latin typeface="Calibri"/>
                <a:ea typeface="Calibri"/>
                <a:cs typeface="Calibri"/>
                <a:sym typeface="Calibri"/>
              </a:rPr>
              <a:t>      reader.readAsDataURL(file);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415A586-9F5A-ACC0-00D0-FBA980E37F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778073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F7FBEA4-4918-F6BE-CBF1-0AF0F8F55FA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8AE6223-35D5-D1AF-2B28-1F723EF0BA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7AA6611-E154-5932-280A-AE17E27C62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76163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ADC6985-466B-F44C-A40C-5D528FF28F9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B322F5C-CC1C-D3C5-1483-940DFDE245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FCBBBA9-3ADD-036E-7F36-01EF74326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129448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DC9E656-94B1-4418-22B8-48899945B8A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3941EE3-549F-6DD3-D108-0665DEA44B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&lt;p&gt;{{errMessage()}}&lt;/p&gt;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 Id:&lt;/td&gt;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 name="BookId" id="BookId"</a:t>
            </a:r>
          </a:p>
          <a:p>
            <a:r>
              <a:rPr lang="en-US" sz="1200" b="0" i="0" u="none" strike="noStrike" cap="none">
                <a:solidFill>
                  <a:schemeClr val="dk1"/>
                </a:solidFill>
                <a:effectLst/>
                <a:latin typeface="Calibri"/>
                <a:ea typeface="Calibri"/>
                <a:cs typeface="Calibri"/>
                <a:sym typeface="Calibri"/>
              </a:rPr>
              <a:t>            placeholder="Enter Book Id" [(ngModel)]="book.BookId"/&gt;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 Name:&lt;/td&gt;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 name="BookName" id="BookName"</a:t>
            </a:r>
          </a:p>
          <a:p>
            <a:r>
              <a:rPr lang="en-US" sz="1200" b="0" i="0" u="none" strike="noStrike" cap="none">
                <a:solidFill>
                  <a:schemeClr val="dk1"/>
                </a:solidFill>
                <a:effectLst/>
                <a:latin typeface="Calibri"/>
                <a:ea typeface="Calibri"/>
                <a:cs typeface="Calibri"/>
                <a:sym typeface="Calibri"/>
              </a:rPr>
              <a:t>            placeholder="Enter Book Name" [(ngModel)]="book.BookName"/&gt;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type="text" class="form-control" #name="ngModel" name="BookPrice" id="BookPrice"</a:t>
            </a:r>
          </a:p>
          <a:p>
            <a:r>
              <a:rPr lang="en-US" sz="1200" b="0" i="0" u="none" strike="noStrike" cap="none">
                <a:solidFill>
                  <a:schemeClr val="dk1"/>
                </a:solidFill>
                <a:effectLst/>
                <a:latin typeface="Calibri"/>
                <a:ea typeface="Calibri"/>
                <a:cs typeface="Calibri"/>
                <a:sym typeface="Calibri"/>
              </a:rPr>
              <a:t>            placeholder="Enter Price" [(ngModel)]="book.Price"/&gt;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&lt;input type="file" class="form-control" name="Image" id="Image" placeholder="Pick image"</a:t>
            </a:r>
          </a:p>
          <a:p>
            <a:r>
              <a:rPr lang="en-US" sz="1200" b="0" i="0" u="none" strike="noStrike" cap="none">
                <a:solidFill>
                  <a:schemeClr val="dk1"/>
                </a:solidFill>
                <a:effectLst/>
                <a:latin typeface="Calibri"/>
                <a:ea typeface="Calibri"/>
                <a:cs typeface="Calibri"/>
                <a:sym typeface="Calibri"/>
              </a:rPr>
              <a:t>            (change)="onFileSelected($event)"/&gt;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colspan="2"&gt;</a:t>
            </a:r>
          </a:p>
          <a:p>
            <a:r>
              <a:rPr lang="en-US" sz="1200" b="0" i="0" u="none" strike="noStrike" cap="none">
                <a:solidFill>
                  <a:schemeClr val="dk1"/>
                </a:solidFill>
                <a:effectLst/>
                <a:latin typeface="Calibri"/>
                <a:ea typeface="Calibri"/>
                <a:cs typeface="Calibri"/>
                <a:sym typeface="Calibri"/>
              </a:rPr>
              <a:t>            &lt;button (click)="putBook()"&gt;Submit Update&lt;/button&gt;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&lt;/table&gt;</a:t>
            </a:r>
          </a:p>
          <a:p>
            <a:r>
              <a:rPr lang="en-US" sz="1200" b="0" i="0" u="none" strike="noStrike" cap="none">
                <a:solidFill>
                  <a:schemeClr val="dk1"/>
                </a:solidFill>
                <a:effectLst/>
                <a:latin typeface="Calibri"/>
                <a:ea typeface="Calibri"/>
                <a:cs typeface="Calibri"/>
                <a:sym typeface="Calibri"/>
              </a:rPr>
              <a:t>&lt;table border="1"&gt;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&lt;td&gt;BookId&lt;/td&gt;</a:t>
            </a:r>
          </a:p>
          <a:p>
            <a:r>
              <a:rPr lang="en-US" sz="1200" b="0" i="0" u="none" strike="noStrike" cap="none">
                <a:solidFill>
                  <a:schemeClr val="dk1"/>
                </a:solidFill>
                <a:effectLst/>
                <a:latin typeface="Calibri"/>
                <a:ea typeface="Calibri"/>
                <a:cs typeface="Calibri"/>
                <a:sym typeface="Calibri"/>
              </a:rPr>
              <a:t>        &lt;td&gt;BookName&lt;/td&gt;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        @for (book of books();track book.BookId){</a:t>
            </a:r>
          </a:p>
          <a:p>
            <a:r>
              <a:rPr lang="en-US" sz="1200" b="0" i="0" u="none" strike="noStrike" cap="none">
                <a:solidFill>
                  <a:schemeClr val="dk1"/>
                </a:solidFill>
                <a:effectLst/>
                <a:latin typeface="Calibri"/>
                <a:ea typeface="Calibri"/>
                <a:cs typeface="Calibri"/>
                <a:sym typeface="Calibri"/>
              </a:rPr>
              <a:t>        &lt;tr (click)="selectBook(book.BookId)" style="cursor: pointer;"&gt;</a:t>
            </a:r>
          </a:p>
          <a:p>
            <a:r>
              <a:rPr lang="en-US" sz="1200" b="0" i="0" u="none" strike="noStrike" cap="none">
                <a:solidFill>
                  <a:schemeClr val="dk1"/>
                </a:solidFill>
                <a:effectLst/>
                <a:latin typeface="Calibri"/>
                <a:ea typeface="Calibri"/>
                <a:cs typeface="Calibri"/>
                <a:sym typeface="Calibri"/>
              </a:rPr>
              <a:t>            &lt;td&gt;{{book.BookId}}&lt;/td&gt;</a:t>
            </a:r>
          </a:p>
          <a:p>
            <a:r>
              <a:rPr lang="en-US" sz="1200" b="0" i="0" u="none" strike="noStrike" cap="none">
                <a:solidFill>
                  <a:schemeClr val="dk1"/>
                </a:solidFill>
                <a:effectLst/>
                <a:latin typeface="Calibri"/>
                <a:ea typeface="Calibri"/>
                <a:cs typeface="Calibri"/>
                <a:sym typeface="Calibri"/>
              </a:rPr>
              <a:t>            &lt;td&gt;{{book.BookName}}&lt;/td&gt;</a:t>
            </a:r>
          </a:p>
          <a:p>
            <a:r>
              <a:rPr lang="en-US" sz="1200" b="0" i="0" u="none" strike="noStrike" cap="none">
                <a:solidFill>
                  <a:schemeClr val="dk1"/>
                </a:solidFill>
                <a:effectLst/>
                <a:latin typeface="Calibri"/>
                <a:ea typeface="Calibri"/>
                <a:cs typeface="Calibri"/>
                <a:sym typeface="Calibri"/>
              </a:rPr>
              <a:t>            &lt;td&gt;{{book.Price}}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&lt;img src="{{server_images_link}}/{{book.Image}}" width="50px" height="50px"&gt;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}@empty{</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colspan="4"&gt;Not found books&lt;/td&gt;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9141E14-F822-1CD6-F4D1-0A68F1D03D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14222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028FE4C-E4A1-B944-6626-7710AF87D0B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E61E45E-D3DE-47B4-58A5-2FD5138D2F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40E80A2-976C-F4D1-0A22-FB0E3D5358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962416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BBD6EE7-933F-B29E-4714-EB703EC3582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4AF1EC7-D0B2-1552-7897-BC3591C14E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C20287A-504C-D08B-454A-4E188499D2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635667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55ADA0-4027-AEDD-47F2-040674C0DD0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9884DC-CB47-A18D-9BA0-3B2583E309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26A664B-EC77-C5BF-3EFB-9E8D7923F3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341500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6C91C19-DDEE-59BA-A7D0-F913BAD2E70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6D8733C-6E6E-1BA8-D1C0-28A8421F00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73D55EB-3D29-581A-D60C-7493D4D7D7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338271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CD54433-AAB4-FDC8-7787-96C58DF23C9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3637811-2078-762A-586C-1A46B56FE9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AD748A4-31C6-D641-65A6-AF654D7704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584174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D4C255-DE56-98C2-E245-465B56F26AD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EAA965F-25EE-A7A2-744D-664F5BEB05D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936C7F0-0828-5AC6-83B9-72D3D2EFAB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616067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FD6AF7F-3E62-ABF7-A182-AA2168F71E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0D0AFCB-341A-8E47-5F3C-0A0CE118CD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E35CE27-EBE8-D754-1611-23EDC061CF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413429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855BCC9-D204-6B7A-6B08-CE2DCD9472D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24F10D-26F6-17A0-985F-0E130ABE5D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AA3096F-9AC1-D7DE-687D-408DF2A377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733297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A4C4169-429B-1BD7-8366-5C43665DD65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21BA3C9-C369-A54D-6691-EADD85CA221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BCD4B77-714A-51E5-3018-BC635C327C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95225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F23F0DF-12D5-C604-8971-DC0022C677C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5F27C6B-5694-2AE3-F91B-A3568FF3C5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HttpClient, HttpErrorResponse, HttpHeaders } from '@angular/common/http';</a:t>
            </a:r>
          </a:p>
          <a:p>
            <a:r>
              <a:rPr lang="en-US" sz="1200" b="0" i="0" u="none" strike="noStrike" cap="none">
                <a:solidFill>
                  <a:schemeClr val="dk1"/>
                </a:solidFill>
                <a:effectLst/>
                <a:latin typeface="Calibri"/>
                <a:ea typeface="Calibri"/>
                <a:cs typeface="Calibri"/>
                <a:sym typeface="Calibri"/>
              </a:rPr>
              <a:t>import { Injectable } from '@angular/core';</a:t>
            </a:r>
          </a:p>
          <a:p>
            <a:r>
              <a:rPr lang="en-US" sz="1200" b="0" i="0" u="none" strike="noStrike" cap="none">
                <a:solidFill>
                  <a:schemeClr val="dk1"/>
                </a:solidFill>
                <a:effectLst/>
                <a:latin typeface="Calibri"/>
                <a:ea typeface="Calibri"/>
                <a:cs typeface="Calibri"/>
                <a:sym typeface="Calibri"/>
              </a:rPr>
              <a:t>import { catchError, map, Observable, retry, throwError } from 'rxjs';</a:t>
            </a:r>
          </a:p>
          <a:p>
            <a:r>
              <a:rPr lang="en-US" sz="1200" b="0" i="0" u="none" strike="noStrike" cap="none">
                <a:solidFill>
                  <a:schemeClr val="dk1"/>
                </a:solidFill>
                <a:effectLst/>
                <a:latin typeface="Calibri"/>
                <a:ea typeface="Calibri"/>
                <a:cs typeface="Calibri"/>
                <a:sym typeface="Calibri"/>
              </a:rPr>
              <a:t>import { IBook } from '../classes/Book';</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@Injectable({</a:t>
            </a:r>
          </a:p>
          <a:p>
            <a:r>
              <a:rPr lang="en-US" sz="1200" b="0" i="0" u="none" strike="noStrike" cap="none">
                <a:solidFill>
                  <a:schemeClr val="dk1"/>
                </a:solidFill>
                <a:effectLst/>
                <a:latin typeface="Calibri"/>
                <a:ea typeface="Calibri"/>
                <a:cs typeface="Calibri"/>
                <a:sym typeface="Calibri"/>
              </a:rPr>
              <a:t>  providedIn: 'root',</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BookAPIService {</a:t>
            </a:r>
          </a:p>
          <a:p>
            <a:r>
              <a:rPr lang="en-US" sz="1200" b="0" i="0" u="none" strike="noStrike" cap="none">
                <a:solidFill>
                  <a:schemeClr val="dk1"/>
                </a:solidFill>
                <a:effectLst/>
                <a:latin typeface="Calibri"/>
                <a:ea typeface="Calibri"/>
                <a:cs typeface="Calibri"/>
                <a:sym typeface="Calibri"/>
              </a:rPr>
              <a:t>  constructor(private _http: HttpClient) { }</a:t>
            </a:r>
          </a:p>
          <a:p>
            <a:r>
              <a:rPr lang="en-US" sz="1200" b="0" i="0" u="none" strike="noStrike" cap="none">
                <a:solidFill>
                  <a:schemeClr val="dk1"/>
                </a:solidFill>
                <a:effectLst/>
                <a:latin typeface="Calibri"/>
                <a:ea typeface="Calibri"/>
                <a:cs typeface="Calibri"/>
                <a:sym typeface="Calibri"/>
              </a:rPr>
              <a:t>  getBooks():Observable&lt;any&gt;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HttpHeaders().set("Content-Type","text/plain;charset=utf-8")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this._http.get&lt;any&gt;("/books",requestOptions).pipe(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handleError(error:HttpErrorResponse){</a:t>
            </a:r>
          </a:p>
          <a:p>
            <a:r>
              <a:rPr lang="en-US" sz="1200" b="0" i="0" u="none" strike="noStrike" cap="none">
                <a:solidFill>
                  <a:schemeClr val="dk1"/>
                </a:solidFill>
                <a:effectLst/>
                <a:latin typeface="Calibri"/>
                <a:ea typeface="Calibri"/>
                <a:cs typeface="Calibri"/>
                <a:sym typeface="Calibri"/>
              </a:rPr>
              <a:t>    return throwError(()=&gt;new Error(error.message))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getBook(bookId:string):Observable&lt;any&gt;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HttpHeaders().set("Content-Type","text/plain;charset=utf-8")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this._http.get&lt;any&gt;("/books/"+bookId,requestOptions).pipe(</a:t>
            </a:r>
          </a:p>
          <a:p>
            <a:r>
              <a:rPr lang="en-US" sz="1200" b="0" i="0" u="none" strike="noStrike" cap="none">
                <a:solidFill>
                  <a:schemeClr val="dk1"/>
                </a:solidFill>
                <a:effectLst/>
                <a:latin typeface="Calibri"/>
                <a:ea typeface="Calibri"/>
                <a:cs typeface="Calibri"/>
                <a:sym typeface="Calibri"/>
              </a:rPr>
              <a:t>        map(res=&gt;JSON.parse(res) as IBook),</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getBooksByPriceRange(min: number, max: number): Observable&lt;any&gt; {</a:t>
            </a:r>
          </a:p>
          <a:p>
            <a:r>
              <a:rPr lang="en-US" sz="1200" b="0" i="0" u="none" strike="noStrike" cap="none">
                <a:solidFill>
                  <a:schemeClr val="dk1"/>
                </a:solidFill>
                <a:effectLst/>
                <a:latin typeface="Calibri"/>
                <a:ea typeface="Calibri"/>
                <a:cs typeface="Calibri"/>
                <a:sym typeface="Calibri"/>
              </a:rPr>
              <a:t>    // Xây dựng URL có chứa Query String</a:t>
            </a:r>
          </a:p>
          <a:p>
            <a:r>
              <a:rPr lang="en-US" sz="1200" b="0" i="0" u="none" strike="noStrike" cap="none">
                <a:solidFill>
                  <a:schemeClr val="dk1"/>
                </a:solidFill>
                <a:effectLst/>
                <a:latin typeface="Calibri"/>
                <a:ea typeface="Calibri"/>
                <a:cs typeface="Calibri"/>
                <a:sym typeface="Calibri"/>
              </a:rPr>
              <a:t>    // Kết quả: /books/filter/price?min=250&amp;max=300</a:t>
            </a:r>
          </a:p>
          <a:p>
            <a:r>
              <a:rPr lang="en-US" sz="1200" b="0" i="0" u="none" strike="noStrike" cap="none">
                <a:solidFill>
                  <a:schemeClr val="dk1"/>
                </a:solidFill>
                <a:effectLst/>
                <a:latin typeface="Calibri"/>
                <a:ea typeface="Calibri"/>
                <a:cs typeface="Calibri"/>
                <a:sym typeface="Calibri"/>
              </a:rPr>
              <a:t>    const url = `/books/filter/price?min=${min}&amp;max=${max}`;</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    const headers = new HttpHeaders().set("Content-Type", "text/plain; charset=utf-8");</a:t>
            </a:r>
          </a:p>
          <a:p>
            <a:r>
              <a:rPr lang="en-US" sz="1200" b="0" i="0" u="none" strike="noStrike" cap="none">
                <a:solidFill>
                  <a:schemeClr val="dk1"/>
                </a:solidFill>
                <a:effectLst/>
                <a:latin typeface="Calibri"/>
                <a:ea typeface="Calibri"/>
                <a:cs typeface="Calibri"/>
                <a:sym typeface="Calibri"/>
              </a:rPr>
              <a:t>    const requestOptions: Object = {</a:t>
            </a:r>
          </a:p>
          <a:p>
            <a:r>
              <a:rPr lang="en-US" sz="1200" b="0" i="0" u="none" strike="noStrike" cap="none">
                <a:solidFill>
                  <a:schemeClr val="dk1"/>
                </a:solidFill>
                <a:effectLst/>
                <a:latin typeface="Calibri"/>
                <a:ea typeface="Calibri"/>
                <a:cs typeface="Calibri"/>
                <a:sym typeface="Calibri"/>
              </a:rPr>
              <a:t>      headers: headers,</a:t>
            </a:r>
          </a:p>
          <a:p>
            <a:r>
              <a:rPr lang="en-US" sz="1200" b="0" i="0" u="none" strike="noStrike" cap="none">
                <a:solidFill>
                  <a:schemeClr val="dk1"/>
                </a:solidFill>
                <a:effectLst/>
                <a:latin typeface="Calibri"/>
                <a:ea typeface="Calibri"/>
                <a:cs typeface="Calibri"/>
                <a:sym typeface="Calibri"/>
              </a:rPr>
              <a:t>      responseType: "text"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this._http.get&lt;any&gt;(url, requestOptions).pipe(</a:t>
            </a:r>
          </a:p>
          <a:p>
            <a:r>
              <a:rPr lang="en-US" sz="1200" b="0" i="0" u="none" strike="noStrike" cap="none">
                <a:solidFill>
                  <a:schemeClr val="dk1"/>
                </a:solidFill>
                <a:effectLst/>
                <a:latin typeface="Calibri"/>
                <a:ea typeface="Calibri"/>
                <a:cs typeface="Calibri"/>
                <a:sym typeface="Calibri"/>
              </a:rPr>
              <a:t>      map(res =&gt; 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postBook(aBook:any):Observable&lt;any&gt;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HttpHeaders().set("Content-Type","application/json;charset=utf-8")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this._http.post&lt;any&gt;("/books",JSON.stringify(aBook),requestOptions).pipe(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putBook(aBook:any):Observable&lt;any&gt;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HttpHeaders().set("Content-Type","application/json;charset=utf-8")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this._http.put&lt;any&gt;("/books",JSON.stringify(aBook),requestOptions).pipe(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deleteBook(bookId:string):Observable&lt;any&gt;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const headers=new HttpHeaders().set("Content-Type","application/json;charset=utf-8")</a:t>
            </a:r>
          </a:p>
          <a:p>
            <a:r>
              <a:rPr lang="en-US" sz="1200" b="0" i="0" u="none" strike="noStrike" cap="none">
                <a:solidFill>
                  <a:schemeClr val="dk1"/>
                </a:solidFill>
                <a:effectLst/>
                <a:latin typeface="Calibri"/>
                <a:ea typeface="Calibri"/>
                <a:cs typeface="Calibri"/>
                <a:sym typeface="Calibri"/>
              </a:rPr>
              <a:t>    const requestOptions:Object={</a:t>
            </a:r>
          </a:p>
          <a:p>
            <a:r>
              <a:rPr lang="en-US" sz="1200" b="0" i="0" u="none" strike="noStrike" cap="none">
                <a:solidFill>
                  <a:schemeClr val="dk1"/>
                </a:solidFill>
                <a:effectLst/>
                <a:latin typeface="Calibri"/>
                <a:ea typeface="Calibri"/>
                <a:cs typeface="Calibri"/>
                <a:sym typeface="Calibri"/>
              </a:rPr>
              <a:t>      headers:headers,</a:t>
            </a:r>
          </a:p>
          <a:p>
            <a:r>
              <a:rPr lang="en-US" sz="1200" b="0" i="0" u="none" strike="noStrike" cap="none">
                <a:solidFill>
                  <a:schemeClr val="dk1"/>
                </a:solidFill>
                <a:effectLst/>
                <a:latin typeface="Calibri"/>
                <a:ea typeface="Calibri"/>
                <a:cs typeface="Calibri"/>
                <a:sym typeface="Calibri"/>
              </a:rPr>
              <a:t>      responseType:"text"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return this._http.delete&lt;any&gt;("/books/"+bookId,requestOptions).pipe(</a:t>
            </a:r>
          </a:p>
          <a:p>
            <a:r>
              <a:rPr lang="en-US" sz="1200" b="0" i="0" u="none" strike="noStrike" cap="none">
                <a:solidFill>
                  <a:schemeClr val="dk1"/>
                </a:solidFill>
                <a:effectLst/>
                <a:latin typeface="Calibri"/>
                <a:ea typeface="Calibri"/>
                <a:cs typeface="Calibri"/>
                <a:sym typeface="Calibri"/>
              </a:rPr>
              <a:t>        map(res=&gt;JSON.parse(res) as Array&lt;IBook&gt;),</a:t>
            </a:r>
          </a:p>
          <a:p>
            <a:r>
              <a:rPr lang="en-US" sz="1200" b="0" i="0" u="none" strike="noStrike" cap="none">
                <a:solidFill>
                  <a:schemeClr val="dk1"/>
                </a:solidFill>
                <a:effectLst/>
                <a:latin typeface="Calibri"/>
                <a:ea typeface="Calibri"/>
                <a:cs typeface="Calibri"/>
                <a:sym typeface="Calibri"/>
              </a:rPr>
              <a:t>        retry(3),</a:t>
            </a:r>
          </a:p>
          <a:p>
            <a:r>
              <a:rPr lang="en-US" sz="1200" b="0" i="0" u="none" strike="noStrike" cap="none">
                <a:solidFill>
                  <a:schemeClr val="dk1"/>
                </a:solidFill>
                <a:effectLst/>
                <a:latin typeface="Calibri"/>
                <a:ea typeface="Calibri"/>
                <a:cs typeface="Calibri"/>
                <a:sym typeface="Calibri"/>
              </a:rPr>
              <a:t>        catchError(this.handleError))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2A01615-D759-DEF0-05AE-220F1D8C02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40030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FB3DDB6-2E3D-B94F-D5C1-D59A4935B44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CE36CE-CA59-5AD6-62AA-7E3BB5820AA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E58E51F-E97F-D96E-6743-5C5B6AEA40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893899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E712CB1-1B10-4ABA-E9C7-50329A5AFCE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C409150-F26F-9AFF-DF4B-228CCEBE58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347DFAB-7D0D-FF0D-D74E-834AB67B16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76000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716FEB4-3B1F-3B8E-15CD-4ABAB1FF8DD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85DACF3-C5E1-1BB7-6116-9B2CF2CB4EA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IBook } from '../classes/Book';</a:t>
            </a:r>
          </a:p>
          <a:p>
            <a:r>
              <a:rPr lang="en-US" sz="1200" b="0" i="0" u="none" strike="noStrike" cap="none">
                <a:solidFill>
                  <a:schemeClr val="dk1"/>
                </a:solidFill>
                <a:effectLst/>
                <a:latin typeface="Calibri"/>
                <a:ea typeface="Calibri"/>
                <a:cs typeface="Calibri"/>
                <a:sym typeface="Calibri"/>
              </a:rPr>
              <a:t>import { BookAPIService } from '../services/book-apiservice';</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'app-book-delete-component',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'./book-delete-component.html',</a:t>
            </a:r>
          </a:p>
          <a:p>
            <a:r>
              <a:rPr lang="en-US" sz="1200" b="0" i="0" u="none" strike="noStrike" cap="none">
                <a:solidFill>
                  <a:schemeClr val="dk1"/>
                </a:solidFill>
                <a:effectLst/>
                <a:latin typeface="Calibri"/>
                <a:ea typeface="Calibri"/>
                <a:cs typeface="Calibri"/>
                <a:sym typeface="Calibri"/>
              </a:rPr>
              <a:t>  styleUrl: './book-delete-component.css',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BookDeleteComponent {</a:t>
            </a:r>
          </a:p>
          <a:p>
            <a:r>
              <a:rPr lang="en-US" sz="1200" b="0" i="0" u="none" strike="noStrike" cap="none">
                <a:solidFill>
                  <a:schemeClr val="dk1"/>
                </a:solidFill>
                <a:effectLst/>
                <a:latin typeface="Calibri"/>
                <a:ea typeface="Calibri"/>
                <a:cs typeface="Calibri"/>
                <a:sym typeface="Calibri"/>
              </a:rPr>
              <a:t>  books=signal&lt;IBook[]&gt;([]);</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server_images_link="http://localhost:3000/images/"</a:t>
            </a:r>
          </a:p>
          <a:p>
            <a:r>
              <a:rPr lang="en-US" sz="1200" b="0" i="0" u="none" strike="noStrike" cap="none">
                <a:solidFill>
                  <a:schemeClr val="dk1"/>
                </a:solidFill>
                <a:effectLst/>
                <a:latin typeface="Calibri"/>
                <a:ea typeface="Calibri"/>
                <a:cs typeface="Calibri"/>
                <a:sym typeface="Calibri"/>
              </a:rPr>
              <a:t>  constructor(private _service: BookAPIService){</a:t>
            </a:r>
          </a:p>
          <a:p>
            <a:r>
              <a:rPr lang="en-US" sz="1200" b="0" i="0" u="none" strike="noStrike" cap="none">
                <a:solidFill>
                  <a:schemeClr val="dk1"/>
                </a:solidFill>
                <a:effectLst/>
                <a:latin typeface="Calibri"/>
                <a:ea typeface="Calibri"/>
                <a:cs typeface="Calibri"/>
                <a:sym typeface="Calibri"/>
              </a:rPr>
              <a:t>    this._service.getBooks().subscribe({</a:t>
            </a:r>
          </a:p>
          <a:p>
            <a:r>
              <a:rPr lang="en-US" sz="1200" b="0" i="0" u="none" strike="noStrike" cap="none">
                <a:solidFill>
                  <a:schemeClr val="dk1"/>
                </a:solidFill>
                <a:effectLst/>
                <a:latin typeface="Calibri"/>
                <a:ea typeface="Calibri"/>
                <a:cs typeface="Calibri"/>
                <a:sym typeface="Calibri"/>
              </a:rPr>
              <a:t>      next:(data)=&gt;{this.books.set(data)},</a:t>
            </a:r>
          </a:p>
          <a:p>
            <a:r>
              <a:rPr lang="en-US" sz="1200" b="0" i="0" u="none" strike="noStrike" cap="none">
                <a:solidFill>
                  <a:schemeClr val="dk1"/>
                </a:solidFill>
                <a:effectLst/>
                <a:latin typeface="Calibri"/>
                <a:ea typeface="Calibri"/>
                <a:cs typeface="Calibri"/>
                <a:sym typeface="Calibri"/>
              </a:rPr>
              <a:t>      error:(err)=&gt;{this.errMessage.set(err)}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 Function to handle book deletion</a:t>
            </a:r>
          </a:p>
          <a:p>
            <a:r>
              <a:rPr lang="en-US" sz="1200" b="0" i="0" u="none" strike="noStrike" cap="none">
                <a:solidFill>
                  <a:schemeClr val="dk1"/>
                </a:solidFill>
                <a:effectLst/>
                <a:latin typeface="Calibri"/>
                <a:ea typeface="Calibri"/>
                <a:cs typeface="Calibri"/>
                <a:sym typeface="Calibri"/>
              </a:rPr>
              <a:t>  deleteBook(bookId: string) {</a:t>
            </a:r>
          </a:p>
          <a:p>
            <a:r>
              <a:rPr lang="en-US" sz="1200" b="0" i="0" u="none" strike="noStrike" cap="none">
                <a:solidFill>
                  <a:schemeClr val="dk1"/>
                </a:solidFill>
                <a:effectLst/>
                <a:latin typeface="Calibri"/>
                <a:ea typeface="Calibri"/>
                <a:cs typeface="Calibri"/>
                <a:sym typeface="Calibri"/>
              </a:rPr>
              <a:t>    // 1. Show a confirmation dialog to the user</a:t>
            </a:r>
          </a:p>
          <a:p>
            <a:r>
              <a:rPr lang="en-US" sz="1200" b="0" i="0" u="none" strike="noStrike" cap="none">
                <a:solidFill>
                  <a:schemeClr val="dk1"/>
                </a:solidFill>
                <a:effectLst/>
                <a:latin typeface="Calibri"/>
                <a:ea typeface="Calibri"/>
                <a:cs typeface="Calibri"/>
                <a:sym typeface="Calibri"/>
              </a:rPr>
              <a:t>    const isConfirm = window.confirm("Are you sure you want to delete this book?");</a:t>
            </a:r>
          </a:p>
          <a:p>
            <a:r>
              <a:rPr lang="en-US" sz="1200" b="0" i="0" u="none" strike="noStrike" cap="none">
                <a:solidFill>
                  <a:schemeClr val="dk1"/>
                </a:solidFill>
                <a:effectLst/>
                <a:latin typeface="Calibri"/>
                <a:ea typeface="Calibri"/>
                <a:cs typeface="Calibri"/>
                <a:sym typeface="Calibri"/>
              </a:rPr>
              <a:t>    // 2. If the user clicks 'OK', proceed with deletion</a:t>
            </a:r>
          </a:p>
          <a:p>
            <a:r>
              <a:rPr lang="en-US" sz="1200" b="0" i="0" u="none" strike="noStrike" cap="none">
                <a:solidFill>
                  <a:schemeClr val="dk1"/>
                </a:solidFill>
                <a:effectLst/>
                <a:latin typeface="Calibri"/>
                <a:ea typeface="Calibri"/>
                <a:cs typeface="Calibri"/>
                <a:sym typeface="Calibri"/>
              </a:rPr>
              <a:t>    if (isConfirm) {</a:t>
            </a:r>
          </a:p>
          <a:p>
            <a:r>
              <a:rPr lang="en-US" sz="1200" b="0" i="0" u="none" strike="noStrike" cap="none">
                <a:solidFill>
                  <a:schemeClr val="dk1"/>
                </a:solidFill>
                <a:effectLst/>
                <a:latin typeface="Calibri"/>
                <a:ea typeface="Calibri"/>
                <a:cs typeface="Calibri"/>
                <a:sym typeface="Calibri"/>
              </a:rPr>
              <a:t>      this._service.deleteBook(bookId).subscribe({</a:t>
            </a:r>
          </a:p>
          <a:p>
            <a:r>
              <a:rPr lang="en-US" sz="1200" b="0" i="0" u="none" strike="noStrike" cap="none">
                <a:solidFill>
                  <a:schemeClr val="dk1"/>
                </a:solidFill>
                <a:effectLst/>
                <a:latin typeface="Calibri"/>
                <a:ea typeface="Calibri"/>
                <a:cs typeface="Calibri"/>
                <a:sym typeface="Calibri"/>
              </a:rPr>
              <a:t>        next: (data) =&gt; {</a:t>
            </a:r>
          </a:p>
          <a:p>
            <a:r>
              <a:rPr lang="en-US" sz="1200" b="0" i="0" u="none" strike="noStrike" cap="none">
                <a:solidFill>
                  <a:schemeClr val="dk1"/>
                </a:solidFill>
                <a:effectLst/>
                <a:latin typeface="Calibri"/>
                <a:ea typeface="Calibri"/>
                <a:cs typeface="Calibri"/>
                <a:sym typeface="Calibri"/>
              </a:rPr>
              <a:t>          // Update the signal with the new list of books from the server</a:t>
            </a:r>
          </a:p>
          <a:p>
            <a:r>
              <a:rPr lang="en-US" sz="1200" b="0" i="0" u="none" strike="noStrike" cap="none">
                <a:solidFill>
                  <a:schemeClr val="dk1"/>
                </a:solidFill>
                <a:effectLst/>
                <a:latin typeface="Calibri"/>
                <a:ea typeface="Calibri"/>
                <a:cs typeface="Calibri"/>
                <a:sym typeface="Calibri"/>
              </a:rPr>
              <a:t>          this.books.set(data);</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error: (err) =&gt; {</a:t>
            </a:r>
          </a:p>
          <a:p>
            <a:r>
              <a:rPr lang="en-US" sz="1200" b="0" i="0" u="none" strike="noStrike" cap="none">
                <a:solidFill>
                  <a:schemeClr val="dk1"/>
                </a:solidFill>
                <a:effectLst/>
                <a:latin typeface="Calibri"/>
                <a:ea typeface="Calibri"/>
                <a:cs typeface="Calibri"/>
                <a:sym typeface="Calibri"/>
              </a:rPr>
              <a:t>          // Display error message if deletion fails</a:t>
            </a:r>
          </a:p>
          <a:p>
            <a:r>
              <a:rPr lang="en-US" sz="1200" b="0" i="0" u="none" strike="noStrike" cap="none">
                <a:solidFill>
                  <a:schemeClr val="dk1"/>
                </a:solidFill>
                <a:effectLst/>
                <a:latin typeface="Calibri"/>
                <a:ea typeface="Calibri"/>
                <a:cs typeface="Calibri"/>
                <a:sym typeface="Calibri"/>
              </a:rPr>
              <a:t>          this.errMessage.set(err.message);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8083896-901B-5B20-5CB2-0DC93DD2D6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006676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503E2D2-87B3-908E-F4C1-521619D37AB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97DBD37-D3C8-C402-58D6-E90AD622C1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90ECF6C-1251-46F2-F55E-9499C13772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3018176"/>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E473FCC-6A04-9106-9022-3308CE004A4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0FC3031-7139-10A3-5DB4-70795E1E529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{{errMessage()}}</a:t>
            </a:r>
          </a:p>
          <a:p>
            <a:r>
              <a:rPr lang="en-US" sz="1200" b="0" i="0" u="none" strike="noStrike" cap="none">
                <a:solidFill>
                  <a:schemeClr val="dk1"/>
                </a:solidFill>
                <a:effectLst/>
                <a:latin typeface="Calibri"/>
                <a:ea typeface="Calibri"/>
                <a:cs typeface="Calibri"/>
                <a:sym typeface="Calibri"/>
              </a:rPr>
              <a:t>&lt;table border="1"&gt;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&lt;td&gt;BookId&lt;/td&gt;</a:t>
            </a:r>
          </a:p>
          <a:p>
            <a:r>
              <a:rPr lang="en-US" sz="1200" b="0" i="0" u="none" strike="noStrike" cap="none">
                <a:solidFill>
                  <a:schemeClr val="dk1"/>
                </a:solidFill>
                <a:effectLst/>
                <a:latin typeface="Calibri"/>
                <a:ea typeface="Calibri"/>
                <a:cs typeface="Calibri"/>
                <a:sym typeface="Calibri"/>
              </a:rPr>
              <a:t>        &lt;td&gt;BookName&lt;/td&gt;</a:t>
            </a:r>
          </a:p>
          <a:p>
            <a:r>
              <a:rPr lang="en-US" sz="1200" b="0" i="0" u="none" strike="noStrike" cap="none">
                <a:solidFill>
                  <a:schemeClr val="dk1"/>
                </a:solidFill>
                <a:effectLst/>
                <a:latin typeface="Calibri"/>
                <a:ea typeface="Calibri"/>
                <a:cs typeface="Calibri"/>
                <a:sym typeface="Calibri"/>
              </a:rPr>
              <a:t>        &lt;td&gt;Price&lt;/td&gt;</a:t>
            </a:r>
          </a:p>
          <a:p>
            <a:r>
              <a:rPr lang="en-US" sz="1200" b="0" i="0" u="none" strike="noStrike" cap="none">
                <a:solidFill>
                  <a:schemeClr val="dk1"/>
                </a:solidFill>
                <a:effectLst/>
                <a:latin typeface="Calibri"/>
                <a:ea typeface="Calibri"/>
                <a:cs typeface="Calibri"/>
                <a:sym typeface="Calibri"/>
              </a:rPr>
              <a:t>        &lt;td&gt;Image&lt;/td&gt;</a:t>
            </a:r>
          </a:p>
          <a:p>
            <a:r>
              <a:rPr lang="en-US" sz="1200" b="0" i="0" u="none" strike="noStrike" cap="none">
                <a:solidFill>
                  <a:schemeClr val="dk1"/>
                </a:solidFill>
                <a:effectLst/>
                <a:latin typeface="Calibri"/>
                <a:ea typeface="Calibri"/>
                <a:cs typeface="Calibri"/>
                <a:sym typeface="Calibri"/>
              </a:rPr>
              <a:t>        &lt;td&gt;Action&lt;/td&gt;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      @for (book of books();track book.BookId){</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&lt;td&gt;{{book.BookId}}&lt;/td&gt;</a:t>
            </a:r>
          </a:p>
          <a:p>
            <a:r>
              <a:rPr lang="en-US" sz="1200" b="0" i="0" u="none" strike="noStrike" cap="none">
                <a:solidFill>
                  <a:schemeClr val="dk1"/>
                </a:solidFill>
                <a:effectLst/>
                <a:latin typeface="Calibri"/>
                <a:ea typeface="Calibri"/>
                <a:cs typeface="Calibri"/>
                <a:sym typeface="Calibri"/>
              </a:rPr>
              <a:t>            &lt;td&gt;{{book.BookName}}&lt;/td&gt;</a:t>
            </a:r>
          </a:p>
          <a:p>
            <a:r>
              <a:rPr lang="en-US" sz="1200" b="0" i="0" u="none" strike="noStrike" cap="none">
                <a:solidFill>
                  <a:schemeClr val="dk1"/>
                </a:solidFill>
                <a:effectLst/>
                <a:latin typeface="Calibri"/>
                <a:ea typeface="Calibri"/>
                <a:cs typeface="Calibri"/>
                <a:sym typeface="Calibri"/>
              </a:rPr>
              <a:t>            &lt;td&gt;{{book.Price}}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&lt;img src="{{server_images_link}}/{{book.Image}}" width="50px" height="50px"&gt;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&lt;button (click)="deleteBook(book.BookId)"&gt;Delete&lt;/button&gt;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}@empty{</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colspan="5"&gt;Not found books&lt;/td&gt;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3849966-78D6-ED19-823A-D8AECFB3F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980800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432D14-C2D8-E94E-0A82-251EB257DF7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DCDB2AA-9862-02F7-AA8D-3C447424E4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55557DE-870A-A033-C244-8298718A6D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869509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49F88D-BCB3-2A38-1BB2-770FD2F032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7F21402-947F-5D38-A154-A2DA9D3747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a:t>
            </a:r>
          </a:p>
          <a:p>
            <a:r>
              <a:rPr lang="en-US" sz="1200" b="0" i="0" u="none" strike="noStrike" cap="none">
                <a:solidFill>
                  <a:schemeClr val="dk1"/>
                </a:solidFill>
                <a:effectLst/>
                <a:latin typeface="Calibri"/>
                <a:ea typeface="Calibri"/>
                <a:cs typeface="Calibri"/>
                <a:sym typeface="Calibri"/>
              </a:rPr>
              <a:t>  &lt;a routerLink="/products"&gt;Products&lt;/a&gt;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routerLink="/searchproduct"&gt;Search 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routerLink="/fakeproducts"&gt;Fake Products&lt;/a&gt;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routerLink="/samplenested"&gt;Sample Nested&lt;/a&gt;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routerLink="/course-register"&gt;Register Course&lt;/a&gt;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routerLink="/course-reactive-register"&gt;Register Reactive Course&lt;/a&gt;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routerLink="/contacts"&gt;Contacts&lt;/a&gt;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&lt;a routerLink="/login"&gt;Login&lt;/a&gt;</a:t>
            </a:r>
          </a:p>
          <a:p>
            <a:r>
              <a:rPr lang="en-US" sz="1200" b="0" i="0" u="none" strike="noStrike" cap="none">
                <a:solidFill>
                  <a:schemeClr val="dk1"/>
                </a:solidFill>
                <a:effectLst/>
                <a:latin typeface="Calibri"/>
                <a:ea typeface="Calibri"/>
                <a:cs typeface="Calibri"/>
                <a:sym typeface="Calibri"/>
              </a:rPr>
              <a:t>&lt;/p&gt;</a:t>
            </a:r>
          </a:p>
          <a:p>
            <a:r>
              <a:rPr lang="en-US" sz="1200" b="0" i="0" u="none" strike="noStrike" cap="none">
                <a:solidFill>
                  <a:schemeClr val="dk1"/>
                </a:solidFill>
                <a:effectLst/>
                <a:latin typeface="Calibri"/>
                <a:ea typeface="Calibri"/>
                <a:cs typeface="Calibri"/>
                <a:sym typeface="Calibri"/>
              </a:rPr>
              <a:t>&lt;div&gt;</a:t>
            </a:r>
          </a:p>
          <a:p>
            <a:r>
              <a:rPr lang="en-US" sz="1200" b="0" i="0" u="none" strike="noStrike" cap="none">
                <a:solidFill>
                  <a:schemeClr val="dk1"/>
                </a:solidFill>
                <a:effectLst/>
                <a:latin typeface="Calibri"/>
                <a:ea typeface="Calibri"/>
                <a:cs typeface="Calibri"/>
                <a:sym typeface="Calibri"/>
              </a:rPr>
              <a:t>  &lt;p&gt;</a:t>
            </a:r>
          </a:p>
          <a:p>
            <a:r>
              <a:rPr lang="en-US" sz="1200" b="0" i="0" u="none" strike="noStrike" cap="none">
                <a:solidFill>
                  <a:schemeClr val="dk1"/>
                </a:solidFill>
                <a:effectLst/>
                <a:latin typeface="Calibri"/>
                <a:ea typeface="Calibri"/>
                <a:cs typeface="Calibri"/>
                <a:sym typeface="Calibri"/>
              </a:rPr>
              <a:t>    &lt;a routerLink="/book-list"&gt;List Books&lt;/a&gt; |</a:t>
            </a:r>
          </a:p>
          <a:p>
            <a:r>
              <a:rPr lang="en-US" sz="1200" b="0" i="0" u="none" strike="noStrike" cap="none">
                <a:solidFill>
                  <a:schemeClr val="dk1"/>
                </a:solidFill>
                <a:effectLst/>
                <a:latin typeface="Calibri"/>
                <a:ea typeface="Calibri"/>
                <a:cs typeface="Calibri"/>
                <a:sym typeface="Calibri"/>
              </a:rPr>
              <a:t>    &lt;a routerLink="/book-detail"&gt;Book Detail&lt;/a&gt; |</a:t>
            </a:r>
          </a:p>
          <a:p>
            <a:r>
              <a:rPr lang="en-US" sz="1200" b="0" i="0" u="none" strike="noStrike" cap="none">
                <a:solidFill>
                  <a:schemeClr val="dk1"/>
                </a:solidFill>
                <a:effectLst/>
                <a:latin typeface="Calibri"/>
                <a:ea typeface="Calibri"/>
                <a:cs typeface="Calibri"/>
                <a:sym typeface="Calibri"/>
              </a:rPr>
              <a:t>    &lt;a routerLink="/book-new"&gt;Book New&lt;/a&gt; |</a:t>
            </a:r>
          </a:p>
          <a:p>
            <a:r>
              <a:rPr lang="en-US" sz="1200" b="0" i="0" u="none" strike="noStrike" cap="none">
                <a:solidFill>
                  <a:schemeClr val="dk1"/>
                </a:solidFill>
                <a:effectLst/>
                <a:latin typeface="Calibri"/>
                <a:ea typeface="Calibri"/>
                <a:cs typeface="Calibri"/>
                <a:sym typeface="Calibri"/>
              </a:rPr>
              <a:t>    &lt;a routerLink="/book-update"&gt;Book Update&lt;/a&gt;|</a:t>
            </a:r>
          </a:p>
          <a:p>
            <a:r>
              <a:rPr lang="en-US" sz="1200" b="0" i="0" u="none" strike="noStrike" cap="none">
                <a:solidFill>
                  <a:schemeClr val="dk1"/>
                </a:solidFill>
                <a:effectLst/>
                <a:latin typeface="Calibri"/>
                <a:ea typeface="Calibri"/>
                <a:cs typeface="Calibri"/>
                <a:sym typeface="Calibri"/>
              </a:rPr>
              <a:t>    &lt;a routerLink="/book-delete"&gt;Book Delete&lt;/a&gt;|</a:t>
            </a:r>
          </a:p>
          <a:p>
            <a:r>
              <a:rPr lang="en-US" sz="1200" b="0" i="0" u="none" strike="noStrike" cap="none">
                <a:solidFill>
                  <a:schemeClr val="dk1"/>
                </a:solidFill>
                <a:effectLst/>
                <a:latin typeface="Calibri"/>
                <a:ea typeface="Calibri"/>
                <a:cs typeface="Calibri"/>
                <a:sym typeface="Calibri"/>
              </a:rPr>
              <a:t>  &lt;/p&gt;</a:t>
            </a:r>
          </a:p>
          <a:p>
            <a:r>
              <a:rPr lang="en-US" sz="1200" b="0" i="0" u="none" strike="noStrike" cap="none">
                <a:solidFill>
                  <a:schemeClr val="dk1"/>
                </a:solidFill>
                <a:effectLst/>
                <a:latin typeface="Calibri"/>
                <a:ea typeface="Calibri"/>
                <a:cs typeface="Calibri"/>
                <a:sym typeface="Calibri"/>
              </a:rPr>
              <a:t>&lt;/div&gt;</a:t>
            </a:r>
          </a:p>
          <a:p>
            <a:r>
              <a:rPr lang="en-US" sz="1200" b="0" i="0" u="none" strike="noStrike" cap="none">
                <a:solidFill>
                  <a:schemeClr val="dk1"/>
                </a:solidFill>
                <a:effectLst/>
                <a:latin typeface="Calibri"/>
                <a:ea typeface="Calibri"/>
                <a:cs typeface="Calibri"/>
                <a:sym typeface="Calibri"/>
              </a:rPr>
              <a:t>&lt;router-outlet /&gt;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281A272-C9F2-18DD-9F34-CA0B6A843F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4627287"/>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AAC4722-94F4-C299-5C3E-859C2E16BF7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E5B346C-1611-191A-A4EC-D842E84885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582AABC-2D76-8A88-CD44-231299D08F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484703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localhost:4200/book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fakestoreapi.com/product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http://localhost:3000/"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localhost:3000/books"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hyperlink" Target="http://localhost:3000/books"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localhost:3000/images/b1.png"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6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7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localhost:3000/books/b1"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7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8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localhost:3000/books/filter/price?min=250&amp;max=300"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88.xml.rels><?xml version="1.0" encoding="UTF-8" standalone="yes"?>
<Relationships xmlns="http://schemas.openxmlformats.org/package/2006/relationships"><Relationship Id="rId3" Type="http://schemas.openxmlformats.org/officeDocument/2006/relationships/hyperlink" Target="http://localhost:3000/books/filter/price?min=250&amp;max=300" TargetMode="External"/><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89.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9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9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6.xml"/><Relationship Id="rId1" Type="http://schemas.openxmlformats.org/officeDocument/2006/relationships/slideLayout" Target="../slideLayouts/slideLayout2.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11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hyperlink" Target="http://localhost:3000/books/b6" TargetMode="External"/><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161.png"/></Relationships>
</file>

<file path=ppt/slides/_rels/slide130.xml.rels><?xml version="1.0" encoding="UTF-8" standalone="yes"?>
<Relationships xmlns="http://schemas.openxmlformats.org/package/2006/relationships"><Relationship Id="rId3" Type="http://schemas.openxmlformats.org/officeDocument/2006/relationships/hyperlink" Target="http://localhost:3000/books" TargetMode="External"/><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13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33.xml"/><Relationship Id="rId1" Type="http://schemas.openxmlformats.org/officeDocument/2006/relationships/slideLayout" Target="../slideLayouts/slideLayout2.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s>
</file>

<file path=ppt/slides/_rels/slide13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40.xml"/><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VI:</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Phát triển và sử dụng RESTful API </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VI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dirty="0">
                <a:latin typeface="Cambria" panose="02040503050406030204" pitchFamily="18" charset="0"/>
              </a:rPr>
              <a:t>Sau khi hoàn tất Chương 6, sinh viên sẽ nắm vững kiến thức nền tảng về mô hình MVC và cơ chế hoạt động của </a:t>
            </a:r>
            <a:r>
              <a:rPr lang="vi-VN" sz="2400" b="1" dirty="0">
                <a:latin typeface="Cambria" panose="02040503050406030204" pitchFamily="18" charset="0"/>
              </a:rPr>
              <a:t>RESTful API </a:t>
            </a:r>
            <a:r>
              <a:rPr lang="vi-VN" sz="2400" dirty="0">
                <a:latin typeface="Cambria" panose="02040503050406030204" pitchFamily="18" charset="0"/>
              </a:rPr>
              <a:t>trong phát triển ứng dụng hiện đại. Sinh viên có khả năng tự xây dựng hệ thống </a:t>
            </a:r>
            <a:r>
              <a:rPr lang="vi-VN" sz="2400" b="1" dirty="0">
                <a:latin typeface="Cambria" panose="02040503050406030204" pitchFamily="18" charset="0"/>
              </a:rPr>
              <a:t>Backend</a:t>
            </a:r>
            <a:r>
              <a:rPr lang="vi-VN" sz="2400" dirty="0">
                <a:latin typeface="Cambria" panose="02040503050406030204" pitchFamily="18" charset="0"/>
              </a:rPr>
              <a:t> hoàn chỉnh bằng </a:t>
            </a:r>
            <a:r>
              <a:rPr lang="vi-VN" sz="2400" b="1" dirty="0">
                <a:latin typeface="Cambria" panose="02040503050406030204" pitchFamily="18" charset="0"/>
              </a:rPr>
              <a:t>NodeJS</a:t>
            </a:r>
            <a:r>
              <a:rPr lang="vi-VN" sz="2400" dirty="0">
                <a:latin typeface="Cambria" panose="02040503050406030204" pitchFamily="18" charset="0"/>
              </a:rPr>
              <a:t> và </a:t>
            </a:r>
            <a:r>
              <a:rPr lang="vi-VN" sz="2400" b="1" dirty="0">
                <a:latin typeface="Cambria" panose="02040503050406030204" pitchFamily="18" charset="0"/>
              </a:rPr>
              <a:t>ExpressJS</a:t>
            </a:r>
            <a:r>
              <a:rPr lang="vi-VN" sz="2400" dirty="0">
                <a:latin typeface="Cambria" panose="02040503050406030204" pitchFamily="18" charset="0"/>
              </a:rPr>
              <a:t>, biết cách tối ưu hóa quy trình phát triển với các công cụ như Nodemon và Morgan.</a:t>
            </a:r>
          </a:p>
          <a:p>
            <a:pPr marL="0" indent="0" algn="just">
              <a:lnSpc>
                <a:spcPct val="150000"/>
              </a:lnSpc>
              <a:buNone/>
            </a:pPr>
            <a:r>
              <a:rPr lang="en-US" sz="2400" dirty="0">
                <a:latin typeface="Cambria" panose="02040503050406030204" pitchFamily="18" charset="0"/>
              </a:rPr>
              <a:t>Sinh </a:t>
            </a:r>
            <a:r>
              <a:rPr lang="en-US" sz="2400" dirty="0" err="1">
                <a:latin typeface="Cambria" panose="02040503050406030204" pitchFamily="18" charset="0"/>
              </a:rPr>
              <a:t>viên</a:t>
            </a:r>
            <a:r>
              <a:rPr lang="en-US" sz="2400" dirty="0">
                <a:latin typeface="Cambria" panose="02040503050406030204" pitchFamily="18" charset="0"/>
              </a:rPr>
              <a:t> </a:t>
            </a:r>
            <a:r>
              <a:rPr lang="vi-VN" sz="2400" dirty="0">
                <a:latin typeface="Cambria" panose="02040503050406030204" pitchFamily="18" charset="0"/>
              </a:rPr>
              <a:t>thành thạo việc thiết kế và thực thi đầy đủ các thao tác </a:t>
            </a:r>
            <a:r>
              <a:rPr lang="vi-VN" sz="2400" b="1" dirty="0">
                <a:latin typeface="Cambria" panose="02040503050406030204" pitchFamily="18" charset="0"/>
              </a:rPr>
              <a:t>CRUD</a:t>
            </a:r>
            <a:r>
              <a:rPr lang="vi-VN" sz="2400" dirty="0">
                <a:latin typeface="Cambria" panose="02040503050406030204" pitchFamily="18" charset="0"/>
              </a:rPr>
              <a:t> (Create, Read, Update, Delete) tương ứng với các phương thức </a:t>
            </a:r>
            <a:r>
              <a:rPr lang="vi-VN" sz="2400" b="1" dirty="0">
                <a:latin typeface="Cambria" panose="02040503050406030204" pitchFamily="18" charset="0"/>
              </a:rPr>
              <a:t>HTTP</a:t>
            </a:r>
            <a:r>
              <a:rPr lang="vi-VN" sz="2400" dirty="0">
                <a:latin typeface="Cambria" panose="02040503050406030204" pitchFamily="18" charset="0"/>
              </a:rPr>
              <a:t> (GET, POST, PUT, DELETE). Ngoài ra, sinh viên còn làm chủ kỹ năng xử lý tải tập tin, hình ảnh lên máy chủ và biết cách kết nối, triệu gọi các API bên ngoài từ ứng dụng Angular, tạo tiền đề vững chắc cho việc xây dựng các ứng dụng </a:t>
            </a:r>
            <a:r>
              <a:rPr lang="vi-VN" sz="2400" b="1" dirty="0">
                <a:latin typeface="Cambria" panose="02040503050406030204" pitchFamily="18" charset="0"/>
              </a:rPr>
              <a:t>Full-stack</a:t>
            </a:r>
            <a:r>
              <a:rPr lang="vi-VN" sz="2400" dirty="0">
                <a:latin typeface="Cambria" panose="02040503050406030204" pitchFamily="18" charset="0"/>
              </a:rPr>
              <a:t> chuyên nghiệp.</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62279" y="841012"/>
            <a:ext cx="11564547" cy="4524315"/>
          </a:xfrm>
          <a:prstGeom prst="rect">
            <a:avLst/>
          </a:prstGeom>
          <a:noFill/>
        </p:spPr>
        <p:txBody>
          <a:bodyPr wrap="square">
            <a:spAutoFit/>
          </a:bodyPr>
          <a:lstStyle/>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6.1.Giới thiệu MVC pattern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6.2. Giới thiệu Restful API</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6.3. Cách triệu gọi External Restful API trong Angular</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6.4. Cách tạo Restful API với NodeJS + ExpressJS</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6.5. Cài đặt nodemon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6.6. Cài đặt morgan</a:t>
            </a:r>
          </a:p>
          <a:p>
            <a:pPr marL="457200" indent="-457200" algn="just">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6.7. R</a:t>
            </a:r>
            <a:r>
              <a:rPr lang="en-US" sz="2400" b="1" dirty="0">
                <a:latin typeface="Times New Roman" panose="02020603050405020304" pitchFamily="18" charset="0"/>
                <a:cs typeface="Times New Roman" panose="02020603050405020304" pitchFamily="18" charset="0"/>
              </a:rPr>
              <a:t>EST</a:t>
            </a:r>
            <a:r>
              <a:rPr lang="vi-VN" sz="2400" b="1" dirty="0">
                <a:latin typeface="Times New Roman" panose="02020603050405020304" pitchFamily="18" charset="0"/>
                <a:cs typeface="Times New Roman" panose="02020603050405020304" pitchFamily="18" charset="0"/>
              </a:rPr>
              <a:t>ful với CRUD</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6.7.1. Restful API – HTTP GET: Tạo và triệu gọi danh sách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2</a:t>
            </a:r>
            <a:r>
              <a:rPr lang="vi-VN" sz="2400" dirty="0">
                <a:latin typeface="Times New Roman" panose="02020603050405020304" pitchFamily="18" charset="0"/>
                <a:cs typeface="Times New Roman" panose="02020603050405020304" pitchFamily="18" charset="0"/>
              </a:rPr>
              <a:t>. Restful API – HTTP GET: Tạo và triệu gọi một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3</a:t>
            </a:r>
            <a:r>
              <a:rPr lang="vi-VN" sz="2400" dirty="0">
                <a:latin typeface="Times New Roman" panose="02020603050405020304" pitchFamily="18" charset="0"/>
                <a:cs typeface="Times New Roman" panose="02020603050405020304" pitchFamily="18" charset="0"/>
              </a:rPr>
              <a:t>. Restful API – HTTP POST: Tạo và triệu gọi thêm mới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4</a:t>
            </a:r>
            <a:r>
              <a:rPr lang="vi-VN" sz="2400" dirty="0">
                <a:latin typeface="Times New Roman" panose="02020603050405020304" pitchFamily="18" charset="0"/>
                <a:cs typeface="Times New Roman" panose="02020603050405020304" pitchFamily="18" charset="0"/>
              </a:rPr>
              <a:t>. Restful API – HTTP PUT: Tạo và triệu gọi sửa đối tượng</a:t>
            </a:r>
          </a:p>
          <a:p>
            <a:pPr marL="457200" indent="-457200" algn="just">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5</a:t>
            </a:r>
            <a:r>
              <a:rPr lang="vi-VN" sz="2400" dirty="0">
                <a:latin typeface="Times New Roman" panose="02020603050405020304" pitchFamily="18" charset="0"/>
                <a:cs typeface="Times New Roman" panose="02020603050405020304" pitchFamily="18" charset="0"/>
              </a:rPr>
              <a:t>. Restful API – HTTP DELETE: Tạo và triệu gọi xóa </a:t>
            </a:r>
            <a:r>
              <a:rPr lang="vi-VN" sz="2400">
                <a:latin typeface="Times New Roman" panose="02020603050405020304" pitchFamily="18" charset="0"/>
                <a:cs typeface="Times New Roman" panose="02020603050405020304" pitchFamily="18" charset="0"/>
              </a:rPr>
              <a:t>đối tượng</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CB5FD03-F3F5-10A8-FBE1-81F33A29E5C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217CB56-50A6-8DA8-2077-F38B5E4EC23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8B4A57-F96F-04C8-0C6A-A81D351A110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19659F27-5162-7EA6-161E-9A460DF75D2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3B99736-40A9-5B1E-7D20-066F8F4C65A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MVC pattern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1C22813-ACFA-A612-CE91-F3756E3CCA4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DB7B7E4-FEAD-B19A-0223-F9B72DFCD36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BDAED1F-F27A-20D0-87F8-A1791B1515F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5404C82-03B8-E77D-0AEE-A616BE23E37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35" name="TextBox 34">
            <a:extLst>
              <a:ext uri="{FF2B5EF4-FFF2-40B4-BE49-F238E27FC236}">
                <a16:creationId xmlns:a16="http://schemas.microsoft.com/office/drawing/2014/main" id="{C16F7270-DA87-E31C-70A7-FD9985E90CB8}"/>
              </a:ext>
            </a:extLst>
          </p:cNvPr>
          <p:cNvSpPr txBox="1"/>
          <p:nvPr/>
        </p:nvSpPr>
        <p:spPr>
          <a:xfrm>
            <a:off x="468433" y="788933"/>
            <a:ext cx="4332519" cy="445795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MVC</a:t>
            </a:r>
            <a:r>
              <a:rPr lang="vi-VN" sz="2400">
                <a:latin typeface="Times New Roman" panose="02020603050405020304" pitchFamily="18" charset="0"/>
                <a:cs typeface="Times New Roman" panose="02020603050405020304" pitchFamily="18" charset="0"/>
              </a:rPr>
              <a:t> là một mẫu kiến trúc phần mềm được thiết kế để tách biệt logic nghiệp vụ, dữ liệu và giao diện người dùng. Mục tiêu chính là tạo ra sự </a:t>
            </a:r>
            <a:r>
              <a:rPr lang="vi-VN" sz="2400" b="1">
                <a:latin typeface="Times New Roman" panose="02020603050405020304" pitchFamily="18" charset="0"/>
                <a:cs typeface="Times New Roman" panose="02020603050405020304" pitchFamily="18" charset="0"/>
              </a:rPr>
              <a:t>độc lập</a:t>
            </a:r>
            <a:r>
              <a:rPr lang="vi-VN" sz="2400">
                <a:latin typeface="Times New Roman" panose="02020603050405020304" pitchFamily="18" charset="0"/>
                <a:cs typeface="Times New Roman" panose="02020603050405020304" pitchFamily="18" charset="0"/>
              </a:rPr>
              <a:t> giữa các thành phần, giúp mã nguồn dễ bảo trì, mở rộng và kiểm thử. </a:t>
            </a:r>
            <a:endParaRPr lang="en-US" sz="2400">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AC1D7E79-67B5-F15C-6EA2-D9A03F5F4EB4}"/>
              </a:ext>
            </a:extLst>
          </p:cNvPr>
          <p:cNvGrpSpPr/>
          <p:nvPr/>
        </p:nvGrpSpPr>
        <p:grpSpPr>
          <a:xfrm>
            <a:off x="6803486" y="811268"/>
            <a:ext cx="5105400" cy="5235464"/>
            <a:chOff x="5105400" y="1317736"/>
            <a:chExt cx="5105400" cy="5235464"/>
          </a:xfrm>
        </p:grpSpPr>
        <p:sp>
          <p:nvSpPr>
            <p:cNvPr id="37" name="Rectangle 36">
              <a:extLst>
                <a:ext uri="{FF2B5EF4-FFF2-40B4-BE49-F238E27FC236}">
                  <a16:creationId xmlns:a16="http://schemas.microsoft.com/office/drawing/2014/main" id="{BE5660AD-441F-1C03-DEF2-6E51D5A548F3}"/>
                </a:ext>
              </a:extLst>
            </p:cNvPr>
            <p:cNvSpPr/>
            <p:nvPr/>
          </p:nvSpPr>
          <p:spPr>
            <a:xfrm>
              <a:off x="5105400" y="1714500"/>
              <a:ext cx="5105400" cy="4838700"/>
            </a:xfrm>
            <a:prstGeom prst="rect">
              <a:avLst/>
            </a:prstGeom>
            <a:noFill/>
            <a:ln w="19050" cap="flat" cmpd="sng" algn="ctr">
              <a:solidFill>
                <a:srgbClr val="0F6FC6">
                  <a:shade val="50000"/>
                </a:srgbClr>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38" name="TextBox 37">
              <a:extLst>
                <a:ext uri="{FF2B5EF4-FFF2-40B4-BE49-F238E27FC236}">
                  <a16:creationId xmlns:a16="http://schemas.microsoft.com/office/drawing/2014/main" id="{AA9CE491-E325-D236-BE56-5543A12D7623}"/>
                </a:ext>
              </a:extLst>
            </p:cNvPr>
            <p:cNvSpPr txBox="1"/>
            <p:nvPr/>
          </p:nvSpPr>
          <p:spPr>
            <a:xfrm>
              <a:off x="5524500" y="1317736"/>
              <a:ext cx="4267200" cy="369332"/>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1" i="0" u="none" strike="noStrike" kern="1200" cap="none" spc="0" normalizeH="0" baseline="0" noProof="0">
                  <a:ln>
                    <a:noFill/>
                  </a:ln>
                  <a:solidFill>
                    <a:prstClr val="black"/>
                  </a:solidFill>
                  <a:effectLst/>
                  <a:uLnTx/>
                  <a:uFillTx/>
                  <a:latin typeface="Georgia"/>
                  <a:ea typeface="+mn-ea"/>
                  <a:cs typeface="+mn-cs"/>
                </a:rPr>
                <a:t>Model-View-Controller (MVC)</a:t>
              </a:r>
            </a:p>
          </p:txBody>
        </p:sp>
        <p:sp>
          <p:nvSpPr>
            <p:cNvPr id="39" name="Rounded Rectangle 6">
              <a:extLst>
                <a:ext uri="{FF2B5EF4-FFF2-40B4-BE49-F238E27FC236}">
                  <a16:creationId xmlns:a16="http://schemas.microsoft.com/office/drawing/2014/main" id="{CD0AD65F-994B-B6A3-753E-DE46DF81D7F6}"/>
                </a:ext>
              </a:extLst>
            </p:cNvPr>
            <p:cNvSpPr/>
            <p:nvPr/>
          </p:nvSpPr>
          <p:spPr>
            <a:xfrm>
              <a:off x="5524500" y="2474976"/>
              <a:ext cx="1181100" cy="609600"/>
            </a:xfrm>
            <a:prstGeom prst="roundRect">
              <a:avLst/>
            </a:prstGeom>
            <a:solidFill>
              <a:srgbClr val="FE6224"/>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Model</a:t>
              </a:r>
            </a:p>
          </p:txBody>
        </p:sp>
        <p:sp>
          <p:nvSpPr>
            <p:cNvPr id="40" name="Rounded Rectangle 20">
              <a:extLst>
                <a:ext uri="{FF2B5EF4-FFF2-40B4-BE49-F238E27FC236}">
                  <a16:creationId xmlns:a16="http://schemas.microsoft.com/office/drawing/2014/main" id="{918835FF-5D76-C6AA-3C7B-24A26F958D10}"/>
                </a:ext>
              </a:extLst>
            </p:cNvPr>
            <p:cNvSpPr/>
            <p:nvPr/>
          </p:nvSpPr>
          <p:spPr>
            <a:xfrm>
              <a:off x="8610600" y="2514600"/>
              <a:ext cx="1181100" cy="609600"/>
            </a:xfrm>
            <a:prstGeom prst="roundRect">
              <a:avLst/>
            </a:prstGeom>
            <a:solidFill>
              <a:srgbClr val="10CF9B">
                <a:lumMod val="75000"/>
              </a:srgb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View</a:t>
              </a:r>
            </a:p>
          </p:txBody>
        </p:sp>
        <p:sp>
          <p:nvSpPr>
            <p:cNvPr id="41" name="Rounded Rectangle 21">
              <a:extLst>
                <a:ext uri="{FF2B5EF4-FFF2-40B4-BE49-F238E27FC236}">
                  <a16:creationId xmlns:a16="http://schemas.microsoft.com/office/drawing/2014/main" id="{03464730-F95C-018F-C399-702F2F6D9291}"/>
                </a:ext>
              </a:extLst>
            </p:cNvPr>
            <p:cNvSpPr/>
            <p:nvPr/>
          </p:nvSpPr>
          <p:spPr>
            <a:xfrm>
              <a:off x="7082790" y="3200400"/>
              <a:ext cx="1390650" cy="609600"/>
            </a:xfrm>
            <a:prstGeom prst="roundRect">
              <a:avLst/>
            </a:prstGeom>
            <a:solidFill>
              <a:srgbClr val="0F6FC6">
                <a:lumMod val="50000"/>
              </a:srgb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Controller</a:t>
              </a:r>
            </a:p>
          </p:txBody>
        </p:sp>
        <p:sp>
          <p:nvSpPr>
            <p:cNvPr id="42" name="Rounded Rectangle 22">
              <a:extLst>
                <a:ext uri="{FF2B5EF4-FFF2-40B4-BE49-F238E27FC236}">
                  <a16:creationId xmlns:a16="http://schemas.microsoft.com/office/drawing/2014/main" id="{854DBB88-A54E-6D36-DBEA-D6F4C5521CE5}"/>
                </a:ext>
              </a:extLst>
            </p:cNvPr>
            <p:cNvSpPr/>
            <p:nvPr/>
          </p:nvSpPr>
          <p:spPr>
            <a:xfrm>
              <a:off x="7067550" y="5791200"/>
              <a:ext cx="1390650" cy="609600"/>
            </a:xfrm>
            <a:prstGeom prst="roundRect">
              <a:avLst/>
            </a:prstGeom>
            <a:solidFill>
              <a:sysClr val="windowText" lastClr="000000">
                <a:lumMod val="50000"/>
                <a:lumOff val="50000"/>
              </a:sysClr>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Browser</a:t>
              </a:r>
            </a:p>
          </p:txBody>
        </p:sp>
        <p:sp>
          <p:nvSpPr>
            <p:cNvPr id="43" name="Can 7">
              <a:extLst>
                <a:ext uri="{FF2B5EF4-FFF2-40B4-BE49-F238E27FC236}">
                  <a16:creationId xmlns:a16="http://schemas.microsoft.com/office/drawing/2014/main" id="{E4564FB4-D13C-6607-68F2-DB4B76085A53}"/>
                </a:ext>
              </a:extLst>
            </p:cNvPr>
            <p:cNvSpPr/>
            <p:nvPr/>
          </p:nvSpPr>
          <p:spPr>
            <a:xfrm>
              <a:off x="5257800" y="1828800"/>
              <a:ext cx="609600" cy="533400"/>
            </a:xfrm>
            <a:prstGeom prst="can">
              <a:avLst/>
            </a:prstGeom>
            <a:solidFill>
              <a:srgbClr val="A5C249">
                <a:lumMod val="50000"/>
              </a:srgbClr>
            </a:solidFill>
            <a:ln w="3175" cap="flat" cmpd="sng" algn="ctr">
              <a:solidFill>
                <a:srgbClr val="A5C249">
                  <a:lumMod val="7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DB</a:t>
              </a:r>
            </a:p>
          </p:txBody>
        </p:sp>
        <p:cxnSp>
          <p:nvCxnSpPr>
            <p:cNvPr id="44" name="Straight Arrow Connector 43">
              <a:extLst>
                <a:ext uri="{FF2B5EF4-FFF2-40B4-BE49-F238E27FC236}">
                  <a16:creationId xmlns:a16="http://schemas.microsoft.com/office/drawing/2014/main" id="{9DCABE3E-9CEE-88B1-966A-9B32EDC188C7}"/>
                </a:ext>
              </a:extLst>
            </p:cNvPr>
            <p:cNvCxnSpPr>
              <a:cxnSpLocks/>
            </p:cNvCxnSpPr>
            <p:nvPr/>
          </p:nvCxnSpPr>
          <p:spPr>
            <a:xfrm flipH="1" flipV="1">
              <a:off x="6400801" y="3192780"/>
              <a:ext cx="609599" cy="541020"/>
            </a:xfrm>
            <a:prstGeom prst="straightConnector1">
              <a:avLst/>
            </a:prstGeom>
            <a:noFill/>
            <a:ln w="28575" cap="flat" cmpd="sng" algn="ctr">
              <a:solidFill>
                <a:srgbClr val="002060"/>
              </a:solidFill>
              <a:prstDash val="solid"/>
              <a:headEnd type="none" w="med" len="med"/>
              <a:tailEnd type="arrow" w="med" len="med"/>
            </a:ln>
            <a:effectLst/>
          </p:spPr>
        </p:cxnSp>
        <p:cxnSp>
          <p:nvCxnSpPr>
            <p:cNvPr id="45" name="Straight Arrow Connector 44">
              <a:extLst>
                <a:ext uri="{FF2B5EF4-FFF2-40B4-BE49-F238E27FC236}">
                  <a16:creationId xmlns:a16="http://schemas.microsoft.com/office/drawing/2014/main" id="{BC886C31-8936-D5AB-A977-D63ADC21DCF8}"/>
                </a:ext>
              </a:extLst>
            </p:cNvPr>
            <p:cNvCxnSpPr>
              <a:cxnSpLocks/>
            </p:cNvCxnSpPr>
            <p:nvPr/>
          </p:nvCxnSpPr>
          <p:spPr>
            <a:xfrm flipV="1">
              <a:off x="8534400" y="3200400"/>
              <a:ext cx="573025" cy="511302"/>
            </a:xfrm>
            <a:prstGeom prst="straightConnector1">
              <a:avLst/>
            </a:prstGeom>
            <a:noFill/>
            <a:ln w="28575" cap="flat" cmpd="sng" algn="ctr">
              <a:solidFill>
                <a:srgbClr val="002060"/>
              </a:solidFill>
              <a:prstDash val="solid"/>
              <a:headEnd type="none" w="med" len="med"/>
              <a:tailEnd type="arrow" w="med" len="med"/>
            </a:ln>
            <a:effectLst/>
          </p:spPr>
        </p:cxnSp>
        <p:cxnSp>
          <p:nvCxnSpPr>
            <p:cNvPr id="46" name="Straight Arrow Connector 45">
              <a:extLst>
                <a:ext uri="{FF2B5EF4-FFF2-40B4-BE49-F238E27FC236}">
                  <a16:creationId xmlns:a16="http://schemas.microsoft.com/office/drawing/2014/main" id="{97E8D3E2-6E8F-284B-B063-0BF50A91F1CA}"/>
                </a:ext>
              </a:extLst>
            </p:cNvPr>
            <p:cNvCxnSpPr>
              <a:cxnSpLocks/>
            </p:cNvCxnSpPr>
            <p:nvPr/>
          </p:nvCxnSpPr>
          <p:spPr>
            <a:xfrm>
              <a:off x="8305800" y="3886200"/>
              <a:ext cx="0" cy="968264"/>
            </a:xfrm>
            <a:prstGeom prst="straightConnector1">
              <a:avLst/>
            </a:prstGeom>
            <a:noFill/>
            <a:ln w="28575" cap="flat" cmpd="sng" algn="ctr">
              <a:solidFill>
                <a:srgbClr val="002060"/>
              </a:solidFill>
              <a:prstDash val="solid"/>
              <a:headEnd type="none" w="med" len="med"/>
              <a:tailEnd type="arrow" w="med" len="med"/>
            </a:ln>
            <a:effectLst/>
          </p:spPr>
        </p:cxnSp>
        <p:sp>
          <p:nvSpPr>
            <p:cNvPr id="47" name="Rounded Rectangle 30">
              <a:extLst>
                <a:ext uri="{FF2B5EF4-FFF2-40B4-BE49-F238E27FC236}">
                  <a16:creationId xmlns:a16="http://schemas.microsoft.com/office/drawing/2014/main" id="{A558CC16-1274-4321-C4D9-2922FD519E39}"/>
                </a:ext>
              </a:extLst>
            </p:cNvPr>
            <p:cNvSpPr/>
            <p:nvPr/>
          </p:nvSpPr>
          <p:spPr>
            <a:xfrm>
              <a:off x="6735329" y="4999673"/>
              <a:ext cx="1800222" cy="302514"/>
            </a:xfrm>
            <a:prstGeom prst="roundRect">
              <a:avLst/>
            </a:prstGeom>
            <a:solidFill>
              <a:srgbClr val="C00000"/>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Web server</a:t>
              </a:r>
            </a:p>
          </p:txBody>
        </p:sp>
        <p:sp>
          <p:nvSpPr>
            <p:cNvPr id="48" name="Rounded Rectangle 32">
              <a:extLst>
                <a:ext uri="{FF2B5EF4-FFF2-40B4-BE49-F238E27FC236}">
                  <a16:creationId xmlns:a16="http://schemas.microsoft.com/office/drawing/2014/main" id="{E4DD774D-0253-8764-ED15-3D03B202BCEB}"/>
                </a:ext>
              </a:extLst>
            </p:cNvPr>
            <p:cNvSpPr/>
            <p:nvPr/>
          </p:nvSpPr>
          <p:spPr>
            <a:xfrm>
              <a:off x="6735329" y="4640390"/>
              <a:ext cx="1371603" cy="302514"/>
            </a:xfrm>
            <a:prstGeom prst="roundRect">
              <a:avLst/>
            </a:prstGeom>
            <a:solidFill>
              <a:srgbClr val="C00000"/>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Routes</a:t>
              </a:r>
            </a:p>
          </p:txBody>
        </p:sp>
        <p:sp>
          <p:nvSpPr>
            <p:cNvPr id="49" name="Rounded Rectangle 33">
              <a:extLst>
                <a:ext uri="{FF2B5EF4-FFF2-40B4-BE49-F238E27FC236}">
                  <a16:creationId xmlns:a16="http://schemas.microsoft.com/office/drawing/2014/main" id="{D3F3F3C6-273C-BAE7-BC1C-507D212BBAE6}"/>
                </a:ext>
              </a:extLst>
            </p:cNvPr>
            <p:cNvSpPr/>
            <p:nvPr/>
          </p:nvSpPr>
          <p:spPr>
            <a:xfrm>
              <a:off x="6716284" y="4295204"/>
              <a:ext cx="1390649" cy="302514"/>
            </a:xfrm>
            <a:prstGeom prst="roundRect">
              <a:avLst/>
            </a:prstGeom>
            <a:solidFill>
              <a:srgbClr val="C00000"/>
            </a:solidFill>
            <a:ln w="1905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Dispatcher</a:t>
              </a:r>
            </a:p>
          </p:txBody>
        </p:sp>
        <p:cxnSp>
          <p:nvCxnSpPr>
            <p:cNvPr id="50" name="Straight Arrow Connector 49">
              <a:extLst>
                <a:ext uri="{FF2B5EF4-FFF2-40B4-BE49-F238E27FC236}">
                  <a16:creationId xmlns:a16="http://schemas.microsoft.com/office/drawing/2014/main" id="{7DFD79CC-F24D-B6E8-8B99-1BA6CFFE41D0}"/>
                </a:ext>
              </a:extLst>
            </p:cNvPr>
            <p:cNvCxnSpPr>
              <a:cxnSpLocks/>
            </p:cNvCxnSpPr>
            <p:nvPr/>
          </p:nvCxnSpPr>
          <p:spPr>
            <a:xfrm>
              <a:off x="8305800" y="5356336"/>
              <a:ext cx="0" cy="358664"/>
            </a:xfrm>
            <a:prstGeom prst="straightConnector1">
              <a:avLst/>
            </a:prstGeom>
            <a:noFill/>
            <a:ln w="28575" cap="flat" cmpd="sng" algn="ctr">
              <a:solidFill>
                <a:srgbClr val="C00000"/>
              </a:solidFill>
              <a:prstDash val="solid"/>
              <a:headEnd type="none" w="med" len="med"/>
              <a:tailEnd type="arrow" w="med" len="med"/>
            </a:ln>
            <a:effectLst/>
          </p:spPr>
        </p:cxnSp>
        <p:cxnSp>
          <p:nvCxnSpPr>
            <p:cNvPr id="51" name="Straight Arrow Connector 50">
              <a:extLst>
                <a:ext uri="{FF2B5EF4-FFF2-40B4-BE49-F238E27FC236}">
                  <a16:creationId xmlns:a16="http://schemas.microsoft.com/office/drawing/2014/main" id="{E8E4AE94-8A36-EAEE-1185-716AC89978BA}"/>
                </a:ext>
              </a:extLst>
            </p:cNvPr>
            <p:cNvCxnSpPr>
              <a:cxnSpLocks/>
            </p:cNvCxnSpPr>
            <p:nvPr/>
          </p:nvCxnSpPr>
          <p:spPr>
            <a:xfrm flipV="1">
              <a:off x="7315200" y="5356336"/>
              <a:ext cx="0" cy="358664"/>
            </a:xfrm>
            <a:prstGeom prst="straightConnector1">
              <a:avLst/>
            </a:prstGeom>
            <a:noFill/>
            <a:ln w="28575" cap="flat" cmpd="sng" algn="ctr">
              <a:solidFill>
                <a:sysClr val="windowText" lastClr="000000">
                  <a:lumMod val="50000"/>
                  <a:lumOff val="50000"/>
                </a:sysClr>
              </a:solidFill>
              <a:prstDash val="solid"/>
              <a:headEnd type="none" w="med" len="med"/>
              <a:tailEnd type="arrow" w="med" len="med"/>
            </a:ln>
            <a:effectLst/>
          </p:spPr>
        </p:cxnSp>
        <p:cxnSp>
          <p:nvCxnSpPr>
            <p:cNvPr id="52" name="Straight Arrow Connector 51">
              <a:extLst>
                <a:ext uri="{FF2B5EF4-FFF2-40B4-BE49-F238E27FC236}">
                  <a16:creationId xmlns:a16="http://schemas.microsoft.com/office/drawing/2014/main" id="{5B1BB852-3801-6930-C602-8FBAEA21C0A4}"/>
                </a:ext>
              </a:extLst>
            </p:cNvPr>
            <p:cNvCxnSpPr>
              <a:cxnSpLocks/>
            </p:cNvCxnSpPr>
            <p:nvPr/>
          </p:nvCxnSpPr>
          <p:spPr>
            <a:xfrm flipV="1">
              <a:off x="7315200" y="3886200"/>
              <a:ext cx="0" cy="358664"/>
            </a:xfrm>
            <a:prstGeom prst="straightConnector1">
              <a:avLst/>
            </a:prstGeom>
            <a:noFill/>
            <a:ln w="28575" cap="flat" cmpd="sng" algn="ctr">
              <a:solidFill>
                <a:srgbClr val="C00000"/>
              </a:solidFill>
              <a:prstDash val="solid"/>
              <a:headEnd type="none" w="med" len="med"/>
              <a:tailEnd type="arrow" w="med" len="med"/>
            </a:ln>
            <a:effectLst/>
          </p:spPr>
        </p:cxnSp>
        <p:cxnSp>
          <p:nvCxnSpPr>
            <p:cNvPr id="53" name="Straight Arrow Connector 52">
              <a:extLst>
                <a:ext uri="{FF2B5EF4-FFF2-40B4-BE49-F238E27FC236}">
                  <a16:creationId xmlns:a16="http://schemas.microsoft.com/office/drawing/2014/main" id="{EA5DCBDB-B49D-1E89-12CB-11F0E5EEE678}"/>
                </a:ext>
              </a:extLst>
            </p:cNvPr>
            <p:cNvCxnSpPr>
              <a:cxnSpLocks/>
            </p:cNvCxnSpPr>
            <p:nvPr/>
          </p:nvCxnSpPr>
          <p:spPr>
            <a:xfrm>
              <a:off x="6858000" y="2818924"/>
              <a:ext cx="342902" cy="305276"/>
            </a:xfrm>
            <a:prstGeom prst="straightConnector1">
              <a:avLst/>
            </a:prstGeom>
            <a:noFill/>
            <a:ln w="28575" cap="flat" cmpd="sng" algn="ctr">
              <a:solidFill>
                <a:srgbClr val="FE6224"/>
              </a:solidFill>
              <a:prstDash val="solid"/>
              <a:headEnd type="none" w="med" len="med"/>
              <a:tailEnd type="arrow" w="med" len="med"/>
            </a:ln>
            <a:effectLst/>
          </p:spPr>
        </p:cxnSp>
        <p:cxnSp>
          <p:nvCxnSpPr>
            <p:cNvPr id="54" name="Straight Arrow Connector 53">
              <a:extLst>
                <a:ext uri="{FF2B5EF4-FFF2-40B4-BE49-F238E27FC236}">
                  <a16:creationId xmlns:a16="http://schemas.microsoft.com/office/drawing/2014/main" id="{94C1CF84-CE3B-FB03-9F25-CA80DAFDBE05}"/>
                </a:ext>
              </a:extLst>
            </p:cNvPr>
            <p:cNvCxnSpPr>
              <a:cxnSpLocks/>
            </p:cNvCxnSpPr>
            <p:nvPr/>
          </p:nvCxnSpPr>
          <p:spPr>
            <a:xfrm flipH="1">
              <a:off x="8191502" y="2819400"/>
              <a:ext cx="342898" cy="305038"/>
            </a:xfrm>
            <a:prstGeom prst="straightConnector1">
              <a:avLst/>
            </a:prstGeom>
            <a:noFill/>
            <a:ln w="28575" cap="flat" cmpd="sng" algn="ctr">
              <a:solidFill>
                <a:srgbClr val="10CF9B">
                  <a:lumMod val="50000"/>
                </a:srgbClr>
              </a:solidFill>
              <a:prstDash val="solid"/>
              <a:headEnd type="none" w="med" len="med"/>
              <a:tailEnd type="arrow" w="med" len="med"/>
            </a:ln>
            <a:effectLst/>
          </p:spPr>
        </p:cxnSp>
      </p:grpSp>
      <p:grpSp>
        <p:nvGrpSpPr>
          <p:cNvPr id="55" name="Group 54">
            <a:extLst>
              <a:ext uri="{FF2B5EF4-FFF2-40B4-BE49-F238E27FC236}">
                <a16:creationId xmlns:a16="http://schemas.microsoft.com/office/drawing/2014/main" id="{F7DCF400-5F26-AFFF-2F8A-CD613360C208}"/>
              </a:ext>
            </a:extLst>
          </p:cNvPr>
          <p:cNvGrpSpPr/>
          <p:nvPr/>
        </p:nvGrpSpPr>
        <p:grpSpPr>
          <a:xfrm>
            <a:off x="4887819" y="3731586"/>
            <a:ext cx="1850136" cy="1409700"/>
            <a:chOff x="2057400" y="1714500"/>
            <a:chExt cx="1850136" cy="1409700"/>
          </a:xfrm>
        </p:grpSpPr>
        <p:sp>
          <p:nvSpPr>
            <p:cNvPr id="56" name="Rounded Rectangle 2">
              <a:extLst>
                <a:ext uri="{FF2B5EF4-FFF2-40B4-BE49-F238E27FC236}">
                  <a16:creationId xmlns:a16="http://schemas.microsoft.com/office/drawing/2014/main" id="{EBC867C4-7B7B-4415-E61E-B93FC36E6D8D}"/>
                </a:ext>
              </a:extLst>
            </p:cNvPr>
            <p:cNvSpPr/>
            <p:nvPr/>
          </p:nvSpPr>
          <p:spPr>
            <a:xfrm>
              <a:off x="2057400" y="1714500"/>
              <a:ext cx="1828800" cy="609600"/>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400" b="0" i="0" u="none" strike="noStrike" kern="1200" cap="none" spc="0" normalizeH="0" baseline="0" noProof="0">
                  <a:ln>
                    <a:noFill/>
                  </a:ln>
                  <a:solidFill>
                    <a:prstClr val="white"/>
                  </a:solidFill>
                  <a:effectLst/>
                  <a:uLnTx/>
                  <a:uFillTx/>
                  <a:latin typeface="Georgia"/>
                  <a:ea typeface="+mn-ea"/>
                  <a:cs typeface="+mn-cs"/>
                </a:rPr>
                <a:t>Front-end?</a:t>
              </a:r>
            </a:p>
          </p:txBody>
        </p:sp>
        <p:sp>
          <p:nvSpPr>
            <p:cNvPr id="57" name="Rounded Rectangle 11">
              <a:extLst>
                <a:ext uri="{FF2B5EF4-FFF2-40B4-BE49-F238E27FC236}">
                  <a16:creationId xmlns:a16="http://schemas.microsoft.com/office/drawing/2014/main" id="{64E51513-1647-FE75-106E-E7BFBFBE0C1A}"/>
                </a:ext>
              </a:extLst>
            </p:cNvPr>
            <p:cNvSpPr/>
            <p:nvPr/>
          </p:nvSpPr>
          <p:spPr>
            <a:xfrm>
              <a:off x="2078736" y="2514600"/>
              <a:ext cx="1828800" cy="609600"/>
            </a:xfrm>
            <a:prstGeom prst="roundRect">
              <a:avLst/>
            </a:prstGeom>
            <a:gradFill flip="none" rotWithShape="1">
              <a:gsLst>
                <a:gs pos="0">
                  <a:sysClr val="windowText" lastClr="000000">
                    <a:lumMod val="67000"/>
                  </a:sysClr>
                </a:gs>
                <a:gs pos="48000">
                  <a:sysClr val="windowText" lastClr="000000">
                    <a:lumMod val="97000"/>
                    <a:lumOff val="3000"/>
                  </a:sysClr>
                </a:gs>
                <a:gs pos="100000">
                  <a:sysClr val="windowText" lastClr="000000">
                    <a:lumMod val="60000"/>
                    <a:lumOff val="40000"/>
                  </a:sys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400" b="0" i="0" u="none" strike="noStrike" kern="1200" cap="none" spc="0" normalizeH="0" baseline="0" noProof="0">
                  <a:ln>
                    <a:noFill/>
                  </a:ln>
                  <a:solidFill>
                    <a:prstClr val="white"/>
                  </a:solidFill>
                  <a:effectLst/>
                  <a:uLnTx/>
                  <a:uFillTx/>
                  <a:latin typeface="Georgia"/>
                  <a:ea typeface="+mn-ea"/>
                  <a:cs typeface="+mn-cs"/>
                </a:rPr>
                <a:t>Back-end?</a:t>
              </a:r>
            </a:p>
          </p:txBody>
        </p:sp>
      </p:grpSp>
      <p:grpSp>
        <p:nvGrpSpPr>
          <p:cNvPr id="58" name="Group 57">
            <a:extLst>
              <a:ext uri="{FF2B5EF4-FFF2-40B4-BE49-F238E27FC236}">
                <a16:creationId xmlns:a16="http://schemas.microsoft.com/office/drawing/2014/main" id="{78DBD649-D52F-A299-3289-D8A2B007103B}"/>
              </a:ext>
            </a:extLst>
          </p:cNvPr>
          <p:cNvGrpSpPr/>
          <p:nvPr/>
        </p:nvGrpSpPr>
        <p:grpSpPr>
          <a:xfrm>
            <a:off x="4887819" y="1326169"/>
            <a:ext cx="1850136" cy="1409700"/>
            <a:chOff x="2079499" y="4327351"/>
            <a:chExt cx="1850136" cy="1409700"/>
          </a:xfrm>
        </p:grpSpPr>
        <p:sp>
          <p:nvSpPr>
            <p:cNvPr id="59" name="Rounded Rectangle 44">
              <a:extLst>
                <a:ext uri="{FF2B5EF4-FFF2-40B4-BE49-F238E27FC236}">
                  <a16:creationId xmlns:a16="http://schemas.microsoft.com/office/drawing/2014/main" id="{3B0CE968-59A5-8AAE-F6B2-1C0A203D003E}"/>
                </a:ext>
              </a:extLst>
            </p:cNvPr>
            <p:cNvSpPr/>
            <p:nvPr/>
          </p:nvSpPr>
          <p:spPr>
            <a:xfrm>
              <a:off x="2079499" y="4327351"/>
              <a:ext cx="1828800" cy="609600"/>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400" b="0" i="0" u="none" strike="noStrike" kern="1200" cap="none" spc="0" normalizeH="0" baseline="0" noProof="0">
                  <a:ln>
                    <a:noFill/>
                  </a:ln>
                  <a:solidFill>
                    <a:prstClr val="white"/>
                  </a:solidFill>
                  <a:effectLst/>
                  <a:uLnTx/>
                  <a:uFillTx/>
                  <a:latin typeface="Georgia"/>
                  <a:ea typeface="+mn-ea"/>
                  <a:cs typeface="+mn-cs"/>
                </a:rPr>
                <a:t>Client?</a:t>
              </a:r>
            </a:p>
          </p:txBody>
        </p:sp>
        <p:sp>
          <p:nvSpPr>
            <p:cNvPr id="60" name="Rounded Rectangle 45">
              <a:extLst>
                <a:ext uri="{FF2B5EF4-FFF2-40B4-BE49-F238E27FC236}">
                  <a16:creationId xmlns:a16="http://schemas.microsoft.com/office/drawing/2014/main" id="{0B7F7C7D-E038-2D80-BA8E-9FA42A90F5E1}"/>
                </a:ext>
              </a:extLst>
            </p:cNvPr>
            <p:cNvSpPr/>
            <p:nvPr/>
          </p:nvSpPr>
          <p:spPr>
            <a:xfrm>
              <a:off x="2100835" y="5127451"/>
              <a:ext cx="1828800" cy="609600"/>
            </a:xfrm>
            <a:prstGeom prst="roundRect">
              <a:avLst/>
            </a:prstGeom>
            <a:gradFill flip="none" rotWithShape="1">
              <a:gsLst>
                <a:gs pos="0">
                  <a:sysClr val="windowText" lastClr="000000">
                    <a:lumMod val="67000"/>
                  </a:sysClr>
                </a:gs>
                <a:gs pos="48000">
                  <a:sysClr val="windowText" lastClr="000000">
                    <a:lumMod val="97000"/>
                    <a:lumOff val="3000"/>
                  </a:sysClr>
                </a:gs>
                <a:gs pos="100000">
                  <a:sysClr val="windowText" lastClr="000000">
                    <a:lumMod val="60000"/>
                    <a:lumOff val="40000"/>
                  </a:sys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2400" b="0" i="0" u="none" strike="noStrike" kern="1200" cap="none" spc="0" normalizeH="0" baseline="0" noProof="0">
                  <a:ln>
                    <a:noFill/>
                  </a:ln>
                  <a:solidFill>
                    <a:prstClr val="white"/>
                  </a:solidFill>
                  <a:effectLst/>
                  <a:uLnTx/>
                  <a:uFillTx/>
                  <a:latin typeface="Georgia"/>
                  <a:ea typeface="+mn-ea"/>
                  <a:cs typeface="+mn-cs"/>
                </a:rPr>
                <a:t>Server?</a:t>
              </a:r>
            </a:p>
          </p:txBody>
        </p:sp>
      </p:grpSp>
    </p:spTree>
    <p:extLst>
      <p:ext uri="{BB962C8B-B14F-4D97-AF65-F5344CB8AC3E}">
        <p14:creationId xmlns:p14="http://schemas.microsoft.com/office/powerpoint/2010/main" val="2136160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2E8DF1B-9E35-5D42-6EAB-91D7CB5B950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E7C7E30-F751-07C9-A9D9-9EEC9AC51C7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A4DCD4F-41E4-BEBA-63AF-3C2FA8FE6B9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D3E46E24-3BA9-1CC4-4875-D0967921882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604F369-FC66-B182-0369-63B554A11F3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MVC pattern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09421AF-9832-78D4-4D39-2C407263C77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D4AB85E-A52A-E654-09C1-4903D0917EB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8833724-9AB9-0FE3-A1DA-D3ACCB13D21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9AC820F-8CB4-1C26-C8E8-8D8B3A78AFA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D0B4681D-CB8C-A8AC-1941-A9890565E353}"/>
              </a:ext>
            </a:extLst>
          </p:cNvPr>
          <p:cNvSpPr>
            <a:spLocks noChangeArrowheads="1"/>
          </p:cNvSpPr>
          <p:nvPr/>
        </p:nvSpPr>
        <p:spPr bwMode="auto">
          <a:xfrm>
            <a:off x="316247" y="841012"/>
            <a:ext cx="11559506" cy="558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a:ln>
                  <a:noFill/>
                </a:ln>
                <a:solidFill>
                  <a:srgbClr val="FF0000"/>
                </a:solidFill>
                <a:effectLst/>
                <a:latin typeface="Times New Roman" panose="02020603050405020304" pitchFamily="18" charset="0"/>
                <a:ea typeface="Google Sans"/>
                <a:cs typeface="Times New Roman" panose="02020603050405020304" pitchFamily="18" charset="0"/>
              </a:rPr>
              <a:t>Model (Thành phần Dữ liệu)</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Chức năng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Quản lý trạng thái và dữ liệu của ứng dụng. Nó thực hiện các thao tác trực tiếp với cơ sở dữ liệu (CRUD) và chứa các logic nghiệp vụ.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Ví dụ: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Model chính là các interface (như IBook) hoặc các lệnh truy vấn dữ liệu từ mảng database và MongoDB.</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a:ln>
                  <a:noFill/>
                </a:ln>
                <a:solidFill>
                  <a:srgbClr val="FF0000"/>
                </a:solidFill>
                <a:effectLst/>
                <a:latin typeface="Times New Roman" panose="02020603050405020304" pitchFamily="18" charset="0"/>
                <a:ea typeface="Google Sans"/>
                <a:cs typeface="Times New Roman" panose="02020603050405020304" pitchFamily="18" charset="0"/>
              </a:rPr>
              <a:t>View (Thành phần Hiển thị)</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Chức năng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Chịu trách nhiệm hiển thị dữ liệu từ Model cho người dùng và gửi các phản hồi/thao tác của người dùng tới Controller.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Ví dụ</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View là các file .html của Angular Component, nơi sử dụng các chỉ thị như *ngFor để nạp danh sách sách hoặc thời trang lên màn hình. </a:t>
            </a:r>
            <a:endParaRPr kumimoji="0" lang="en-US" altLang="en-US" sz="2400" b="1"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1" i="0" u="none" strike="noStrike" cap="none" normalizeH="0" baseline="0">
                <a:ln>
                  <a:noFill/>
                </a:ln>
                <a:solidFill>
                  <a:srgbClr val="FF0000"/>
                </a:solidFill>
                <a:effectLst/>
                <a:latin typeface="Times New Roman" panose="02020603050405020304" pitchFamily="18" charset="0"/>
                <a:ea typeface="Google Sans"/>
                <a:cs typeface="Times New Roman" panose="02020603050405020304" pitchFamily="18" charset="0"/>
              </a:rPr>
              <a:t>Controller (Thành phần Điều khiển)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Chức năng</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Đóng vai trò là "người </a:t>
            </a:r>
            <a:r>
              <a:rPr lang="en-US" altLang="en-US" sz="2400">
                <a:solidFill>
                  <a:schemeClr val="tx1"/>
                </a:solidFill>
                <a:latin typeface="Times New Roman" panose="02020603050405020304" pitchFamily="18" charset="0"/>
                <a:ea typeface="Google Sans Text"/>
                <a:cs typeface="Times New Roman" panose="02020603050405020304" pitchFamily="18" charset="0"/>
              </a:rPr>
              <a:t>điều</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phối". Nó tiếp nhận yêu cầu từ View, điều phối Model xử lý dữ liệu, sau đó chọn kết quả thích hợp để trả về cho View. </a:t>
            </a:r>
          </a:p>
          <a:p>
            <a:pPr marL="342900" lvl="0" indent="-342900" algn="just" eaLnBrk="0" fontAlgn="base" hangingPunct="0">
              <a:spcBef>
                <a:spcPct val="0"/>
              </a:spcBef>
              <a:spcAft>
                <a:spcPct val="0"/>
              </a:spcAft>
              <a:buClrTx/>
              <a:buFont typeface="Wingdings" panose="05000000000000000000" pitchFamily="2" charset="2"/>
              <a:buChar char="ü"/>
            </a:pP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Ví dụ</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Controller chính là các hàm callback trong file </a:t>
            </a:r>
            <a:r>
              <a:rPr kumimoji="0" lang="en-US" altLang="en-US" sz="24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index.js </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của NodeJS + Express (các hàm xử lý bên trong app.get, app.post, </a:t>
            </a:r>
            <a:r>
              <a:rPr lang="en-US" altLang="en-US" sz="2400">
                <a:solidFill>
                  <a:schemeClr val="tx1"/>
                </a:solidFill>
                <a:latin typeface="Times New Roman" panose="02020603050405020304" pitchFamily="18" charset="0"/>
                <a:ea typeface="Google Sans Text"/>
                <a:cs typeface="Times New Roman" panose="02020603050405020304" pitchFamily="18" charset="0"/>
              </a:rPr>
              <a:t>app.put, app.delete</a:t>
            </a:r>
            <a:r>
              <a:rPr kumimoji="0" lang="en-US" altLang="en-US" sz="24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743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7CD3395-FACC-C10C-9E50-62434D92FBD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22F3964-DAEA-3F9C-CA42-D022A466186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F445F2-E2AD-021C-F8C4-40BB291883F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5C9AF41B-FD1E-0476-22C1-51AB687493B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55F540C-E3A4-8455-C2AF-C8EAFA5C9F8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MVC pattern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DB88543-386C-97F1-5617-AA72C01EDF4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8546405-5794-3238-DACE-4DF158E5AA9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6CDDADE-517D-AB31-296A-EDD5C24C266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4B684EA-8F6B-B565-D709-30E1A71C086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E6686BD6-FF8C-1ABB-65C4-84C6037606D0}"/>
              </a:ext>
            </a:extLst>
          </p:cNvPr>
          <p:cNvSpPr>
            <a:spLocks noChangeArrowheads="1"/>
          </p:cNvSpPr>
          <p:nvPr/>
        </p:nvSpPr>
        <p:spPr bwMode="auto">
          <a:xfrm>
            <a:off x="542786" y="929425"/>
            <a:ext cx="1155950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ClrTx/>
              <a:buFont typeface="Wingdings" panose="05000000000000000000" pitchFamily="2" charset="2"/>
              <a:buChar char="v"/>
            </a:pPr>
            <a:r>
              <a:rPr kumimoji="0" lang="en-US" altLang="en-US" sz="2400" b="1" i="0" u="none" strike="noStrike" cap="none" normalizeH="0" baseline="0">
                <a:ln>
                  <a:noFill/>
                </a:ln>
                <a:solidFill>
                  <a:srgbClr val="002060"/>
                </a:solidFill>
                <a:effectLst/>
                <a:latin typeface="Times New Roman" panose="02020603050405020304" pitchFamily="18" charset="0"/>
                <a:ea typeface="Google Sans"/>
                <a:cs typeface="Times New Roman" panose="02020603050405020304" pitchFamily="18" charset="0"/>
              </a:rPr>
              <a:t>Ví dụ: </a:t>
            </a:r>
            <a:r>
              <a:rPr kumimoji="0" lang="en-US" altLang="en-US" sz="2400" i="0" u="none" strike="noStrike" cap="none" normalizeH="0" baseline="0">
                <a:ln>
                  <a:noFill/>
                </a:ln>
                <a:solidFill>
                  <a:schemeClr val="tx1"/>
                </a:solidFill>
                <a:effectLst/>
                <a:latin typeface="Times New Roman" panose="02020603050405020304" pitchFamily="18" charset="0"/>
                <a:ea typeface="Google Sans"/>
                <a:cs typeface="Times New Roman" panose="02020603050405020304" pitchFamily="18" charset="0"/>
              </a:rPr>
              <a:t>T</a:t>
            </a:r>
            <a:r>
              <a:rPr lang="en-US" sz="2400">
                <a:solidFill>
                  <a:schemeClr val="tx1"/>
                </a:solidFill>
                <a:latin typeface="Times New Roman" panose="02020603050405020304" pitchFamily="18" charset="0"/>
                <a:cs typeface="Times New Roman" panose="02020603050405020304" pitchFamily="18" charset="0"/>
              </a:rPr>
              <a:t>a </a:t>
            </a:r>
            <a:r>
              <a:rPr lang="vi-VN" sz="2400">
                <a:solidFill>
                  <a:schemeClr val="tx1"/>
                </a:solidFill>
                <a:latin typeface="Times New Roman" panose="02020603050405020304" pitchFamily="18" charset="0"/>
                <a:cs typeface="Times New Roman" panose="02020603050405020304" pitchFamily="18" charset="0"/>
              </a:rPr>
              <a:t>phân tích luồng hoạt động khi người dùng muốn </a:t>
            </a:r>
            <a:r>
              <a:rPr lang="vi-VN" sz="2400" b="1">
                <a:solidFill>
                  <a:schemeClr val="tx1"/>
                </a:solidFill>
                <a:latin typeface="Times New Roman" panose="02020603050405020304" pitchFamily="18" charset="0"/>
                <a:cs typeface="Times New Roman" panose="02020603050405020304" pitchFamily="18" charset="0"/>
              </a:rPr>
              <a:t>"Xem danh sách Sách"</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ACB45E55-8407-ABB3-CB92-70BF4A3546DF}"/>
              </a:ext>
            </a:extLst>
          </p:cNvPr>
          <p:cNvSpPr>
            <a:spLocks noChangeArrowheads="1"/>
          </p:cNvSpPr>
          <p:nvPr/>
        </p:nvSpPr>
        <p:spPr bwMode="auto">
          <a:xfrm>
            <a:off x="619688" y="1385210"/>
            <a:ext cx="11109383"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Bước 1: Người dùng thao tác (View)</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Giả sử ta truy cập địa chỉ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hlinkClick r:id="rId3"/>
              </a:rPr>
              <a:t>http://localhost:4200/books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trên trình duyệt (View của Angular).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Component Angular sẽ gửi một yêu cầu HTTP GET tới địa chỉ API của Server.</a:t>
            </a:r>
          </a:p>
        </p:txBody>
      </p:sp>
      <p:sp>
        <p:nvSpPr>
          <p:cNvPr id="10" name="Rectangle 2">
            <a:extLst>
              <a:ext uri="{FF2B5EF4-FFF2-40B4-BE49-F238E27FC236}">
                <a16:creationId xmlns:a16="http://schemas.microsoft.com/office/drawing/2014/main" id="{4EA72010-8404-9B59-01FD-89D655892776}"/>
              </a:ext>
            </a:extLst>
          </p:cNvPr>
          <p:cNvSpPr>
            <a:spLocks noChangeArrowheads="1"/>
          </p:cNvSpPr>
          <p:nvPr/>
        </p:nvSpPr>
        <p:spPr bwMode="auto">
          <a:xfrm>
            <a:off x="619688" y="3627170"/>
            <a:ext cx="10687005" cy="168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Bước 2: Tiếp nhận yêu cầu (Controller)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Web Server (NodeJS + Express) nhận được request tại Endpoint /books.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Mã lệnh thực thi:</a:t>
            </a:r>
          </a:p>
        </p:txBody>
      </p:sp>
      <p:sp>
        <p:nvSpPr>
          <p:cNvPr id="12" name="TextBox 11">
            <a:extLst>
              <a:ext uri="{FF2B5EF4-FFF2-40B4-BE49-F238E27FC236}">
                <a16:creationId xmlns:a16="http://schemas.microsoft.com/office/drawing/2014/main" id="{9D1A3827-1E28-78F4-450E-4FB65C41FB88}"/>
              </a:ext>
            </a:extLst>
          </p:cNvPr>
          <p:cNvSpPr txBox="1"/>
          <p:nvPr/>
        </p:nvSpPr>
        <p:spPr>
          <a:xfrm>
            <a:off x="3496732" y="4774876"/>
            <a:ext cx="7350946" cy="1272143"/>
          </a:xfrm>
          <a:prstGeom prst="rect">
            <a:avLst/>
          </a:prstGeom>
          <a:noFill/>
          <a:ln>
            <a:solidFill>
              <a:schemeClr val="accent1"/>
            </a:solidFill>
          </a:ln>
        </p:spPr>
        <p:txBody>
          <a:bodyPr wrap="square">
            <a:spAutoFit/>
          </a:bodyPr>
          <a:lstStyle/>
          <a:p>
            <a:pPr>
              <a:lnSpc>
                <a:spcPts val="2250"/>
              </a:lnSpc>
              <a:buNone/>
            </a:pPr>
            <a:r>
              <a:rPr lang="en-US" sz="2000" b="0">
                <a:solidFill>
                  <a:srgbClr val="008000"/>
                </a:solidFill>
                <a:effectLst/>
                <a:latin typeface="Consolas" panose="020B0609020204030204" pitchFamily="49" charset="0"/>
              </a:rPr>
              <a:t>// Đây là Controller xử lời yêu cầu của Client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app.get(</a:t>
            </a:r>
            <a:r>
              <a:rPr lang="en-US" sz="2000" b="0">
                <a:solidFill>
                  <a:srgbClr val="A31515"/>
                </a:solidFill>
                <a:effectLst/>
                <a:latin typeface="Consolas" panose="020B0609020204030204" pitchFamily="49" charset="0"/>
              </a:rPr>
              <a:t>"/books"</a:t>
            </a:r>
            <a:r>
              <a:rPr lang="en-US" sz="2000" b="0">
                <a:solidFill>
                  <a:srgbClr val="000000"/>
                </a:solidFill>
                <a:effectLst/>
                <a:latin typeface="Consolas" panose="020B0609020204030204" pitchFamily="49" charset="0"/>
              </a:rPr>
              <a:t>, cors(), (req, res) </a:t>
            </a:r>
            <a:r>
              <a:rPr lang="en-US" sz="2000" b="0">
                <a:solidFill>
                  <a:srgbClr val="0000FF"/>
                </a:solidFill>
                <a:effectLst/>
                <a:latin typeface="Consolas" panose="020B0609020204030204" pitchFamily="49" charset="0"/>
              </a:rPr>
              <a:t>=&gt;</a:t>
            </a: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Chuyển việc cho Model...</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988767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ABEE9FF-EB74-9E55-FF7C-6936691DF5F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901EE4A-62EC-0263-3DC6-0C9A52047F2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3BD2342-CD3D-EC4A-B80C-88551284B82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34CDBF4D-B327-227E-451E-3429DEDC467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85E93C8-9603-2471-26B8-58C8C17928A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MVC pattern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625AE2F-E3C0-A4C1-D293-2457156EE55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D9FA9F1-3263-CB94-C746-5AB36629DF1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475D4F9-BFA8-6E04-9FEE-601B34B1DFB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E773D84-9C84-FF85-5CD7-1F4D31CA4BC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Rectangle 1">
            <a:extLst>
              <a:ext uri="{FF2B5EF4-FFF2-40B4-BE49-F238E27FC236}">
                <a16:creationId xmlns:a16="http://schemas.microsoft.com/office/drawing/2014/main" id="{B69B4313-D3AE-6CEE-F816-080C8D3B372F}"/>
              </a:ext>
            </a:extLst>
          </p:cNvPr>
          <p:cNvSpPr>
            <a:spLocks noChangeArrowheads="1"/>
          </p:cNvSpPr>
          <p:nvPr/>
        </p:nvSpPr>
        <p:spPr bwMode="auto">
          <a:xfrm>
            <a:off x="501535" y="841012"/>
            <a:ext cx="11413166"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Bước 3: Xử lý dữ liệu (Model)</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Controller gọi tới biến truy suất database (đang đóng vai trò là Model lưu trữ dữ liệu tạm thời) để lấy toàn bộ mảng đối tượng Book.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Dữ liệu được trả về cho Controller dưới dạng JSON.</a:t>
            </a:r>
            <a:endPar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Bước 4: Trả về kết quả (Response)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Controller dùng lệnh res.send(database) để gửi dữ liệu về lại cho Client.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Angular (View) nhận dữ liệu JSON này, nạp vào biến books và dùng vòng lặp *ngFor để vẽ lên bảng HTML cho sinh viên thấy.</a:t>
            </a:r>
          </a:p>
        </p:txBody>
      </p:sp>
    </p:spTree>
    <p:extLst>
      <p:ext uri="{BB962C8B-B14F-4D97-AF65-F5344CB8AC3E}">
        <p14:creationId xmlns:p14="http://schemas.microsoft.com/office/powerpoint/2010/main" val="362725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C41E3AF-772F-C006-1CB0-D021DAD7744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476020A-E225-049E-D571-7CAB543C7C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8DD6FD-9386-47DE-E841-930C1C70917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C60CD5FE-9421-C27E-0B76-20646D299AB9}"/>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2D7AA90-14D2-827F-E2AE-93198E902BE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6.1.</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Giới thiệu MVC pattern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F7EC26A-99A4-EAAB-11FE-534B18F798B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F43F1E0-0F88-C190-EB4D-E2B839C06FF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238EC6-9E2C-97BF-DC79-81FB8193C1B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4BCB893-955C-DE92-7901-8A7408EE65C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6C69FAFB-59E8-7DE4-2202-D8144D190EAF}"/>
              </a:ext>
            </a:extLst>
          </p:cNvPr>
          <p:cNvPicPr>
            <a:picLocks noChangeAspect="1"/>
          </p:cNvPicPr>
          <p:nvPr/>
        </p:nvPicPr>
        <p:blipFill>
          <a:blip r:embed="rId3"/>
          <a:srcRect b="920"/>
          <a:stretch>
            <a:fillRect/>
          </a:stretch>
        </p:blipFill>
        <p:spPr>
          <a:xfrm>
            <a:off x="1913465" y="794847"/>
            <a:ext cx="8451774" cy="5582657"/>
          </a:xfrm>
          <a:prstGeom prst="rect">
            <a:avLst/>
          </a:prstGeom>
        </p:spPr>
      </p:pic>
    </p:spTree>
    <p:extLst>
      <p:ext uri="{BB962C8B-B14F-4D97-AF65-F5344CB8AC3E}">
        <p14:creationId xmlns:p14="http://schemas.microsoft.com/office/powerpoint/2010/main" val="1624872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42D08F-E118-58DF-1AF5-0E363A8568E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A6E5632-1256-C7CF-0B59-0662845BC87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A5C8ED3-BC70-EC0E-442F-755A60364EB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7783EFA6-E4F0-AC66-C5A9-AEA86E3DCD1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0A515D2-1023-E2E4-F374-98727CC1E340}"/>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6.2. Giới thiệu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23DA469-3DC7-0785-7B57-30D288EA88D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A26C298-4066-F8CA-F47C-3635E2B5E12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0FD652-4064-9415-F672-663CF33346A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469478-4AC4-F1ED-ACB6-954EBA1FC24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2AF37B6E-2867-074D-4001-99488D9BCA05}"/>
              </a:ext>
            </a:extLst>
          </p:cNvPr>
          <p:cNvSpPr txBox="1">
            <a:spLocks/>
          </p:cNvSpPr>
          <p:nvPr/>
        </p:nvSpPr>
        <p:spPr>
          <a:xfrm>
            <a:off x="477252" y="772262"/>
            <a:ext cx="11279319" cy="230810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ClrTx/>
              <a:buFont typeface="Wingdings" panose="05000000000000000000" pitchFamily="2" charset="2"/>
              <a:buChar char="v"/>
            </a:pPr>
            <a:r>
              <a:rPr lang="en-US" sz="2400" b="1">
                <a:solidFill>
                  <a:prstClr val="black"/>
                </a:solidFill>
                <a:latin typeface="Times New Roman" panose="02020603050405020304" pitchFamily="18" charset="0"/>
                <a:cs typeface="Times New Roman" panose="02020603050405020304" pitchFamily="18" charset="0"/>
              </a:rPr>
              <a:t>API</a:t>
            </a:r>
            <a:r>
              <a:rPr lang="en-US" sz="2400">
                <a:solidFill>
                  <a:prstClr val="black"/>
                </a:solidFill>
                <a:latin typeface="Times New Roman" panose="02020603050405020304" pitchFamily="18" charset="0"/>
                <a:cs typeface="Times New Roman" panose="02020603050405020304" pitchFamily="18" charset="0"/>
              </a:rPr>
              <a:t> </a:t>
            </a:r>
            <a:r>
              <a:rPr lang="vi-VN" sz="2400">
                <a:solidFill>
                  <a:prstClr val="black"/>
                </a:solidFill>
                <a:latin typeface="Times New Roman" panose="02020603050405020304" pitchFamily="18" charset="0"/>
                <a:cs typeface="Times New Roman" panose="02020603050405020304" pitchFamily="18" charset="0"/>
              </a:rPr>
              <a:t>(</a:t>
            </a:r>
            <a:r>
              <a:rPr lang="vi-VN" sz="2400" b="1">
                <a:solidFill>
                  <a:prstClr val="black"/>
                </a:solidFill>
                <a:latin typeface="Times New Roman" panose="02020603050405020304" pitchFamily="18" charset="0"/>
                <a:cs typeface="Times New Roman" panose="02020603050405020304" pitchFamily="18" charset="0"/>
              </a:rPr>
              <a:t>A</a:t>
            </a:r>
            <a:r>
              <a:rPr lang="vi-VN" sz="2400">
                <a:solidFill>
                  <a:prstClr val="black"/>
                </a:solidFill>
                <a:latin typeface="Times New Roman" panose="02020603050405020304" pitchFamily="18" charset="0"/>
                <a:cs typeface="Times New Roman" panose="02020603050405020304" pitchFamily="18" charset="0"/>
              </a:rPr>
              <a:t>pplication </a:t>
            </a:r>
            <a:r>
              <a:rPr lang="vi-VN" sz="2400" b="1">
                <a:solidFill>
                  <a:prstClr val="black"/>
                </a:solidFill>
                <a:latin typeface="Times New Roman" panose="02020603050405020304" pitchFamily="18" charset="0"/>
                <a:cs typeface="Times New Roman" panose="02020603050405020304" pitchFamily="18" charset="0"/>
              </a:rPr>
              <a:t>P</a:t>
            </a:r>
            <a:r>
              <a:rPr lang="vi-VN" sz="2400">
                <a:solidFill>
                  <a:prstClr val="black"/>
                </a:solidFill>
                <a:latin typeface="Times New Roman" panose="02020603050405020304" pitchFamily="18" charset="0"/>
                <a:cs typeface="Times New Roman" panose="02020603050405020304" pitchFamily="18" charset="0"/>
              </a:rPr>
              <a:t>rogramming </a:t>
            </a:r>
            <a:r>
              <a:rPr lang="vi-VN" sz="2400" b="1">
                <a:solidFill>
                  <a:prstClr val="black"/>
                </a:solidFill>
                <a:latin typeface="Times New Roman" panose="02020603050405020304" pitchFamily="18" charset="0"/>
                <a:cs typeface="Times New Roman" panose="02020603050405020304" pitchFamily="18" charset="0"/>
              </a:rPr>
              <a:t>I</a:t>
            </a:r>
            <a:r>
              <a:rPr lang="vi-VN" sz="2400">
                <a:solidFill>
                  <a:prstClr val="black"/>
                </a:solidFill>
                <a:latin typeface="Times New Roman" panose="02020603050405020304" pitchFamily="18" charset="0"/>
                <a:cs typeface="Times New Roman" panose="02020603050405020304" pitchFamily="18" charset="0"/>
              </a:rPr>
              <a:t>nterface) là một tập các quy tắc và cơ chế cho phép một ứng dụng hay một thành phần sẽ tương tác với một ứng dụng hay thành phần khác. API có thể trả về dữ liệu cần thiết cho ứng dụng ở những dạng phổ biến như JSON hay XML.</a:t>
            </a:r>
          </a:p>
        </p:txBody>
      </p:sp>
      <p:pic>
        <p:nvPicPr>
          <p:cNvPr id="10" name="Picture 9">
            <a:extLst>
              <a:ext uri="{FF2B5EF4-FFF2-40B4-BE49-F238E27FC236}">
                <a16:creationId xmlns:a16="http://schemas.microsoft.com/office/drawing/2014/main" id="{068349D3-98C4-DF8E-11B8-B4FF11D3D82A}"/>
              </a:ext>
            </a:extLst>
          </p:cNvPr>
          <p:cNvPicPr>
            <a:picLocks noChangeAspect="1"/>
          </p:cNvPicPr>
          <p:nvPr/>
        </p:nvPicPr>
        <p:blipFill>
          <a:blip r:embed="rId3"/>
          <a:stretch>
            <a:fillRect/>
          </a:stretch>
        </p:blipFill>
        <p:spPr>
          <a:xfrm>
            <a:off x="996704" y="3251814"/>
            <a:ext cx="9953751" cy="3022991"/>
          </a:xfrm>
          <a:prstGeom prst="rect">
            <a:avLst/>
          </a:prstGeom>
        </p:spPr>
      </p:pic>
    </p:spTree>
    <p:extLst>
      <p:ext uri="{BB962C8B-B14F-4D97-AF65-F5344CB8AC3E}">
        <p14:creationId xmlns:p14="http://schemas.microsoft.com/office/powerpoint/2010/main" val="2847398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43B0C2-FFF5-C4FF-D7DA-1FDB4B92935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BC5ADE0-B1A0-326B-59E6-548E6BB79EB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AFFD09-9DC2-CF7C-603B-1C0134A744C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E13374FD-14B8-8E5E-0866-15B2FF9A865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83088D2-36F7-D2DA-743B-D1377E31799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6.2. Giới thiệu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ED26E00-DF4F-D346-57F3-3660286446B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13AB8C3-B597-AD66-906A-F0E49384799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6CEC5D1-1962-9600-0F3B-D967E8DB8FB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AA03314-41B1-F7C5-1D58-88B05DF321B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a:extLst>
              <a:ext uri="{FF2B5EF4-FFF2-40B4-BE49-F238E27FC236}">
                <a16:creationId xmlns:a16="http://schemas.microsoft.com/office/drawing/2014/main" id="{2C475EC5-C051-08A6-A93A-A1254A2E45F5}"/>
              </a:ext>
            </a:extLst>
          </p:cNvPr>
          <p:cNvSpPr txBox="1">
            <a:spLocks/>
          </p:cNvSpPr>
          <p:nvPr/>
        </p:nvSpPr>
        <p:spPr>
          <a:xfrm>
            <a:off x="524933" y="841011"/>
            <a:ext cx="11520395" cy="538412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ClrTx/>
              <a:buFont typeface="Wingdings" panose="05000000000000000000" pitchFamily="2" charset="2"/>
              <a:buChar char="q"/>
            </a:pPr>
            <a:r>
              <a:rPr lang="vi-VN" sz="2400" b="1">
                <a:latin typeface="Times New Roman" panose="02020603050405020304" pitchFamily="18" charset="0"/>
                <a:cs typeface="Times New Roman" panose="02020603050405020304" pitchFamily="18" charset="0"/>
              </a:rPr>
              <a:t>REST</a:t>
            </a:r>
            <a:r>
              <a:rPr lang="vi-VN" sz="2400">
                <a:latin typeface="Times New Roman" panose="02020603050405020304" pitchFamily="18" charset="0"/>
                <a:cs typeface="Times New Roman" panose="02020603050405020304" pitchFamily="18" charset="0"/>
              </a:rPr>
              <a:t> (Representational State Transfer) là một kiểu kiến trúc phần mềm (architectural style) đưa ra các ràng buộc và quy ước để thiết kế các dịch vụ web mạng.</a:t>
            </a:r>
            <a:endParaRPr lang="en-US" sz="2400" b="1">
              <a:solidFill>
                <a:prstClr val="black"/>
              </a:solidFill>
              <a:latin typeface="Times New Roman" panose="02020603050405020304" pitchFamily="18" charset="0"/>
              <a:cs typeface="Times New Roman" panose="02020603050405020304" pitchFamily="18" charset="0"/>
            </a:endParaRPr>
          </a:p>
          <a:p>
            <a:pPr algn="just">
              <a:lnSpc>
                <a:spcPct val="150000"/>
              </a:lnSpc>
              <a:buClrTx/>
              <a:buFont typeface="Wingdings" panose="05000000000000000000" pitchFamily="2" charset="2"/>
              <a:buChar char="q"/>
            </a:pPr>
            <a:r>
              <a:rPr lang="vi-VN" sz="2400" b="1">
                <a:solidFill>
                  <a:prstClr val="black"/>
                </a:solidFill>
                <a:latin typeface="Times New Roman" panose="02020603050405020304" pitchFamily="18" charset="0"/>
                <a:cs typeface="Times New Roman" panose="02020603050405020304" pitchFamily="18" charset="0"/>
              </a:rPr>
              <a:t>Restful API </a:t>
            </a:r>
            <a:r>
              <a:rPr lang="vi-VN" sz="2400">
                <a:solidFill>
                  <a:prstClr val="black"/>
                </a:solidFill>
                <a:latin typeface="Times New Roman" panose="02020603050405020304" pitchFamily="18" charset="0"/>
                <a:cs typeface="Times New Roman" panose="02020603050405020304" pitchFamily="18" charset="0"/>
              </a:rPr>
              <a:t>là một trong những tiêu chuẩn phổ biến được sử dụng để thiết kế API cho các ứng dụng web để quản lý các resource, giúp cho các ứng dụng (web, mobile…) khác nhau giao tiếp với nhau. Nó thường bao gồm các trạng thái tài nguyên đã được định dạng sẵn và được truyền tải thông qua HTTP.</a:t>
            </a:r>
            <a:endParaRPr lang="en-US" sz="24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087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ACF5E70-96A3-1251-CEAA-EDBB4988E94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9A4CDFD-3909-0C21-7A1A-B79A1ECB4A1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532EA04-83D2-AF29-584C-49987024ECD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C6EC2060-1AC9-B7C9-0410-B96C3454A18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C718B0F-83EB-EA4B-9810-062622A2BED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6.2. Giới thiệu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C79FE57-2A97-3641-330F-F041C87EBA5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64C1E9A-5D08-B344-B875-290B398BE53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FFC532A-D4D5-C348-11C2-F97F6840B24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A275864-1E1D-9CBF-362B-D4A27F21966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a:extLst>
              <a:ext uri="{FF2B5EF4-FFF2-40B4-BE49-F238E27FC236}">
                <a16:creationId xmlns:a16="http://schemas.microsoft.com/office/drawing/2014/main" id="{99A908C1-F716-7582-5E2B-A31D40896F0D}"/>
              </a:ext>
            </a:extLst>
          </p:cNvPr>
          <p:cNvSpPr txBox="1">
            <a:spLocks/>
          </p:cNvSpPr>
          <p:nvPr/>
        </p:nvSpPr>
        <p:spPr>
          <a:xfrm>
            <a:off x="524933" y="841011"/>
            <a:ext cx="11520395" cy="538412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ClrTx/>
              <a:buFont typeface="Wingdings" panose="05000000000000000000" pitchFamily="2" charset="2"/>
              <a:buChar char="q"/>
            </a:pPr>
            <a:r>
              <a:rPr lang="vi-VN" sz="2200" b="1">
                <a:solidFill>
                  <a:prstClr val="black"/>
                </a:solidFill>
                <a:latin typeface="Times" pitchFamily="2" charset="0"/>
              </a:rPr>
              <a:t>Các đặc trưng cốt lõi của RESTful API</a:t>
            </a:r>
            <a:endParaRPr lang="en-US" sz="2200" b="1">
              <a:solidFill>
                <a:prstClr val="black"/>
              </a:solidFill>
              <a:latin typeface="Times" pitchFamily="2" charset="0"/>
            </a:endParaRPr>
          </a:p>
        </p:txBody>
      </p:sp>
      <p:sp>
        <p:nvSpPr>
          <p:cNvPr id="10" name="Rectangle 2">
            <a:extLst>
              <a:ext uri="{FF2B5EF4-FFF2-40B4-BE49-F238E27FC236}">
                <a16:creationId xmlns:a16="http://schemas.microsoft.com/office/drawing/2014/main" id="{5F24B8A5-FEB5-C2DC-EE9E-BA9F6150AC5E}"/>
              </a:ext>
            </a:extLst>
          </p:cNvPr>
          <p:cNvSpPr>
            <a:spLocks noChangeArrowheads="1"/>
          </p:cNvSpPr>
          <p:nvPr/>
        </p:nvSpPr>
        <p:spPr bwMode="auto">
          <a:xfrm>
            <a:off x="533859" y="1315302"/>
            <a:ext cx="11124281"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Tài nguyên (Resource):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Mọi thứ trong REST đều được xem là tài nguyên (ví dụ: Sách, Khách hàng, Sản phẩm) và được định danh bởi một URL (URI) duy nhất. Ví dụ: http://localhost:3000/books.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Không trạng thái (Stateless):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Server không lưu trữ bất kỳ trạng thái nào của Client giữa các lần gửi request. Mỗi request từ Client lên Server phải chứa đầy đủ thông tin để Server có thể hiểu và xử lý độc lập.</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Định dạng dữ liệu:</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Mặc dù REST hỗ trợ nhiều định dạng (XML, HTML, Text), nhưng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JSON (JavaScript Object Notation)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là định dạng phổ biến nhất hiện nay vì tính nhẹ và dễ đọc.</a:t>
            </a:r>
          </a:p>
        </p:txBody>
      </p:sp>
    </p:spTree>
    <p:extLst>
      <p:ext uri="{BB962C8B-B14F-4D97-AF65-F5344CB8AC3E}">
        <p14:creationId xmlns:p14="http://schemas.microsoft.com/office/powerpoint/2010/main" val="2725451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EB86934-6487-BCE0-384C-80FB14ADE71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1241238-8340-0983-09C0-D736CD0B47A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CB8EB81-0FC1-7C2F-EF53-67D7EB35DB5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5001430E-58C9-F804-8665-190B9E84F31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4EA9ACA-FF03-A9D2-7CAF-4DCEE15BFD9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6.2. Giới thiệu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7172726-912A-F740-719E-89DE009B060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5944DCD-6A19-0ED7-1318-01C059EBC06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8B2FDDB-20D9-653F-46FF-6184722278A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58CA612-8A15-9874-1F73-EC5DFC1FC0D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a:extLst>
              <a:ext uri="{FF2B5EF4-FFF2-40B4-BE49-F238E27FC236}">
                <a16:creationId xmlns:a16="http://schemas.microsoft.com/office/drawing/2014/main" id="{1854AF30-9822-5003-DA18-2BDD8FAF4A5E}"/>
              </a:ext>
            </a:extLst>
          </p:cNvPr>
          <p:cNvSpPr txBox="1">
            <a:spLocks/>
          </p:cNvSpPr>
          <p:nvPr/>
        </p:nvSpPr>
        <p:spPr>
          <a:xfrm>
            <a:off x="524933" y="841011"/>
            <a:ext cx="11520395" cy="538412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ClrTx/>
              <a:buFont typeface="Wingdings" panose="05000000000000000000" pitchFamily="2" charset="2"/>
              <a:buChar char="q"/>
            </a:pPr>
            <a:r>
              <a:rPr lang="vi-VN" sz="2200" b="1">
                <a:solidFill>
                  <a:prstClr val="black"/>
                </a:solidFill>
                <a:latin typeface="Times" pitchFamily="2" charset="0"/>
              </a:rPr>
              <a:t>Các phương thức HTTP (HTTP Methods) tương ứng với CRUD</a:t>
            </a:r>
            <a:endParaRPr lang="en-US" sz="2200" b="1">
              <a:solidFill>
                <a:prstClr val="black"/>
              </a:solidFill>
              <a:latin typeface="Times" pitchFamily="2" charset="0"/>
            </a:endParaRPr>
          </a:p>
        </p:txBody>
      </p:sp>
      <p:pic>
        <p:nvPicPr>
          <p:cNvPr id="11" name="Picture 10">
            <a:extLst>
              <a:ext uri="{FF2B5EF4-FFF2-40B4-BE49-F238E27FC236}">
                <a16:creationId xmlns:a16="http://schemas.microsoft.com/office/drawing/2014/main" id="{39D5F909-40C6-21FB-02D6-11C1FC19A666}"/>
              </a:ext>
            </a:extLst>
          </p:cNvPr>
          <p:cNvPicPr>
            <a:picLocks noChangeAspect="1"/>
          </p:cNvPicPr>
          <p:nvPr/>
        </p:nvPicPr>
        <p:blipFill>
          <a:blip r:embed="rId3">
            <a:clrChange>
              <a:clrFrom>
                <a:srgbClr val="FFFFFF">
                  <a:alpha val="0"/>
                </a:srgbClr>
              </a:clrFrom>
              <a:clrTo>
                <a:srgbClr val="FFFFFF">
                  <a:alpha val="0"/>
                </a:srgbClr>
              </a:clrTo>
            </a:clrChange>
            <a:extLst>
              <a:ext uri="{28A0092B-C50C-407E-A947-70E740481C1C}">
                <a14:useLocalDpi xmlns:a14="http://schemas.microsoft.com/office/drawing/2010/main" val="0"/>
              </a:ext>
            </a:extLst>
          </a:blip>
          <a:srcRect r="4330"/>
          <a:stretch>
            <a:fillRect/>
          </a:stretch>
        </p:blipFill>
        <p:spPr>
          <a:xfrm>
            <a:off x="5198817" y="1397489"/>
            <a:ext cx="6846511" cy="4493538"/>
          </a:xfrm>
          <a:prstGeom prst="rect">
            <a:avLst/>
          </a:prstGeom>
          <a:ln>
            <a:solidFill>
              <a:schemeClr val="accent1"/>
            </a:solidFill>
          </a:ln>
        </p:spPr>
      </p:pic>
      <p:sp>
        <p:nvSpPr>
          <p:cNvPr id="8" name="Rectangle 1">
            <a:extLst>
              <a:ext uri="{FF2B5EF4-FFF2-40B4-BE49-F238E27FC236}">
                <a16:creationId xmlns:a16="http://schemas.microsoft.com/office/drawing/2014/main" id="{92137EE6-0FF5-1185-2988-74CE7F58526B}"/>
              </a:ext>
            </a:extLst>
          </p:cNvPr>
          <p:cNvSpPr>
            <a:spLocks noChangeArrowheads="1"/>
          </p:cNvSpPr>
          <p:nvPr/>
        </p:nvSpPr>
        <p:spPr bwMode="auto">
          <a:xfrm>
            <a:off x="388797" y="1378261"/>
            <a:ext cx="4715234"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GET (Read):</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Lấy danh sách tài nguyên hoặc một tài nguyên cụ thể. Ví dụ: GET /books (Lấy tất cả sách), GET /books/b1 (Lấy sách có id là b1).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POST (Create):</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Tạo mới một tài nguyên. Dữ liệu gửi kèm thường nằm trong body của request.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PUT (Update):</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Cập nhật toàn bộ thông tin của một tài nguyên đã tồn tại.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DELETE (Delete):</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Xóa một tài nguyên khỏi hệ thống. </a:t>
            </a:r>
          </a:p>
        </p:txBody>
      </p:sp>
    </p:spTree>
    <p:extLst>
      <p:ext uri="{BB962C8B-B14F-4D97-AF65-F5344CB8AC3E}">
        <p14:creationId xmlns:p14="http://schemas.microsoft.com/office/powerpoint/2010/main" val="153746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5B8CA24-45D3-B9E9-F61A-79B6AFD6AE8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5C5CBC4-AA16-5D90-25A3-BE5F4095395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2A37599-5B90-3E55-1172-DDCA34598E5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6A26EBE4-B57C-1ACD-55BF-A7F1E46E084E}"/>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8BCBEEF-D0A2-B4FC-56BD-BB341F58903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E62D29D-B2F6-79B3-C264-B48D3AE1759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99D7852-64FE-F5B9-97B8-FD15B098D03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5AF946B-E146-2729-E61E-8B81ABAE52B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CBFF0AB-D2C5-0962-2843-6B47BED4D8C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50575EF-B186-7A64-EBBC-2FFA2125A706}"/>
              </a:ext>
            </a:extLst>
          </p:cNvPr>
          <p:cNvSpPr txBox="1"/>
          <p:nvPr/>
        </p:nvSpPr>
        <p:spPr>
          <a:xfrm>
            <a:off x="462279" y="717262"/>
            <a:ext cx="11564547" cy="1687963"/>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Khi làm các dự án chung, sẽ phân chia công việc giữa các thành viên, có thành viên thì tạo ra các API, thành viên thì sử dụng API. Giả sử ta được một nhóm xây dựng API lấy danh sách sản phẩm như sau: </a:t>
            </a:r>
            <a:r>
              <a:rPr lang="en-US" sz="2400">
                <a:latin typeface="Times New Roman" panose="02020603050405020304" pitchFamily="18" charset="0"/>
                <a:cs typeface="Times New Roman" panose="02020603050405020304" pitchFamily="18" charset="0"/>
                <a:hlinkClick r:id="rId3"/>
              </a:rPr>
              <a:t>https://fakestoreapi.com/products</a:t>
            </a:r>
            <a:r>
              <a:rPr lang="en-US" sz="2400">
                <a:latin typeface="Times New Roman" panose="02020603050405020304" pitchFamily="18" charset="0"/>
                <a:cs typeface="Times New Roman" panose="02020603050405020304" pitchFamily="18" charset="0"/>
              </a:rPr>
              <a:t> </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B7E738A-163F-F6BB-4D1F-6471F1F64004}"/>
              </a:ext>
            </a:extLst>
          </p:cNvPr>
          <p:cNvPicPr>
            <a:picLocks noChangeAspect="1"/>
          </p:cNvPicPr>
          <p:nvPr/>
        </p:nvPicPr>
        <p:blipFill>
          <a:blip r:embed="rId4"/>
          <a:stretch>
            <a:fillRect/>
          </a:stretch>
        </p:blipFill>
        <p:spPr>
          <a:xfrm>
            <a:off x="2286189" y="2345221"/>
            <a:ext cx="7916725" cy="4084142"/>
          </a:xfrm>
          <a:prstGeom prst="rect">
            <a:avLst/>
          </a:prstGeom>
        </p:spPr>
      </p:pic>
    </p:spTree>
    <p:extLst>
      <p:ext uri="{BB962C8B-B14F-4D97-AF65-F5344CB8AC3E}">
        <p14:creationId xmlns:p14="http://schemas.microsoft.com/office/powerpoint/2010/main" val="1507178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8193CB6-9C26-605E-5B99-65F0D38975B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8D1CFEC-C8C3-59BC-4250-3A85B61DAC5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929F2A-7858-64E5-BD27-8D2525216A8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34C303CD-F9B3-AC5D-EE72-FC29E745B4B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97F1637-D29A-B4B6-57E7-0D2ECC3086B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C68CBCA-11D2-3663-FB56-63155912AD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86C2AA-2125-DC0F-2153-87A73C2B4FF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1333298-D0F9-705E-0A5C-96EBDFB084C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838C4EC-3530-887E-09BB-F95D91ED4D2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D9AE0C5-2051-0AFA-FB78-FBA3B8B28743}"/>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Phân tích theo cấu trúc Pretty-print</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0BFD0F9-52A5-5DB9-24BC-ADBF34939A2A}"/>
              </a:ext>
            </a:extLst>
          </p:cNvPr>
          <p:cNvPicPr>
            <a:picLocks noChangeAspect="1"/>
          </p:cNvPicPr>
          <p:nvPr/>
        </p:nvPicPr>
        <p:blipFill>
          <a:blip r:embed="rId3"/>
          <a:stretch>
            <a:fillRect/>
          </a:stretch>
        </p:blipFill>
        <p:spPr>
          <a:xfrm>
            <a:off x="924498" y="1297229"/>
            <a:ext cx="9800796" cy="5056112"/>
          </a:xfrm>
          <a:prstGeom prst="rect">
            <a:avLst/>
          </a:prstGeom>
        </p:spPr>
      </p:pic>
    </p:spTree>
    <p:extLst>
      <p:ext uri="{BB962C8B-B14F-4D97-AF65-F5344CB8AC3E}">
        <p14:creationId xmlns:p14="http://schemas.microsoft.com/office/powerpoint/2010/main" val="1009177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66472A3-10D5-DC6B-0A9B-ABC9738AEE5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5EC977-E471-CD17-BAFE-FF886805A21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A0DBD0B-458A-3765-C2E8-F9A342CEAB9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BE980735-06AB-E486-C337-416FC96D312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2048236-84D8-042C-2E05-ED5388AF4C0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8FAB86B-FCE7-CD7A-BAC9-71684B111BE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0062622-B8E6-4628-E994-2A9B96DBCBA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A2E56E9-01B3-1E82-0D30-6FEA4F05B8D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6D1D56-713C-6647-ADD0-7429CC07EFB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D341E1F-77A9-3EFD-BF5B-DFE5ACA3320F}"/>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Tạo các model classes: </a:t>
            </a:r>
            <a:r>
              <a:rPr lang="en-US" sz="2400">
                <a:solidFill>
                  <a:srgbClr val="FF0000"/>
                </a:solidFill>
                <a:latin typeface="Times New Roman" panose="02020603050405020304" pitchFamily="18" charset="0"/>
                <a:cs typeface="Times New Roman" panose="02020603050405020304" pitchFamily="18" charset="0"/>
              </a:rPr>
              <a:t>IFakeProductRating</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5AE8675-9F74-FD13-A874-4CF16FAE6A60}"/>
              </a:ext>
            </a:extLst>
          </p:cNvPr>
          <p:cNvPicPr>
            <a:picLocks noChangeAspect="1"/>
          </p:cNvPicPr>
          <p:nvPr/>
        </p:nvPicPr>
        <p:blipFill>
          <a:blip r:embed="rId3"/>
          <a:stretch>
            <a:fillRect/>
          </a:stretch>
        </p:blipFill>
        <p:spPr>
          <a:xfrm>
            <a:off x="879658" y="1500887"/>
            <a:ext cx="10432684" cy="2522439"/>
          </a:xfrm>
          <a:prstGeom prst="rect">
            <a:avLst/>
          </a:prstGeom>
        </p:spPr>
      </p:pic>
      <p:sp>
        <p:nvSpPr>
          <p:cNvPr id="12" name="Rectangle 11">
            <a:extLst>
              <a:ext uri="{FF2B5EF4-FFF2-40B4-BE49-F238E27FC236}">
                <a16:creationId xmlns:a16="http://schemas.microsoft.com/office/drawing/2014/main" id="{B6091762-80C4-74D8-FE80-1027E78CD519}"/>
              </a:ext>
            </a:extLst>
          </p:cNvPr>
          <p:cNvSpPr/>
          <p:nvPr/>
        </p:nvSpPr>
        <p:spPr>
          <a:xfrm>
            <a:off x="1078173" y="3063922"/>
            <a:ext cx="2941093" cy="78474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E79C102-1969-4FF3-D3C7-8912B0867499}"/>
              </a:ext>
            </a:extLst>
          </p:cNvPr>
          <p:cNvPicPr>
            <a:picLocks noChangeAspect="1"/>
          </p:cNvPicPr>
          <p:nvPr/>
        </p:nvPicPr>
        <p:blipFill>
          <a:blip r:embed="rId4"/>
          <a:stretch>
            <a:fillRect/>
          </a:stretch>
        </p:blipFill>
        <p:spPr>
          <a:xfrm>
            <a:off x="4509501" y="3848669"/>
            <a:ext cx="6431837" cy="2049958"/>
          </a:xfrm>
          <a:prstGeom prst="rect">
            <a:avLst/>
          </a:prstGeom>
        </p:spPr>
      </p:pic>
      <p:sp>
        <p:nvSpPr>
          <p:cNvPr id="15" name="TextBox 14">
            <a:extLst>
              <a:ext uri="{FF2B5EF4-FFF2-40B4-BE49-F238E27FC236}">
                <a16:creationId xmlns:a16="http://schemas.microsoft.com/office/drawing/2014/main" id="{63799BBA-A9EB-B7DE-EA3C-EE36F7A65B1D}"/>
              </a:ext>
            </a:extLst>
          </p:cNvPr>
          <p:cNvSpPr txBox="1"/>
          <p:nvPr/>
        </p:nvSpPr>
        <p:spPr>
          <a:xfrm>
            <a:off x="4341534" y="3139016"/>
            <a:ext cx="741503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Trong thư mục classes, tạo </a:t>
            </a:r>
            <a:r>
              <a:rPr lang="en-US" sz="2400" b="1">
                <a:latin typeface="Times New Roman" panose="02020603050405020304" pitchFamily="18" charset="0"/>
                <a:cs typeface="Times New Roman" panose="02020603050405020304" pitchFamily="18" charset="0"/>
              </a:rPr>
              <a:t>IFakeProductRating.ts</a:t>
            </a:r>
            <a:endParaRPr lang="vi-V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384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632AA5-A293-63A8-2220-1AF51E89BC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DD462DB-31B3-27AC-6491-4F9180EBCE0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A5FEF63-9CEF-B4F4-4751-0CA4FF2492A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F954EADF-7375-093B-1759-DA066E72CE1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7C1E612-9506-FCE0-CEE0-27F8315F8C3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29BD551-B3DE-0759-CB78-DE8C265A2FA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5D281AB-893F-3FF0-4EC3-68A61426D7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C644AF-6F71-30C0-8B1B-6EF8F81CBE2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F09340-17DF-65AA-196D-A9E7967CABF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5B1D2B9-7488-967A-745C-62269092058B}"/>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Tạo các model classes: </a:t>
            </a:r>
            <a:r>
              <a:rPr lang="en-US" sz="2400">
                <a:solidFill>
                  <a:srgbClr val="FF0000"/>
                </a:solidFill>
                <a:latin typeface="Times New Roman" panose="02020603050405020304" pitchFamily="18" charset="0"/>
                <a:cs typeface="Times New Roman" panose="02020603050405020304" pitchFamily="18" charset="0"/>
              </a:rPr>
              <a:t>IFakeProduct</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6F51598-BA42-7CD4-01C7-B26F64563CE4}"/>
              </a:ext>
            </a:extLst>
          </p:cNvPr>
          <p:cNvPicPr>
            <a:picLocks noChangeAspect="1"/>
          </p:cNvPicPr>
          <p:nvPr/>
        </p:nvPicPr>
        <p:blipFill>
          <a:blip r:embed="rId3"/>
          <a:stretch>
            <a:fillRect/>
          </a:stretch>
        </p:blipFill>
        <p:spPr>
          <a:xfrm>
            <a:off x="879658" y="1500887"/>
            <a:ext cx="10432684" cy="2522439"/>
          </a:xfrm>
          <a:prstGeom prst="rect">
            <a:avLst/>
          </a:prstGeom>
        </p:spPr>
      </p:pic>
      <p:sp>
        <p:nvSpPr>
          <p:cNvPr id="11" name="Rectangle 10">
            <a:extLst>
              <a:ext uri="{FF2B5EF4-FFF2-40B4-BE49-F238E27FC236}">
                <a16:creationId xmlns:a16="http://schemas.microsoft.com/office/drawing/2014/main" id="{D1EA882D-FCCE-D537-B186-46F24C2916D7}"/>
              </a:ext>
            </a:extLst>
          </p:cNvPr>
          <p:cNvSpPr/>
          <p:nvPr/>
        </p:nvSpPr>
        <p:spPr>
          <a:xfrm>
            <a:off x="873149" y="1409006"/>
            <a:ext cx="1876926" cy="266617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B0D4F4A-7AC4-C2E1-EC52-B82E39B8BB92}"/>
              </a:ext>
            </a:extLst>
          </p:cNvPr>
          <p:cNvSpPr txBox="1"/>
          <p:nvPr/>
        </p:nvSpPr>
        <p:spPr>
          <a:xfrm>
            <a:off x="3098799" y="1150601"/>
            <a:ext cx="741503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Trong thư mục classes, tạo </a:t>
            </a:r>
            <a:r>
              <a:rPr lang="en-US" sz="2400" b="1">
                <a:latin typeface="Times New Roman" panose="02020603050405020304" pitchFamily="18" charset="0"/>
                <a:cs typeface="Times New Roman" panose="02020603050405020304" pitchFamily="18" charset="0"/>
              </a:rPr>
              <a:t>IFakeProduct.ts</a:t>
            </a:r>
            <a:endParaRPr lang="vi-VN" sz="2400" b="1" dirty="0">
              <a:solidFill>
                <a:srgbClr val="FF0000"/>
              </a:solidFill>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B37EB321-43FD-10DA-81CE-3BA1B54A8BCC}"/>
              </a:ext>
            </a:extLst>
          </p:cNvPr>
          <p:cNvPicPr>
            <a:picLocks noChangeAspect="1"/>
          </p:cNvPicPr>
          <p:nvPr/>
        </p:nvPicPr>
        <p:blipFill>
          <a:blip r:embed="rId4"/>
          <a:srcRect/>
          <a:stretch/>
        </p:blipFill>
        <p:spPr>
          <a:xfrm>
            <a:off x="3098799" y="1823905"/>
            <a:ext cx="8658983" cy="4206617"/>
          </a:xfrm>
          <a:prstGeom prst="rect">
            <a:avLst/>
          </a:prstGeom>
        </p:spPr>
      </p:pic>
    </p:spTree>
    <p:extLst>
      <p:ext uri="{BB962C8B-B14F-4D97-AF65-F5344CB8AC3E}">
        <p14:creationId xmlns:p14="http://schemas.microsoft.com/office/powerpoint/2010/main" val="648292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E4CF4D1-AB59-52D3-5188-E265A92995B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051572B-8A3E-F8E6-8763-0513D939B52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C7BD5F5-A519-14D7-077A-C70EAE7CB4C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511453DC-569D-C216-339F-D4C52EAE09B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97263BD-A51B-1294-C6ED-FEC6AA67F94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F9DCEC7-16D9-CAEC-4A44-E05DC1C4BCE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4D800FC-C84D-AFD2-6ECC-F49AAF0426D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80E8B8A-55FF-2A2C-AEA7-59E70616735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06C377B-4A53-6D3C-DE67-B4A440CDBCD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849891E-0A2F-AA63-FA84-671A1B68952D}"/>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a:t>
            </a:r>
            <a:r>
              <a:rPr lang="en-US" sz="2400" b="1">
                <a:latin typeface="Times New Roman" panose="02020603050405020304" pitchFamily="18" charset="0"/>
                <a:cs typeface="Times New Roman" panose="02020603050405020304" pitchFamily="18" charset="0"/>
              </a:rPr>
              <a:t>FakeProductService </a:t>
            </a:r>
            <a:r>
              <a:rPr lang="en-US" sz="2400">
                <a:latin typeface="Times New Roman" panose="02020603050405020304" pitchFamily="18" charset="0"/>
                <a:cs typeface="Times New Roman" panose="02020603050405020304" pitchFamily="18" charset="0"/>
              </a:rPr>
              <a:t>trong thư mục </a:t>
            </a:r>
            <a:r>
              <a:rPr lang="en-US" sz="2400" b="1">
                <a:latin typeface="Times New Roman" panose="02020603050405020304" pitchFamily="18" charset="0"/>
                <a:cs typeface="Times New Roman" panose="02020603050405020304" pitchFamily="18" charset="0"/>
              </a:rPr>
              <a:t>services</a:t>
            </a:r>
            <a:endParaRPr lang="vi-VN" sz="2400" b="1" dirty="0">
              <a:solidFill>
                <a:srgbClr val="FF0000"/>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403F5A58-C7BE-775F-DB75-E80D7F9829FD}"/>
              </a:ext>
            </a:extLst>
          </p:cNvPr>
          <p:cNvPicPr>
            <a:picLocks noChangeAspect="1"/>
          </p:cNvPicPr>
          <p:nvPr/>
        </p:nvPicPr>
        <p:blipFill>
          <a:blip r:embed="rId3"/>
          <a:stretch>
            <a:fillRect/>
          </a:stretch>
        </p:blipFill>
        <p:spPr>
          <a:xfrm>
            <a:off x="640313" y="1297229"/>
            <a:ext cx="3759807" cy="2625331"/>
          </a:xfrm>
          <a:prstGeom prst="rect">
            <a:avLst/>
          </a:prstGeom>
        </p:spPr>
      </p:pic>
      <p:pic>
        <p:nvPicPr>
          <p:cNvPr id="15" name="Picture 14">
            <a:extLst>
              <a:ext uri="{FF2B5EF4-FFF2-40B4-BE49-F238E27FC236}">
                <a16:creationId xmlns:a16="http://schemas.microsoft.com/office/drawing/2014/main" id="{39838464-8359-9872-78F8-09E8866033D8}"/>
              </a:ext>
            </a:extLst>
          </p:cNvPr>
          <p:cNvPicPr>
            <a:picLocks noChangeAspect="1"/>
          </p:cNvPicPr>
          <p:nvPr/>
        </p:nvPicPr>
        <p:blipFill>
          <a:blip r:embed="rId4"/>
          <a:stretch>
            <a:fillRect/>
          </a:stretch>
        </p:blipFill>
        <p:spPr>
          <a:xfrm>
            <a:off x="5080916" y="1471973"/>
            <a:ext cx="6904318" cy="723963"/>
          </a:xfrm>
          <a:prstGeom prst="rect">
            <a:avLst/>
          </a:prstGeom>
        </p:spPr>
      </p:pic>
      <p:pic>
        <p:nvPicPr>
          <p:cNvPr id="18" name="Picture 17">
            <a:extLst>
              <a:ext uri="{FF2B5EF4-FFF2-40B4-BE49-F238E27FC236}">
                <a16:creationId xmlns:a16="http://schemas.microsoft.com/office/drawing/2014/main" id="{7EA003FB-E5DD-FB34-7DB7-3AE0719A53F4}"/>
              </a:ext>
            </a:extLst>
          </p:cNvPr>
          <p:cNvPicPr>
            <a:picLocks noChangeAspect="1"/>
          </p:cNvPicPr>
          <p:nvPr/>
        </p:nvPicPr>
        <p:blipFill>
          <a:blip r:embed="rId5"/>
          <a:stretch>
            <a:fillRect/>
          </a:stretch>
        </p:blipFill>
        <p:spPr>
          <a:xfrm>
            <a:off x="5507012" y="3862885"/>
            <a:ext cx="6835732" cy="1882303"/>
          </a:xfrm>
          <a:prstGeom prst="rect">
            <a:avLst/>
          </a:prstGeom>
        </p:spPr>
      </p:pic>
      <p:pic>
        <p:nvPicPr>
          <p:cNvPr id="20" name="Picture 19">
            <a:extLst>
              <a:ext uri="{FF2B5EF4-FFF2-40B4-BE49-F238E27FC236}">
                <a16:creationId xmlns:a16="http://schemas.microsoft.com/office/drawing/2014/main" id="{2D85B2A6-18F3-C8F9-092A-AB797A5A0272}"/>
              </a:ext>
            </a:extLst>
          </p:cNvPr>
          <p:cNvPicPr>
            <a:picLocks noChangeAspect="1"/>
          </p:cNvPicPr>
          <p:nvPr/>
        </p:nvPicPr>
        <p:blipFill>
          <a:blip r:embed="rId6"/>
          <a:stretch>
            <a:fillRect/>
          </a:stretch>
        </p:blipFill>
        <p:spPr>
          <a:xfrm>
            <a:off x="943319" y="4123787"/>
            <a:ext cx="3002540" cy="2164268"/>
          </a:xfrm>
          <a:prstGeom prst="rect">
            <a:avLst/>
          </a:prstGeom>
        </p:spPr>
      </p:pic>
      <p:cxnSp>
        <p:nvCxnSpPr>
          <p:cNvPr id="22" name="Connector: Elbow 21">
            <a:extLst>
              <a:ext uri="{FF2B5EF4-FFF2-40B4-BE49-F238E27FC236}">
                <a16:creationId xmlns:a16="http://schemas.microsoft.com/office/drawing/2014/main" id="{60AF35A7-123A-2790-D3DA-5101D02E88BA}"/>
              </a:ext>
            </a:extLst>
          </p:cNvPr>
          <p:cNvCxnSpPr>
            <a:endCxn id="15" idx="2"/>
          </p:cNvCxnSpPr>
          <p:nvPr/>
        </p:nvCxnSpPr>
        <p:spPr>
          <a:xfrm flipV="1">
            <a:off x="3496732" y="2195936"/>
            <a:ext cx="5036343" cy="1441192"/>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91CF436-7D78-90EE-DCC0-5E27E41C1329}"/>
              </a:ext>
            </a:extLst>
          </p:cNvPr>
          <p:cNvCxnSpPr/>
          <p:nvPr/>
        </p:nvCxnSpPr>
        <p:spPr>
          <a:xfrm>
            <a:off x="10525913" y="2195936"/>
            <a:ext cx="0" cy="17266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1CF0D80E-8384-0EA8-48EF-0CB2A67E79FD}"/>
              </a:ext>
            </a:extLst>
          </p:cNvPr>
          <p:cNvCxnSpPr/>
          <p:nvPr/>
        </p:nvCxnSpPr>
        <p:spPr>
          <a:xfrm rot="10800000" flipV="1">
            <a:off x="3892727" y="5816408"/>
            <a:ext cx="4886888" cy="378135"/>
          </a:xfrm>
          <a:prstGeom prst="bentConnector3">
            <a:avLst>
              <a:gd name="adj1" fmla="val 197"/>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871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6F41D9C-8749-09CE-F750-14E0CBB18E7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3A9D722-86AC-0AE3-5FDF-68396C3189A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1F123E7-2C50-1AD3-895B-6948361700A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3D142A04-30DF-96F2-24A8-E9E03C4C642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9F5A2E8-C4DA-A3B6-5ACA-ABE85346E81A}"/>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DEDA35B-41C4-D373-A269-0D2BB6FDC78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B0C5F43-B55C-5CDF-24B8-2863C11BC8A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2416F7A-737E-8008-B525-14D49BC6C37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46AB2F5-178C-99D8-A07D-6BFC25F50BF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941CAD8A-1F10-0D1A-78DA-A33EBE45E1F6}"/>
              </a:ext>
            </a:extLst>
          </p:cNvPr>
          <p:cNvPicPr>
            <a:picLocks noChangeAspect="1"/>
          </p:cNvPicPr>
          <p:nvPr/>
        </p:nvPicPr>
        <p:blipFill>
          <a:blip r:embed="rId3"/>
          <a:stretch>
            <a:fillRect/>
          </a:stretch>
        </p:blipFill>
        <p:spPr>
          <a:xfrm>
            <a:off x="542786" y="805742"/>
            <a:ext cx="7227752" cy="5571762"/>
          </a:xfrm>
          <a:prstGeom prst="rect">
            <a:avLst/>
          </a:prstGeom>
        </p:spPr>
      </p:pic>
      <p:pic>
        <p:nvPicPr>
          <p:cNvPr id="13" name="Picture 12">
            <a:extLst>
              <a:ext uri="{FF2B5EF4-FFF2-40B4-BE49-F238E27FC236}">
                <a16:creationId xmlns:a16="http://schemas.microsoft.com/office/drawing/2014/main" id="{9D78E57F-5FBC-F8BA-4A03-39A53756183D}"/>
              </a:ext>
            </a:extLst>
          </p:cNvPr>
          <p:cNvPicPr>
            <a:picLocks noChangeAspect="1"/>
          </p:cNvPicPr>
          <p:nvPr/>
        </p:nvPicPr>
        <p:blipFill>
          <a:blip r:embed="rId4"/>
          <a:stretch>
            <a:fillRect/>
          </a:stretch>
        </p:blipFill>
        <p:spPr>
          <a:xfrm>
            <a:off x="6325208" y="2015114"/>
            <a:ext cx="3817951" cy="723963"/>
          </a:xfrm>
          <a:prstGeom prst="rect">
            <a:avLst/>
          </a:prstGeom>
        </p:spPr>
      </p:pic>
      <p:sp>
        <p:nvSpPr>
          <p:cNvPr id="14" name="Rectangle 13">
            <a:extLst>
              <a:ext uri="{FF2B5EF4-FFF2-40B4-BE49-F238E27FC236}">
                <a16:creationId xmlns:a16="http://schemas.microsoft.com/office/drawing/2014/main" id="{664C58FA-0059-FA73-C6E8-1911D882D81C}"/>
              </a:ext>
            </a:extLst>
          </p:cNvPr>
          <p:cNvSpPr/>
          <p:nvPr/>
        </p:nvSpPr>
        <p:spPr>
          <a:xfrm>
            <a:off x="9314597" y="2381534"/>
            <a:ext cx="661916" cy="2524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D7F6740-EE09-79A4-2E18-BBCD408BFCFE}"/>
              </a:ext>
            </a:extLst>
          </p:cNvPr>
          <p:cNvSpPr/>
          <p:nvPr/>
        </p:nvSpPr>
        <p:spPr>
          <a:xfrm>
            <a:off x="2886295" y="2945299"/>
            <a:ext cx="1018811" cy="2447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Connector: Elbow 22">
            <a:extLst>
              <a:ext uri="{FF2B5EF4-FFF2-40B4-BE49-F238E27FC236}">
                <a16:creationId xmlns:a16="http://schemas.microsoft.com/office/drawing/2014/main" id="{4B70475A-297E-B1C1-8AA6-5C2A06DE23CC}"/>
              </a:ext>
            </a:extLst>
          </p:cNvPr>
          <p:cNvCxnSpPr>
            <a:stCxn id="14" idx="2"/>
            <a:endCxn id="19" idx="3"/>
          </p:cNvCxnSpPr>
          <p:nvPr/>
        </p:nvCxnSpPr>
        <p:spPr>
          <a:xfrm rot="5400000">
            <a:off x="6558494" y="-19369"/>
            <a:ext cx="433675" cy="574044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199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155134F-F90D-9953-9C19-95FD2E58BD0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084517-2EE6-E8ED-C886-40C67402088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384B4BB-71BC-5B0E-C3F4-3B756AFC41F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BECCCC88-E1FA-C8B3-9866-31AA83EA298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CDA0FFD-5108-9C44-D97E-95144687371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AAA033F-5739-DA96-18CE-FC87D388F45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308E231-6628-EAB4-B651-C234833A650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603AAB-4BC8-4E63-D1E1-2B32C6805E6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D4424B5-8C18-0A31-D0EA-A855A4CB1F1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E4772D2-36FE-B164-054B-0541E88B2D3B}"/>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Tạo </a:t>
            </a:r>
            <a:r>
              <a:rPr lang="en-US" sz="2400" b="1">
                <a:latin typeface="Times New Roman" panose="02020603050405020304" pitchFamily="18" charset="0"/>
                <a:cs typeface="Times New Roman" panose="02020603050405020304" pitchFamily="18" charset="0"/>
              </a:rPr>
              <a:t>FakeProductComponent </a:t>
            </a:r>
            <a:r>
              <a:rPr lang="en-US" sz="2400">
                <a:latin typeface="Times New Roman" panose="02020603050405020304" pitchFamily="18" charset="0"/>
                <a:cs typeface="Times New Roman" panose="02020603050405020304" pitchFamily="18" charset="0"/>
              </a:rPr>
              <a:t>để triệu gọi external API hiển thị sản phẩm</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31F04F4-E9D4-34F2-50C1-4CA021BE6CFF}"/>
              </a:ext>
            </a:extLst>
          </p:cNvPr>
          <p:cNvPicPr>
            <a:picLocks noChangeAspect="1"/>
          </p:cNvPicPr>
          <p:nvPr/>
        </p:nvPicPr>
        <p:blipFill>
          <a:blip r:embed="rId3"/>
          <a:stretch>
            <a:fillRect/>
          </a:stretch>
        </p:blipFill>
        <p:spPr>
          <a:xfrm>
            <a:off x="388797" y="1366037"/>
            <a:ext cx="4153260" cy="1981372"/>
          </a:xfrm>
          <a:prstGeom prst="rect">
            <a:avLst/>
          </a:prstGeom>
        </p:spPr>
      </p:pic>
      <p:pic>
        <p:nvPicPr>
          <p:cNvPr id="13" name="Picture 12">
            <a:extLst>
              <a:ext uri="{FF2B5EF4-FFF2-40B4-BE49-F238E27FC236}">
                <a16:creationId xmlns:a16="http://schemas.microsoft.com/office/drawing/2014/main" id="{3F0FB9F5-0560-BE3F-B12A-247B596B235F}"/>
              </a:ext>
            </a:extLst>
          </p:cNvPr>
          <p:cNvPicPr>
            <a:picLocks noChangeAspect="1"/>
          </p:cNvPicPr>
          <p:nvPr/>
        </p:nvPicPr>
        <p:blipFill>
          <a:blip r:embed="rId4"/>
          <a:stretch>
            <a:fillRect/>
          </a:stretch>
        </p:blipFill>
        <p:spPr>
          <a:xfrm>
            <a:off x="5426716" y="1717245"/>
            <a:ext cx="5601185" cy="769687"/>
          </a:xfrm>
          <a:prstGeom prst="rect">
            <a:avLst/>
          </a:prstGeom>
        </p:spPr>
      </p:pic>
      <p:pic>
        <p:nvPicPr>
          <p:cNvPr id="16" name="Picture 15">
            <a:extLst>
              <a:ext uri="{FF2B5EF4-FFF2-40B4-BE49-F238E27FC236}">
                <a16:creationId xmlns:a16="http://schemas.microsoft.com/office/drawing/2014/main" id="{9E75942B-C482-B669-848C-F802C9D680BB}"/>
              </a:ext>
            </a:extLst>
          </p:cNvPr>
          <p:cNvPicPr>
            <a:picLocks noChangeAspect="1"/>
          </p:cNvPicPr>
          <p:nvPr/>
        </p:nvPicPr>
        <p:blipFill>
          <a:blip r:embed="rId5"/>
          <a:stretch>
            <a:fillRect/>
          </a:stretch>
        </p:blipFill>
        <p:spPr>
          <a:xfrm>
            <a:off x="4995583" y="3805401"/>
            <a:ext cx="7026249" cy="2514818"/>
          </a:xfrm>
          <a:prstGeom prst="rect">
            <a:avLst/>
          </a:prstGeom>
        </p:spPr>
      </p:pic>
      <p:pic>
        <p:nvPicPr>
          <p:cNvPr id="19" name="Picture 18">
            <a:extLst>
              <a:ext uri="{FF2B5EF4-FFF2-40B4-BE49-F238E27FC236}">
                <a16:creationId xmlns:a16="http://schemas.microsoft.com/office/drawing/2014/main" id="{4896C9B1-7D65-AA5B-643C-EC2300F97F4B}"/>
              </a:ext>
            </a:extLst>
          </p:cNvPr>
          <p:cNvPicPr>
            <a:picLocks noChangeAspect="1"/>
          </p:cNvPicPr>
          <p:nvPr/>
        </p:nvPicPr>
        <p:blipFill>
          <a:blip r:embed="rId6"/>
          <a:stretch>
            <a:fillRect/>
          </a:stretch>
        </p:blipFill>
        <p:spPr>
          <a:xfrm>
            <a:off x="542786" y="3645367"/>
            <a:ext cx="3795089" cy="2674852"/>
          </a:xfrm>
          <a:prstGeom prst="rect">
            <a:avLst/>
          </a:prstGeom>
        </p:spPr>
      </p:pic>
      <p:cxnSp>
        <p:nvCxnSpPr>
          <p:cNvPr id="21" name="Connector: Elbow 20">
            <a:extLst>
              <a:ext uri="{FF2B5EF4-FFF2-40B4-BE49-F238E27FC236}">
                <a16:creationId xmlns:a16="http://schemas.microsoft.com/office/drawing/2014/main" id="{C69B408C-B01E-4E7B-73D3-18A6F2054BBD}"/>
              </a:ext>
            </a:extLst>
          </p:cNvPr>
          <p:cNvCxnSpPr>
            <a:cxnSpLocks/>
            <a:endCxn id="13" idx="2"/>
          </p:cNvCxnSpPr>
          <p:nvPr/>
        </p:nvCxnSpPr>
        <p:spPr>
          <a:xfrm flipV="1">
            <a:off x="3098799" y="2486932"/>
            <a:ext cx="5128510" cy="644532"/>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CB3BCC1-4E3F-F885-8495-50B4790DD60E}"/>
              </a:ext>
            </a:extLst>
          </p:cNvPr>
          <p:cNvCxnSpPr/>
          <p:nvPr/>
        </p:nvCxnSpPr>
        <p:spPr>
          <a:xfrm>
            <a:off x="9838394" y="2488116"/>
            <a:ext cx="0" cy="17266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C701E64-6DD8-23B1-0C7B-EB248086E5C6}"/>
              </a:ext>
            </a:extLst>
          </p:cNvPr>
          <p:cNvCxnSpPr>
            <a:cxnSpLocks/>
          </p:cNvCxnSpPr>
          <p:nvPr/>
        </p:nvCxnSpPr>
        <p:spPr>
          <a:xfrm rot="10800000">
            <a:off x="4337875" y="5293895"/>
            <a:ext cx="839144" cy="723878"/>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267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C88DE66-92D2-F548-AF3A-B8D97D767F3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8862634-6F0B-E24B-384B-67F6185D97D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AEF0A5B-929F-7793-BE6A-A1D07F596A6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AEB2FEEF-E695-F9BA-E8AC-68A21A60739E}"/>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619090B-0F4B-BDF5-B885-FE603D3AC505}"/>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CE446BF-D104-98EF-45F5-BCE8EED082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75AAB62-A84D-668F-FC87-14C204E0209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5B2876-D816-3268-112E-1A352D7B201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4CB7B33-10B2-7F05-323F-6E2CDB75224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2C77694-0C4C-50F9-29E3-F3B7BFB62DAC}"/>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a:t>
            </a:r>
            <a:r>
              <a:rPr lang="en-US" sz="2400" b="1">
                <a:latin typeface="Times New Roman" panose="02020603050405020304" pitchFamily="18" charset="0"/>
                <a:cs typeface="Times New Roman" panose="02020603050405020304" pitchFamily="18" charset="0"/>
              </a:rPr>
              <a:t>FakeProductComponent.ts</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DA22A727-415B-C3AD-2BA6-03CA7DDC7170}"/>
              </a:ext>
            </a:extLst>
          </p:cNvPr>
          <p:cNvPicPr>
            <a:picLocks noChangeAspect="1"/>
          </p:cNvPicPr>
          <p:nvPr/>
        </p:nvPicPr>
        <p:blipFill>
          <a:blip r:embed="rId3"/>
          <a:stretch>
            <a:fillRect/>
          </a:stretch>
        </p:blipFill>
        <p:spPr>
          <a:xfrm>
            <a:off x="4255762" y="1297229"/>
            <a:ext cx="6228879" cy="5372019"/>
          </a:xfrm>
          <a:prstGeom prst="rect">
            <a:avLst/>
          </a:prstGeom>
        </p:spPr>
      </p:pic>
    </p:spTree>
    <p:extLst>
      <p:ext uri="{BB962C8B-B14F-4D97-AF65-F5344CB8AC3E}">
        <p14:creationId xmlns:p14="http://schemas.microsoft.com/office/powerpoint/2010/main" val="4158423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868BF9-1B95-A8B8-15D9-7C3B3B6D4F4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72E0116-6523-81C2-6D43-BE8C8D34AC1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CE69F75-309D-23CC-3EF4-DFA2602DBD2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DC8FB10F-D90E-D543-BA86-E3A51CA8FA1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2068831-FC04-F881-8759-1ADFB81DF3A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472D8CE-4D9C-1269-27FC-B04A9793DAF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9B0D14A-9385-4293-2E85-58091A5DB0D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5C453C1-5A47-195C-DC40-D7CFEE92C9E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D7D8F17-BDBF-76C5-1386-217DED2505B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EC85036-CA2A-A00F-A6CC-44ED90D81F40}"/>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a:t>
            </a:r>
            <a:r>
              <a:rPr lang="en-US" sz="2400" b="1">
                <a:latin typeface="Times New Roman" panose="02020603050405020304" pitchFamily="18" charset="0"/>
                <a:cs typeface="Times New Roman" panose="02020603050405020304" pitchFamily="18" charset="0"/>
              </a:rPr>
              <a:t>FakeProductComponent.html</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C3B9924-45AE-B506-DD30-DCE54F881DC6}"/>
              </a:ext>
            </a:extLst>
          </p:cNvPr>
          <p:cNvPicPr>
            <a:picLocks noChangeAspect="1"/>
          </p:cNvPicPr>
          <p:nvPr/>
        </p:nvPicPr>
        <p:blipFill>
          <a:blip r:embed="rId3"/>
          <a:srcRect/>
          <a:stretch/>
        </p:blipFill>
        <p:spPr>
          <a:xfrm>
            <a:off x="4721961" y="1294956"/>
            <a:ext cx="5759353" cy="5265111"/>
          </a:xfrm>
          <a:prstGeom prst="rect">
            <a:avLst/>
          </a:prstGeom>
        </p:spPr>
      </p:pic>
      <p:sp>
        <p:nvSpPr>
          <p:cNvPr id="8" name="TextBox 7">
            <a:extLst>
              <a:ext uri="{FF2B5EF4-FFF2-40B4-BE49-F238E27FC236}">
                <a16:creationId xmlns:a16="http://schemas.microsoft.com/office/drawing/2014/main" id="{99EEC1CA-0F4C-0432-91E5-B912A9A2C285}"/>
              </a:ext>
            </a:extLst>
          </p:cNvPr>
          <p:cNvSpPr txBox="1"/>
          <p:nvPr/>
        </p:nvSpPr>
        <p:spPr>
          <a:xfrm>
            <a:off x="728132" y="2583664"/>
            <a:ext cx="3720300" cy="1569660"/>
          </a:xfrm>
          <a:prstGeom prst="rect">
            <a:avLst/>
          </a:prstGeom>
          <a:noFill/>
        </p:spPr>
        <p:txBody>
          <a:bodyPr wrap="square" rtlCol="0">
            <a:spAutoFit/>
          </a:bodyPr>
          <a:lstStyle/>
          <a:p>
            <a:r>
              <a:rPr lang="en-US" sz="2400">
                <a:latin typeface="Times" panose="02020603050405020304" pitchFamily="18" charset="0"/>
                <a:cs typeface="Times" panose="02020603050405020304" pitchFamily="18" charset="0"/>
              </a:rPr>
              <a:t>Thảo luận thêm về </a:t>
            </a:r>
          </a:p>
          <a:p>
            <a:r>
              <a:rPr lang="en-US" sz="2400" b="1">
                <a:solidFill>
                  <a:srgbClr val="FF0000"/>
                </a:solidFill>
                <a:latin typeface="Times" panose="02020603050405020304" pitchFamily="18" charset="0"/>
                <a:cs typeface="Times" panose="02020603050405020304" pitchFamily="18" charset="0"/>
              </a:rPr>
              <a:t>track p </a:t>
            </a:r>
          </a:p>
          <a:p>
            <a:r>
              <a:rPr lang="en-US" sz="2400">
                <a:latin typeface="Times" panose="02020603050405020304" pitchFamily="18" charset="0"/>
                <a:cs typeface="Times" panose="02020603050405020304" pitchFamily="18" charset="0"/>
              </a:rPr>
              <a:t>và </a:t>
            </a:r>
          </a:p>
          <a:p>
            <a:r>
              <a:rPr lang="en-US" sz="2400" b="1">
                <a:solidFill>
                  <a:srgbClr val="FF0000"/>
                </a:solidFill>
                <a:latin typeface="Times" panose="02020603050405020304" pitchFamily="18" charset="0"/>
                <a:cs typeface="Times" panose="02020603050405020304" pitchFamily="18" charset="0"/>
              </a:rPr>
              <a:t>track p.id</a:t>
            </a:r>
          </a:p>
        </p:txBody>
      </p:sp>
    </p:spTree>
    <p:extLst>
      <p:ext uri="{BB962C8B-B14F-4D97-AF65-F5344CB8AC3E}">
        <p14:creationId xmlns:p14="http://schemas.microsoft.com/office/powerpoint/2010/main" val="3166635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A157F6B-31CC-BA46-6782-6D5C075DAA5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BCFC1DC-6CE8-9E76-33AB-D912C11B37C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D6F4548-12CF-494A-E5A4-8EFA3C239CB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4CA96E99-2D98-0D7D-5F92-95AAD7E4B25E}"/>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C880358-9AB2-9594-F932-B5C1F93DFF2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8F8AADA-F9F6-00C9-B0FD-32AA41F49B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3DEA1AE-E7E6-1B01-8777-6298288E058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96E620-2683-D2BD-4B81-4CA941459D8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814DF8B-4350-7347-F06B-4DA15264BAF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900815C-F528-6EA6-3B37-BBAC14C6DD65}"/>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Cấu hình Routing cho </a:t>
            </a:r>
            <a:r>
              <a:rPr lang="en-US" sz="2400" b="1">
                <a:latin typeface="Times New Roman" panose="02020603050405020304" pitchFamily="18" charset="0"/>
                <a:cs typeface="Times New Roman" panose="02020603050405020304" pitchFamily="18" charset="0"/>
              </a:rPr>
              <a:t>FakeProductComponent </a:t>
            </a:r>
            <a:r>
              <a:rPr lang="en-US" sz="2400">
                <a:latin typeface="Times New Roman" panose="02020603050405020304" pitchFamily="18" charset="0"/>
                <a:cs typeface="Times New Roman" panose="02020603050405020304" pitchFamily="18" charset="0"/>
              </a:rPr>
              <a:t>trong </a:t>
            </a:r>
            <a:r>
              <a:rPr lang="en-US" sz="2400" b="1">
                <a:latin typeface="Times New Roman" panose="02020603050405020304" pitchFamily="18" charset="0"/>
                <a:cs typeface="Times New Roman" panose="02020603050405020304" pitchFamily="18" charset="0"/>
              </a:rPr>
              <a:t>app-routing-module.ts</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DC56106-B6D4-167B-BE70-6360D4BBBF1F}"/>
              </a:ext>
            </a:extLst>
          </p:cNvPr>
          <p:cNvPicPr>
            <a:picLocks noChangeAspect="1"/>
          </p:cNvPicPr>
          <p:nvPr/>
        </p:nvPicPr>
        <p:blipFill>
          <a:blip r:embed="rId3"/>
          <a:stretch>
            <a:fillRect/>
          </a:stretch>
        </p:blipFill>
        <p:spPr>
          <a:xfrm>
            <a:off x="234808" y="1297229"/>
            <a:ext cx="11339354" cy="4985167"/>
          </a:xfrm>
          <a:prstGeom prst="rect">
            <a:avLst/>
          </a:prstGeom>
        </p:spPr>
      </p:pic>
      <p:sp>
        <p:nvSpPr>
          <p:cNvPr id="15" name="Rectangle 14">
            <a:extLst>
              <a:ext uri="{FF2B5EF4-FFF2-40B4-BE49-F238E27FC236}">
                <a16:creationId xmlns:a16="http://schemas.microsoft.com/office/drawing/2014/main" id="{5C17F345-03D9-879D-E76A-C396DC71CEB2}"/>
              </a:ext>
            </a:extLst>
          </p:cNvPr>
          <p:cNvSpPr/>
          <p:nvPr/>
        </p:nvSpPr>
        <p:spPr>
          <a:xfrm>
            <a:off x="542786" y="5305168"/>
            <a:ext cx="7868046" cy="3598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177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7A7A748-4925-3AE2-F631-391BC4422BD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63BE294-D01A-67EA-C788-8CA6F20A46B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D8F8364-6264-8D37-2956-04B98F9FB4A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FDADB77F-F8B6-CF10-D158-069FFB3FBAA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95FBEF2-D912-2A8B-DE4E-2A8DA72D2F2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3D245AF-2856-2322-58B1-B2C3314FA8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DBAD50-8F60-ABC6-3C61-2648DD6AD77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59A68C-EAB1-B68D-331D-E3BE7AAD4D6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614CFC3-5819-60CD-DA0E-2DEAE6132CC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A390642-2338-6AC1-9872-5645E7F85270}"/>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app.html</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3D2AE68-BFCA-8149-3271-A2C443481EA0}"/>
              </a:ext>
            </a:extLst>
          </p:cNvPr>
          <p:cNvPicPr>
            <a:picLocks noChangeAspect="1"/>
          </p:cNvPicPr>
          <p:nvPr/>
        </p:nvPicPr>
        <p:blipFill>
          <a:blip r:embed="rId3"/>
          <a:stretch>
            <a:fillRect/>
          </a:stretch>
        </p:blipFill>
        <p:spPr>
          <a:xfrm>
            <a:off x="865874" y="1297229"/>
            <a:ext cx="7816808" cy="5006633"/>
          </a:xfrm>
          <a:prstGeom prst="rect">
            <a:avLst/>
          </a:prstGeom>
        </p:spPr>
      </p:pic>
      <p:sp>
        <p:nvSpPr>
          <p:cNvPr id="13" name="Rectangle 12">
            <a:extLst>
              <a:ext uri="{FF2B5EF4-FFF2-40B4-BE49-F238E27FC236}">
                <a16:creationId xmlns:a16="http://schemas.microsoft.com/office/drawing/2014/main" id="{6DC8C145-3969-83C3-4318-F15B59F529CA}"/>
              </a:ext>
            </a:extLst>
          </p:cNvPr>
          <p:cNvSpPr/>
          <p:nvPr/>
        </p:nvSpPr>
        <p:spPr>
          <a:xfrm>
            <a:off x="462279" y="3123232"/>
            <a:ext cx="7868046" cy="3598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176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05D9D03-1B20-CE7F-4982-E2132F79FB4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D41E6C6-9853-7EAA-29E3-27691444E32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582C112-6B82-77B7-A76F-FE927AFC06F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2BB20F46-724F-BF3A-37BA-88815E9C303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032CE1A-ECAA-42F5-9030-6A58F11DE0FC}"/>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41EA05E-D718-E9CD-5DED-FEB7BA20F6A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3D19C82-C1A0-A276-0DFA-B08B1C2218F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3D279AE-7433-9E2F-E7DF-16CAB6C123D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564C14-4DFC-E3FD-C9FF-5B1E43C8EBC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FCC303B-3DFF-C932-EF44-177B61FF13E1}"/>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Chạy web để test</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1A097653-523A-EC5C-0E38-6AAE0C6E1873}"/>
              </a:ext>
            </a:extLst>
          </p:cNvPr>
          <p:cNvPicPr>
            <a:picLocks noChangeAspect="1"/>
          </p:cNvPicPr>
          <p:nvPr/>
        </p:nvPicPr>
        <p:blipFill>
          <a:blip r:embed="rId3"/>
          <a:stretch>
            <a:fillRect/>
          </a:stretch>
        </p:blipFill>
        <p:spPr>
          <a:xfrm>
            <a:off x="945935" y="1409007"/>
            <a:ext cx="8982075" cy="4181475"/>
          </a:xfrm>
          <a:prstGeom prst="rect">
            <a:avLst/>
          </a:prstGeom>
        </p:spPr>
      </p:pic>
      <p:sp>
        <p:nvSpPr>
          <p:cNvPr id="12" name="Rectangle 11">
            <a:extLst>
              <a:ext uri="{FF2B5EF4-FFF2-40B4-BE49-F238E27FC236}">
                <a16:creationId xmlns:a16="http://schemas.microsoft.com/office/drawing/2014/main" id="{39E4C376-07D5-E458-7B7F-C734C752D8DA}"/>
              </a:ext>
            </a:extLst>
          </p:cNvPr>
          <p:cNvSpPr/>
          <p:nvPr/>
        </p:nvSpPr>
        <p:spPr>
          <a:xfrm>
            <a:off x="7290486" y="4794422"/>
            <a:ext cx="1771136" cy="5799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rgbClr val="FF0000"/>
                </a:solidFill>
                <a:latin typeface="Times New Roman" panose="02020603050405020304" pitchFamily="18" charset="0"/>
                <a:cs typeface="Times New Roman" panose="02020603050405020304" pitchFamily="18" charset="0"/>
              </a:rPr>
              <a:t>Lỗi</a:t>
            </a:r>
          </a:p>
        </p:txBody>
      </p:sp>
    </p:spTree>
    <p:extLst>
      <p:ext uri="{BB962C8B-B14F-4D97-AF65-F5344CB8AC3E}">
        <p14:creationId xmlns:p14="http://schemas.microsoft.com/office/powerpoint/2010/main" val="2653108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039D504-7FA7-963A-DF70-3C9F071733A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0EECBE9-AE33-D6A5-4B88-3B28FA609EC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601EFCA-485F-38BD-6CA9-687B96EA4F6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92D16015-605E-1137-22EF-F63D9761EEB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C921CE5-3E9B-B18A-D1BB-D91F66CE1FD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5DBDB1C-9510-DC0D-E222-51E2BBBCF48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3C97B46-7BC3-5A1C-C32F-C0FBEBA709C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C76F60F-C1CB-7A89-CE99-93BC727EF48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D883AFB-5FA8-CCF7-09B3-F44160A8B6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4EDE1DB-E0A6-83AE-D9E2-5F7A171242CD}"/>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Cấu hình CORS Policy</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32C269A-B8CD-094C-7148-40C14186A158}"/>
              </a:ext>
            </a:extLst>
          </p:cNvPr>
          <p:cNvPicPr>
            <a:picLocks noChangeAspect="1"/>
          </p:cNvPicPr>
          <p:nvPr/>
        </p:nvPicPr>
        <p:blipFill>
          <a:blip r:embed="rId3"/>
          <a:stretch>
            <a:fillRect/>
          </a:stretch>
        </p:blipFill>
        <p:spPr>
          <a:xfrm>
            <a:off x="324478" y="1908526"/>
            <a:ext cx="3741744" cy="3444538"/>
          </a:xfrm>
          <a:prstGeom prst="rect">
            <a:avLst/>
          </a:prstGeom>
        </p:spPr>
      </p:pic>
      <p:sp>
        <p:nvSpPr>
          <p:cNvPr id="13" name="TextBox 12">
            <a:extLst>
              <a:ext uri="{FF2B5EF4-FFF2-40B4-BE49-F238E27FC236}">
                <a16:creationId xmlns:a16="http://schemas.microsoft.com/office/drawing/2014/main" id="{FAEE28AB-F257-012B-B5E3-DCA157C082D5}"/>
              </a:ext>
            </a:extLst>
          </p:cNvPr>
          <p:cNvSpPr txBox="1"/>
          <p:nvPr/>
        </p:nvSpPr>
        <p:spPr>
          <a:xfrm>
            <a:off x="5076569" y="1477639"/>
            <a:ext cx="6297826"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Trong thư mục </a:t>
            </a:r>
            <a:r>
              <a:rPr lang="en-US" sz="2400" b="1">
                <a:latin typeface="Times New Roman" panose="02020603050405020304" pitchFamily="18" charset="0"/>
                <a:cs typeface="Times New Roman" panose="02020603050405020304" pitchFamily="18" charset="0"/>
              </a:rPr>
              <a:t>src</a:t>
            </a:r>
            <a:r>
              <a:rPr lang="en-US" sz="2400">
                <a:latin typeface="Times New Roman" panose="02020603050405020304" pitchFamily="18" charset="0"/>
                <a:cs typeface="Times New Roman" panose="02020603050405020304" pitchFamily="18" charset="0"/>
              </a:rPr>
              <a:t> tạo file “</a:t>
            </a:r>
            <a:r>
              <a:rPr lang="en-US" sz="2400" b="1">
                <a:latin typeface="Times New Roman" panose="02020603050405020304" pitchFamily="18" charset="0"/>
                <a:cs typeface="Times New Roman" panose="02020603050405020304" pitchFamily="18" charset="0"/>
              </a:rPr>
              <a:t>proxy.conf.json</a:t>
            </a:r>
            <a:r>
              <a:rPr lang="en-US" sz="2400">
                <a:latin typeface="Times New Roman" panose="02020603050405020304" pitchFamily="18" charset="0"/>
                <a:cs typeface="Times New Roman" panose="02020603050405020304" pitchFamily="18" charset="0"/>
              </a:rPr>
              <a:t>”</a:t>
            </a:r>
          </a:p>
        </p:txBody>
      </p:sp>
      <p:pic>
        <p:nvPicPr>
          <p:cNvPr id="15" name="Picture 14">
            <a:extLst>
              <a:ext uri="{FF2B5EF4-FFF2-40B4-BE49-F238E27FC236}">
                <a16:creationId xmlns:a16="http://schemas.microsoft.com/office/drawing/2014/main" id="{74BE3FE7-A3E7-DF6F-6098-D7756DDC6B4C}"/>
              </a:ext>
            </a:extLst>
          </p:cNvPr>
          <p:cNvPicPr>
            <a:picLocks noChangeAspect="1"/>
          </p:cNvPicPr>
          <p:nvPr/>
        </p:nvPicPr>
        <p:blipFill>
          <a:blip r:embed="rId4"/>
          <a:stretch>
            <a:fillRect/>
          </a:stretch>
        </p:blipFill>
        <p:spPr>
          <a:xfrm>
            <a:off x="4548520" y="2088936"/>
            <a:ext cx="7399661" cy="3749365"/>
          </a:xfrm>
          <a:prstGeom prst="rect">
            <a:avLst/>
          </a:prstGeom>
        </p:spPr>
      </p:pic>
    </p:spTree>
    <p:extLst>
      <p:ext uri="{BB962C8B-B14F-4D97-AF65-F5344CB8AC3E}">
        <p14:creationId xmlns:p14="http://schemas.microsoft.com/office/powerpoint/2010/main" val="708839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8A8DF91-052D-FF99-DCA2-A9A9008499F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47174C-C4D9-7AB2-7616-0AB80C0624B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A540A88-2E87-ED54-17B7-1B5E2DA930C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42DA7A00-89D1-31A2-1846-D0EDA5ECBE2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5764BD1-85E2-DC13-171E-B5B09FDC5D0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DF4476D-6E4D-3C32-EFB2-BCD194D7885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2790D5F-ED09-FFF9-1683-92D80FAE80C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E670664-E9F8-796D-6672-C33611C9B09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A5A113D-E9F4-AFCC-04E2-B19527E94E8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68220F5-EABC-4070-BC49-D8287C4C51CD}"/>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Cấu hình CORS Policy</a:t>
            </a:r>
            <a:endParaRPr lang="vi-VN" sz="2400" dirty="0">
              <a:solidFill>
                <a:srgbClr val="FF0000"/>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8DB1577C-15F0-D1AA-A8F7-CE1612FC2643}"/>
              </a:ext>
            </a:extLst>
          </p:cNvPr>
          <p:cNvSpPr txBox="1"/>
          <p:nvPr/>
        </p:nvSpPr>
        <p:spPr>
          <a:xfrm>
            <a:off x="5349717" y="848853"/>
            <a:ext cx="6297826"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Cấu hình tập tin“</a:t>
            </a:r>
            <a:r>
              <a:rPr lang="en-US" sz="2400" b="1">
                <a:latin typeface="Times New Roman" panose="02020603050405020304" pitchFamily="18" charset="0"/>
                <a:cs typeface="Times New Roman" panose="02020603050405020304" pitchFamily="18" charset="0"/>
              </a:rPr>
              <a:t>angular.json</a:t>
            </a:r>
            <a:r>
              <a:rPr lang="en-US" sz="2400">
                <a:latin typeface="Times New Roman" panose="02020603050405020304" pitchFamily="18" charset="0"/>
                <a:cs typeface="Times New Roman" panose="02020603050405020304" pitchFamily="18" charset="0"/>
              </a:rPr>
              <a:t>”</a:t>
            </a:r>
          </a:p>
        </p:txBody>
      </p:sp>
      <p:pic>
        <p:nvPicPr>
          <p:cNvPr id="11" name="Picture 10">
            <a:extLst>
              <a:ext uri="{FF2B5EF4-FFF2-40B4-BE49-F238E27FC236}">
                <a16:creationId xmlns:a16="http://schemas.microsoft.com/office/drawing/2014/main" id="{435500A0-9DC1-449C-978F-8DF978273FE1}"/>
              </a:ext>
            </a:extLst>
          </p:cNvPr>
          <p:cNvPicPr>
            <a:picLocks noChangeAspect="1"/>
          </p:cNvPicPr>
          <p:nvPr/>
        </p:nvPicPr>
        <p:blipFill>
          <a:blip r:embed="rId3"/>
          <a:srcRect b="15701"/>
          <a:stretch>
            <a:fillRect/>
          </a:stretch>
        </p:blipFill>
        <p:spPr>
          <a:xfrm>
            <a:off x="826986" y="1362376"/>
            <a:ext cx="8242873" cy="4819592"/>
          </a:xfrm>
          <a:prstGeom prst="rect">
            <a:avLst/>
          </a:prstGeom>
        </p:spPr>
      </p:pic>
      <p:sp>
        <p:nvSpPr>
          <p:cNvPr id="12" name="Rectangle 11">
            <a:extLst>
              <a:ext uri="{FF2B5EF4-FFF2-40B4-BE49-F238E27FC236}">
                <a16:creationId xmlns:a16="http://schemas.microsoft.com/office/drawing/2014/main" id="{3C2A85F2-DA87-F1BC-3223-CC1C7AFFD459}"/>
              </a:ext>
            </a:extLst>
          </p:cNvPr>
          <p:cNvSpPr/>
          <p:nvPr/>
        </p:nvSpPr>
        <p:spPr>
          <a:xfrm>
            <a:off x="1070919" y="4168346"/>
            <a:ext cx="7216346" cy="8402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1109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4E965D-4C03-F028-4F99-C5883817B92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C100308-7A91-B90D-0522-FC93F0ED3DE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C1789D5-6296-B12B-EA34-53ED4C6C38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5E124602-E73B-C0AA-75F4-EF4744C764E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4C6AADA-66F3-5363-93C3-AA3546A809F0}"/>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6.3. Cách triệu gọi External Restful API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43883AA-4127-3402-AB3C-63E9A33D3EC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31AC37C-F184-7C3D-40CA-9E0B2B73A94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41FBD46-C486-9479-FE4C-F74C0C32BCD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F057D76-8ACB-16ED-4918-EEBCAF506D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F2542C9-E747-6D45-A353-42A8126C0FE4}"/>
              </a:ext>
            </a:extLst>
          </p:cNvPr>
          <p:cNvSpPr txBox="1"/>
          <p:nvPr/>
        </p:nvSpPr>
        <p:spPr>
          <a:xfrm>
            <a:off x="462279" y="717262"/>
            <a:ext cx="11564547"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12: Tắt và chạy lại Web</a:t>
            </a:r>
            <a:endParaRPr lang="vi-VN" sz="2400" dirty="0">
              <a:solidFill>
                <a:srgbClr val="FF0000"/>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5836C9C-6426-FDE0-0376-00EFEBD3DD24}"/>
              </a:ext>
            </a:extLst>
          </p:cNvPr>
          <p:cNvPicPr>
            <a:picLocks noChangeAspect="1"/>
          </p:cNvPicPr>
          <p:nvPr/>
        </p:nvPicPr>
        <p:blipFill>
          <a:blip r:embed="rId3"/>
          <a:stretch>
            <a:fillRect/>
          </a:stretch>
        </p:blipFill>
        <p:spPr>
          <a:xfrm>
            <a:off x="4616586" y="947350"/>
            <a:ext cx="5345518" cy="5366951"/>
          </a:xfrm>
          <a:prstGeom prst="rect">
            <a:avLst/>
          </a:prstGeom>
        </p:spPr>
      </p:pic>
    </p:spTree>
    <p:extLst>
      <p:ext uri="{BB962C8B-B14F-4D97-AF65-F5344CB8AC3E}">
        <p14:creationId xmlns:p14="http://schemas.microsoft.com/office/powerpoint/2010/main" val="3630568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5A2F408-F2D5-9753-FBD8-6EBF3BD2711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09EAB3-FC9F-2711-AB84-D96141A59AF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98FAD5E-D40A-B67C-32CE-0C2BDB8CD28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50B5BCD1-2BA3-6A83-7086-2A022AFE398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EF37EE4-0311-7AAC-1744-80B0BF008FF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133E13D-2181-C85B-4BF4-868E102A3B1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0812E94-25AB-2B3E-E6CC-36DEBCAC5ED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48F26B-689F-EE59-15B7-D876D37894A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ACA7C6C-6348-28A1-5D06-FD68AEC7612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CC30C559-3113-59FE-11F2-82A04CDF8091}"/>
              </a:ext>
            </a:extLst>
          </p:cNvPr>
          <p:cNvSpPr txBox="1"/>
          <p:nvPr/>
        </p:nvSpPr>
        <p:spPr>
          <a:xfrm>
            <a:off x="542786" y="841012"/>
            <a:ext cx="11084927" cy="1133580"/>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rPr>
              <a:t>Step 1: Tạo thêm một Project tên “my-server” để chạy trên nền tảng Web Server, sử dụng NodeJS và ExpressJS. </a:t>
            </a:r>
            <a:endParaRPr lang="en-US" sz="2400"/>
          </a:p>
        </p:txBody>
      </p:sp>
      <p:pic>
        <p:nvPicPr>
          <p:cNvPr id="12" name="Picture 11">
            <a:extLst>
              <a:ext uri="{FF2B5EF4-FFF2-40B4-BE49-F238E27FC236}">
                <a16:creationId xmlns:a16="http://schemas.microsoft.com/office/drawing/2014/main" id="{A7DA4FC4-985E-0513-C612-44B57D15F89A}"/>
              </a:ext>
            </a:extLst>
          </p:cNvPr>
          <p:cNvPicPr>
            <a:picLocks noChangeAspect="1"/>
          </p:cNvPicPr>
          <p:nvPr/>
        </p:nvPicPr>
        <p:blipFill>
          <a:blip r:embed="rId3"/>
          <a:stretch>
            <a:fillRect/>
          </a:stretch>
        </p:blipFill>
        <p:spPr>
          <a:xfrm>
            <a:off x="854940" y="2452347"/>
            <a:ext cx="3414056" cy="1310754"/>
          </a:xfrm>
          <a:prstGeom prst="rect">
            <a:avLst/>
          </a:prstGeom>
        </p:spPr>
      </p:pic>
      <p:sp>
        <p:nvSpPr>
          <p:cNvPr id="13" name="Arrow: Right 12">
            <a:extLst>
              <a:ext uri="{FF2B5EF4-FFF2-40B4-BE49-F238E27FC236}">
                <a16:creationId xmlns:a16="http://schemas.microsoft.com/office/drawing/2014/main" id="{B41D0B10-D672-5F85-3531-34EF5043CCEC}"/>
              </a:ext>
            </a:extLst>
          </p:cNvPr>
          <p:cNvSpPr/>
          <p:nvPr/>
        </p:nvSpPr>
        <p:spPr>
          <a:xfrm>
            <a:off x="5041558" y="2504707"/>
            <a:ext cx="1342767" cy="4139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486C5EA-735F-CF01-7622-CA6DFED27E6F}"/>
              </a:ext>
            </a:extLst>
          </p:cNvPr>
          <p:cNvSpPr txBox="1"/>
          <p:nvPr/>
        </p:nvSpPr>
        <p:spPr>
          <a:xfrm>
            <a:off x="4668192" y="3105834"/>
            <a:ext cx="2476960" cy="646331"/>
          </a:xfrm>
          <a:prstGeom prst="rect">
            <a:avLst/>
          </a:prstGeom>
          <a:noFill/>
        </p:spPr>
        <p:txBody>
          <a:bodyPr wrap="none" rtlCol="0">
            <a:spAutoFit/>
          </a:bodyPr>
          <a:lstStyle/>
          <a:p>
            <a:r>
              <a:rPr lang="en-US" sz="1800">
                <a:latin typeface="Times New Roman" panose="02020603050405020304" pitchFamily="18" charset="0"/>
                <a:cs typeface="Times New Roman" panose="02020603050405020304" pitchFamily="18" charset="0"/>
              </a:rPr>
              <a:t>Tạo thư mục </a:t>
            </a:r>
            <a:r>
              <a:rPr lang="en-US" sz="1800" b="1">
                <a:latin typeface="Times New Roman" panose="02020603050405020304" pitchFamily="18" charset="0"/>
                <a:cs typeface="Times New Roman" panose="02020603050405020304" pitchFamily="18" charset="0"/>
              </a:rPr>
              <a:t>my-server </a:t>
            </a:r>
          </a:p>
          <a:p>
            <a:r>
              <a:rPr lang="en-US" sz="1800">
                <a:latin typeface="Times New Roman" panose="02020603050405020304" pitchFamily="18" charset="0"/>
                <a:cs typeface="Times New Roman" panose="02020603050405020304" pitchFamily="18" charset="0"/>
              </a:rPr>
              <a:t>cùng cấp với </a:t>
            </a:r>
            <a:r>
              <a:rPr lang="en-US" sz="1800" b="1">
                <a:latin typeface="Times New Roman" panose="02020603050405020304" pitchFamily="18" charset="0"/>
                <a:cs typeface="Times New Roman" panose="02020603050405020304" pitchFamily="18" charset="0"/>
              </a:rPr>
              <a:t>my-app</a:t>
            </a:r>
          </a:p>
        </p:txBody>
      </p:sp>
      <p:pic>
        <p:nvPicPr>
          <p:cNvPr id="16" name="Picture 15">
            <a:extLst>
              <a:ext uri="{FF2B5EF4-FFF2-40B4-BE49-F238E27FC236}">
                <a16:creationId xmlns:a16="http://schemas.microsoft.com/office/drawing/2014/main" id="{7B167A89-C601-537A-50E0-B5F4002D649A}"/>
              </a:ext>
            </a:extLst>
          </p:cNvPr>
          <p:cNvPicPr>
            <a:picLocks noChangeAspect="1"/>
          </p:cNvPicPr>
          <p:nvPr/>
        </p:nvPicPr>
        <p:blipFill>
          <a:blip r:embed="rId4"/>
          <a:stretch>
            <a:fillRect/>
          </a:stretch>
        </p:blipFill>
        <p:spPr>
          <a:xfrm>
            <a:off x="7370202" y="2290423"/>
            <a:ext cx="4054191" cy="1630821"/>
          </a:xfrm>
          <a:prstGeom prst="rect">
            <a:avLst/>
          </a:prstGeom>
        </p:spPr>
      </p:pic>
      <p:pic>
        <p:nvPicPr>
          <p:cNvPr id="18" name="Picture 17">
            <a:extLst>
              <a:ext uri="{FF2B5EF4-FFF2-40B4-BE49-F238E27FC236}">
                <a16:creationId xmlns:a16="http://schemas.microsoft.com/office/drawing/2014/main" id="{DAFF0845-8826-2AA6-C4A9-9B347E76D2E5}"/>
              </a:ext>
            </a:extLst>
          </p:cNvPr>
          <p:cNvPicPr>
            <a:picLocks noChangeAspect="1"/>
          </p:cNvPicPr>
          <p:nvPr/>
        </p:nvPicPr>
        <p:blipFill>
          <a:blip r:embed="rId5"/>
          <a:stretch>
            <a:fillRect/>
          </a:stretch>
        </p:blipFill>
        <p:spPr>
          <a:xfrm>
            <a:off x="7529762" y="4739923"/>
            <a:ext cx="3162574" cy="1272650"/>
          </a:xfrm>
          <a:prstGeom prst="rect">
            <a:avLst/>
          </a:prstGeom>
        </p:spPr>
      </p:pic>
      <p:pic>
        <p:nvPicPr>
          <p:cNvPr id="20" name="Picture 19">
            <a:extLst>
              <a:ext uri="{FF2B5EF4-FFF2-40B4-BE49-F238E27FC236}">
                <a16:creationId xmlns:a16="http://schemas.microsoft.com/office/drawing/2014/main" id="{E786B815-94A4-FD73-7502-18FA4DBD74EC}"/>
              </a:ext>
            </a:extLst>
          </p:cNvPr>
          <p:cNvPicPr>
            <a:picLocks noChangeAspect="1"/>
          </p:cNvPicPr>
          <p:nvPr/>
        </p:nvPicPr>
        <p:blipFill>
          <a:blip r:embed="rId6"/>
          <a:stretch>
            <a:fillRect/>
          </a:stretch>
        </p:blipFill>
        <p:spPr>
          <a:xfrm>
            <a:off x="905251" y="4739923"/>
            <a:ext cx="3756986" cy="1371719"/>
          </a:xfrm>
          <a:prstGeom prst="rect">
            <a:avLst/>
          </a:prstGeom>
        </p:spPr>
      </p:pic>
      <p:sp>
        <p:nvSpPr>
          <p:cNvPr id="21" name="Arrow: Down 20">
            <a:extLst>
              <a:ext uri="{FF2B5EF4-FFF2-40B4-BE49-F238E27FC236}">
                <a16:creationId xmlns:a16="http://schemas.microsoft.com/office/drawing/2014/main" id="{37127B32-F972-03B1-77D0-5D7FC461F734}"/>
              </a:ext>
            </a:extLst>
          </p:cNvPr>
          <p:cNvSpPr/>
          <p:nvPr/>
        </p:nvSpPr>
        <p:spPr>
          <a:xfrm>
            <a:off x="8575589" y="4176584"/>
            <a:ext cx="313038" cy="5436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Left 21">
            <a:extLst>
              <a:ext uri="{FF2B5EF4-FFF2-40B4-BE49-F238E27FC236}">
                <a16:creationId xmlns:a16="http://schemas.microsoft.com/office/drawing/2014/main" id="{347B5510-A57D-5DDF-67CD-D97E0FB31C00}"/>
              </a:ext>
            </a:extLst>
          </p:cNvPr>
          <p:cNvSpPr/>
          <p:nvPr/>
        </p:nvSpPr>
        <p:spPr>
          <a:xfrm>
            <a:off x="5712941" y="5228074"/>
            <a:ext cx="1145059" cy="39541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3427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28CDD2D-36B4-708D-F8CA-F234E43BB41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0BBB453-89A7-60B7-C049-693E7D95BCE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19B653C-0708-0B79-8571-1E88C871A74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5D77CDD9-E7F5-7EBB-666B-AB4EAC96B90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85FA83C-0341-9E7A-B4D9-3895E49BDC2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5D4F82E-E3CC-B4EA-B1F8-845BEE3AEB9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5ED095-478D-AC59-7032-6A6DE86F67D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FACCED8-62E6-F2B2-CB5F-12558C0344A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4434B62-A32D-D5D8-A39D-69C168A5D41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52F8044-126C-FD0F-641E-6ADCC0EF4515}"/>
              </a:ext>
            </a:extLst>
          </p:cNvPr>
          <p:cNvSpPr txBox="1"/>
          <p:nvPr/>
        </p:nvSpPr>
        <p:spPr>
          <a:xfrm>
            <a:off x="542786" y="841012"/>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2: Cài đặt lệnh </a:t>
            </a:r>
            <a:r>
              <a:rPr lang="en-US" sz="2400" b="1">
                <a:solidFill>
                  <a:srgbClr val="FF0000"/>
                </a:solidFill>
                <a:latin typeface="Times New Roman" panose="02020603050405020304" pitchFamily="18" charset="0"/>
                <a:ea typeface="Arial Unicode MS" panose="020B0604020202020204" pitchFamily="34" charset="-128"/>
              </a:rPr>
              <a:t>npm init</a:t>
            </a:r>
            <a:endParaRPr lang="en-US" sz="2400" b="1">
              <a:solidFill>
                <a:srgbClr val="FF0000"/>
              </a:solidFill>
            </a:endParaRPr>
          </a:p>
        </p:txBody>
      </p:sp>
      <p:pic>
        <p:nvPicPr>
          <p:cNvPr id="9" name="Picture 8">
            <a:extLst>
              <a:ext uri="{FF2B5EF4-FFF2-40B4-BE49-F238E27FC236}">
                <a16:creationId xmlns:a16="http://schemas.microsoft.com/office/drawing/2014/main" id="{D88F620C-886E-E649-1280-8018C759E129}"/>
              </a:ext>
            </a:extLst>
          </p:cNvPr>
          <p:cNvPicPr>
            <a:picLocks noChangeAspect="1"/>
          </p:cNvPicPr>
          <p:nvPr/>
        </p:nvPicPr>
        <p:blipFill>
          <a:blip r:embed="rId3"/>
          <a:stretch>
            <a:fillRect/>
          </a:stretch>
        </p:blipFill>
        <p:spPr>
          <a:xfrm>
            <a:off x="612802" y="1486545"/>
            <a:ext cx="3261643" cy="2751058"/>
          </a:xfrm>
          <a:prstGeom prst="rect">
            <a:avLst/>
          </a:prstGeom>
        </p:spPr>
      </p:pic>
      <p:pic>
        <p:nvPicPr>
          <p:cNvPr id="15" name="Picture 14">
            <a:extLst>
              <a:ext uri="{FF2B5EF4-FFF2-40B4-BE49-F238E27FC236}">
                <a16:creationId xmlns:a16="http://schemas.microsoft.com/office/drawing/2014/main" id="{132F0FA9-96D9-1D4F-0945-355EBF1DF371}"/>
              </a:ext>
            </a:extLst>
          </p:cNvPr>
          <p:cNvPicPr>
            <a:picLocks noChangeAspect="1"/>
          </p:cNvPicPr>
          <p:nvPr/>
        </p:nvPicPr>
        <p:blipFill>
          <a:blip r:embed="rId4"/>
          <a:stretch>
            <a:fillRect/>
          </a:stretch>
        </p:blipFill>
        <p:spPr>
          <a:xfrm>
            <a:off x="4207368" y="1420594"/>
            <a:ext cx="7795162" cy="2213059"/>
          </a:xfrm>
          <a:prstGeom prst="rect">
            <a:avLst/>
          </a:prstGeom>
        </p:spPr>
      </p:pic>
      <p:sp>
        <p:nvSpPr>
          <p:cNvPr id="17" name="Rectangle 16">
            <a:extLst>
              <a:ext uri="{FF2B5EF4-FFF2-40B4-BE49-F238E27FC236}">
                <a16:creationId xmlns:a16="http://schemas.microsoft.com/office/drawing/2014/main" id="{F60855C0-1DA5-1EDA-9761-F0D4E0145BDB}"/>
              </a:ext>
            </a:extLst>
          </p:cNvPr>
          <p:cNvSpPr/>
          <p:nvPr/>
        </p:nvSpPr>
        <p:spPr>
          <a:xfrm>
            <a:off x="10313773" y="2784389"/>
            <a:ext cx="1573427" cy="27184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1B80030-C49C-F14B-0F07-CAF9E1BF6445}"/>
              </a:ext>
            </a:extLst>
          </p:cNvPr>
          <p:cNvSpPr/>
          <p:nvPr/>
        </p:nvSpPr>
        <p:spPr>
          <a:xfrm>
            <a:off x="4207368" y="1721708"/>
            <a:ext cx="4508264" cy="34598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Connector: Elbow 23">
            <a:extLst>
              <a:ext uri="{FF2B5EF4-FFF2-40B4-BE49-F238E27FC236}">
                <a16:creationId xmlns:a16="http://schemas.microsoft.com/office/drawing/2014/main" id="{26082FCC-3D60-5239-1646-92F272F9D575}"/>
              </a:ext>
            </a:extLst>
          </p:cNvPr>
          <p:cNvCxnSpPr>
            <a:endCxn id="19" idx="1"/>
          </p:cNvCxnSpPr>
          <p:nvPr/>
        </p:nvCxnSpPr>
        <p:spPr>
          <a:xfrm rot="5400000" flipH="1" flipV="1">
            <a:off x="3116555" y="2542840"/>
            <a:ext cx="1738950" cy="442676"/>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591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1564B60-22A4-B11A-7548-B1678AF785C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3C5518A-86C6-FC67-A0B6-82D4AF4D08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B461B5A-BBE4-4B90-A3A7-33EA4F302A6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91F362E1-646E-D8F5-40B3-B890DF5ABF5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348341E-5A61-F0B7-A4D6-2D869368859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947576C-F56B-7DA6-30F2-CEAC7B00E18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F8ABF5E-7A9E-CA7B-6EEC-FF69670C31D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FC88D79-E136-9CBE-FEC8-5A5C87AB6A7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7F0762A-E3F7-35A1-D146-1459D5B918A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2355F6FD-DE48-9D22-138F-1685919D4C92}"/>
              </a:ext>
            </a:extLst>
          </p:cNvPr>
          <p:cNvSpPr txBox="1"/>
          <p:nvPr/>
        </p:nvSpPr>
        <p:spPr>
          <a:xfrm>
            <a:off x="542786" y="841012"/>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2: Cài đặt lệnh </a:t>
            </a:r>
            <a:r>
              <a:rPr lang="en-US" sz="2400" b="1">
                <a:solidFill>
                  <a:srgbClr val="FF0000"/>
                </a:solidFill>
                <a:latin typeface="Times New Roman" panose="02020603050405020304" pitchFamily="18" charset="0"/>
                <a:ea typeface="Arial Unicode MS" panose="020B0604020202020204" pitchFamily="34" charset="-128"/>
              </a:rPr>
              <a:t>npm init</a:t>
            </a:r>
            <a:endParaRPr lang="en-US" sz="2400" b="1">
              <a:solidFill>
                <a:srgbClr val="FF0000"/>
              </a:solidFill>
            </a:endParaRPr>
          </a:p>
        </p:txBody>
      </p:sp>
      <p:pic>
        <p:nvPicPr>
          <p:cNvPr id="11" name="Picture 10">
            <a:extLst>
              <a:ext uri="{FF2B5EF4-FFF2-40B4-BE49-F238E27FC236}">
                <a16:creationId xmlns:a16="http://schemas.microsoft.com/office/drawing/2014/main" id="{EB6D9660-7BD2-FF51-7FB5-8BF6E7135E70}"/>
              </a:ext>
            </a:extLst>
          </p:cNvPr>
          <p:cNvPicPr>
            <a:picLocks noChangeAspect="1"/>
          </p:cNvPicPr>
          <p:nvPr/>
        </p:nvPicPr>
        <p:blipFill>
          <a:blip r:embed="rId3"/>
          <a:srcRect b="48890"/>
          <a:stretch>
            <a:fillRect/>
          </a:stretch>
        </p:blipFill>
        <p:spPr>
          <a:xfrm>
            <a:off x="839740" y="1524531"/>
            <a:ext cx="9425126" cy="3505097"/>
          </a:xfrm>
          <a:prstGeom prst="rect">
            <a:avLst/>
          </a:prstGeom>
        </p:spPr>
      </p:pic>
    </p:spTree>
    <p:extLst>
      <p:ext uri="{BB962C8B-B14F-4D97-AF65-F5344CB8AC3E}">
        <p14:creationId xmlns:p14="http://schemas.microsoft.com/office/powerpoint/2010/main" val="334054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7AD427B-AEB7-96E4-6B4C-9DDADBAA64F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97BB159-5760-3E4C-5B0D-E74802307C7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B16BFC-E15E-9F83-83AF-D4A7BE2C360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DD57B371-32AB-7637-C5AC-D4994F83EB2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60B8029-6144-26E2-F83C-65CE29E789E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8613691-CE9B-2BAC-1869-4FBEF25193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7D2ED6-5A37-5A55-0843-B03323B6B7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09529F6-2C7F-6D50-FBF6-87E90E3B88F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D37EB25-8E8D-696B-D05D-D0178BD6284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4ECB1CE4-7A9E-96D0-FC9B-D20D50BE29FB}"/>
              </a:ext>
            </a:extLst>
          </p:cNvPr>
          <p:cNvSpPr txBox="1"/>
          <p:nvPr/>
        </p:nvSpPr>
        <p:spPr>
          <a:xfrm>
            <a:off x="553536" y="788933"/>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2: Cài đặt lệnh </a:t>
            </a:r>
            <a:r>
              <a:rPr lang="en-US" sz="2400" b="1">
                <a:solidFill>
                  <a:srgbClr val="FF0000"/>
                </a:solidFill>
                <a:latin typeface="Times New Roman" panose="02020603050405020304" pitchFamily="18" charset="0"/>
                <a:ea typeface="Arial Unicode MS" panose="020B0604020202020204" pitchFamily="34" charset="-128"/>
              </a:rPr>
              <a:t>npm init</a:t>
            </a:r>
            <a:endParaRPr lang="en-US" sz="2400" b="1">
              <a:solidFill>
                <a:srgbClr val="FF0000"/>
              </a:solidFill>
            </a:endParaRPr>
          </a:p>
        </p:txBody>
      </p:sp>
      <p:pic>
        <p:nvPicPr>
          <p:cNvPr id="13" name="Picture 12">
            <a:extLst>
              <a:ext uri="{FF2B5EF4-FFF2-40B4-BE49-F238E27FC236}">
                <a16:creationId xmlns:a16="http://schemas.microsoft.com/office/drawing/2014/main" id="{5EE45769-D2EB-EA19-68C5-0F597663CF17}"/>
              </a:ext>
            </a:extLst>
          </p:cNvPr>
          <p:cNvPicPr>
            <a:picLocks noChangeAspect="1"/>
          </p:cNvPicPr>
          <p:nvPr/>
        </p:nvPicPr>
        <p:blipFill>
          <a:blip r:embed="rId3"/>
          <a:stretch>
            <a:fillRect/>
          </a:stretch>
        </p:blipFill>
        <p:spPr>
          <a:xfrm>
            <a:off x="564287" y="1420594"/>
            <a:ext cx="6957663" cy="5029636"/>
          </a:xfrm>
          <a:prstGeom prst="rect">
            <a:avLst/>
          </a:prstGeom>
        </p:spPr>
      </p:pic>
    </p:spTree>
    <p:extLst>
      <p:ext uri="{BB962C8B-B14F-4D97-AF65-F5344CB8AC3E}">
        <p14:creationId xmlns:p14="http://schemas.microsoft.com/office/powerpoint/2010/main" val="3542959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6F10E90-D740-AAD6-98B9-5F0A82EBD5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6FD7507-E0B2-0370-40AD-ABB9A812B6D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482C3B8-23E7-3964-B5C2-6596FF1A116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58139C27-07EE-9BE1-B4A0-1DD1E296677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0DFFB9C-7493-9EA3-FF86-B4A1106C98D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96E0BCE-8570-345F-FA91-2BFC97AFA7D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FDD65BF-6677-46AF-FFCD-92571D7C977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1265FD8-28E9-0C41-1CFC-0BA850626BD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60E3508-E52E-E915-E9CB-E3CD5AE80A5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3" name="Picture 12">
            <a:extLst>
              <a:ext uri="{FF2B5EF4-FFF2-40B4-BE49-F238E27FC236}">
                <a16:creationId xmlns:a16="http://schemas.microsoft.com/office/drawing/2014/main" id="{5ED41E83-64A5-B041-1A5B-32C4A2E29F31}"/>
              </a:ext>
            </a:extLst>
          </p:cNvPr>
          <p:cNvPicPr>
            <a:picLocks noChangeAspect="1"/>
          </p:cNvPicPr>
          <p:nvPr/>
        </p:nvPicPr>
        <p:blipFill>
          <a:blip r:embed="rId3"/>
          <a:stretch>
            <a:fillRect/>
          </a:stretch>
        </p:blipFill>
        <p:spPr>
          <a:xfrm>
            <a:off x="415252" y="2244861"/>
            <a:ext cx="3741744" cy="1585097"/>
          </a:xfrm>
          <a:prstGeom prst="rect">
            <a:avLst/>
          </a:prstGeom>
        </p:spPr>
      </p:pic>
      <p:pic>
        <p:nvPicPr>
          <p:cNvPr id="15" name="Picture 14">
            <a:extLst>
              <a:ext uri="{FF2B5EF4-FFF2-40B4-BE49-F238E27FC236}">
                <a16:creationId xmlns:a16="http://schemas.microsoft.com/office/drawing/2014/main" id="{A97D0272-55AD-E24D-11AC-6328A67B1422}"/>
              </a:ext>
            </a:extLst>
          </p:cNvPr>
          <p:cNvPicPr>
            <a:picLocks noChangeAspect="1"/>
          </p:cNvPicPr>
          <p:nvPr/>
        </p:nvPicPr>
        <p:blipFill>
          <a:blip r:embed="rId4"/>
          <a:srcRect b="6596"/>
          <a:stretch>
            <a:fillRect/>
          </a:stretch>
        </p:blipFill>
        <p:spPr>
          <a:xfrm>
            <a:off x="3098799" y="1338811"/>
            <a:ext cx="8992379" cy="5053755"/>
          </a:xfrm>
          <a:prstGeom prst="rect">
            <a:avLst/>
          </a:prstGeom>
        </p:spPr>
      </p:pic>
      <p:sp>
        <p:nvSpPr>
          <p:cNvPr id="16" name="TextBox 15">
            <a:extLst>
              <a:ext uri="{FF2B5EF4-FFF2-40B4-BE49-F238E27FC236}">
                <a16:creationId xmlns:a16="http://schemas.microsoft.com/office/drawing/2014/main" id="{1A968AE7-02B0-F210-F369-2BC43D7F0F65}"/>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2: Cài đặt lệnh </a:t>
            </a:r>
            <a:r>
              <a:rPr lang="en-US" sz="2400" b="1">
                <a:solidFill>
                  <a:srgbClr val="FF0000"/>
                </a:solidFill>
                <a:latin typeface="Times New Roman" panose="02020603050405020304" pitchFamily="18" charset="0"/>
                <a:ea typeface="Arial Unicode MS" panose="020B0604020202020204" pitchFamily="34" charset="-128"/>
              </a:rPr>
              <a:t>npm init</a:t>
            </a:r>
            <a:endParaRPr lang="en-US" sz="2400" b="1">
              <a:solidFill>
                <a:srgbClr val="FF0000"/>
              </a:solidFill>
            </a:endParaRPr>
          </a:p>
        </p:txBody>
      </p:sp>
      <p:sp>
        <p:nvSpPr>
          <p:cNvPr id="17" name="Rectangle 16">
            <a:extLst>
              <a:ext uri="{FF2B5EF4-FFF2-40B4-BE49-F238E27FC236}">
                <a16:creationId xmlns:a16="http://schemas.microsoft.com/office/drawing/2014/main" id="{D62A8EBB-4E2D-EBEB-1D4C-C5AB7F04C8F2}"/>
              </a:ext>
            </a:extLst>
          </p:cNvPr>
          <p:cNvSpPr/>
          <p:nvPr/>
        </p:nvSpPr>
        <p:spPr>
          <a:xfrm>
            <a:off x="3435178" y="4386922"/>
            <a:ext cx="4514335"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0612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B1C69CF-CDEE-07E5-CCCA-22CF233CC88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BD66823-5158-17BF-994C-7235744E5DE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3110148-A2E2-897D-3D9D-74AD7B4F064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15414C22-72ED-5BDE-D769-F01A5A1675B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C462FA0-138B-3A84-68B0-2FAD8A15F8D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E5E4292-A0C4-453D-5CB0-70D52863B10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78256A0-2078-9CF5-091C-12F4B268A9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3B38C28-AE61-913D-4D34-C3F51CFEF8F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5C61DE5-D7C4-D9A7-1CA7-C746CE92447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a:extLst>
              <a:ext uri="{FF2B5EF4-FFF2-40B4-BE49-F238E27FC236}">
                <a16:creationId xmlns:a16="http://schemas.microsoft.com/office/drawing/2014/main" id="{F037926D-B284-711F-B873-4509ADB9C23F}"/>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3: Cài đặt lệnh </a:t>
            </a:r>
            <a:r>
              <a:rPr lang="en-US" sz="2400" b="1">
                <a:solidFill>
                  <a:srgbClr val="FF0000"/>
                </a:solidFill>
                <a:latin typeface="Times New Roman" panose="02020603050405020304" pitchFamily="18" charset="0"/>
                <a:ea typeface="Arial Unicode MS" panose="020B0604020202020204" pitchFamily="34" charset="-128"/>
              </a:rPr>
              <a:t>npm install express</a:t>
            </a:r>
            <a:endParaRPr lang="en-US" sz="2400" b="1">
              <a:solidFill>
                <a:srgbClr val="FF0000"/>
              </a:solidFill>
            </a:endParaRPr>
          </a:p>
        </p:txBody>
      </p:sp>
      <p:pic>
        <p:nvPicPr>
          <p:cNvPr id="9" name="Picture 8">
            <a:extLst>
              <a:ext uri="{FF2B5EF4-FFF2-40B4-BE49-F238E27FC236}">
                <a16:creationId xmlns:a16="http://schemas.microsoft.com/office/drawing/2014/main" id="{2CC1A01E-777F-28E8-7F33-43AD4F7B0712}"/>
              </a:ext>
            </a:extLst>
          </p:cNvPr>
          <p:cNvPicPr>
            <a:picLocks noChangeAspect="1"/>
          </p:cNvPicPr>
          <p:nvPr/>
        </p:nvPicPr>
        <p:blipFill>
          <a:blip r:embed="rId3"/>
          <a:stretch>
            <a:fillRect/>
          </a:stretch>
        </p:blipFill>
        <p:spPr>
          <a:xfrm>
            <a:off x="564686" y="1380011"/>
            <a:ext cx="6744641" cy="3315163"/>
          </a:xfrm>
          <a:prstGeom prst="rect">
            <a:avLst/>
          </a:prstGeom>
        </p:spPr>
      </p:pic>
      <p:sp>
        <p:nvSpPr>
          <p:cNvPr id="10" name="Rectangle 9">
            <a:extLst>
              <a:ext uri="{FF2B5EF4-FFF2-40B4-BE49-F238E27FC236}">
                <a16:creationId xmlns:a16="http://schemas.microsoft.com/office/drawing/2014/main" id="{BF699EE9-19DF-C259-6759-772804EC6892}"/>
              </a:ext>
            </a:extLst>
          </p:cNvPr>
          <p:cNvSpPr/>
          <p:nvPr/>
        </p:nvSpPr>
        <p:spPr>
          <a:xfrm>
            <a:off x="4868562" y="2405449"/>
            <a:ext cx="2636108" cy="3377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47336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6B1466B-1991-902B-CC3D-3E725A208C6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8DA18C9-D362-765F-2E35-48C20C4F948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8157E7-00FA-BCBA-E7E3-7686892FD24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69A33659-78E1-BB02-8AF9-2C879D6932E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1536719-0D65-27ED-8474-8F1C63EA5A6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6BF08E8-34B9-EBFA-3127-1D49850CDEE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431A62D-174C-761F-466B-5A867D22AF2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8B0AFA0-94D3-4AA4-5BDE-00998CD1027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8322B33-3C1B-60AC-7913-B6903ECCAEB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a:extLst>
              <a:ext uri="{FF2B5EF4-FFF2-40B4-BE49-F238E27FC236}">
                <a16:creationId xmlns:a16="http://schemas.microsoft.com/office/drawing/2014/main" id="{493036E7-95CF-E3F8-D6EC-6D01D6D20B73}"/>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3: Cài đặt lệnh </a:t>
            </a:r>
            <a:r>
              <a:rPr lang="en-US" sz="2400" b="1">
                <a:solidFill>
                  <a:srgbClr val="FF0000"/>
                </a:solidFill>
                <a:latin typeface="Times New Roman" panose="02020603050405020304" pitchFamily="18" charset="0"/>
                <a:ea typeface="Arial Unicode MS" panose="020B0604020202020204" pitchFamily="34" charset="-128"/>
              </a:rPr>
              <a:t>npm install express</a:t>
            </a:r>
            <a:endParaRPr lang="en-US" sz="2400" b="1">
              <a:solidFill>
                <a:srgbClr val="FF0000"/>
              </a:solidFill>
            </a:endParaRPr>
          </a:p>
        </p:txBody>
      </p:sp>
      <p:pic>
        <p:nvPicPr>
          <p:cNvPr id="11" name="Picture 10">
            <a:extLst>
              <a:ext uri="{FF2B5EF4-FFF2-40B4-BE49-F238E27FC236}">
                <a16:creationId xmlns:a16="http://schemas.microsoft.com/office/drawing/2014/main" id="{2593CC98-1CB5-D5FC-E4F0-CEC643F6EAB8}"/>
              </a:ext>
            </a:extLst>
          </p:cNvPr>
          <p:cNvPicPr>
            <a:picLocks noChangeAspect="1"/>
          </p:cNvPicPr>
          <p:nvPr/>
        </p:nvPicPr>
        <p:blipFill>
          <a:blip r:embed="rId3"/>
          <a:stretch>
            <a:fillRect/>
          </a:stretch>
        </p:blipFill>
        <p:spPr>
          <a:xfrm>
            <a:off x="564686" y="1401904"/>
            <a:ext cx="2583404" cy="2027096"/>
          </a:xfrm>
          <a:prstGeom prst="rect">
            <a:avLst/>
          </a:prstGeom>
        </p:spPr>
      </p:pic>
      <p:pic>
        <p:nvPicPr>
          <p:cNvPr id="13" name="Picture 12">
            <a:extLst>
              <a:ext uri="{FF2B5EF4-FFF2-40B4-BE49-F238E27FC236}">
                <a16:creationId xmlns:a16="http://schemas.microsoft.com/office/drawing/2014/main" id="{B592680A-3DE1-1329-971E-1EFD78DDD8E7}"/>
              </a:ext>
            </a:extLst>
          </p:cNvPr>
          <p:cNvPicPr>
            <a:picLocks noChangeAspect="1"/>
          </p:cNvPicPr>
          <p:nvPr/>
        </p:nvPicPr>
        <p:blipFill>
          <a:blip r:embed="rId4"/>
          <a:stretch>
            <a:fillRect/>
          </a:stretch>
        </p:blipFill>
        <p:spPr>
          <a:xfrm>
            <a:off x="4274639" y="1328153"/>
            <a:ext cx="7241858" cy="4937069"/>
          </a:xfrm>
          <a:prstGeom prst="rect">
            <a:avLst/>
          </a:prstGeom>
        </p:spPr>
      </p:pic>
      <p:sp>
        <p:nvSpPr>
          <p:cNvPr id="14" name="Rectangle 13">
            <a:extLst>
              <a:ext uri="{FF2B5EF4-FFF2-40B4-BE49-F238E27FC236}">
                <a16:creationId xmlns:a16="http://schemas.microsoft.com/office/drawing/2014/main" id="{90E52555-F977-37E9-F376-CD421D49640B}"/>
              </a:ext>
            </a:extLst>
          </p:cNvPr>
          <p:cNvSpPr/>
          <p:nvPr/>
        </p:nvSpPr>
        <p:spPr>
          <a:xfrm>
            <a:off x="4274639" y="5156886"/>
            <a:ext cx="4852885" cy="8402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7879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DCC320-A738-E1DD-1D75-C5CC42D77C5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AA5C19D-4245-A740-47D4-A0CFED18BF4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EABA34C-329B-4F44-8972-6A8C1D62B70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4E17351B-08C7-BBD2-D10A-18C9FA815B6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BAB0425-50C4-AA27-4549-FF75E9BDEE3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F8ABA43-F7C0-F214-0715-59093F003D7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374EDB-7848-88E8-C22B-14373E82679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F6C1B21-485B-0DD2-856E-2DDFC5FDFAA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DE43BA7-1F46-BA4F-0D52-960390F1A83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a:extLst>
              <a:ext uri="{FF2B5EF4-FFF2-40B4-BE49-F238E27FC236}">
                <a16:creationId xmlns:a16="http://schemas.microsoft.com/office/drawing/2014/main" id="{ACAADA37-2729-2FCF-4CE2-52AE13D3E130}"/>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4: tạo file </a:t>
            </a:r>
            <a:r>
              <a:rPr lang="en-US" sz="2400">
                <a:solidFill>
                  <a:srgbClr val="FF0000"/>
                </a:solidFill>
                <a:latin typeface="Times New Roman" panose="02020603050405020304" pitchFamily="18" charset="0"/>
                <a:ea typeface="Arial Unicode MS" panose="020B0604020202020204" pitchFamily="34" charset="-128"/>
              </a:rPr>
              <a:t>index.js</a:t>
            </a:r>
            <a:endParaRPr lang="en-US" sz="2400" b="1">
              <a:solidFill>
                <a:srgbClr val="FF0000"/>
              </a:solidFill>
            </a:endParaRPr>
          </a:p>
        </p:txBody>
      </p:sp>
      <p:pic>
        <p:nvPicPr>
          <p:cNvPr id="12" name="Picture 11">
            <a:extLst>
              <a:ext uri="{FF2B5EF4-FFF2-40B4-BE49-F238E27FC236}">
                <a16:creationId xmlns:a16="http://schemas.microsoft.com/office/drawing/2014/main" id="{6D0B9342-00A8-E036-B250-26246FB9AD5F}"/>
              </a:ext>
            </a:extLst>
          </p:cNvPr>
          <p:cNvPicPr>
            <a:picLocks noChangeAspect="1"/>
          </p:cNvPicPr>
          <p:nvPr/>
        </p:nvPicPr>
        <p:blipFill>
          <a:blip r:embed="rId3"/>
          <a:stretch>
            <a:fillRect/>
          </a:stretch>
        </p:blipFill>
        <p:spPr>
          <a:xfrm>
            <a:off x="509169" y="1380011"/>
            <a:ext cx="11118544" cy="4115157"/>
          </a:xfrm>
          <a:prstGeom prst="rect">
            <a:avLst/>
          </a:prstGeom>
        </p:spPr>
      </p:pic>
    </p:spTree>
    <p:extLst>
      <p:ext uri="{BB962C8B-B14F-4D97-AF65-F5344CB8AC3E}">
        <p14:creationId xmlns:p14="http://schemas.microsoft.com/office/powerpoint/2010/main" val="2123123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DE1E8E6-E7FC-8A89-AF6E-BD0F27D1F26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D33BECA-0A19-E355-C94C-21C930B37AD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BB4DF18-6AFE-96FD-1C86-AEEF9903673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B9E29ADF-119B-3C60-BF57-488B8C1B7E3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EB401A1-2BAD-5F38-5E5D-F1748949EAAA}"/>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30397D4-9A43-01B1-69F1-303FEC8777A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397433A-19CA-AD0B-566D-60CA9B859D2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DC5E5DB-628F-483B-18ED-4FE7318BC21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87955F2-F412-4B5D-29D9-3DA1DA3231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a:extLst>
              <a:ext uri="{FF2B5EF4-FFF2-40B4-BE49-F238E27FC236}">
                <a16:creationId xmlns:a16="http://schemas.microsoft.com/office/drawing/2014/main" id="{26F4718D-C7A7-F007-5856-3B2F1FE98DD1}"/>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4: tạo file </a:t>
            </a:r>
            <a:r>
              <a:rPr lang="en-US" sz="2400">
                <a:solidFill>
                  <a:srgbClr val="FF0000"/>
                </a:solidFill>
                <a:latin typeface="Times New Roman" panose="02020603050405020304" pitchFamily="18" charset="0"/>
                <a:ea typeface="Arial Unicode MS" panose="020B0604020202020204" pitchFamily="34" charset="-128"/>
              </a:rPr>
              <a:t>index.js</a:t>
            </a:r>
            <a:endParaRPr lang="en-US" sz="2400" b="1">
              <a:solidFill>
                <a:srgbClr val="FF0000"/>
              </a:solidFill>
            </a:endParaRPr>
          </a:p>
        </p:txBody>
      </p:sp>
      <p:pic>
        <p:nvPicPr>
          <p:cNvPr id="12" name="Picture 11">
            <a:extLst>
              <a:ext uri="{FF2B5EF4-FFF2-40B4-BE49-F238E27FC236}">
                <a16:creationId xmlns:a16="http://schemas.microsoft.com/office/drawing/2014/main" id="{124A3AA0-5B99-21D8-13C7-695DA4644C12}"/>
              </a:ext>
            </a:extLst>
          </p:cNvPr>
          <p:cNvPicPr>
            <a:picLocks noChangeAspect="1"/>
          </p:cNvPicPr>
          <p:nvPr/>
        </p:nvPicPr>
        <p:blipFill>
          <a:blip r:embed="rId3"/>
          <a:srcRect l="22835"/>
          <a:stretch>
            <a:fillRect/>
          </a:stretch>
        </p:blipFill>
        <p:spPr>
          <a:xfrm>
            <a:off x="6457481" y="762465"/>
            <a:ext cx="5588440" cy="2680429"/>
          </a:xfrm>
          <a:prstGeom prst="rect">
            <a:avLst/>
          </a:prstGeom>
        </p:spPr>
      </p:pic>
      <p:sp>
        <p:nvSpPr>
          <p:cNvPr id="9" name="TextBox 8">
            <a:extLst>
              <a:ext uri="{FF2B5EF4-FFF2-40B4-BE49-F238E27FC236}">
                <a16:creationId xmlns:a16="http://schemas.microsoft.com/office/drawing/2014/main" id="{E73219CD-4D66-C613-AE63-45B8EDC5EEA9}"/>
              </a:ext>
            </a:extLst>
          </p:cNvPr>
          <p:cNvSpPr txBox="1"/>
          <p:nvPr/>
        </p:nvSpPr>
        <p:spPr>
          <a:xfrm>
            <a:off x="388797" y="1380011"/>
            <a:ext cx="6465084" cy="2949846"/>
          </a:xfrm>
          <a:prstGeom prst="rect">
            <a:avLst/>
          </a:prstGeom>
          <a:noFill/>
        </p:spPr>
        <p:txBody>
          <a:bodyPr wrap="square">
            <a:spAutoFit/>
          </a:bodyPr>
          <a:lstStyle/>
          <a:p>
            <a:pPr marL="285750" marR="0" indent="-285750">
              <a:lnSpc>
                <a:spcPct val="150000"/>
              </a:lnSpc>
              <a:spcBef>
                <a:spcPts val="600"/>
              </a:spcBef>
              <a:spcAft>
                <a:spcPts val="600"/>
              </a:spcAft>
              <a:buFont typeface="Wingdings" panose="05000000000000000000" pitchFamily="2" charset="2"/>
              <a:buChar char="ü"/>
            </a:pPr>
            <a:r>
              <a:rPr lang="nl-NL" sz="2400">
                <a:effectLst/>
                <a:latin typeface="Times New Roman" panose="02020603050405020304" pitchFamily="18" charset="0"/>
                <a:ea typeface="Arial Unicode MS" panose="020B0604020202020204" pitchFamily="34" charset="-128"/>
              </a:rPr>
              <a:t>Mã lệnh ở trên chạy dịch vụ Web (Restful API) ở port 3000, với API mặc định là xuất dữ liệu “Hello Restful API” khi nó được triệu gọi.</a:t>
            </a:r>
            <a:endParaRPr lang="en-US" sz="2400">
              <a:effectLst/>
              <a:latin typeface="Times New Roman" panose="02020603050405020304" pitchFamily="18" charset="0"/>
              <a:ea typeface="Times New Roman" panose="02020603050405020304" pitchFamily="18" charset="0"/>
            </a:endParaRPr>
          </a:p>
          <a:p>
            <a:pPr marL="285750" marR="0" indent="-285750">
              <a:lnSpc>
                <a:spcPct val="150000"/>
              </a:lnSpc>
              <a:spcBef>
                <a:spcPts val="600"/>
              </a:spcBef>
              <a:spcAft>
                <a:spcPts val="600"/>
              </a:spcAft>
              <a:buFont typeface="Wingdings" panose="05000000000000000000" pitchFamily="2" charset="2"/>
              <a:buChar char="ü"/>
            </a:pPr>
            <a:r>
              <a:rPr lang="nl-NL" sz="2400">
                <a:effectLst/>
                <a:latin typeface="Times New Roman" panose="02020603050405020304" pitchFamily="18" charset="0"/>
                <a:ea typeface="Arial Unicode MS" panose="020B0604020202020204" pitchFamily="34" charset="-128"/>
              </a:rPr>
              <a:t>req(tên biến đại diện cho Request), là đối tượng để gửi các dữ liệu từ Client lên Server.</a:t>
            </a:r>
            <a:endParaRPr lang="en-US" sz="240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CE787B75-018C-0170-046F-135C666174E8}"/>
              </a:ext>
            </a:extLst>
          </p:cNvPr>
          <p:cNvSpPr txBox="1"/>
          <p:nvPr/>
        </p:nvSpPr>
        <p:spPr>
          <a:xfrm>
            <a:off x="415252" y="4381715"/>
            <a:ext cx="11630669" cy="1841851"/>
          </a:xfrm>
          <a:prstGeom prst="rect">
            <a:avLst/>
          </a:prstGeom>
          <a:noFill/>
        </p:spPr>
        <p:txBody>
          <a:bodyPr wrap="square">
            <a:spAutoFit/>
          </a:bodyPr>
          <a:lstStyle/>
          <a:p>
            <a:pPr marL="285750" marR="0" indent="-285750">
              <a:lnSpc>
                <a:spcPct val="150000"/>
              </a:lnSpc>
              <a:spcBef>
                <a:spcPts val="600"/>
              </a:spcBef>
              <a:spcAft>
                <a:spcPts val="600"/>
              </a:spcAft>
              <a:buFont typeface="Wingdings" panose="05000000000000000000" pitchFamily="2" charset="2"/>
              <a:buChar char="ü"/>
            </a:pPr>
            <a:r>
              <a:rPr lang="nl-NL" sz="2400">
                <a:effectLst/>
                <a:latin typeface="Times New Roman" panose="02020603050405020304" pitchFamily="18" charset="0"/>
                <a:ea typeface="Arial Unicode MS" panose="020B0604020202020204" pitchFamily="34" charset="-128"/>
              </a:rPr>
              <a:t>res(tên biến đại diện cho Respone), là đối tượng để gửi các dữ liệu từ Server xuống Client.</a:t>
            </a:r>
            <a:endParaRPr lang="en-US" sz="2400">
              <a:effectLst/>
              <a:latin typeface="Times New Roman" panose="02020603050405020304" pitchFamily="18" charset="0"/>
              <a:ea typeface="Times New Roman" panose="02020603050405020304" pitchFamily="18" charset="0"/>
            </a:endParaRPr>
          </a:p>
          <a:p>
            <a:pPr marL="285750" marR="0" indent="-285750">
              <a:lnSpc>
                <a:spcPct val="150000"/>
              </a:lnSpc>
              <a:spcBef>
                <a:spcPts val="600"/>
              </a:spcBef>
              <a:spcAft>
                <a:spcPts val="600"/>
              </a:spcAft>
              <a:buFont typeface="Wingdings" panose="05000000000000000000" pitchFamily="2" charset="2"/>
              <a:buChar char="ü"/>
            </a:pPr>
            <a:r>
              <a:rPr lang="nl-NL" sz="2400">
                <a:effectLst/>
                <a:latin typeface="Times New Roman" panose="02020603050405020304" pitchFamily="18" charset="0"/>
                <a:ea typeface="Arial Unicode MS" panose="020B0604020202020204" pitchFamily="34" charset="-128"/>
              </a:rPr>
              <a:t>Mã lệnh trên viết: </a:t>
            </a:r>
            <a:r>
              <a:rPr lang="nl-NL" sz="2400" b="1">
                <a:effectLst/>
                <a:latin typeface="Times New Roman" panose="02020603050405020304" pitchFamily="18" charset="0"/>
                <a:ea typeface="Arial Unicode MS" panose="020B0604020202020204" pitchFamily="34" charset="-128"/>
              </a:rPr>
              <a:t>res.send</a:t>
            </a:r>
            <a:r>
              <a:rPr lang="nl-NL" sz="2400">
                <a:effectLst/>
                <a:latin typeface="Times New Roman" panose="02020603050405020304" pitchFamily="18" charset="0"/>
                <a:ea typeface="Arial Unicode MS" panose="020B0604020202020204" pitchFamily="34" charset="-128"/>
              </a:rPr>
              <a:t>(“Hello Restful API”) tức là khi gọi mặc định dịch vụ web này thì nó trả vễ chuỗi “Hello Restful API”.</a:t>
            </a:r>
            <a:endParaRPr lang="en-US" sz="24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05407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3229E0B-3B4F-91AB-833C-6BEE7A3ACA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0431C4-1414-4CCC-6404-D8BEBBF1782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EB1BA3C-3233-D285-461C-38E4F1C2F77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1ABB76FF-E812-82E4-F681-3966FC51DD9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72FB3BF-3072-5700-73FF-20752C37E3DA}"/>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C0D8856-1F69-319D-892A-9D3A25D4298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233A7F4-FC5B-643F-5F1B-0780CAB6D22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25C1B67-E764-DE6C-CFC9-FECD816AE44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30FE7D9-CB84-E390-F80D-36F69071B1A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a:extLst>
              <a:ext uri="{FF2B5EF4-FFF2-40B4-BE49-F238E27FC236}">
                <a16:creationId xmlns:a16="http://schemas.microsoft.com/office/drawing/2014/main" id="{B05339E7-803F-5534-3904-8C16461ACF18}"/>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5: Thực thi file </a:t>
            </a:r>
            <a:r>
              <a:rPr lang="en-US" sz="2400" b="1">
                <a:solidFill>
                  <a:srgbClr val="002060"/>
                </a:solidFill>
                <a:latin typeface="Times New Roman" panose="02020603050405020304" pitchFamily="18" charset="0"/>
                <a:ea typeface="Arial Unicode MS" panose="020B0604020202020204" pitchFamily="34" charset="-128"/>
              </a:rPr>
              <a:t>index.js:</a:t>
            </a:r>
            <a:r>
              <a:rPr lang="en-US" sz="2400">
                <a:solidFill>
                  <a:srgbClr val="FF0000"/>
                </a:solidFill>
                <a:latin typeface="Times New Roman" panose="02020603050405020304" pitchFamily="18" charset="0"/>
                <a:ea typeface="Arial Unicode MS" panose="020B0604020202020204" pitchFamily="34" charset="-128"/>
              </a:rPr>
              <a:t> node index.js</a:t>
            </a:r>
            <a:endParaRPr lang="en-US" sz="2400" b="1">
              <a:solidFill>
                <a:srgbClr val="FF0000"/>
              </a:solidFill>
            </a:endParaRPr>
          </a:p>
        </p:txBody>
      </p:sp>
      <p:pic>
        <p:nvPicPr>
          <p:cNvPr id="11" name="Picture 10">
            <a:extLst>
              <a:ext uri="{FF2B5EF4-FFF2-40B4-BE49-F238E27FC236}">
                <a16:creationId xmlns:a16="http://schemas.microsoft.com/office/drawing/2014/main" id="{91D98A56-A775-8922-CBD5-1AE56CF3AA3B}"/>
              </a:ext>
            </a:extLst>
          </p:cNvPr>
          <p:cNvPicPr>
            <a:picLocks noChangeAspect="1"/>
          </p:cNvPicPr>
          <p:nvPr/>
        </p:nvPicPr>
        <p:blipFill>
          <a:blip r:embed="rId3"/>
          <a:stretch>
            <a:fillRect/>
          </a:stretch>
        </p:blipFill>
        <p:spPr>
          <a:xfrm>
            <a:off x="2544579" y="1380011"/>
            <a:ext cx="5911297" cy="3038962"/>
          </a:xfrm>
          <a:prstGeom prst="rect">
            <a:avLst/>
          </a:prstGeom>
        </p:spPr>
      </p:pic>
      <p:sp>
        <p:nvSpPr>
          <p:cNvPr id="13" name="TextBox 12">
            <a:extLst>
              <a:ext uri="{FF2B5EF4-FFF2-40B4-BE49-F238E27FC236}">
                <a16:creationId xmlns:a16="http://schemas.microsoft.com/office/drawing/2014/main" id="{FAFF4FB0-2BF2-7017-4F94-2DE0F98E8E0D}"/>
              </a:ext>
            </a:extLst>
          </p:cNvPr>
          <p:cNvSpPr txBox="1"/>
          <p:nvPr/>
        </p:nvSpPr>
        <p:spPr>
          <a:xfrm>
            <a:off x="564686" y="4689541"/>
            <a:ext cx="11084926" cy="1687963"/>
          </a:xfrm>
          <a:prstGeom prst="rect">
            <a:avLst/>
          </a:prstGeom>
          <a:noFill/>
        </p:spPr>
        <p:txBody>
          <a:bodyPr wrap="square">
            <a:spAutoFit/>
          </a:bodyPr>
          <a:lstStyle/>
          <a:p>
            <a:pPr marL="342900" marR="0" indent="-342900" algn="just">
              <a:lnSpc>
                <a:spcPct val="150000"/>
              </a:lnSpc>
              <a:spcBef>
                <a:spcPts val="600"/>
              </a:spcBef>
              <a:spcAft>
                <a:spcPts val="600"/>
              </a:spcAft>
              <a:buFont typeface="Wingdings" panose="05000000000000000000" pitchFamily="2" charset="2"/>
              <a:buChar char="ü"/>
            </a:pPr>
            <a:r>
              <a:rPr lang="nl-NL" sz="2400">
                <a:effectLst/>
                <a:latin typeface="Times New Roman" panose="02020603050405020304" pitchFamily="18" charset="0"/>
                <a:ea typeface="Arial Unicode MS" panose="020B0604020202020204" pitchFamily="34" charset="-128"/>
              </a:rPr>
              <a:t>Hàm listen sẽ được thực hiện, nếu Web Server được khởi tạo thành công thì lệnh ở dòng số 9 sẽ thực hiện, cụ thể ở đây là ta thấy thông báo “My Server listening on port 3000”.</a:t>
            </a:r>
            <a:endParaRPr lang="en-US" sz="2400">
              <a:effectLst/>
              <a:latin typeface="Times New Roman" panose="02020603050405020304" pitchFamily="18" charset="0"/>
              <a:ea typeface="Times New Roman" panose="02020603050405020304" pitchFamily="18" charset="0"/>
            </a:endParaRPr>
          </a:p>
        </p:txBody>
      </p:sp>
      <p:sp>
        <p:nvSpPr>
          <p:cNvPr id="14" name="Rectangle 13">
            <a:extLst>
              <a:ext uri="{FF2B5EF4-FFF2-40B4-BE49-F238E27FC236}">
                <a16:creationId xmlns:a16="http://schemas.microsoft.com/office/drawing/2014/main" id="{E6135406-D7FB-0909-73E6-59CEA25DB8E0}"/>
              </a:ext>
            </a:extLst>
          </p:cNvPr>
          <p:cNvSpPr/>
          <p:nvPr/>
        </p:nvSpPr>
        <p:spPr>
          <a:xfrm>
            <a:off x="2544579" y="4176584"/>
            <a:ext cx="3032437" cy="2942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850D0C1-7424-5B07-F71D-B7B31A632FC5}"/>
              </a:ext>
            </a:extLst>
          </p:cNvPr>
          <p:cNvSpPr/>
          <p:nvPr/>
        </p:nvSpPr>
        <p:spPr>
          <a:xfrm>
            <a:off x="6085249" y="3951339"/>
            <a:ext cx="1633605" cy="2942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5874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ED93808-16F2-25F0-158B-72E64A9A2A3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AC6529-270E-9370-747C-233025499F6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3576D9D-929A-467D-A207-57FF6AD3061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985AE523-6F45-2BF0-7196-0DF96EC79B7B}"/>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DFEAE58-ABB7-EC87-EC86-96AD6E217F7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6.4. Cách tạo Restful API với NodeJS + ExpressJS</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1A71F31-BD01-5749-34C2-EC40163AB0B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703F75A-FC7D-E8F0-9D06-C092BA7E52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3AF2D6C-C8A4-6E1C-5321-492208DBED4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FF85285-B8C0-5C51-8888-8A24253C71B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6" name="TextBox 15">
            <a:extLst>
              <a:ext uri="{FF2B5EF4-FFF2-40B4-BE49-F238E27FC236}">
                <a16:creationId xmlns:a16="http://schemas.microsoft.com/office/drawing/2014/main" id="{4344B677-B5B3-14A0-B1D6-5E445819D4D7}"/>
              </a:ext>
            </a:extLst>
          </p:cNvPr>
          <p:cNvSpPr txBox="1"/>
          <p:nvPr/>
        </p:nvSpPr>
        <p:spPr>
          <a:xfrm>
            <a:off x="542786" y="748571"/>
            <a:ext cx="11084927"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ea typeface="Arial Unicode MS" panose="020B0604020202020204" pitchFamily="34" charset="-128"/>
              </a:rPr>
              <a:t>Step 5: Thực thi file </a:t>
            </a:r>
            <a:r>
              <a:rPr lang="en-US" sz="2400" b="1">
                <a:solidFill>
                  <a:srgbClr val="002060"/>
                </a:solidFill>
                <a:latin typeface="Times New Roman" panose="02020603050405020304" pitchFamily="18" charset="0"/>
                <a:ea typeface="Arial Unicode MS" panose="020B0604020202020204" pitchFamily="34" charset="-128"/>
              </a:rPr>
              <a:t>index.js:</a:t>
            </a:r>
            <a:r>
              <a:rPr lang="en-US" sz="2400">
                <a:solidFill>
                  <a:srgbClr val="FF0000"/>
                </a:solidFill>
                <a:latin typeface="Times New Roman" panose="02020603050405020304" pitchFamily="18" charset="0"/>
                <a:ea typeface="Arial Unicode MS" panose="020B0604020202020204" pitchFamily="34" charset="-128"/>
              </a:rPr>
              <a:t> node index.js</a:t>
            </a:r>
            <a:endParaRPr lang="en-US" sz="2400" b="1">
              <a:solidFill>
                <a:srgbClr val="FF0000"/>
              </a:solidFill>
            </a:endParaRPr>
          </a:p>
        </p:txBody>
      </p:sp>
      <p:sp>
        <p:nvSpPr>
          <p:cNvPr id="9" name="TextBox 8">
            <a:extLst>
              <a:ext uri="{FF2B5EF4-FFF2-40B4-BE49-F238E27FC236}">
                <a16:creationId xmlns:a16="http://schemas.microsoft.com/office/drawing/2014/main" id="{74604A2E-5FE5-16BC-7A71-28ADBE24BA04}"/>
              </a:ext>
            </a:extLst>
          </p:cNvPr>
          <p:cNvSpPr txBox="1"/>
          <p:nvPr/>
        </p:nvSpPr>
        <p:spPr>
          <a:xfrm>
            <a:off x="736371" y="1380011"/>
            <a:ext cx="11084926" cy="579967"/>
          </a:xfrm>
          <a:prstGeom prst="rect">
            <a:avLst/>
          </a:prstGeom>
          <a:noFill/>
        </p:spPr>
        <p:txBody>
          <a:bodyPr wrap="square">
            <a:spAutoFit/>
          </a:bodyPr>
          <a:lstStyle/>
          <a:p>
            <a:pPr marL="342900" marR="0" indent="-342900" algn="just">
              <a:lnSpc>
                <a:spcPct val="150000"/>
              </a:lnSpc>
              <a:spcBef>
                <a:spcPts val="600"/>
              </a:spcBef>
              <a:spcAft>
                <a:spcPts val="600"/>
              </a:spcAft>
              <a:buFont typeface="Wingdings" panose="05000000000000000000" pitchFamily="2" charset="2"/>
              <a:buChar char="ü"/>
            </a:pPr>
            <a:r>
              <a:rPr lang="nl-NL" sz="2400">
                <a:effectLst/>
                <a:latin typeface="Times New Roman" panose="02020603050405020304" pitchFamily="18" charset="0"/>
                <a:ea typeface="Arial Unicode MS" panose="020B0604020202020204" pitchFamily="34" charset="-128"/>
              </a:rPr>
              <a:t>Mở trình duyệt để xem kết quả:</a:t>
            </a:r>
            <a:endParaRPr lang="en-US" sz="2400">
              <a:effectLst/>
              <a:latin typeface="Times New Roman" panose="02020603050405020304" pitchFamily="18" charset="0"/>
              <a:ea typeface="Times New Roman" panose="02020603050405020304" pitchFamily="18" charset="0"/>
            </a:endParaRPr>
          </a:p>
        </p:txBody>
      </p:sp>
      <p:pic>
        <p:nvPicPr>
          <p:cNvPr id="12" name="Picture 11">
            <a:extLst>
              <a:ext uri="{FF2B5EF4-FFF2-40B4-BE49-F238E27FC236}">
                <a16:creationId xmlns:a16="http://schemas.microsoft.com/office/drawing/2014/main" id="{D9FE7EB2-FA8A-D6A8-B1BE-05C0FEB8A853}"/>
              </a:ext>
            </a:extLst>
          </p:cNvPr>
          <p:cNvPicPr>
            <a:picLocks noChangeAspect="1"/>
          </p:cNvPicPr>
          <p:nvPr/>
        </p:nvPicPr>
        <p:blipFill>
          <a:blip r:embed="rId3"/>
          <a:srcRect/>
          <a:stretch/>
        </p:blipFill>
        <p:spPr>
          <a:xfrm>
            <a:off x="1162435" y="2761103"/>
            <a:ext cx="8582025" cy="2990849"/>
          </a:xfrm>
          <a:prstGeom prst="rect">
            <a:avLst/>
          </a:prstGeom>
        </p:spPr>
      </p:pic>
      <p:sp>
        <p:nvSpPr>
          <p:cNvPr id="14" name="TextBox 13">
            <a:extLst>
              <a:ext uri="{FF2B5EF4-FFF2-40B4-BE49-F238E27FC236}">
                <a16:creationId xmlns:a16="http://schemas.microsoft.com/office/drawing/2014/main" id="{483CB339-22C0-051A-DE2E-50342BF68BA4}"/>
              </a:ext>
            </a:extLst>
          </p:cNvPr>
          <p:cNvSpPr txBox="1"/>
          <p:nvPr/>
        </p:nvSpPr>
        <p:spPr>
          <a:xfrm>
            <a:off x="1162435" y="2175723"/>
            <a:ext cx="6297826"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hlinkClick r:id="rId4"/>
              </a:rPr>
              <a:t>http://localhost:3000/</a:t>
            </a:r>
            <a:r>
              <a:rPr lang="en-US" sz="24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8883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9EA0A05-A9FE-143C-DA93-134D24D1FCB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FC10E23-85F6-A763-E7A6-351D3F56090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3E9021A-78BE-0EC5-F8F6-6B70D86B64F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C20FE11F-050A-C6CA-0F25-F0012680E12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160124A-3B89-162E-E85C-DECAA034CBA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98B7859-E6C8-B4BD-E8C1-4F05638C3EE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A6BDF27-E234-62D5-60BC-BA20BCEE975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97C7571-FEAD-3E0D-6345-416B2BDF9DB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397B84A-9BD0-8FC6-C276-B8C412CAC61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4CEEFFB-6586-D63A-29A4-2B8D80B97ADB}"/>
              </a:ext>
            </a:extLst>
          </p:cNvPr>
          <p:cNvSpPr txBox="1"/>
          <p:nvPr/>
        </p:nvSpPr>
        <p:spPr>
          <a:xfrm>
            <a:off x="462280" y="841012"/>
            <a:ext cx="11062456"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Thông thường chúng ta phải thay đổi mã lệnh liên tục trong dự án, mỗi lần thay đổi thì phải chạy lại Web server cho dự án này, dẫn tới mất thời gian và không cần thiết. Kỹ thuật nodemon giúp restart lại server khi thay đổi mã lệnh trong dự án (phát âm </a:t>
            </a:r>
            <a:r>
              <a:rPr lang="en-US" sz="2400" b="1">
                <a:latin typeface="Times New Roman" panose="02020603050405020304" pitchFamily="18" charset="0"/>
                <a:cs typeface="Times New Roman" panose="02020603050405020304" pitchFamily="18" charset="0"/>
              </a:rPr>
              <a:t>node-mon /nəʊd mʌn/</a:t>
            </a:r>
            <a:r>
              <a:rPr lang="en-US" sz="2400">
                <a:latin typeface="Times New Roman" panose="02020603050405020304" pitchFamily="18" charset="0"/>
                <a:cs typeface="Times New Roman" panose="02020603050405020304" pitchFamily="18" charset="0"/>
              </a:rPr>
              <a:t>)</a:t>
            </a:r>
            <a:endParaRPr lang="vi-V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0C60708-D0DE-22F7-F84A-C9BBC921B804}"/>
              </a:ext>
            </a:extLst>
          </p:cNvPr>
          <p:cNvSpPr txBox="1"/>
          <p:nvPr/>
        </p:nvSpPr>
        <p:spPr>
          <a:xfrm>
            <a:off x="2745260" y="3178469"/>
            <a:ext cx="6297826" cy="579967"/>
          </a:xfrm>
          <a:prstGeom prst="rect">
            <a:avLst/>
          </a:prstGeom>
          <a:noFill/>
        </p:spPr>
        <p:txBody>
          <a:bodyPr wrap="square">
            <a:spAutoFit/>
          </a:bodyPr>
          <a:lstStyle/>
          <a:p>
            <a:pPr marL="342900" marR="0" indent="-342900">
              <a:lnSpc>
                <a:spcPct val="150000"/>
              </a:lnSpc>
              <a:spcBef>
                <a:spcPts val="600"/>
              </a:spcBef>
              <a:spcAft>
                <a:spcPts val="600"/>
              </a:spcAft>
              <a:buFont typeface="Wingdings" panose="05000000000000000000" pitchFamily="2" charset="2"/>
              <a:buChar char="ü"/>
            </a:pPr>
            <a:r>
              <a:rPr lang="nl-NL" sz="2400" b="1">
                <a:effectLst/>
                <a:latin typeface="Times New Roman" panose="02020603050405020304" pitchFamily="18" charset="0"/>
                <a:ea typeface="Arial Unicode MS" panose="020B0604020202020204" pitchFamily="34" charset="-128"/>
              </a:rPr>
              <a:t>npm i --save-dev nodemon</a:t>
            </a:r>
            <a:endParaRPr lang="en-US" sz="2400">
              <a:effectLst/>
              <a:latin typeface="Times New Roman" panose="02020603050405020304" pitchFamily="18" charset="0"/>
              <a:ea typeface="Times New Roman" panose="02020603050405020304" pitchFamily="18" charset="0"/>
            </a:endParaRPr>
          </a:p>
        </p:txBody>
      </p:sp>
      <p:sp>
        <p:nvSpPr>
          <p:cNvPr id="12" name="TextBox 11">
            <a:extLst>
              <a:ext uri="{FF2B5EF4-FFF2-40B4-BE49-F238E27FC236}">
                <a16:creationId xmlns:a16="http://schemas.microsoft.com/office/drawing/2014/main" id="{5FFE9F89-35BA-7E16-C991-69AAC0C95060}"/>
              </a:ext>
            </a:extLst>
          </p:cNvPr>
          <p:cNvSpPr txBox="1"/>
          <p:nvPr/>
        </p:nvSpPr>
        <p:spPr>
          <a:xfrm>
            <a:off x="2745260" y="3929856"/>
            <a:ext cx="6297826" cy="579967"/>
          </a:xfrm>
          <a:prstGeom prst="rect">
            <a:avLst/>
          </a:prstGeom>
          <a:noFill/>
        </p:spPr>
        <p:txBody>
          <a:bodyPr wrap="square">
            <a:spAutoFit/>
          </a:bodyPr>
          <a:lstStyle/>
          <a:p>
            <a:pPr marL="342900" marR="0" indent="-342900">
              <a:lnSpc>
                <a:spcPct val="150000"/>
              </a:lnSpc>
              <a:spcBef>
                <a:spcPts val="600"/>
              </a:spcBef>
              <a:spcAft>
                <a:spcPts val="600"/>
              </a:spcAft>
              <a:buFont typeface="Wingdings" panose="05000000000000000000" pitchFamily="2" charset="2"/>
              <a:buChar char="ü"/>
            </a:pPr>
            <a:r>
              <a:rPr lang="nl-NL" sz="2400" b="1">
                <a:effectLst/>
                <a:latin typeface="Times New Roman" panose="02020603050405020304" pitchFamily="18" charset="0"/>
                <a:ea typeface="Arial Unicode MS" panose="020B0604020202020204" pitchFamily="34" charset="-128"/>
              </a:rPr>
              <a:t>npm i -g nodemon</a:t>
            </a:r>
            <a:endParaRPr lang="en-US" sz="240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D61BF9B5-BF63-B511-EE2E-8F6A89CA3A31}"/>
              </a:ext>
            </a:extLst>
          </p:cNvPr>
          <p:cNvSpPr txBox="1"/>
          <p:nvPr/>
        </p:nvSpPr>
        <p:spPr>
          <a:xfrm>
            <a:off x="2745260" y="4825735"/>
            <a:ext cx="6297826" cy="579967"/>
          </a:xfrm>
          <a:prstGeom prst="rect">
            <a:avLst/>
          </a:prstGeom>
          <a:noFill/>
        </p:spPr>
        <p:txBody>
          <a:bodyPr wrap="square">
            <a:spAutoFit/>
          </a:bodyPr>
          <a:lstStyle/>
          <a:p>
            <a:pPr marL="342900" marR="0" indent="-342900">
              <a:lnSpc>
                <a:spcPct val="150000"/>
              </a:lnSpc>
              <a:spcBef>
                <a:spcPts val="600"/>
              </a:spcBef>
              <a:spcAft>
                <a:spcPts val="600"/>
              </a:spcAft>
              <a:buFont typeface="Wingdings" panose="05000000000000000000" pitchFamily="2" charset="2"/>
              <a:buChar char="ü"/>
            </a:pPr>
            <a:r>
              <a:rPr lang="nl-NL" sz="2400" b="1">
                <a:effectLst/>
                <a:latin typeface="Times New Roman" panose="02020603050405020304" pitchFamily="18" charset="0"/>
                <a:ea typeface="Arial Unicode MS" panose="020B0604020202020204" pitchFamily="34" charset="-128"/>
              </a:rPr>
              <a:t>npm start</a:t>
            </a:r>
            <a:endParaRPr lang="en-US" sz="24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17123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1FAFE4E-B1D7-6833-779E-31704EFEC94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ED803B5-54FD-F9C9-CDF5-854F22ED8C0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005E663-BCAE-0959-4AE6-FEF9FC63DBA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DB092A7F-D6E0-4C1B-BE48-277A7506194B}"/>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4C98669-0D14-BCBB-2A28-0D851DA1B63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2FEAE81-69EB-001F-704D-705735BA18E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EC73484-4CF8-227F-D416-EFDC8D2265A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BD48592-E507-9F73-BD7E-644460D2E8F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CC3099E-36C1-4400-130D-C23175C6FFF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0D949C8-AC26-16F2-7747-329044BA3BAE}"/>
              </a:ext>
            </a:extLst>
          </p:cNvPr>
          <p:cNvSpPr txBox="1"/>
          <p:nvPr/>
        </p:nvSpPr>
        <p:spPr>
          <a:xfrm>
            <a:off x="462280" y="841012"/>
            <a:ext cx="1106245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Ta tắt Server đang chạy</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5428A91-F915-B08F-86E2-5C2178F16C19}"/>
              </a:ext>
            </a:extLst>
          </p:cNvPr>
          <p:cNvPicPr>
            <a:picLocks noChangeAspect="1"/>
          </p:cNvPicPr>
          <p:nvPr/>
        </p:nvPicPr>
        <p:blipFill>
          <a:blip r:embed="rId3"/>
          <a:stretch>
            <a:fillRect/>
          </a:stretch>
        </p:blipFill>
        <p:spPr>
          <a:xfrm>
            <a:off x="876839" y="1733241"/>
            <a:ext cx="8939035" cy="2370025"/>
          </a:xfrm>
          <a:prstGeom prst="rect">
            <a:avLst/>
          </a:prstGeom>
        </p:spPr>
      </p:pic>
      <p:cxnSp>
        <p:nvCxnSpPr>
          <p:cNvPr id="15" name="Straight Arrow Connector 14">
            <a:extLst>
              <a:ext uri="{FF2B5EF4-FFF2-40B4-BE49-F238E27FC236}">
                <a16:creationId xmlns:a16="http://schemas.microsoft.com/office/drawing/2014/main" id="{F6B3E630-DBA8-989A-C391-8F5C2A048EAC}"/>
              </a:ext>
            </a:extLst>
          </p:cNvPr>
          <p:cNvCxnSpPr/>
          <p:nvPr/>
        </p:nvCxnSpPr>
        <p:spPr>
          <a:xfrm flipH="1">
            <a:off x="9712411" y="2215978"/>
            <a:ext cx="601362" cy="26361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425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F95474A-B8A5-CA24-54A1-1E57ABD2B70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1F4F1C1-837C-B6A7-ADD7-7162840EC4D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B3E43C5-2E9D-2E59-7B4B-D0A402AB29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EA2D8BF9-45C8-6D35-8849-248BCBF1CEB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23AB2AA-77D4-15F8-7B73-8AC543DD378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92031C8-6024-11F8-D5E0-E5CF3467F45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574F2D3-C8EC-8378-71B3-7016A12A188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B3F41D0-0A3C-C494-F668-6CD42B386BD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67E0C3C-2C66-128A-E5B3-A82163A9DF5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85918F9-1242-1FA1-A443-466CBBDBCCE7}"/>
              </a:ext>
            </a:extLst>
          </p:cNvPr>
          <p:cNvSpPr txBox="1"/>
          <p:nvPr/>
        </p:nvSpPr>
        <p:spPr>
          <a:xfrm>
            <a:off x="462280" y="841012"/>
            <a:ext cx="1106245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Cài đặt </a:t>
            </a:r>
            <a:endParaRPr lang="vi-V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B46FFDA-129D-D64D-0EDE-E339BA06A1FA}"/>
              </a:ext>
            </a:extLst>
          </p:cNvPr>
          <p:cNvSpPr txBox="1"/>
          <p:nvPr/>
        </p:nvSpPr>
        <p:spPr>
          <a:xfrm>
            <a:off x="3412525" y="1234932"/>
            <a:ext cx="6297826" cy="579967"/>
          </a:xfrm>
          <a:prstGeom prst="rect">
            <a:avLst/>
          </a:prstGeom>
          <a:noFill/>
        </p:spPr>
        <p:txBody>
          <a:bodyPr wrap="square">
            <a:spAutoFit/>
          </a:bodyPr>
          <a:lstStyle/>
          <a:p>
            <a:pPr marR="0">
              <a:lnSpc>
                <a:spcPct val="150000"/>
              </a:lnSpc>
              <a:spcBef>
                <a:spcPts val="600"/>
              </a:spcBef>
              <a:spcAft>
                <a:spcPts val="600"/>
              </a:spcAft>
            </a:pPr>
            <a:r>
              <a:rPr lang="nl-NL" sz="2400" b="1">
                <a:effectLst/>
                <a:latin typeface="Times New Roman" panose="02020603050405020304" pitchFamily="18" charset="0"/>
                <a:ea typeface="Arial Unicode MS" panose="020B0604020202020204" pitchFamily="34" charset="-128"/>
              </a:rPr>
              <a:t>npm i --save-dev nodemon</a:t>
            </a:r>
            <a:endParaRPr lang="en-US" sz="2400">
              <a:effectLst/>
              <a:latin typeface="Times New Roman" panose="02020603050405020304" pitchFamily="18" charset="0"/>
              <a:ea typeface="Times New Roman" panose="02020603050405020304" pitchFamily="18" charset="0"/>
            </a:endParaRPr>
          </a:p>
        </p:txBody>
      </p:sp>
      <p:pic>
        <p:nvPicPr>
          <p:cNvPr id="12" name="Picture 11">
            <a:extLst>
              <a:ext uri="{FF2B5EF4-FFF2-40B4-BE49-F238E27FC236}">
                <a16:creationId xmlns:a16="http://schemas.microsoft.com/office/drawing/2014/main" id="{73E86E92-1B92-D46C-9105-7ED09B64F51F}"/>
              </a:ext>
            </a:extLst>
          </p:cNvPr>
          <p:cNvPicPr>
            <a:picLocks noChangeAspect="1"/>
          </p:cNvPicPr>
          <p:nvPr/>
        </p:nvPicPr>
        <p:blipFill>
          <a:blip r:embed="rId3"/>
          <a:stretch>
            <a:fillRect/>
          </a:stretch>
        </p:blipFill>
        <p:spPr>
          <a:xfrm>
            <a:off x="810170" y="2208819"/>
            <a:ext cx="6165114" cy="2530059"/>
          </a:xfrm>
          <a:prstGeom prst="rect">
            <a:avLst/>
          </a:prstGeom>
        </p:spPr>
      </p:pic>
      <p:sp>
        <p:nvSpPr>
          <p:cNvPr id="13" name="Rectangle 12">
            <a:extLst>
              <a:ext uri="{FF2B5EF4-FFF2-40B4-BE49-F238E27FC236}">
                <a16:creationId xmlns:a16="http://schemas.microsoft.com/office/drawing/2014/main" id="{D259BDDE-E0AD-58E4-E90A-BA206D8AC487}"/>
              </a:ext>
            </a:extLst>
          </p:cNvPr>
          <p:cNvSpPr/>
          <p:nvPr/>
        </p:nvSpPr>
        <p:spPr>
          <a:xfrm>
            <a:off x="4250724" y="2693773"/>
            <a:ext cx="2520779" cy="3707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4498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3E1D2AE-9691-43FA-B9FA-75797945E95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541D1E2-9D95-3941-3FEA-6C463F2D3DD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E74A7D9-201B-ACCD-B4C8-8D2B011BDB6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5D664A68-B34D-325D-27DF-46416C5A66B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E4F9B21-B266-990D-B7E9-CB106F698DC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8B0DC97-CD41-7310-E5F8-15798AB74F3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4C144EA-FEC3-5DBE-E1ED-0978DB59590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D674888-80E4-4346-0E69-813755EA077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C7A1010-2195-F5A4-451F-DDE5F91CBEC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DE989C8-7993-0F18-8413-A91A63897F02}"/>
              </a:ext>
            </a:extLst>
          </p:cNvPr>
          <p:cNvSpPr txBox="1"/>
          <p:nvPr/>
        </p:nvSpPr>
        <p:spPr>
          <a:xfrm>
            <a:off x="462280" y="841012"/>
            <a:ext cx="1106245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Cài đặt </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70B45DD-7791-2EF7-5E47-F722DDECD471}"/>
              </a:ext>
            </a:extLst>
          </p:cNvPr>
          <p:cNvPicPr>
            <a:picLocks noChangeAspect="1"/>
          </p:cNvPicPr>
          <p:nvPr/>
        </p:nvPicPr>
        <p:blipFill>
          <a:blip r:embed="rId3"/>
          <a:stretch>
            <a:fillRect/>
          </a:stretch>
        </p:blipFill>
        <p:spPr>
          <a:xfrm>
            <a:off x="3002012" y="2208819"/>
            <a:ext cx="6187976" cy="3718882"/>
          </a:xfrm>
          <a:prstGeom prst="rect">
            <a:avLst/>
          </a:prstGeom>
        </p:spPr>
      </p:pic>
      <p:sp>
        <p:nvSpPr>
          <p:cNvPr id="14" name="TextBox 13">
            <a:extLst>
              <a:ext uri="{FF2B5EF4-FFF2-40B4-BE49-F238E27FC236}">
                <a16:creationId xmlns:a16="http://schemas.microsoft.com/office/drawing/2014/main" id="{95E52628-1772-4839-BEF6-395831161EB1}"/>
              </a:ext>
            </a:extLst>
          </p:cNvPr>
          <p:cNvSpPr txBox="1"/>
          <p:nvPr/>
        </p:nvSpPr>
        <p:spPr>
          <a:xfrm>
            <a:off x="2844595" y="1355898"/>
            <a:ext cx="6297826" cy="579967"/>
          </a:xfrm>
          <a:prstGeom prst="rect">
            <a:avLst/>
          </a:prstGeom>
          <a:noFill/>
        </p:spPr>
        <p:txBody>
          <a:bodyPr wrap="square">
            <a:spAutoFit/>
          </a:bodyPr>
          <a:lstStyle/>
          <a:p>
            <a:pPr marR="0">
              <a:lnSpc>
                <a:spcPct val="150000"/>
              </a:lnSpc>
              <a:spcBef>
                <a:spcPts val="600"/>
              </a:spcBef>
              <a:spcAft>
                <a:spcPts val="600"/>
              </a:spcAft>
            </a:pPr>
            <a:r>
              <a:rPr lang="nl-NL" sz="2400" b="1">
                <a:effectLst/>
                <a:latin typeface="Times New Roman" panose="02020603050405020304" pitchFamily="18" charset="0"/>
                <a:ea typeface="Arial Unicode MS" panose="020B0604020202020204" pitchFamily="34" charset="-128"/>
              </a:rPr>
              <a:t>npm i -g nodemon</a:t>
            </a:r>
            <a:endParaRPr lang="en-US" sz="2400">
              <a:effectLst/>
              <a:latin typeface="Times New Roman" panose="02020603050405020304" pitchFamily="18" charset="0"/>
              <a:ea typeface="Times New Roman" panose="02020603050405020304" pitchFamily="18" charset="0"/>
            </a:endParaRPr>
          </a:p>
        </p:txBody>
      </p:sp>
      <p:sp>
        <p:nvSpPr>
          <p:cNvPr id="15" name="Rectangle 14">
            <a:extLst>
              <a:ext uri="{FF2B5EF4-FFF2-40B4-BE49-F238E27FC236}">
                <a16:creationId xmlns:a16="http://schemas.microsoft.com/office/drawing/2014/main" id="{08B4D610-C9B7-AFA6-6287-4819E87E2986}"/>
              </a:ext>
            </a:extLst>
          </p:cNvPr>
          <p:cNvSpPr/>
          <p:nvPr/>
        </p:nvSpPr>
        <p:spPr>
          <a:xfrm>
            <a:off x="6458464" y="4250724"/>
            <a:ext cx="2520779" cy="3707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70051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38FCEEF-1D7C-4E07-C8BA-69A7B368ADA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D23445D-E751-1AA4-7956-6B24A92DB0A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F4F9EBF-CBD5-F165-CADA-BFF7458257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3F919EC2-DE5E-11BD-2310-58B936D3B93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2846BBB-B1C8-871B-4950-7A38464B628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F1B24D4-5857-4DD1-5BFC-8EAAE10EDD3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8348412-1B80-A368-C5FD-1179AC64FBD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443DE13-C906-D931-D0CE-8FFDDCBF6D2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07A52D5-0174-555D-7896-024B5AC48CB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149E79D-4B2B-99B4-AFB5-270512B62582}"/>
              </a:ext>
            </a:extLst>
          </p:cNvPr>
          <p:cNvSpPr txBox="1"/>
          <p:nvPr/>
        </p:nvSpPr>
        <p:spPr>
          <a:xfrm>
            <a:off x="415252" y="748571"/>
            <a:ext cx="11062456"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Quan sát package.json các thư viện nodemon mới cài</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573880C-6098-12A5-80BF-85AAFA37EE10}"/>
              </a:ext>
            </a:extLst>
          </p:cNvPr>
          <p:cNvPicPr>
            <a:picLocks noChangeAspect="1"/>
          </p:cNvPicPr>
          <p:nvPr/>
        </p:nvPicPr>
        <p:blipFill>
          <a:blip r:embed="rId3"/>
          <a:stretch>
            <a:fillRect/>
          </a:stretch>
        </p:blipFill>
        <p:spPr>
          <a:xfrm>
            <a:off x="861825" y="1434123"/>
            <a:ext cx="8035040" cy="4930238"/>
          </a:xfrm>
          <a:prstGeom prst="rect">
            <a:avLst/>
          </a:prstGeom>
        </p:spPr>
      </p:pic>
      <p:sp>
        <p:nvSpPr>
          <p:cNvPr id="12" name="Rectangle 11">
            <a:extLst>
              <a:ext uri="{FF2B5EF4-FFF2-40B4-BE49-F238E27FC236}">
                <a16:creationId xmlns:a16="http://schemas.microsoft.com/office/drawing/2014/main" id="{FAC04148-FC25-02AE-3BCD-606859417E7F}"/>
              </a:ext>
            </a:extLst>
          </p:cNvPr>
          <p:cNvSpPr/>
          <p:nvPr/>
        </p:nvSpPr>
        <p:spPr>
          <a:xfrm>
            <a:off x="2685535" y="5362832"/>
            <a:ext cx="4819135" cy="6837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0046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C6EDB26-A2B7-2A8E-F7F0-E1E00E5D622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F3B5E20-6259-F27E-0FD3-1475F64E7CB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89DE670-3C2F-C58A-8C36-EF56D173473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C0242094-0CEA-5995-11CB-38BEADEFB799}"/>
              </a:ext>
            </a:extLst>
          </p:cNvPr>
          <p:cNvGrpSpPr/>
          <p:nvPr/>
        </p:nvGrpSpPr>
        <p:grpSpPr>
          <a:xfrm>
            <a:off x="214276" y="229075"/>
            <a:ext cx="4387968" cy="508000"/>
            <a:chOff x="789624" y="1191463"/>
            <a:chExt cx="4387968" cy="508000"/>
          </a:xfrm>
        </p:grpSpPr>
        <p:sp>
          <p:nvSpPr>
            <p:cNvPr id="3" name="AutoShape 52">
              <a:extLst>
                <a:ext uri="{FF2B5EF4-FFF2-40B4-BE49-F238E27FC236}">
                  <a16:creationId xmlns:a16="http://schemas.microsoft.com/office/drawing/2014/main" id="{EA20030C-B3C0-5696-3D8D-13F2B87FE9B0}"/>
                </a:ext>
              </a:extLst>
            </p:cNvPr>
            <p:cNvSpPr>
              <a:spLocks noChangeArrowheads="1"/>
            </p:cNvSpPr>
            <p:nvPr/>
          </p:nvSpPr>
          <p:spPr bwMode="gray">
            <a:xfrm>
              <a:off x="990600" y="1191463"/>
              <a:ext cx="418699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08FFC6C-37FC-0C84-98D2-C6BAED0C44D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8EA8A15-7F21-7DC1-5A86-6C258C4B6D5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08ED9B9-3F33-B30F-75A4-0284637277C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A3E1043-95F7-2D24-F353-3121601A96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2EF792F-1AC4-D2A6-7E8D-E6A50BB7F175}"/>
              </a:ext>
            </a:extLst>
          </p:cNvPr>
          <p:cNvSpPr txBox="1"/>
          <p:nvPr/>
        </p:nvSpPr>
        <p:spPr>
          <a:xfrm>
            <a:off x="415252" y="748571"/>
            <a:ext cx="4535689"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Chỉnh sửa package.json</a:t>
            </a:r>
            <a:endParaRPr lang="vi-V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DA9894E-F270-AB8E-518A-884B1DCE30DD}"/>
              </a:ext>
            </a:extLst>
          </p:cNvPr>
          <p:cNvSpPr txBox="1"/>
          <p:nvPr/>
        </p:nvSpPr>
        <p:spPr>
          <a:xfrm>
            <a:off x="743814" y="1328538"/>
            <a:ext cx="11062456" cy="579967"/>
          </a:xfrm>
          <a:prstGeom prst="rect">
            <a:avLst/>
          </a:prstGeom>
          <a:noFill/>
        </p:spPr>
        <p:txBody>
          <a:bodyPr wrap="square">
            <a:spAutoFit/>
          </a:bodyPr>
          <a:lstStyle/>
          <a:p>
            <a:pPr marL="0" marR="0">
              <a:lnSpc>
                <a:spcPct val="150000"/>
              </a:lnSpc>
              <a:spcBef>
                <a:spcPts val="600"/>
              </a:spcBef>
              <a:spcAft>
                <a:spcPts val="600"/>
              </a:spcAft>
              <a:buNone/>
            </a:pPr>
            <a:r>
              <a:rPr lang="nl-NL" sz="2400">
                <a:effectLst/>
                <a:latin typeface="Times New Roman" panose="02020603050405020304" pitchFamily="18" charset="0"/>
                <a:ea typeface="Arial Unicode MS" panose="020B0604020202020204" pitchFamily="34" charset="-128"/>
              </a:rPr>
              <a:t>Bổ sung lệnh:</a:t>
            </a:r>
            <a:endParaRPr lang="en-US" sz="240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43A30474-43EF-7DCA-A637-E60589B5B279}"/>
              </a:ext>
            </a:extLst>
          </p:cNvPr>
          <p:cNvSpPr txBox="1"/>
          <p:nvPr/>
        </p:nvSpPr>
        <p:spPr>
          <a:xfrm>
            <a:off x="728132" y="2057992"/>
            <a:ext cx="6297826" cy="387286"/>
          </a:xfrm>
          <a:prstGeom prst="rect">
            <a:avLst/>
          </a:prstGeom>
          <a:noFill/>
        </p:spPr>
        <p:txBody>
          <a:bodyPr wrap="square">
            <a:spAutoFit/>
          </a:bodyPr>
          <a:lstStyle/>
          <a:p>
            <a:pPr>
              <a:lnSpc>
                <a:spcPts val="2250"/>
              </a:lnSpc>
              <a:buNone/>
            </a:pPr>
            <a:r>
              <a:rPr lang="en-US" sz="2000" b="0">
                <a:solidFill>
                  <a:srgbClr val="0451A5"/>
                </a:solidFill>
                <a:effectLst/>
                <a:latin typeface="Consolas" panose="020B0609020204030204" pitchFamily="49" charset="0"/>
              </a:rPr>
              <a:t>"start"</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"nodemon index.js"</a:t>
            </a:r>
            <a:endParaRPr lang="en-US" sz="2000" b="0">
              <a:solidFill>
                <a:srgbClr val="000000"/>
              </a:solidFill>
              <a:effectLst/>
              <a:latin typeface="Consolas" panose="020B0609020204030204" pitchFamily="49" charset="0"/>
            </a:endParaRPr>
          </a:p>
        </p:txBody>
      </p:sp>
      <p:sp>
        <p:nvSpPr>
          <p:cNvPr id="16" name="TextBox 15">
            <a:extLst>
              <a:ext uri="{FF2B5EF4-FFF2-40B4-BE49-F238E27FC236}">
                <a16:creationId xmlns:a16="http://schemas.microsoft.com/office/drawing/2014/main" id="{81914EDB-60BF-C77D-A8BA-39025C79638D}"/>
              </a:ext>
            </a:extLst>
          </p:cNvPr>
          <p:cNvSpPr txBox="1"/>
          <p:nvPr/>
        </p:nvSpPr>
        <p:spPr>
          <a:xfrm>
            <a:off x="743814" y="2501205"/>
            <a:ext cx="3951754" cy="579967"/>
          </a:xfrm>
          <a:prstGeom prst="rect">
            <a:avLst/>
          </a:prstGeom>
          <a:noFill/>
        </p:spPr>
        <p:txBody>
          <a:bodyPr wrap="square">
            <a:spAutoFit/>
          </a:bodyPr>
          <a:lstStyle/>
          <a:p>
            <a:pPr marL="0" marR="0">
              <a:lnSpc>
                <a:spcPct val="150000"/>
              </a:lnSpc>
              <a:spcBef>
                <a:spcPts val="600"/>
              </a:spcBef>
              <a:spcAft>
                <a:spcPts val="600"/>
              </a:spcAft>
              <a:buNone/>
            </a:pPr>
            <a:r>
              <a:rPr lang="nl-NL" sz="2400">
                <a:effectLst/>
                <a:latin typeface="Times New Roman" panose="02020603050405020304" pitchFamily="18" charset="0"/>
                <a:ea typeface="Arial Unicode MS" panose="020B0604020202020204" pitchFamily="34" charset="-128"/>
              </a:rPr>
              <a:t>Vào thẻ “scripts”</a:t>
            </a:r>
            <a:endParaRPr lang="en-US" sz="2400">
              <a:effectLst/>
              <a:latin typeface="Times New Roman" panose="02020603050405020304" pitchFamily="18" charset="0"/>
              <a:ea typeface="Times New Roman" panose="02020603050405020304" pitchFamily="18" charset="0"/>
            </a:endParaRPr>
          </a:p>
        </p:txBody>
      </p:sp>
      <p:pic>
        <p:nvPicPr>
          <p:cNvPr id="18" name="Picture 17">
            <a:extLst>
              <a:ext uri="{FF2B5EF4-FFF2-40B4-BE49-F238E27FC236}">
                <a16:creationId xmlns:a16="http://schemas.microsoft.com/office/drawing/2014/main" id="{8E8F7FFD-BF60-CA12-F326-3D81599509DC}"/>
              </a:ext>
            </a:extLst>
          </p:cNvPr>
          <p:cNvPicPr>
            <a:picLocks noChangeAspect="1"/>
          </p:cNvPicPr>
          <p:nvPr/>
        </p:nvPicPr>
        <p:blipFill>
          <a:blip r:embed="rId3"/>
          <a:srcRect l="1726"/>
          <a:stretch>
            <a:fillRect/>
          </a:stretch>
        </p:blipFill>
        <p:spPr>
          <a:xfrm>
            <a:off x="4941909" y="189471"/>
            <a:ext cx="7261194" cy="6109429"/>
          </a:xfrm>
          <a:prstGeom prst="rect">
            <a:avLst/>
          </a:prstGeom>
        </p:spPr>
      </p:pic>
      <p:sp>
        <p:nvSpPr>
          <p:cNvPr id="19" name="Rectangle 18">
            <a:extLst>
              <a:ext uri="{FF2B5EF4-FFF2-40B4-BE49-F238E27FC236}">
                <a16:creationId xmlns:a16="http://schemas.microsoft.com/office/drawing/2014/main" id="{8B512D04-0936-2B96-4F0F-DDD6B5D455A0}"/>
              </a:ext>
            </a:extLst>
          </p:cNvPr>
          <p:cNvSpPr/>
          <p:nvPr/>
        </p:nvSpPr>
        <p:spPr>
          <a:xfrm>
            <a:off x="5115697" y="3429000"/>
            <a:ext cx="5263979" cy="3604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3310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6B91AB9-DEB3-944C-15EC-52B2C1396D6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629C6BE-7E8E-96D2-2A27-E480CE34328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02FB6BC-0E56-C8A2-711C-FB1481CDF5C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BC412683-DDA9-2770-12AD-7C236AEB1FD8}"/>
              </a:ext>
            </a:extLst>
          </p:cNvPr>
          <p:cNvGrpSpPr/>
          <p:nvPr/>
        </p:nvGrpSpPr>
        <p:grpSpPr>
          <a:xfrm>
            <a:off x="214276" y="229075"/>
            <a:ext cx="4387968" cy="508000"/>
            <a:chOff x="789624" y="1191463"/>
            <a:chExt cx="4387968" cy="508000"/>
          </a:xfrm>
        </p:grpSpPr>
        <p:sp>
          <p:nvSpPr>
            <p:cNvPr id="3" name="AutoShape 52">
              <a:extLst>
                <a:ext uri="{FF2B5EF4-FFF2-40B4-BE49-F238E27FC236}">
                  <a16:creationId xmlns:a16="http://schemas.microsoft.com/office/drawing/2014/main" id="{E420AD56-3918-D32A-0CD3-17D812EE0982}"/>
                </a:ext>
              </a:extLst>
            </p:cNvPr>
            <p:cNvSpPr>
              <a:spLocks noChangeArrowheads="1"/>
            </p:cNvSpPr>
            <p:nvPr/>
          </p:nvSpPr>
          <p:spPr bwMode="gray">
            <a:xfrm>
              <a:off x="990600" y="1191463"/>
              <a:ext cx="418699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9764200-744E-5E9A-EA62-EA06FC858E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B4D0F67-C500-C4C2-25CF-22CEE9C8985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BC1634-1C3C-BC7A-C123-4DBD18153B8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6C7B051-34A5-CCC8-F478-8DDEC21A7C4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DAA9535-8609-BBE0-9243-61B547CFD62B}"/>
              </a:ext>
            </a:extLst>
          </p:cNvPr>
          <p:cNvSpPr txBox="1"/>
          <p:nvPr/>
        </p:nvSpPr>
        <p:spPr>
          <a:xfrm>
            <a:off x="415252" y="748571"/>
            <a:ext cx="6059689"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Chạy my-server bằng lệnh: </a:t>
            </a:r>
            <a:endParaRPr lang="vi-V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91FE39B-BD2E-9BBB-14F1-CB75C0C78DE0}"/>
              </a:ext>
            </a:extLst>
          </p:cNvPr>
          <p:cNvSpPr txBox="1"/>
          <p:nvPr/>
        </p:nvSpPr>
        <p:spPr>
          <a:xfrm>
            <a:off x="5478922" y="748570"/>
            <a:ext cx="2544732" cy="579967"/>
          </a:xfrm>
          <a:prstGeom prst="rect">
            <a:avLst/>
          </a:prstGeom>
          <a:noFill/>
        </p:spPr>
        <p:txBody>
          <a:bodyPr wrap="square">
            <a:spAutoFit/>
          </a:bodyPr>
          <a:lstStyle/>
          <a:p>
            <a:pPr marR="0">
              <a:lnSpc>
                <a:spcPct val="150000"/>
              </a:lnSpc>
              <a:spcBef>
                <a:spcPts val="600"/>
              </a:spcBef>
              <a:spcAft>
                <a:spcPts val="600"/>
              </a:spcAft>
            </a:pPr>
            <a:r>
              <a:rPr lang="nl-NL" sz="2400" b="1">
                <a:effectLst/>
                <a:latin typeface="Times New Roman" panose="02020603050405020304" pitchFamily="18" charset="0"/>
                <a:ea typeface="Arial Unicode MS" panose="020B0604020202020204" pitchFamily="34" charset="-128"/>
              </a:rPr>
              <a:t>npm start</a:t>
            </a:r>
            <a:endParaRPr lang="en-US" sz="2400">
              <a:effectLst/>
              <a:latin typeface="Times New Roman" panose="02020603050405020304" pitchFamily="18" charset="0"/>
              <a:ea typeface="Times New Roman" panose="02020603050405020304" pitchFamily="18" charset="0"/>
            </a:endParaRPr>
          </a:p>
        </p:txBody>
      </p:sp>
      <p:pic>
        <p:nvPicPr>
          <p:cNvPr id="12" name="Picture 11">
            <a:extLst>
              <a:ext uri="{FF2B5EF4-FFF2-40B4-BE49-F238E27FC236}">
                <a16:creationId xmlns:a16="http://schemas.microsoft.com/office/drawing/2014/main" id="{5AF01BA9-0CF7-B82B-7073-BE1949186DBF}"/>
              </a:ext>
            </a:extLst>
          </p:cNvPr>
          <p:cNvPicPr>
            <a:picLocks noChangeAspect="1"/>
          </p:cNvPicPr>
          <p:nvPr/>
        </p:nvPicPr>
        <p:blipFill>
          <a:blip r:embed="rId3"/>
          <a:stretch>
            <a:fillRect/>
          </a:stretch>
        </p:blipFill>
        <p:spPr>
          <a:xfrm>
            <a:off x="864735" y="1380395"/>
            <a:ext cx="5486875" cy="3109229"/>
          </a:xfrm>
          <a:prstGeom prst="rect">
            <a:avLst/>
          </a:prstGeom>
        </p:spPr>
      </p:pic>
      <p:sp>
        <p:nvSpPr>
          <p:cNvPr id="13" name="TextBox 12">
            <a:extLst>
              <a:ext uri="{FF2B5EF4-FFF2-40B4-BE49-F238E27FC236}">
                <a16:creationId xmlns:a16="http://schemas.microsoft.com/office/drawing/2014/main" id="{4F40777F-D662-C0D4-2E4F-149F90354C9B}"/>
              </a:ext>
            </a:extLst>
          </p:cNvPr>
          <p:cNvSpPr txBox="1"/>
          <p:nvPr/>
        </p:nvSpPr>
        <p:spPr>
          <a:xfrm>
            <a:off x="388797" y="4743922"/>
            <a:ext cx="8425689"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Khi sửa mã lệnh, chương trình tự động Start lại Server</a:t>
            </a:r>
            <a:endParaRPr lang="vi-V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637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9F3B52-EEBC-0D48-2094-8849650BDC1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E2580E6-E94C-57B4-C96F-62040712474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3B9DA9D-F45F-FC7A-C4BC-FBEE0CA4145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3DC4C06B-BE34-9F6F-5829-CBEA0D9D2453}"/>
              </a:ext>
            </a:extLst>
          </p:cNvPr>
          <p:cNvGrpSpPr/>
          <p:nvPr/>
        </p:nvGrpSpPr>
        <p:grpSpPr>
          <a:xfrm>
            <a:off x="214276" y="229075"/>
            <a:ext cx="4387968" cy="508000"/>
            <a:chOff x="789624" y="1191463"/>
            <a:chExt cx="4387968" cy="508000"/>
          </a:xfrm>
        </p:grpSpPr>
        <p:sp>
          <p:nvSpPr>
            <p:cNvPr id="3" name="AutoShape 52">
              <a:extLst>
                <a:ext uri="{FF2B5EF4-FFF2-40B4-BE49-F238E27FC236}">
                  <a16:creationId xmlns:a16="http://schemas.microsoft.com/office/drawing/2014/main" id="{57AC36AC-944B-FBCC-C41A-861D0295D8A6}"/>
                </a:ext>
              </a:extLst>
            </p:cNvPr>
            <p:cNvSpPr>
              <a:spLocks noChangeArrowheads="1"/>
            </p:cNvSpPr>
            <p:nvPr/>
          </p:nvSpPr>
          <p:spPr bwMode="gray">
            <a:xfrm>
              <a:off x="990600" y="1191463"/>
              <a:ext cx="4186992"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6.5. Cài đặt nodemon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AAF6C5-DF59-16A6-2AC9-27E844DCC1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3517EFF-86FF-3EC8-8112-9F4CDE7FCCE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69EF959-2D05-7D6F-02EE-BCC974ECA93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547AC11-F07F-8FE0-0836-4C9A85F0F1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B3E6CC9-964E-495E-4426-C2684EB09FCD}"/>
              </a:ext>
            </a:extLst>
          </p:cNvPr>
          <p:cNvSpPr txBox="1"/>
          <p:nvPr/>
        </p:nvSpPr>
        <p:spPr>
          <a:xfrm>
            <a:off x="415252" y="748571"/>
            <a:ext cx="6059689"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Chạy my-server bằng lệnh: </a:t>
            </a:r>
            <a:endParaRPr lang="vi-V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6E311BD-C02B-0C46-B290-827DA9EDB486}"/>
              </a:ext>
            </a:extLst>
          </p:cNvPr>
          <p:cNvSpPr txBox="1"/>
          <p:nvPr/>
        </p:nvSpPr>
        <p:spPr>
          <a:xfrm>
            <a:off x="5478922" y="748570"/>
            <a:ext cx="2544732" cy="579967"/>
          </a:xfrm>
          <a:prstGeom prst="rect">
            <a:avLst/>
          </a:prstGeom>
          <a:noFill/>
        </p:spPr>
        <p:txBody>
          <a:bodyPr wrap="square">
            <a:spAutoFit/>
          </a:bodyPr>
          <a:lstStyle/>
          <a:p>
            <a:pPr marR="0">
              <a:lnSpc>
                <a:spcPct val="150000"/>
              </a:lnSpc>
              <a:spcBef>
                <a:spcPts val="600"/>
              </a:spcBef>
              <a:spcAft>
                <a:spcPts val="600"/>
              </a:spcAft>
            </a:pPr>
            <a:r>
              <a:rPr lang="nl-NL" sz="2400" b="1">
                <a:effectLst/>
                <a:latin typeface="Times New Roman" panose="02020603050405020304" pitchFamily="18" charset="0"/>
                <a:ea typeface="Arial Unicode MS" panose="020B0604020202020204" pitchFamily="34" charset="-128"/>
              </a:rPr>
              <a:t>npm start</a:t>
            </a:r>
            <a:endParaRPr lang="en-US" sz="240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BA132ABD-00AB-F058-3B9C-A336FBCFF8F0}"/>
              </a:ext>
            </a:extLst>
          </p:cNvPr>
          <p:cNvSpPr txBox="1"/>
          <p:nvPr/>
        </p:nvSpPr>
        <p:spPr>
          <a:xfrm>
            <a:off x="388797" y="1328537"/>
            <a:ext cx="11457214" cy="1133965"/>
          </a:xfrm>
          <a:prstGeom prst="rect">
            <a:avLst/>
          </a:prstGeom>
          <a:noFill/>
        </p:spPr>
        <p:txBody>
          <a:bodyPr wrap="square">
            <a:spAutoFit/>
          </a:bodyPr>
          <a:lstStyle/>
          <a:p>
            <a:pPr marL="457200" indent="-457200" algn="just">
              <a:lnSpc>
                <a:spcPct val="150000"/>
              </a:lnSpc>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Khi sửa mã lệnh, chương trình tự động Start lại Server. Ở client sẽ tiếp tục sử dụng, ta cũng không phải start lại Server vì nó đã tự động làm.</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3AC247B-27EE-27A6-7629-D83B9806232D}"/>
              </a:ext>
            </a:extLst>
          </p:cNvPr>
          <p:cNvPicPr>
            <a:picLocks noChangeAspect="1"/>
          </p:cNvPicPr>
          <p:nvPr/>
        </p:nvPicPr>
        <p:blipFill>
          <a:blip r:embed="rId3"/>
          <a:stretch>
            <a:fillRect/>
          </a:stretch>
        </p:blipFill>
        <p:spPr>
          <a:xfrm>
            <a:off x="3363483" y="2550581"/>
            <a:ext cx="5349704" cy="3558848"/>
          </a:xfrm>
          <a:prstGeom prst="rect">
            <a:avLst/>
          </a:prstGeom>
        </p:spPr>
      </p:pic>
      <p:sp>
        <p:nvSpPr>
          <p:cNvPr id="14" name="Rectangle 13">
            <a:extLst>
              <a:ext uri="{FF2B5EF4-FFF2-40B4-BE49-F238E27FC236}">
                <a16:creationId xmlns:a16="http://schemas.microsoft.com/office/drawing/2014/main" id="{6ED7E4B3-3A6C-7D1C-E9C0-80C789396FF0}"/>
              </a:ext>
            </a:extLst>
          </p:cNvPr>
          <p:cNvSpPr/>
          <p:nvPr/>
        </p:nvSpPr>
        <p:spPr>
          <a:xfrm>
            <a:off x="2891481" y="5478162"/>
            <a:ext cx="4934465" cy="4366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265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D61F083-4AAA-ADFF-0A11-8811A77EFB3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8D768F-908C-0007-9E4D-B572B75434B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48274E1-8514-ED2F-1245-65DF3B0A0DA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0BB8583B-FD40-FE1C-255E-1B0D7BD5EEB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B058EF9-A606-7CA6-D877-BE4252CD3E1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019E341-EF72-2D33-15A9-95D2F04899D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83FD734-4CFD-F595-2D8B-00E51ABD38C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B6D158D-7941-A6F4-66AC-ABA14169858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5D8AA55-79AE-0AB4-EF21-4BDC6080E55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EA538F-55C5-2248-3524-B9419C1D965B}"/>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Ngoài ra ta có thể dùng lệnh morgan để </a:t>
            </a:r>
            <a:r>
              <a:rPr lang="vi-VN" sz="2400" b="1">
                <a:latin typeface="Times New Roman" panose="02020603050405020304" pitchFamily="18" charset="0"/>
                <a:cs typeface="Times New Roman" panose="02020603050405020304" pitchFamily="18" charset="0"/>
              </a:rPr>
              <a:t>xem http request logger</a:t>
            </a:r>
            <a:endParaRPr lang="en-US" sz="2400" b="1">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Stop Server để cài thư viện</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0317A80-3047-A8C4-244B-424A6690787D}"/>
              </a:ext>
            </a:extLst>
          </p:cNvPr>
          <p:cNvPicPr>
            <a:picLocks noChangeAspect="1"/>
          </p:cNvPicPr>
          <p:nvPr/>
        </p:nvPicPr>
        <p:blipFill>
          <a:blip r:embed="rId3"/>
          <a:stretch>
            <a:fillRect/>
          </a:stretch>
        </p:blipFill>
        <p:spPr>
          <a:xfrm>
            <a:off x="542786" y="1775946"/>
            <a:ext cx="11202963" cy="4315427"/>
          </a:xfrm>
          <a:prstGeom prst="rect">
            <a:avLst/>
          </a:prstGeom>
        </p:spPr>
      </p:pic>
      <p:cxnSp>
        <p:nvCxnSpPr>
          <p:cNvPr id="12" name="Straight Arrow Connector 11">
            <a:extLst>
              <a:ext uri="{FF2B5EF4-FFF2-40B4-BE49-F238E27FC236}">
                <a16:creationId xmlns:a16="http://schemas.microsoft.com/office/drawing/2014/main" id="{86BF029E-0AA9-761D-7116-C8C2B42F7922}"/>
              </a:ext>
            </a:extLst>
          </p:cNvPr>
          <p:cNvCxnSpPr/>
          <p:nvPr/>
        </p:nvCxnSpPr>
        <p:spPr>
          <a:xfrm flipH="1">
            <a:off x="11500022" y="2092411"/>
            <a:ext cx="313037" cy="5354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3868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CA3AB36-7137-FEF9-49D8-71F44718EB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F824C3A-804B-073C-7147-4BEF0856D8E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E5B2353-F15C-1F70-7AA4-B36D3C36794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42B659F6-2B08-6266-7FFD-255F292BE36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B242616-222D-6378-BE92-2252D0ADB790}"/>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DA2A87B-4565-CA65-8E20-0E8A68AC4A7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69EB57A-A58E-15BC-5C57-8C24C3B6EB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88D91C5-955F-DE8C-9412-5BA0E483531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B138E1A-11CE-C86B-085E-C770FDC5394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FF2661E-8600-0B78-578A-1A4312731BE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Cài đặt lệnh</a:t>
            </a:r>
            <a:endParaRPr lang="vi-VN"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AA358AE-01F8-E157-8391-D6D19541B141}"/>
              </a:ext>
            </a:extLst>
          </p:cNvPr>
          <p:cNvSpPr txBox="1"/>
          <p:nvPr/>
        </p:nvSpPr>
        <p:spPr>
          <a:xfrm>
            <a:off x="4182003" y="781860"/>
            <a:ext cx="4125097" cy="579967"/>
          </a:xfrm>
          <a:prstGeom prst="rect">
            <a:avLst/>
          </a:prstGeom>
          <a:noFill/>
        </p:spPr>
        <p:txBody>
          <a:bodyPr wrap="square">
            <a:spAutoFit/>
          </a:bodyPr>
          <a:lstStyle/>
          <a:p>
            <a:pPr marL="0" marR="0">
              <a:lnSpc>
                <a:spcPct val="150000"/>
              </a:lnSpc>
              <a:spcBef>
                <a:spcPts val="600"/>
              </a:spcBef>
              <a:spcAft>
                <a:spcPts val="600"/>
              </a:spcAft>
              <a:buNone/>
            </a:pPr>
            <a:r>
              <a:rPr lang="nl-NL" sz="2400" b="1">
                <a:effectLst/>
                <a:latin typeface="Times New Roman" panose="02020603050405020304" pitchFamily="18" charset="0"/>
                <a:ea typeface="Arial Unicode MS" panose="020B0604020202020204" pitchFamily="34" charset="-128"/>
              </a:rPr>
              <a:t>npm i --save-dev morgan</a:t>
            </a:r>
            <a:endParaRPr lang="en-US" sz="2400">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D3E9B4A3-1FAD-F755-DAEF-AFBADCEB087B}"/>
              </a:ext>
            </a:extLst>
          </p:cNvPr>
          <p:cNvPicPr>
            <a:picLocks noChangeAspect="1"/>
          </p:cNvPicPr>
          <p:nvPr/>
        </p:nvPicPr>
        <p:blipFill>
          <a:blip r:embed="rId3"/>
          <a:stretch>
            <a:fillRect/>
          </a:stretch>
        </p:blipFill>
        <p:spPr>
          <a:xfrm>
            <a:off x="728132" y="1600868"/>
            <a:ext cx="5715495" cy="2324301"/>
          </a:xfrm>
          <a:prstGeom prst="rect">
            <a:avLst/>
          </a:prstGeom>
        </p:spPr>
      </p:pic>
    </p:spTree>
    <p:extLst>
      <p:ext uri="{BB962C8B-B14F-4D97-AF65-F5344CB8AC3E}">
        <p14:creationId xmlns:p14="http://schemas.microsoft.com/office/powerpoint/2010/main" val="5561163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4994BE5-BE29-57C7-CF74-86AB1E92FD7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19A4AA2-3E14-90F3-5A58-822534D9E77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EF2517D-EE6D-AB82-BED3-D282743530D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E7B97D15-CE1A-68B1-7E19-544413A7B4D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F57D43F-1346-3366-1F20-F26412C75CC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F03E249-BC4B-4EF9-C751-4F1825BA442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2E204B0-8309-2C5D-7BA8-C4FCF72320D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89B9F9C-D457-4927-442D-69A2FE33558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D0BA67C-70E8-32A0-D3F6-DD3900454F7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A6889E3-2134-6165-F211-FCBE7A11741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Mở file package.json</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5BA4D34-EAD9-E476-A573-D7A71C24BDBF}"/>
              </a:ext>
            </a:extLst>
          </p:cNvPr>
          <p:cNvPicPr>
            <a:picLocks noChangeAspect="1"/>
          </p:cNvPicPr>
          <p:nvPr/>
        </p:nvPicPr>
        <p:blipFill>
          <a:blip r:embed="rId3"/>
          <a:stretch>
            <a:fillRect/>
          </a:stretch>
        </p:blipFill>
        <p:spPr>
          <a:xfrm>
            <a:off x="462279" y="1322122"/>
            <a:ext cx="5797140" cy="5107241"/>
          </a:xfrm>
          <a:prstGeom prst="rect">
            <a:avLst/>
          </a:prstGeom>
        </p:spPr>
      </p:pic>
      <p:sp>
        <p:nvSpPr>
          <p:cNvPr id="12" name="Rectangle 11">
            <a:extLst>
              <a:ext uri="{FF2B5EF4-FFF2-40B4-BE49-F238E27FC236}">
                <a16:creationId xmlns:a16="http://schemas.microsoft.com/office/drawing/2014/main" id="{0621DC23-6D46-7FF4-D757-18CA0AEE4404}"/>
              </a:ext>
            </a:extLst>
          </p:cNvPr>
          <p:cNvSpPr/>
          <p:nvPr/>
        </p:nvSpPr>
        <p:spPr>
          <a:xfrm>
            <a:off x="542786" y="5321643"/>
            <a:ext cx="3477279" cy="8463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8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5E5786A-64E5-8F39-0F55-D0A02AC7865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1B77BAB-BA1D-72B8-1EED-5E0EBEBCB31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FFA3B58-50B3-FAD1-A1DA-702CE187A62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E9C7AA23-E4D3-594E-44F0-3F5995D85DC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C142732-21B3-EE39-FDE1-A6E20495AF5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BEDD04C-B44A-37A1-225B-BA57131144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7639D04-B2BA-B949-52F3-504862061D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8D360CB-61BC-1275-9F83-884E900EC19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3F99522-BD76-6852-4443-673DCE6B0C8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8ACAC18-790C-CA18-BC49-13EDEFA0135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Hiệu chỉnh coding cho </a:t>
            </a:r>
            <a:r>
              <a:rPr lang="en-US" sz="2400" b="1">
                <a:latin typeface="Times New Roman" panose="02020603050405020304" pitchFamily="18" charset="0"/>
                <a:cs typeface="Times New Roman" panose="02020603050405020304" pitchFamily="18" charset="0"/>
              </a:rPr>
              <a:t>index.js</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6937F57-D6A4-26CD-8491-39CA58897A1F}"/>
              </a:ext>
            </a:extLst>
          </p:cNvPr>
          <p:cNvPicPr>
            <a:picLocks noChangeAspect="1"/>
          </p:cNvPicPr>
          <p:nvPr/>
        </p:nvPicPr>
        <p:blipFill>
          <a:blip r:embed="rId3"/>
          <a:stretch>
            <a:fillRect/>
          </a:stretch>
        </p:blipFill>
        <p:spPr>
          <a:xfrm>
            <a:off x="728132" y="1406614"/>
            <a:ext cx="8748518" cy="4785775"/>
          </a:xfrm>
          <a:prstGeom prst="rect">
            <a:avLst/>
          </a:prstGeom>
        </p:spPr>
      </p:pic>
    </p:spTree>
    <p:extLst>
      <p:ext uri="{BB962C8B-B14F-4D97-AF65-F5344CB8AC3E}">
        <p14:creationId xmlns:p14="http://schemas.microsoft.com/office/powerpoint/2010/main" val="14692920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4E1899E-B89F-87D9-8D0B-0C5B0A34F89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D400A50-623C-606D-10EE-88E799C924F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64AF158-9014-779C-341A-99790754473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BC35B06E-69F0-067B-F5E3-D0654388E95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3997C38-F535-96A4-C79B-D33B86668B0A}"/>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3F610B5-1F5D-B156-4BDC-2920E4CA489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F52E355-0F30-BAA0-CF9C-01377EDA8AE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DD3207E-830B-C66B-7D04-51C02064D41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CFC99CC-46DC-E463-4702-CADC526A194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32BA907-E6F4-B5DF-2706-B9DE072AD13F}"/>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Thực thi </a:t>
            </a:r>
            <a:r>
              <a:rPr lang="en-US" sz="2400" b="1">
                <a:latin typeface="Times New Roman" panose="02020603050405020304" pitchFamily="18" charset="0"/>
                <a:cs typeface="Times New Roman" panose="02020603050405020304" pitchFamily="18" charset="0"/>
              </a:rPr>
              <a:t>index.js</a:t>
            </a:r>
            <a:endParaRPr lang="vi-V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0FAA654-6385-0F1E-8CBE-B54BF7F6942F}"/>
              </a:ext>
            </a:extLst>
          </p:cNvPr>
          <p:cNvSpPr txBox="1"/>
          <p:nvPr/>
        </p:nvSpPr>
        <p:spPr>
          <a:xfrm>
            <a:off x="4646900" y="781860"/>
            <a:ext cx="2544732" cy="579967"/>
          </a:xfrm>
          <a:prstGeom prst="rect">
            <a:avLst/>
          </a:prstGeom>
          <a:noFill/>
        </p:spPr>
        <p:txBody>
          <a:bodyPr wrap="square">
            <a:spAutoFit/>
          </a:bodyPr>
          <a:lstStyle/>
          <a:p>
            <a:pPr marR="0">
              <a:lnSpc>
                <a:spcPct val="150000"/>
              </a:lnSpc>
              <a:spcBef>
                <a:spcPts val="600"/>
              </a:spcBef>
              <a:spcAft>
                <a:spcPts val="600"/>
              </a:spcAft>
            </a:pPr>
            <a:r>
              <a:rPr lang="nl-NL" sz="2400" b="1">
                <a:effectLst/>
                <a:latin typeface="Times New Roman" panose="02020603050405020304" pitchFamily="18" charset="0"/>
                <a:ea typeface="Arial Unicode MS" panose="020B0604020202020204" pitchFamily="34" charset="-128"/>
              </a:rPr>
              <a:t>npm start</a:t>
            </a:r>
            <a:endParaRPr lang="en-US" sz="2400">
              <a:effectLst/>
              <a:latin typeface="Times New Roman" panose="02020603050405020304" pitchFamily="18" charset="0"/>
              <a:ea typeface="Times New Roman" panose="02020603050405020304" pitchFamily="18" charset="0"/>
            </a:endParaRPr>
          </a:p>
        </p:txBody>
      </p:sp>
      <p:pic>
        <p:nvPicPr>
          <p:cNvPr id="12" name="Picture 11">
            <a:extLst>
              <a:ext uri="{FF2B5EF4-FFF2-40B4-BE49-F238E27FC236}">
                <a16:creationId xmlns:a16="http://schemas.microsoft.com/office/drawing/2014/main" id="{F426893D-F8D9-D54B-04E2-0AF0ECE953BA}"/>
              </a:ext>
            </a:extLst>
          </p:cNvPr>
          <p:cNvPicPr>
            <a:picLocks noChangeAspect="1"/>
          </p:cNvPicPr>
          <p:nvPr/>
        </p:nvPicPr>
        <p:blipFill>
          <a:blip r:embed="rId3"/>
          <a:stretch>
            <a:fillRect/>
          </a:stretch>
        </p:blipFill>
        <p:spPr>
          <a:xfrm>
            <a:off x="2910321" y="2015367"/>
            <a:ext cx="4839119" cy="2827265"/>
          </a:xfrm>
          <a:prstGeom prst="rect">
            <a:avLst/>
          </a:prstGeom>
        </p:spPr>
      </p:pic>
    </p:spTree>
    <p:extLst>
      <p:ext uri="{BB962C8B-B14F-4D97-AF65-F5344CB8AC3E}">
        <p14:creationId xmlns:p14="http://schemas.microsoft.com/office/powerpoint/2010/main" val="36152857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92A2440-AFA0-4F62-FCC7-2B1A439641E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49D881F-517C-678C-4199-13DDB7B5E71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2AC3765-1FDD-2F36-F444-60F440CE906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61A695C8-0CD5-04B5-3631-B09BEAF72E7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9B43281-44BE-FB46-4FD2-EA6E3E00054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7AC559E-1F18-7867-F98C-184269155FF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70AB6E6-D0BC-4D09-D6B0-3F02360F907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641D62B-036A-D413-0C5A-A90482CC18B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0543219-1D50-BEDA-CE6B-AD0B2B3AF90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2F79212-DEFF-42DC-7736-E2E9309728E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Test bằng Chrome</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7506324-6ED0-7EED-97C1-BD8D7AA5CC33}"/>
              </a:ext>
            </a:extLst>
          </p:cNvPr>
          <p:cNvPicPr>
            <a:picLocks noChangeAspect="1"/>
          </p:cNvPicPr>
          <p:nvPr/>
        </p:nvPicPr>
        <p:blipFill>
          <a:blip r:embed="rId3"/>
          <a:stretch>
            <a:fillRect/>
          </a:stretch>
        </p:blipFill>
        <p:spPr>
          <a:xfrm>
            <a:off x="728132" y="1406614"/>
            <a:ext cx="7705725" cy="2647950"/>
          </a:xfrm>
          <a:prstGeom prst="rect">
            <a:avLst/>
          </a:prstGeom>
        </p:spPr>
      </p:pic>
      <p:pic>
        <p:nvPicPr>
          <p:cNvPr id="14" name="Picture 13">
            <a:extLst>
              <a:ext uri="{FF2B5EF4-FFF2-40B4-BE49-F238E27FC236}">
                <a16:creationId xmlns:a16="http://schemas.microsoft.com/office/drawing/2014/main" id="{51737789-3BDE-7D23-5CCC-4225A607F252}"/>
              </a:ext>
            </a:extLst>
          </p:cNvPr>
          <p:cNvPicPr>
            <a:picLocks noChangeAspect="1"/>
          </p:cNvPicPr>
          <p:nvPr/>
        </p:nvPicPr>
        <p:blipFill>
          <a:blip r:embed="rId4"/>
          <a:stretch>
            <a:fillRect/>
          </a:stretch>
        </p:blipFill>
        <p:spPr>
          <a:xfrm>
            <a:off x="4418787" y="3070138"/>
            <a:ext cx="6896698" cy="3307367"/>
          </a:xfrm>
          <a:prstGeom prst="rect">
            <a:avLst/>
          </a:prstGeom>
        </p:spPr>
      </p:pic>
    </p:spTree>
    <p:extLst>
      <p:ext uri="{BB962C8B-B14F-4D97-AF65-F5344CB8AC3E}">
        <p14:creationId xmlns:p14="http://schemas.microsoft.com/office/powerpoint/2010/main" val="5432455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B2E3251-C398-9962-5AD6-63448D608DF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DD17C4C-DC5D-9275-8A56-481904AEE26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EBF3620-C365-91AE-4D49-EBA4DBACED1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AF3C2ECD-034C-6F5D-D03E-6688CFEC32E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5C67D69-B78D-DAA9-A8A9-8232A029D95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15B1D79-C598-2EAE-A886-6601B323F36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01E95F2-D79B-EDF0-751F-D651BB726B9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717C738-5566-9048-2D7E-A58B611E94D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0AC02F-97B2-C5A5-8AEE-2A3F0CC44A6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F1B9C22-D693-E6B9-B74A-A7F147EC160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Test bằng Microsoft Edge</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FD80090-545D-52B0-BF2F-C73C2B1A4AB7}"/>
              </a:ext>
            </a:extLst>
          </p:cNvPr>
          <p:cNvPicPr>
            <a:picLocks noChangeAspect="1"/>
          </p:cNvPicPr>
          <p:nvPr/>
        </p:nvPicPr>
        <p:blipFill>
          <a:blip r:embed="rId3"/>
          <a:stretch>
            <a:fillRect/>
          </a:stretch>
        </p:blipFill>
        <p:spPr>
          <a:xfrm>
            <a:off x="542786" y="1540475"/>
            <a:ext cx="7810500" cy="2590800"/>
          </a:xfrm>
          <a:prstGeom prst="rect">
            <a:avLst/>
          </a:prstGeom>
        </p:spPr>
      </p:pic>
      <p:pic>
        <p:nvPicPr>
          <p:cNvPr id="13" name="Picture 12">
            <a:extLst>
              <a:ext uri="{FF2B5EF4-FFF2-40B4-BE49-F238E27FC236}">
                <a16:creationId xmlns:a16="http://schemas.microsoft.com/office/drawing/2014/main" id="{76C233D1-A698-FB9E-8E9A-F92E0ECFED28}"/>
              </a:ext>
            </a:extLst>
          </p:cNvPr>
          <p:cNvPicPr>
            <a:picLocks noChangeAspect="1"/>
          </p:cNvPicPr>
          <p:nvPr/>
        </p:nvPicPr>
        <p:blipFill>
          <a:blip r:embed="rId4"/>
          <a:stretch>
            <a:fillRect/>
          </a:stretch>
        </p:blipFill>
        <p:spPr>
          <a:xfrm>
            <a:off x="4362356" y="2835875"/>
            <a:ext cx="6927180" cy="3322608"/>
          </a:xfrm>
          <a:prstGeom prst="rect">
            <a:avLst/>
          </a:prstGeom>
        </p:spPr>
      </p:pic>
    </p:spTree>
    <p:extLst>
      <p:ext uri="{BB962C8B-B14F-4D97-AF65-F5344CB8AC3E}">
        <p14:creationId xmlns:p14="http://schemas.microsoft.com/office/powerpoint/2010/main" val="3757878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76246A4-5A24-A319-6D9B-9C056CDA5B1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EEE968D-74C8-D1AF-38B1-416F10D055C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F8BA44D-E380-0104-1A0D-A4F7AD4D237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1D26D6BC-8A7A-5F4A-794B-637F8FCF3C8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CA7D78E-634C-1E67-7059-FE46ADCCA65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6.6. Cài đặt morgan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E4BAF2A-9151-5A20-E6DA-CC8A6CEAA27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5B150E0-E317-79F4-7743-9FD2C0FC610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61E477B-06FA-94DC-6BD1-A7118890EE1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1983DC-3253-53D3-8C77-37C9CDDA30B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D1CBA72-C845-5F36-DF0C-544E88220CC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Test bằng Firefox</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BE788CA-4146-92F2-4982-63882CF4F5E3}"/>
              </a:ext>
            </a:extLst>
          </p:cNvPr>
          <p:cNvPicPr>
            <a:picLocks noChangeAspect="1"/>
          </p:cNvPicPr>
          <p:nvPr/>
        </p:nvPicPr>
        <p:blipFill>
          <a:blip r:embed="rId3"/>
          <a:stretch>
            <a:fillRect/>
          </a:stretch>
        </p:blipFill>
        <p:spPr>
          <a:xfrm>
            <a:off x="728132" y="1406614"/>
            <a:ext cx="8791575" cy="2514600"/>
          </a:xfrm>
          <a:prstGeom prst="rect">
            <a:avLst/>
          </a:prstGeom>
        </p:spPr>
      </p:pic>
      <p:pic>
        <p:nvPicPr>
          <p:cNvPr id="14" name="Picture 13">
            <a:extLst>
              <a:ext uri="{FF2B5EF4-FFF2-40B4-BE49-F238E27FC236}">
                <a16:creationId xmlns:a16="http://schemas.microsoft.com/office/drawing/2014/main" id="{84DCE1A1-080B-A49B-38CA-E221817FBC53}"/>
              </a:ext>
            </a:extLst>
          </p:cNvPr>
          <p:cNvPicPr>
            <a:picLocks noChangeAspect="1"/>
          </p:cNvPicPr>
          <p:nvPr/>
        </p:nvPicPr>
        <p:blipFill>
          <a:blip r:embed="rId4"/>
          <a:stretch>
            <a:fillRect/>
          </a:stretch>
        </p:blipFill>
        <p:spPr>
          <a:xfrm>
            <a:off x="4198217" y="2875699"/>
            <a:ext cx="6942422" cy="3017782"/>
          </a:xfrm>
          <a:prstGeom prst="rect">
            <a:avLst/>
          </a:prstGeom>
        </p:spPr>
      </p:pic>
    </p:spTree>
    <p:extLst>
      <p:ext uri="{BB962C8B-B14F-4D97-AF65-F5344CB8AC3E}">
        <p14:creationId xmlns:p14="http://schemas.microsoft.com/office/powerpoint/2010/main" val="1706587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6B836D3-9B16-C733-4A95-FF478401DF8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9BBD023-01F4-AF77-2FFB-F8249452CF4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3703666-B195-D0F5-3EC2-963902E1363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1D59353C-B845-380D-39E0-94F76112A89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23F2775-AEC6-B158-23B7-826BEAD641F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 R</a:t>
              </a:r>
              <a:r>
                <a:rPr lang="en-US" sz="2800" b="1">
                  <a:latin typeface="Times New Roman" panose="02020603050405020304" pitchFamily="18" charset="0"/>
                  <a:cs typeface="Times New Roman" panose="02020603050405020304" pitchFamily="18" charset="0"/>
                </a:rPr>
                <a:t>EST</a:t>
              </a:r>
              <a:r>
                <a:rPr lang="vi-VN" sz="2800" b="1">
                  <a:latin typeface="Times New Roman" panose="02020603050405020304" pitchFamily="18" charset="0"/>
                  <a:cs typeface="Times New Roman" panose="02020603050405020304" pitchFamily="18" charset="0"/>
                </a:rPr>
                <a:t>ful với CRUD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03CFF23-AF28-C18C-143A-5467EC26ED8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E43B678-5392-6B1A-801B-807DC515C1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70177A9-AFF3-CB3E-3D9D-4A0EF27D89A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76653A2-FB21-86AA-CCD7-21EDE097CCB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66F51D8-02EA-5B2B-AD67-3BE5B8584248}"/>
              </a:ext>
            </a:extLst>
          </p:cNvPr>
          <p:cNvSpPr txBox="1"/>
          <p:nvPr/>
        </p:nvSpPr>
        <p:spPr>
          <a:xfrm>
            <a:off x="462279" y="841012"/>
            <a:ext cx="11449635" cy="4457952"/>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Chúng ta sẽ thử nghiệm một danh sách các cuốn sách có cấu trúc dữ liệu là: Mã sản phẩm, tên sản phẩm, đơn giá và hình ảnh. Danh sách sản phẩm này được lưu ở memory trên </a:t>
            </a:r>
            <a:r>
              <a:rPr lang="en-US" sz="2400" b="1">
                <a:latin typeface="Times New Roman" panose="02020603050405020304" pitchFamily="18" charset="0"/>
                <a:cs typeface="Times New Roman" panose="02020603050405020304" pitchFamily="18" charset="0"/>
              </a:rPr>
              <a:t>my-server</a:t>
            </a:r>
            <a:r>
              <a:rPr lang="en-US" sz="2400">
                <a:latin typeface="Times New Roman" panose="02020603050405020304" pitchFamily="18" charset="0"/>
                <a:cs typeface="Times New Roman" panose="02020603050405020304" pitchFamily="18" charset="0"/>
              </a:rPr>
              <a:t>, ta cần viết các </a:t>
            </a:r>
            <a:r>
              <a:rPr lang="en-US" sz="2400" b="1">
                <a:latin typeface="Times New Roman" panose="02020603050405020304" pitchFamily="18" charset="0"/>
                <a:cs typeface="Times New Roman" panose="02020603050405020304" pitchFamily="18" charset="0"/>
              </a:rPr>
              <a:t>Restful API </a:t>
            </a:r>
            <a:r>
              <a:rPr lang="en-US" sz="2400">
                <a:latin typeface="Times New Roman" panose="02020603050405020304" pitchFamily="18" charset="0"/>
                <a:cs typeface="Times New Roman" panose="02020603050405020304" pitchFamily="18" charset="0"/>
              </a:rPr>
              <a:t>để </a:t>
            </a:r>
            <a:r>
              <a:rPr lang="en-US" sz="2400" b="1">
                <a:latin typeface="Times New Roman" panose="02020603050405020304" pitchFamily="18" charset="0"/>
                <a:cs typeface="Times New Roman" panose="02020603050405020304" pitchFamily="18" charset="0"/>
              </a:rPr>
              <a:t>my-app</a:t>
            </a:r>
            <a:r>
              <a:rPr lang="en-US" sz="2400">
                <a:latin typeface="Times New Roman" panose="02020603050405020304" pitchFamily="18" charset="0"/>
                <a:cs typeface="Times New Roman" panose="02020603050405020304" pitchFamily="18" charset="0"/>
              </a:rPr>
              <a:t> (angular) </a:t>
            </a:r>
            <a:r>
              <a:rPr lang="en-US" sz="2400" b="1">
                <a:latin typeface="Times New Roman" panose="02020603050405020304" pitchFamily="18" charset="0"/>
                <a:cs typeface="Times New Roman" panose="02020603050405020304" pitchFamily="18" charset="0"/>
              </a:rPr>
              <a:t>truy suất</a:t>
            </a:r>
            <a:r>
              <a:rPr lang="en-US" sz="2400">
                <a:latin typeface="Times New Roman" panose="02020603050405020304" pitchFamily="18" charset="0"/>
                <a:cs typeface="Times New Roman" panose="02020603050405020304" pitchFamily="18" charset="0"/>
              </a:rPr>
              <a:t>.</a:t>
            </a:r>
          </a:p>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6.7.1</a:t>
            </a:r>
            <a:r>
              <a:rPr lang="vi-VN" sz="2400" dirty="0">
                <a:latin typeface="Times New Roman" panose="02020603050405020304" pitchFamily="18" charset="0"/>
                <a:cs typeface="Times New Roman" panose="02020603050405020304" pitchFamily="18" charset="0"/>
              </a:rPr>
              <a:t>. Restful API – HTTP GET: Tạo và triệu gọi danh sách đối tượng</a:t>
            </a:r>
          </a:p>
          <a:p>
            <a:pPr marL="457200" indent="-457200" algn="just">
              <a:lnSpc>
                <a:spcPct val="150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2</a:t>
            </a:r>
            <a:r>
              <a:rPr lang="vi-VN" sz="2400" dirty="0">
                <a:latin typeface="Times New Roman" panose="02020603050405020304" pitchFamily="18" charset="0"/>
                <a:cs typeface="Times New Roman" panose="02020603050405020304" pitchFamily="18" charset="0"/>
              </a:rPr>
              <a:t>. Restful API – HTTP GET: Tạo và triệu gọi một đối tượng</a:t>
            </a:r>
          </a:p>
          <a:p>
            <a:pPr marL="457200" indent="-457200" algn="just">
              <a:lnSpc>
                <a:spcPct val="150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3</a:t>
            </a:r>
            <a:r>
              <a:rPr lang="vi-VN" sz="2400" dirty="0">
                <a:latin typeface="Times New Roman" panose="02020603050405020304" pitchFamily="18" charset="0"/>
                <a:cs typeface="Times New Roman" panose="02020603050405020304" pitchFamily="18" charset="0"/>
              </a:rPr>
              <a:t>. Restful API – HTTP POST: Tạo và triệu gọi thêm mới đối tượng</a:t>
            </a:r>
          </a:p>
          <a:p>
            <a:pPr marL="457200" indent="-457200" algn="just">
              <a:lnSpc>
                <a:spcPct val="150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4</a:t>
            </a:r>
            <a:r>
              <a:rPr lang="vi-VN" sz="2400" dirty="0">
                <a:latin typeface="Times New Roman" panose="02020603050405020304" pitchFamily="18" charset="0"/>
                <a:cs typeface="Times New Roman" panose="02020603050405020304" pitchFamily="18" charset="0"/>
              </a:rPr>
              <a:t>. Restful API – HTTP PUT: Tạo và triệu gọi sửa đối tượng</a:t>
            </a:r>
          </a:p>
          <a:p>
            <a:pPr marL="457200" indent="-457200" algn="just">
              <a:lnSpc>
                <a:spcPct val="150000"/>
              </a:lnSpc>
              <a:buFont typeface="Wingdings" panose="05000000000000000000" pitchFamily="2" charset="2"/>
              <a:buChar char="ü"/>
            </a:pPr>
            <a:r>
              <a:rPr lang="vi-VN" sz="2400" dirty="0">
                <a:latin typeface="Times New Roman" panose="02020603050405020304" pitchFamily="18" charset="0"/>
                <a:cs typeface="Times New Roman" panose="02020603050405020304" pitchFamily="18" charset="0"/>
              </a:rPr>
              <a:t>6.7.</a:t>
            </a:r>
            <a:r>
              <a:rPr lang="en-US" sz="2400" dirty="0">
                <a:latin typeface="Times New Roman" panose="02020603050405020304" pitchFamily="18" charset="0"/>
                <a:cs typeface="Times New Roman" panose="02020603050405020304" pitchFamily="18" charset="0"/>
              </a:rPr>
              <a:t>5</a:t>
            </a:r>
            <a:r>
              <a:rPr lang="vi-VN" sz="2400" dirty="0">
                <a:latin typeface="Times New Roman" panose="02020603050405020304" pitchFamily="18" charset="0"/>
                <a:cs typeface="Times New Roman" panose="02020603050405020304" pitchFamily="18" charset="0"/>
              </a:rPr>
              <a:t>. Restful API – HTTP DELETE: Tạo và triệu gọi xóa </a:t>
            </a:r>
            <a:r>
              <a:rPr lang="vi-VN" sz="2400">
                <a:latin typeface="Times New Roman" panose="02020603050405020304" pitchFamily="18" charset="0"/>
                <a:cs typeface="Times New Roman" panose="02020603050405020304" pitchFamily="18" charset="0"/>
              </a:rPr>
              <a:t>đối tượng</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8217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78A245B-F31E-6292-1859-F7B256542CE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E474033-50C0-DE8E-9A53-2841615FB81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CEFE948-F065-2380-270E-140D3AB3E13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DC8AF7AE-B802-D3A0-7DFB-8EF8B321492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18424DE-7993-B59F-D7B9-CD6B4D179D7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A14D244-2D9B-87CF-188A-92E90C858C8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46749A2-1BB1-924E-00A3-14E6CD82268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8FF06FA-A110-294D-9850-2E41E2809C2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D12B28C-42FC-C98A-FFC2-A66B22F91D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0752B78-2EFB-7101-7EF6-B359D4C4FBA5}"/>
              </a:ext>
            </a:extLst>
          </p:cNvPr>
          <p:cNvSpPr txBox="1"/>
          <p:nvPr/>
        </p:nvSpPr>
        <p:spPr>
          <a:xfrm>
            <a:off x="462280" y="841012"/>
            <a:ext cx="9052424"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Tạo thư mục </a:t>
            </a:r>
            <a:r>
              <a:rPr lang="en-US" sz="2400" b="1">
                <a:latin typeface="Times New Roman" panose="02020603050405020304" pitchFamily="18" charset="0"/>
                <a:cs typeface="Times New Roman" panose="02020603050405020304" pitchFamily="18" charset="0"/>
              </a:rPr>
              <a:t>public</a:t>
            </a:r>
            <a:r>
              <a:rPr lang="en-US" sz="2400">
                <a:latin typeface="Times New Roman" panose="02020603050405020304" pitchFamily="18" charset="0"/>
                <a:cs typeface="Times New Roman" panose="02020603050405020304" pitchFamily="18" charset="0"/>
              </a:rPr>
              <a:t> trong </a:t>
            </a:r>
            <a:r>
              <a:rPr lang="en-US" sz="2400" b="1">
                <a:latin typeface="Times New Roman" panose="02020603050405020304" pitchFamily="18" charset="0"/>
                <a:cs typeface="Times New Roman" panose="02020603050405020304" pitchFamily="18" charset="0"/>
              </a:rPr>
              <a:t>my-server</a:t>
            </a:r>
            <a:r>
              <a:rPr lang="en-US" sz="2400">
                <a:latin typeface="Times New Roman" panose="02020603050405020304" pitchFamily="18" charset="0"/>
                <a:cs typeface="Times New Roman" panose="02020603050405020304" pitchFamily="18" charset="0"/>
              </a:rPr>
              <a:t>, sau đó tạo thêm thư mục </a:t>
            </a:r>
            <a:r>
              <a:rPr lang="en-US" sz="2400" b="1">
                <a:latin typeface="Times New Roman" panose="02020603050405020304" pitchFamily="18" charset="0"/>
                <a:cs typeface="Times New Roman" panose="02020603050405020304" pitchFamily="18" charset="0"/>
              </a:rPr>
              <a:t>images</a:t>
            </a:r>
            <a:r>
              <a:rPr lang="en-US" sz="2400">
                <a:latin typeface="Times New Roman" panose="02020603050405020304" pitchFamily="18" charset="0"/>
                <a:cs typeface="Times New Roman" panose="02020603050405020304" pitchFamily="18" charset="0"/>
              </a:rPr>
              <a:t> nằm bên trong thư mục </a:t>
            </a:r>
            <a:r>
              <a:rPr lang="en-US" sz="2400" b="1">
                <a:latin typeface="Times New Roman" panose="02020603050405020304" pitchFamily="18" charset="0"/>
                <a:cs typeface="Times New Roman" panose="02020603050405020304" pitchFamily="18" charset="0"/>
              </a:rPr>
              <a:t>public</a:t>
            </a:r>
            <a:endParaRPr lang="vi-VN" sz="24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DCB37AF9-6B4C-82AD-15DE-6DE025656AF4}"/>
              </a:ext>
            </a:extLst>
          </p:cNvPr>
          <p:cNvPicPr>
            <a:picLocks noChangeAspect="1"/>
          </p:cNvPicPr>
          <p:nvPr/>
        </p:nvPicPr>
        <p:blipFill>
          <a:blip r:embed="rId3"/>
          <a:stretch>
            <a:fillRect/>
          </a:stretch>
        </p:blipFill>
        <p:spPr>
          <a:xfrm>
            <a:off x="1024073" y="1997277"/>
            <a:ext cx="3551228" cy="1935648"/>
          </a:xfrm>
          <a:prstGeom prst="rect">
            <a:avLst/>
          </a:prstGeom>
        </p:spPr>
      </p:pic>
      <p:pic>
        <p:nvPicPr>
          <p:cNvPr id="16" name="Picture 15">
            <a:extLst>
              <a:ext uri="{FF2B5EF4-FFF2-40B4-BE49-F238E27FC236}">
                <a16:creationId xmlns:a16="http://schemas.microsoft.com/office/drawing/2014/main" id="{B9AD6F55-6F46-328F-A23A-2AC27D9214C4}"/>
              </a:ext>
            </a:extLst>
          </p:cNvPr>
          <p:cNvPicPr>
            <a:picLocks noChangeAspect="1"/>
          </p:cNvPicPr>
          <p:nvPr/>
        </p:nvPicPr>
        <p:blipFill>
          <a:blip r:embed="rId4"/>
          <a:stretch>
            <a:fillRect/>
          </a:stretch>
        </p:blipFill>
        <p:spPr>
          <a:xfrm>
            <a:off x="6531615" y="1350580"/>
            <a:ext cx="2789162" cy="3749365"/>
          </a:xfrm>
          <a:prstGeom prst="rect">
            <a:avLst/>
          </a:prstGeom>
        </p:spPr>
      </p:pic>
      <p:pic>
        <p:nvPicPr>
          <p:cNvPr id="18" name="Picture 17">
            <a:extLst>
              <a:ext uri="{FF2B5EF4-FFF2-40B4-BE49-F238E27FC236}">
                <a16:creationId xmlns:a16="http://schemas.microsoft.com/office/drawing/2014/main" id="{006B3D29-E26F-834E-9CD4-60CADEC4310E}"/>
              </a:ext>
            </a:extLst>
          </p:cNvPr>
          <p:cNvPicPr>
            <a:picLocks noChangeAspect="1"/>
          </p:cNvPicPr>
          <p:nvPr/>
        </p:nvPicPr>
        <p:blipFill>
          <a:blip r:embed="rId5"/>
          <a:stretch>
            <a:fillRect/>
          </a:stretch>
        </p:blipFill>
        <p:spPr>
          <a:xfrm>
            <a:off x="768535" y="4616596"/>
            <a:ext cx="5456393" cy="1295512"/>
          </a:xfrm>
          <a:prstGeom prst="rect">
            <a:avLst/>
          </a:prstGeom>
        </p:spPr>
      </p:pic>
      <p:sp>
        <p:nvSpPr>
          <p:cNvPr id="19" name="Arrow: Right 18">
            <a:extLst>
              <a:ext uri="{FF2B5EF4-FFF2-40B4-BE49-F238E27FC236}">
                <a16:creationId xmlns:a16="http://schemas.microsoft.com/office/drawing/2014/main" id="{967FCBF6-027D-C00B-FA9E-C2A0BDCD620C}"/>
              </a:ext>
            </a:extLst>
          </p:cNvPr>
          <p:cNvSpPr/>
          <p:nvPr/>
        </p:nvSpPr>
        <p:spPr>
          <a:xfrm>
            <a:off x="4695568" y="2529016"/>
            <a:ext cx="1300168" cy="2388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A6FEF98D-C99C-908F-E111-705A14EDF0E4}"/>
              </a:ext>
            </a:extLst>
          </p:cNvPr>
          <p:cNvPicPr>
            <a:picLocks noChangeAspect="1"/>
          </p:cNvPicPr>
          <p:nvPr/>
        </p:nvPicPr>
        <p:blipFill>
          <a:blip r:embed="rId6"/>
          <a:stretch>
            <a:fillRect/>
          </a:stretch>
        </p:blipFill>
        <p:spPr>
          <a:xfrm>
            <a:off x="9942312" y="409778"/>
            <a:ext cx="1225613" cy="1244664"/>
          </a:xfrm>
          <a:prstGeom prst="rect">
            <a:avLst/>
          </a:prstGeom>
        </p:spPr>
      </p:pic>
      <p:pic>
        <p:nvPicPr>
          <p:cNvPr id="23" name="Picture 22">
            <a:extLst>
              <a:ext uri="{FF2B5EF4-FFF2-40B4-BE49-F238E27FC236}">
                <a16:creationId xmlns:a16="http://schemas.microsoft.com/office/drawing/2014/main" id="{CA6F5A50-42F5-6848-18E4-7CE1E696500F}"/>
              </a:ext>
            </a:extLst>
          </p:cNvPr>
          <p:cNvPicPr>
            <a:picLocks noChangeAspect="1"/>
          </p:cNvPicPr>
          <p:nvPr/>
        </p:nvPicPr>
        <p:blipFill>
          <a:blip r:embed="rId7"/>
          <a:stretch>
            <a:fillRect/>
          </a:stretch>
        </p:blipFill>
        <p:spPr>
          <a:xfrm>
            <a:off x="9942311" y="1698565"/>
            <a:ext cx="1225613" cy="1197037"/>
          </a:xfrm>
          <a:prstGeom prst="rect">
            <a:avLst/>
          </a:prstGeom>
        </p:spPr>
      </p:pic>
      <p:pic>
        <p:nvPicPr>
          <p:cNvPr id="25" name="Picture 24">
            <a:extLst>
              <a:ext uri="{FF2B5EF4-FFF2-40B4-BE49-F238E27FC236}">
                <a16:creationId xmlns:a16="http://schemas.microsoft.com/office/drawing/2014/main" id="{531A9999-FD6D-8572-6302-B7398DB8E82E}"/>
              </a:ext>
            </a:extLst>
          </p:cNvPr>
          <p:cNvPicPr>
            <a:picLocks noChangeAspect="1"/>
          </p:cNvPicPr>
          <p:nvPr/>
        </p:nvPicPr>
        <p:blipFill>
          <a:blip r:embed="rId8"/>
          <a:stretch>
            <a:fillRect/>
          </a:stretch>
        </p:blipFill>
        <p:spPr>
          <a:xfrm>
            <a:off x="9887694" y="2980916"/>
            <a:ext cx="1241489" cy="1209737"/>
          </a:xfrm>
          <a:prstGeom prst="rect">
            <a:avLst/>
          </a:prstGeom>
        </p:spPr>
      </p:pic>
      <p:pic>
        <p:nvPicPr>
          <p:cNvPr id="27" name="Picture 26">
            <a:extLst>
              <a:ext uri="{FF2B5EF4-FFF2-40B4-BE49-F238E27FC236}">
                <a16:creationId xmlns:a16="http://schemas.microsoft.com/office/drawing/2014/main" id="{8A6F2154-6D23-4DE1-1A71-BF46596C4E46}"/>
              </a:ext>
            </a:extLst>
          </p:cNvPr>
          <p:cNvPicPr>
            <a:picLocks noChangeAspect="1"/>
          </p:cNvPicPr>
          <p:nvPr/>
        </p:nvPicPr>
        <p:blipFill>
          <a:blip r:embed="rId9"/>
          <a:stretch>
            <a:fillRect/>
          </a:stretch>
        </p:blipFill>
        <p:spPr>
          <a:xfrm>
            <a:off x="9871818" y="4275967"/>
            <a:ext cx="1257365" cy="1206562"/>
          </a:xfrm>
          <a:prstGeom prst="rect">
            <a:avLst/>
          </a:prstGeom>
        </p:spPr>
      </p:pic>
      <p:pic>
        <p:nvPicPr>
          <p:cNvPr id="29" name="Picture 28">
            <a:extLst>
              <a:ext uri="{FF2B5EF4-FFF2-40B4-BE49-F238E27FC236}">
                <a16:creationId xmlns:a16="http://schemas.microsoft.com/office/drawing/2014/main" id="{5DA75EFD-C79B-D919-1338-E33878CCD7F3}"/>
              </a:ext>
            </a:extLst>
          </p:cNvPr>
          <p:cNvPicPr>
            <a:picLocks noChangeAspect="1"/>
          </p:cNvPicPr>
          <p:nvPr/>
        </p:nvPicPr>
        <p:blipFill>
          <a:blip r:embed="rId10"/>
          <a:stretch>
            <a:fillRect/>
          </a:stretch>
        </p:blipFill>
        <p:spPr>
          <a:xfrm>
            <a:off x="9830061" y="5541731"/>
            <a:ext cx="1251014" cy="1225613"/>
          </a:xfrm>
          <a:prstGeom prst="rect">
            <a:avLst/>
          </a:prstGeom>
        </p:spPr>
      </p:pic>
    </p:spTree>
    <p:extLst>
      <p:ext uri="{BB962C8B-B14F-4D97-AF65-F5344CB8AC3E}">
        <p14:creationId xmlns:p14="http://schemas.microsoft.com/office/powerpoint/2010/main" val="39646220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6196D72-8BD4-B9FF-97F5-A2DD7225869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000BEA-2539-F64B-F5D4-1D68269E1D5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362700-43FE-A963-2C10-B2488DBD12C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64A50A3A-ADAC-E3CC-B98F-9CD698C87B6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31146F1-A9D9-9E81-5712-0F293F3372D5}"/>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DFC11A5-39D1-4970-0AFB-396C784BA04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058FE87-EAA4-DA8C-A9EC-C63C534B8CE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1A06CFC-9B11-D17B-3CF7-72BF634E08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9B1A79A-D814-B1D8-B9E5-31C1B801262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0C061F3-895F-255C-F5F1-3E0B3B7F69C6}"/>
              </a:ext>
            </a:extLst>
          </p:cNvPr>
          <p:cNvSpPr txBox="1"/>
          <p:nvPr/>
        </p:nvSpPr>
        <p:spPr>
          <a:xfrm>
            <a:off x="462280" y="841012"/>
            <a:ext cx="10592898"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Cấu hình </a:t>
            </a:r>
            <a:r>
              <a:rPr lang="en-US" sz="2400" b="1">
                <a:latin typeface="Times New Roman" panose="02020603050405020304" pitchFamily="18" charset="0"/>
                <a:cs typeface="Times New Roman" panose="02020603050405020304" pitchFamily="18" charset="0"/>
              </a:rPr>
              <a:t>static</a:t>
            </a:r>
            <a:r>
              <a:rPr lang="en-US" sz="2400">
                <a:latin typeface="Times New Roman" panose="02020603050405020304" pitchFamily="18" charset="0"/>
                <a:cs typeface="Times New Roman" panose="02020603050405020304" pitchFamily="18" charset="0"/>
              </a:rPr>
              <a:t> cho thư mục </a:t>
            </a:r>
            <a:r>
              <a:rPr lang="en-US" sz="2400" b="1">
                <a:latin typeface="Times New Roman" panose="02020603050405020304" pitchFamily="18" charset="0"/>
                <a:cs typeface="Times New Roman" panose="02020603050405020304" pitchFamily="18" charset="0"/>
              </a:rPr>
              <a:t>public</a:t>
            </a:r>
            <a:r>
              <a:rPr lang="en-US" sz="2400">
                <a:latin typeface="Times New Roman" panose="02020603050405020304" pitchFamily="18" charset="0"/>
                <a:cs typeface="Times New Roman" panose="02020603050405020304" pitchFamily="18" charset="0"/>
              </a:rPr>
              <a:t> trong </a:t>
            </a:r>
            <a:r>
              <a:rPr lang="en-US" sz="2400" b="1">
                <a:latin typeface="Times New Roman" panose="02020603050405020304" pitchFamily="18" charset="0"/>
                <a:cs typeface="Times New Roman" panose="02020603050405020304" pitchFamily="18" charset="0"/>
              </a:rPr>
              <a:t>index.js</a:t>
            </a:r>
            <a:r>
              <a:rPr lang="en-US" sz="2400">
                <a:latin typeface="Times New Roman" panose="02020603050405020304" pitchFamily="18" charset="0"/>
                <a:cs typeface="Times New Roman" panose="02020603050405020304" pitchFamily="18" charset="0"/>
              </a:rPr>
              <a:t> của </a:t>
            </a:r>
            <a:r>
              <a:rPr lang="en-US" sz="2400" b="1">
                <a:latin typeface="Times New Roman" panose="02020603050405020304" pitchFamily="18" charset="0"/>
                <a:cs typeface="Times New Roman" panose="02020603050405020304" pitchFamily="18" charset="0"/>
              </a:rPr>
              <a:t>my-server</a:t>
            </a:r>
            <a:r>
              <a:rPr lang="en-US" sz="2400">
                <a:latin typeface="Times New Roman" panose="02020603050405020304" pitchFamily="18" charset="0"/>
                <a:cs typeface="Times New Roman" panose="02020603050405020304" pitchFamily="18" charset="0"/>
              </a:rPr>
              <a:t> </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26748C4-9E82-E285-FEA5-6CACA18446AD}"/>
              </a:ext>
            </a:extLst>
          </p:cNvPr>
          <p:cNvPicPr>
            <a:picLocks noChangeAspect="1"/>
          </p:cNvPicPr>
          <p:nvPr/>
        </p:nvPicPr>
        <p:blipFill>
          <a:blip r:embed="rId3"/>
          <a:stretch>
            <a:fillRect/>
          </a:stretch>
        </p:blipFill>
        <p:spPr>
          <a:xfrm>
            <a:off x="629278" y="1326458"/>
            <a:ext cx="7176068" cy="5025118"/>
          </a:xfrm>
          <a:prstGeom prst="rect">
            <a:avLst/>
          </a:prstGeom>
        </p:spPr>
      </p:pic>
      <p:sp>
        <p:nvSpPr>
          <p:cNvPr id="11" name="Rectangle 10">
            <a:extLst>
              <a:ext uri="{FF2B5EF4-FFF2-40B4-BE49-F238E27FC236}">
                <a16:creationId xmlns:a16="http://schemas.microsoft.com/office/drawing/2014/main" id="{09C4568B-23DC-9665-5BAC-BA00EE847D60}"/>
              </a:ext>
            </a:extLst>
          </p:cNvPr>
          <p:cNvSpPr/>
          <p:nvPr/>
        </p:nvSpPr>
        <p:spPr>
          <a:xfrm>
            <a:off x="728132" y="3517558"/>
            <a:ext cx="7089576" cy="5766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452AB7-9CB2-F3E2-5883-D615FA40DA13}"/>
              </a:ext>
            </a:extLst>
          </p:cNvPr>
          <p:cNvSpPr txBox="1"/>
          <p:nvPr/>
        </p:nvSpPr>
        <p:spPr>
          <a:xfrm>
            <a:off x="6096000" y="2024570"/>
            <a:ext cx="5906530" cy="654666"/>
          </a:xfrm>
          <a:prstGeom prst="rect">
            <a:avLst/>
          </a:prstGeom>
          <a:noFill/>
          <a:ln>
            <a:solidFill>
              <a:srgbClr val="FF0000"/>
            </a:solidFill>
          </a:ln>
        </p:spPr>
        <p:txBody>
          <a:bodyPr wrap="square">
            <a:spAutoFit/>
          </a:bodyPr>
          <a:lstStyle/>
          <a:p>
            <a:pPr>
              <a:lnSpc>
                <a:spcPts val="2250"/>
              </a:lnSpc>
              <a:buNone/>
            </a:pPr>
            <a:r>
              <a:rPr lang="en-US" b="0">
                <a:solidFill>
                  <a:srgbClr val="0000FF"/>
                </a:solidFill>
                <a:effectLst/>
                <a:latin typeface="Consolas" panose="020B0609020204030204" pitchFamily="49" charset="0"/>
              </a:rPr>
              <a:t>const</a:t>
            </a:r>
            <a:r>
              <a:rPr lang="en-US" b="0">
                <a:solidFill>
                  <a:srgbClr val="000000"/>
                </a:solidFill>
                <a:effectLst/>
                <a:latin typeface="Consolas" panose="020B0609020204030204" pitchFamily="49" charset="0"/>
              </a:rPr>
              <a:t> path=require(</a:t>
            </a:r>
            <a:r>
              <a:rPr lang="en-US" b="0">
                <a:solidFill>
                  <a:srgbClr val="A31515"/>
                </a:solidFill>
                <a:effectLst/>
                <a:latin typeface="Consolas" panose="020B0609020204030204" pitchFamily="49" charset="0"/>
              </a:rPr>
              <a:t>"path"</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app.use(express.static(path.join(__dirname,</a:t>
            </a:r>
            <a:r>
              <a:rPr lang="en-US" b="0">
                <a:solidFill>
                  <a:srgbClr val="A31515"/>
                </a:solidFill>
                <a:effectLst/>
                <a:latin typeface="Consolas" panose="020B0609020204030204" pitchFamily="49" charset="0"/>
              </a:rPr>
              <a:t>"public"</a:t>
            </a:r>
            <a:r>
              <a:rPr lang="en-US"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4117392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0E29250-C808-375A-ACC2-E8FEA388333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8061D0C-6437-4E78-2984-7824B0DFCDE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D7D0CA3-ACB1-6C4C-241B-AC05D5050F4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CA3E2C11-00B0-AFD5-E27E-1F7C03F8ABC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5A36D11-44F6-0170-7679-A9A9A947B50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E75075D-E3E8-8566-C39D-97F705E064F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E3BC83F-8E8B-1001-0E12-63C831BC857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138CD8B-77A9-3833-926E-AE17C8AA6D9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49BC097-6AD4-610F-2651-0E50C797EE8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24B90EA-1EDB-D35B-F4A5-DF9AA5D8347A}"/>
              </a:ext>
            </a:extLst>
          </p:cNvPr>
          <p:cNvSpPr txBox="1"/>
          <p:nvPr/>
        </p:nvSpPr>
        <p:spPr>
          <a:xfrm>
            <a:off x="462279" y="841012"/>
            <a:ext cx="4851125" cy="1569660"/>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Cấu hình luôn các lệnh liên quan tới xử lý CORS Policy và body parser để sử dụng cho các phương thức HTTP khác</a:t>
            </a:r>
            <a:endParaRPr lang="vi-VN" sz="24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8BCC1EB-77EB-A933-6627-9A93B8C9369D}"/>
              </a:ext>
            </a:extLst>
          </p:cNvPr>
          <p:cNvPicPr>
            <a:picLocks noChangeAspect="1"/>
          </p:cNvPicPr>
          <p:nvPr/>
        </p:nvPicPr>
        <p:blipFill>
          <a:blip r:embed="rId3"/>
          <a:stretch>
            <a:fillRect/>
          </a:stretch>
        </p:blipFill>
        <p:spPr>
          <a:xfrm>
            <a:off x="5512022" y="794386"/>
            <a:ext cx="6366496" cy="5834539"/>
          </a:xfrm>
          <a:prstGeom prst="rect">
            <a:avLst/>
          </a:prstGeom>
        </p:spPr>
      </p:pic>
      <p:sp>
        <p:nvSpPr>
          <p:cNvPr id="15" name="TextBox 14">
            <a:extLst>
              <a:ext uri="{FF2B5EF4-FFF2-40B4-BE49-F238E27FC236}">
                <a16:creationId xmlns:a16="http://schemas.microsoft.com/office/drawing/2014/main" id="{2DD605A4-AAB1-C4A2-DEC0-A599DF29752C}"/>
              </a:ext>
            </a:extLst>
          </p:cNvPr>
          <p:cNvSpPr txBox="1"/>
          <p:nvPr/>
        </p:nvSpPr>
        <p:spPr>
          <a:xfrm>
            <a:off x="846887" y="4447329"/>
            <a:ext cx="4665135" cy="1552733"/>
          </a:xfrm>
          <a:prstGeom prst="rect">
            <a:avLst/>
          </a:prstGeom>
          <a:noFill/>
          <a:ln>
            <a:solidFill>
              <a:srgbClr val="FF0000"/>
            </a:solidFill>
          </a:ln>
        </p:spPr>
        <p:txBody>
          <a:bodyPr wrap="square">
            <a:spAutoFit/>
          </a:bodyPr>
          <a:lstStyle/>
          <a:p>
            <a:pPr>
              <a:lnSpc>
                <a:spcPts val="2250"/>
              </a:lnSpc>
              <a:buNone/>
            </a:pPr>
            <a:r>
              <a:rPr lang="en-US" sz="2000" b="0">
                <a:solidFill>
                  <a:srgbClr val="0000FF"/>
                </a:solidFill>
                <a:effectLst/>
                <a:latin typeface="Consolas" panose="020B0609020204030204" pitchFamily="49" charset="0"/>
              </a:rPr>
              <a:t>const</a:t>
            </a:r>
            <a:r>
              <a:rPr lang="en-US" sz="2000" b="0">
                <a:solidFill>
                  <a:srgbClr val="000000"/>
                </a:solidFill>
                <a:effectLst/>
                <a:latin typeface="Consolas" panose="020B0609020204030204" pitchFamily="49" charset="0"/>
              </a:rPr>
              <a:t> cors=require(</a:t>
            </a:r>
            <a:r>
              <a:rPr lang="en-US" sz="2000" b="0">
                <a:solidFill>
                  <a:srgbClr val="A31515"/>
                </a:solidFill>
                <a:effectLst/>
                <a:latin typeface="Consolas" panose="020B0609020204030204" pitchFamily="49" charset="0"/>
              </a:rPr>
              <a:t>"cors"</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app.use(cors())</a:t>
            </a:r>
          </a:p>
          <a:p>
            <a:pPr>
              <a:lnSpc>
                <a:spcPts val="2250"/>
              </a:lnSpc>
              <a:buNone/>
            </a:pPr>
            <a:r>
              <a:rPr lang="en-US" sz="2000" b="0">
                <a:solidFill>
                  <a:srgbClr val="0000FF"/>
                </a:solidFill>
                <a:effectLst/>
                <a:latin typeface="Consolas" panose="020B0609020204030204" pitchFamily="49" charset="0"/>
              </a:rPr>
              <a:t>const</a:t>
            </a:r>
            <a:r>
              <a:rPr lang="en-US" sz="2000" b="0">
                <a:solidFill>
                  <a:srgbClr val="000000"/>
                </a:solidFill>
                <a:effectLst/>
                <a:latin typeface="Consolas" panose="020B0609020204030204" pitchFamily="49" charset="0"/>
              </a:rPr>
              <a:t> bodyParser=require(</a:t>
            </a:r>
            <a:r>
              <a:rPr lang="en-US" sz="2000" b="0">
                <a:solidFill>
                  <a:srgbClr val="A31515"/>
                </a:solidFill>
                <a:effectLst/>
                <a:latin typeface="Consolas" panose="020B0609020204030204" pitchFamily="49" charset="0"/>
              </a:rPr>
              <a:t>"body-parser"</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app.use(bodyParser.json())</a:t>
            </a:r>
          </a:p>
        </p:txBody>
      </p:sp>
      <p:sp>
        <p:nvSpPr>
          <p:cNvPr id="16" name="Rectangle 15">
            <a:extLst>
              <a:ext uri="{FF2B5EF4-FFF2-40B4-BE49-F238E27FC236}">
                <a16:creationId xmlns:a16="http://schemas.microsoft.com/office/drawing/2014/main" id="{5EA6719B-421B-D9A7-3047-6D8572511F70}"/>
              </a:ext>
            </a:extLst>
          </p:cNvPr>
          <p:cNvSpPr/>
          <p:nvPr/>
        </p:nvSpPr>
        <p:spPr>
          <a:xfrm>
            <a:off x="5753213" y="3566984"/>
            <a:ext cx="5755046" cy="104620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A4EFD71-6E9C-43C5-AADE-BA900FD63500}"/>
              </a:ext>
            </a:extLst>
          </p:cNvPr>
          <p:cNvSpPr txBox="1"/>
          <p:nvPr/>
        </p:nvSpPr>
        <p:spPr>
          <a:xfrm>
            <a:off x="860624" y="3041362"/>
            <a:ext cx="2842055" cy="579967"/>
          </a:xfrm>
          <a:prstGeom prst="rect">
            <a:avLst/>
          </a:prstGeom>
          <a:noFill/>
          <a:ln>
            <a:solidFill>
              <a:srgbClr val="FF0000"/>
            </a:solidFill>
          </a:ln>
        </p:spPr>
        <p:txBody>
          <a:bodyPr wrap="square">
            <a:spAutoFit/>
          </a:bodyPr>
          <a:lstStyle/>
          <a:p>
            <a:pPr marL="0" marR="0">
              <a:lnSpc>
                <a:spcPct val="150000"/>
              </a:lnSpc>
              <a:spcBef>
                <a:spcPts val="600"/>
              </a:spcBef>
              <a:spcAft>
                <a:spcPts val="600"/>
              </a:spcAft>
              <a:buNone/>
            </a:pPr>
            <a:r>
              <a:rPr lang="nl-NL" sz="2400" b="1">
                <a:effectLst/>
                <a:latin typeface="Times New Roman" panose="02020603050405020304" pitchFamily="18" charset="0"/>
                <a:ea typeface="Arial Unicode MS" panose="020B0604020202020204" pitchFamily="34" charset="-128"/>
              </a:rPr>
              <a:t>npm i cors</a:t>
            </a:r>
            <a:endParaRPr lang="en-US" sz="2400">
              <a:effectLst/>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a16="http://schemas.microsoft.com/office/drawing/2014/main" id="{F142C389-5062-2F17-6F64-4F3E037BECE4}"/>
              </a:ext>
            </a:extLst>
          </p:cNvPr>
          <p:cNvSpPr txBox="1"/>
          <p:nvPr/>
        </p:nvSpPr>
        <p:spPr>
          <a:xfrm>
            <a:off x="515596" y="2514609"/>
            <a:ext cx="4996426"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3.1: Cài cors cho </a:t>
            </a:r>
            <a:r>
              <a:rPr lang="en-US" sz="2400" b="1">
                <a:latin typeface="Times New Roman" panose="02020603050405020304" pitchFamily="18" charset="0"/>
                <a:cs typeface="Times New Roman" panose="02020603050405020304" pitchFamily="18" charset="0"/>
              </a:rPr>
              <a:t>my-server</a:t>
            </a:r>
            <a:endParaRPr lang="vi-VN" sz="24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D9AB91C-AE21-7D38-AC80-93F5E4F58162}"/>
              </a:ext>
            </a:extLst>
          </p:cNvPr>
          <p:cNvSpPr txBox="1"/>
          <p:nvPr/>
        </p:nvSpPr>
        <p:spPr>
          <a:xfrm>
            <a:off x="415251" y="3806967"/>
            <a:ext cx="5211191"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3.2: Gọi cors cho </a:t>
            </a:r>
            <a:r>
              <a:rPr lang="en-US" sz="2400" b="1">
                <a:latin typeface="Times New Roman" panose="02020603050405020304" pitchFamily="18" charset="0"/>
                <a:cs typeface="Times New Roman" panose="02020603050405020304" pitchFamily="18" charset="0"/>
              </a:rPr>
              <a:t>index.js</a:t>
            </a:r>
            <a:endParaRPr lang="vi-V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90959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2FC47C6-7C50-1520-AC0C-62FCD584FEB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36454F9-81D8-4B9E-5378-EC56D66D7BA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6338C91-91EB-1719-1E2B-D24C2EABB7D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0F60DF50-1DA2-E335-E2FD-AC2E18F7D9FB}"/>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31B5F66-37F1-44D4-C44B-DB2167B8CA6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4B5ECB5-F1BB-93BE-FFFA-85B318799AB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10E3D6E-3AB5-99CF-7641-0AFEC50A10E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4EB1F01-9B6E-00C2-3192-08AED6EFC6C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49D6D38-D57A-58EB-6D32-74683671BD6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97A9750-39F6-9C6B-67F4-583CB024D8BC}"/>
              </a:ext>
            </a:extLst>
          </p:cNvPr>
          <p:cNvSpPr txBox="1"/>
          <p:nvPr/>
        </p:nvSpPr>
        <p:spPr>
          <a:xfrm>
            <a:off x="462279" y="841012"/>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danh sách các cuốn sách trong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lưu vào biến </a:t>
            </a:r>
            <a:r>
              <a:rPr lang="en-US" sz="2400" b="1">
                <a:latin typeface="Times New Roman" panose="02020603050405020304" pitchFamily="18" charset="0"/>
                <a:cs typeface="Times New Roman" panose="02020603050405020304" pitchFamily="18" charset="0"/>
              </a:rPr>
              <a:t>database</a:t>
            </a:r>
          </a:p>
          <a:p>
            <a:pPr algn="just"/>
            <a:r>
              <a:rPr lang="en-US" sz="2400">
                <a:latin typeface="Times New Roman" panose="02020603050405020304" pitchFamily="18" charset="0"/>
                <a:cs typeface="Times New Roman" panose="02020603050405020304" pitchFamily="18" charset="0"/>
              </a:rPr>
              <a:t>Ta bổ sung biến database ở cuối  index.js và lưu trữ JSON ARRAY các cuốn sách như cấu trúc bên dưới:</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3697BDF-9104-F873-5BC1-CD42F46D123C}"/>
              </a:ext>
            </a:extLst>
          </p:cNvPr>
          <p:cNvPicPr>
            <a:picLocks noChangeAspect="1"/>
          </p:cNvPicPr>
          <p:nvPr/>
        </p:nvPicPr>
        <p:blipFill>
          <a:blip r:embed="rId3"/>
          <a:stretch>
            <a:fillRect/>
          </a:stretch>
        </p:blipFill>
        <p:spPr>
          <a:xfrm>
            <a:off x="0" y="1962136"/>
            <a:ext cx="12192000" cy="4054852"/>
          </a:xfrm>
          <a:prstGeom prst="rect">
            <a:avLst/>
          </a:prstGeom>
        </p:spPr>
      </p:pic>
    </p:spTree>
    <p:extLst>
      <p:ext uri="{BB962C8B-B14F-4D97-AF65-F5344CB8AC3E}">
        <p14:creationId xmlns:p14="http://schemas.microsoft.com/office/powerpoint/2010/main" val="1939805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AADB0A8-F3FE-5E54-5438-B833DD2B176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958E83B-01D7-92C4-219E-210B21540A9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EDB54FD-C292-7999-49AD-1B11D42080B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23AD92C7-CC24-41EA-7827-DDD4825291A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B80573A-8945-A829-7723-3FA4C6C389F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F85F3FF-57B5-349D-A782-A7F064918A5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A9A7011-E8E7-288A-04C9-FD2079371A4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AF2F4F6-4352-FC8B-AD92-8F58360A118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52E95FE-0E66-3E4A-076E-21039FBC87A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A1516B4-64C0-C3BF-F783-7E4F38E7317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Bổ sung mã lệnh cho phương thức HTTP GET để lấy toàn bộ danh sách:</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580E3FF-44A9-1ABD-2CCB-A9B69D01A81A}"/>
              </a:ext>
            </a:extLst>
          </p:cNvPr>
          <p:cNvPicPr>
            <a:picLocks noChangeAspect="1"/>
          </p:cNvPicPr>
          <p:nvPr/>
        </p:nvPicPr>
        <p:blipFill>
          <a:blip r:embed="rId3"/>
          <a:stretch>
            <a:fillRect/>
          </a:stretch>
        </p:blipFill>
        <p:spPr>
          <a:xfrm>
            <a:off x="0" y="1288660"/>
            <a:ext cx="12192000" cy="4981381"/>
          </a:xfrm>
          <a:prstGeom prst="rect">
            <a:avLst/>
          </a:prstGeom>
        </p:spPr>
      </p:pic>
      <p:sp>
        <p:nvSpPr>
          <p:cNvPr id="11" name="Rectangle 10">
            <a:extLst>
              <a:ext uri="{FF2B5EF4-FFF2-40B4-BE49-F238E27FC236}">
                <a16:creationId xmlns:a16="http://schemas.microsoft.com/office/drawing/2014/main" id="{EB5333AD-189E-4DFA-0B3B-4A78CA34D462}"/>
              </a:ext>
            </a:extLst>
          </p:cNvPr>
          <p:cNvSpPr/>
          <p:nvPr/>
        </p:nvSpPr>
        <p:spPr>
          <a:xfrm>
            <a:off x="234808" y="5338119"/>
            <a:ext cx="6882684" cy="10393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4008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2A1EACD-7E2E-ACB4-5896-A906BCC892C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2F17F2A-374C-99AD-8226-A522327C144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8B9DC54-1610-C975-4AF9-CC046870138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BA071707-B1B8-0894-D05A-3AB3A978B3A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B16B2FA-32A2-A143-F591-75930272245C}"/>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81FF60E-B5F2-3363-A62B-3748CD0A2CB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79D969B-B004-AEC1-7A0A-44DAA170EFA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0D0AD6A-94D6-2A99-AA00-93C7D3D1B24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070ECD-2870-3E43-EF75-F07CB8799D0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AFBE4D8-B95B-19AC-FD9E-5BEF3A254CD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Chạy </a:t>
            </a:r>
            <a:r>
              <a:rPr lang="en-US" sz="2400" b="1">
                <a:latin typeface="Times New Roman" panose="02020603050405020304" pitchFamily="18" charset="0"/>
                <a:cs typeface="Times New Roman" panose="02020603050405020304" pitchFamily="18" charset="0"/>
              </a:rPr>
              <a:t>npm start </a:t>
            </a:r>
            <a:r>
              <a:rPr lang="en-US" sz="2400">
                <a:latin typeface="Times New Roman" panose="02020603050405020304" pitchFamily="18" charset="0"/>
                <a:cs typeface="Times New Roman" panose="02020603050405020304" pitchFamily="18" charset="0"/>
              </a:rPr>
              <a:t>để thử nghiệm API get books</a:t>
            </a:r>
            <a:endParaRPr lang="vi-VN" sz="2400" b="1"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87E06A6-ADE6-F7B3-3D34-1459CAA9D6F3}"/>
              </a:ext>
            </a:extLst>
          </p:cNvPr>
          <p:cNvPicPr>
            <a:picLocks noChangeAspect="1"/>
          </p:cNvPicPr>
          <p:nvPr/>
        </p:nvPicPr>
        <p:blipFill>
          <a:blip r:embed="rId3"/>
          <a:stretch>
            <a:fillRect/>
          </a:stretch>
        </p:blipFill>
        <p:spPr>
          <a:xfrm>
            <a:off x="564686" y="1490511"/>
            <a:ext cx="8230313" cy="3619814"/>
          </a:xfrm>
          <a:prstGeom prst="rect">
            <a:avLst/>
          </a:prstGeom>
        </p:spPr>
      </p:pic>
    </p:spTree>
    <p:extLst>
      <p:ext uri="{BB962C8B-B14F-4D97-AF65-F5344CB8AC3E}">
        <p14:creationId xmlns:p14="http://schemas.microsoft.com/office/powerpoint/2010/main" val="19108393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E72589D-58B0-67CF-B14C-57930415893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4567AE1-7F4E-3A8A-936A-EF1675B45FE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61EDC57-3113-B424-9C98-4E484987C22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DED48830-C76A-B804-4073-D9292509870B}"/>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4D0AE8E-450A-C992-20EE-D27EF24883D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4620313-1DA1-1AA4-5A4A-BD4845C2464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08C18CD-4757-D18E-61F7-98769469233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F463EA-12AB-B7ED-73E0-34E47F62DB2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DB5EF4A-CD05-5C02-942B-CBC74669CE7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E412334-BAF7-FFB8-35C0-E04C24FE31AC}"/>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Chạy </a:t>
            </a:r>
            <a:r>
              <a:rPr lang="en-US" sz="2400" b="1">
                <a:latin typeface="Times New Roman" panose="02020603050405020304" pitchFamily="18" charset="0"/>
                <a:cs typeface="Times New Roman" panose="02020603050405020304" pitchFamily="18" charset="0"/>
              </a:rPr>
              <a:t>npm start </a:t>
            </a:r>
            <a:r>
              <a:rPr lang="en-US" sz="2400">
                <a:latin typeface="Times New Roman" panose="02020603050405020304" pitchFamily="18" charset="0"/>
                <a:cs typeface="Times New Roman" panose="02020603050405020304" pitchFamily="18" charset="0"/>
              </a:rPr>
              <a:t>để thử nghiệm API get books</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B1DE38E-CC28-08F1-FF5E-27B585D8D52E}"/>
              </a:ext>
            </a:extLst>
          </p:cNvPr>
          <p:cNvPicPr>
            <a:picLocks noChangeAspect="1"/>
          </p:cNvPicPr>
          <p:nvPr/>
        </p:nvPicPr>
        <p:blipFill>
          <a:blip r:embed="rId3"/>
          <a:stretch>
            <a:fillRect/>
          </a:stretch>
        </p:blipFill>
        <p:spPr>
          <a:xfrm>
            <a:off x="794951" y="1750482"/>
            <a:ext cx="9049265" cy="4678881"/>
          </a:xfrm>
          <a:prstGeom prst="rect">
            <a:avLst/>
          </a:prstGeom>
        </p:spPr>
      </p:pic>
      <p:sp>
        <p:nvSpPr>
          <p:cNvPr id="13" name="TextBox 12">
            <a:extLst>
              <a:ext uri="{FF2B5EF4-FFF2-40B4-BE49-F238E27FC236}">
                <a16:creationId xmlns:a16="http://schemas.microsoft.com/office/drawing/2014/main" id="{E5E74881-1527-F17F-8248-461E57CC75F3}"/>
              </a:ext>
            </a:extLst>
          </p:cNvPr>
          <p:cNvSpPr txBox="1"/>
          <p:nvPr/>
        </p:nvSpPr>
        <p:spPr>
          <a:xfrm>
            <a:off x="794951" y="1277432"/>
            <a:ext cx="6297826"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hlinkClick r:id="rId4"/>
              </a:rPr>
              <a:t>http://localhost:3000/books</a:t>
            </a:r>
            <a:r>
              <a:rPr lang="en-US" sz="24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774309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449A314-3D73-A1D4-F39A-21A94032BD2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D76C13E-8E6B-799D-EFEC-E079C2A8C48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950A240-A0AF-2881-4C16-784BAD0583A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821060E6-8AF2-3E7B-1E67-CE61289A032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0D3773C-21BC-35C5-853F-30542B0215D5}"/>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6DFDBA0-F212-3A22-2726-6789CAF6142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28266AB-621C-CC87-5580-880532FE515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2920E8E-229D-A25A-7409-CC0A347080B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5368B4D-EC23-F420-F455-6CFA1BFCD19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571E1D21-61E4-5C5D-CF0C-895E7BFE5F6A}"/>
              </a:ext>
            </a:extLst>
          </p:cNvPr>
          <p:cNvPicPr>
            <a:picLocks noChangeAspect="1"/>
          </p:cNvPicPr>
          <p:nvPr/>
        </p:nvPicPr>
        <p:blipFill>
          <a:blip r:embed="rId3"/>
          <a:stretch>
            <a:fillRect/>
          </a:stretch>
        </p:blipFill>
        <p:spPr>
          <a:xfrm>
            <a:off x="4091694" y="770971"/>
            <a:ext cx="5696434" cy="5725527"/>
          </a:xfrm>
          <a:prstGeom prst="rect">
            <a:avLst/>
          </a:prstGeom>
        </p:spPr>
      </p:pic>
      <p:sp>
        <p:nvSpPr>
          <p:cNvPr id="12" name="TextBox 11">
            <a:extLst>
              <a:ext uri="{FF2B5EF4-FFF2-40B4-BE49-F238E27FC236}">
                <a16:creationId xmlns:a16="http://schemas.microsoft.com/office/drawing/2014/main" id="{5616DFB9-B602-3D65-9DE5-76898D0C40D5}"/>
              </a:ext>
            </a:extLst>
          </p:cNvPr>
          <p:cNvSpPr txBox="1"/>
          <p:nvPr/>
        </p:nvSpPr>
        <p:spPr>
          <a:xfrm>
            <a:off x="462279" y="1302677"/>
            <a:ext cx="6297826"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hlinkClick r:id="rId4"/>
              </a:rPr>
              <a:t>http://localhost:3000/books</a:t>
            </a:r>
            <a:r>
              <a:rPr lang="en-US" sz="2400">
                <a:latin typeface="Times New Roman" panose="02020603050405020304" pitchFamily="18" charset="0"/>
                <a:cs typeface="Times New Roman" panose="02020603050405020304" pitchFamily="18" charset="0"/>
              </a:rPr>
              <a:t> </a:t>
            </a:r>
          </a:p>
        </p:txBody>
      </p:sp>
      <p:sp>
        <p:nvSpPr>
          <p:cNvPr id="15" name="TextBox 14">
            <a:extLst>
              <a:ext uri="{FF2B5EF4-FFF2-40B4-BE49-F238E27FC236}">
                <a16:creationId xmlns:a16="http://schemas.microsoft.com/office/drawing/2014/main" id="{843AACC3-5150-1F99-BB82-DDF2B97E7E3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Pretty-print</a:t>
            </a:r>
            <a:endParaRPr lang="vi-V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2962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F1735B-3C4C-3206-C22D-4F4F7AA382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9672489-7F33-0641-9785-A79011656EA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CCF3095-14F8-9A36-15FA-3F1D54CB9A4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415E98B9-2849-62F7-1DD5-8580359C6C5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39F7E71-F342-4720-ABB7-C231B178BC8C}"/>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9F5269-9095-6F63-D26F-B3D041B2071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47A34D-264A-777D-5862-5F7B9ACF1E9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969CB97-33D9-92A0-49B4-B4EE2180B3C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2A36FB8-EC31-DED5-6EE0-6603E58800A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F7E41EE-2492-F1AA-A80D-4EB45A24F79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Test Get image for a Book</a:t>
            </a:r>
            <a:endParaRPr lang="vi-V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8C4EC47-683D-0702-9DAB-A53773360857}"/>
              </a:ext>
            </a:extLst>
          </p:cNvPr>
          <p:cNvSpPr txBox="1"/>
          <p:nvPr/>
        </p:nvSpPr>
        <p:spPr>
          <a:xfrm>
            <a:off x="794951" y="1277432"/>
            <a:ext cx="6297826"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hlinkClick r:id="rId3"/>
              </a:rPr>
              <a:t>http://localhost:3000/images/b1.png</a:t>
            </a:r>
            <a:r>
              <a:rPr lang="en-US" sz="240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4FB4853E-48E7-9D05-DE6C-36A97F277B27}"/>
              </a:ext>
            </a:extLst>
          </p:cNvPr>
          <p:cNvPicPr>
            <a:picLocks noChangeAspect="1"/>
          </p:cNvPicPr>
          <p:nvPr/>
        </p:nvPicPr>
        <p:blipFill>
          <a:blip r:embed="rId4"/>
          <a:stretch>
            <a:fillRect/>
          </a:stretch>
        </p:blipFill>
        <p:spPr>
          <a:xfrm>
            <a:off x="794951" y="1898663"/>
            <a:ext cx="8031634" cy="4208405"/>
          </a:xfrm>
          <a:prstGeom prst="rect">
            <a:avLst/>
          </a:prstGeom>
        </p:spPr>
      </p:pic>
    </p:spTree>
    <p:extLst>
      <p:ext uri="{BB962C8B-B14F-4D97-AF65-F5344CB8AC3E}">
        <p14:creationId xmlns:p14="http://schemas.microsoft.com/office/powerpoint/2010/main" val="15750881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3216FEA-C843-99E5-AC9C-020D9F7861E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B610A5A-CB6F-5321-663D-A159F422D98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A696E73-31E4-12A0-A589-0FCDA70F80B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BAE2B99F-68D6-43FF-C754-D52602B5BBB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5D4CCE6-D5F4-72F9-FA46-DA3C25EBBD6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E4BBA57-E7A3-8BB2-78A5-6A8DD412503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70351C7-D248-AA07-9E1E-E559BB4878C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9E343D6-37D9-54B6-BBFD-FF8B4A40837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1BAFA87-7A4B-BBED-66DB-719EB60DE5B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990EBAC-1789-CC58-2C58-169167097C79}"/>
              </a:ext>
            </a:extLst>
          </p:cNvPr>
          <p:cNvSpPr txBox="1"/>
          <p:nvPr/>
        </p:nvSpPr>
        <p:spPr>
          <a:xfrm>
            <a:off x="462279" y="841012"/>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Quay lại “</a:t>
            </a:r>
            <a:r>
              <a:rPr lang="en-US" sz="2400" b="1">
                <a:latin typeface="Times New Roman" panose="02020603050405020304" pitchFamily="18" charset="0"/>
                <a:cs typeface="Times New Roman" panose="02020603050405020304" pitchFamily="18" charset="0"/>
              </a:rPr>
              <a:t>my-app</a:t>
            </a:r>
            <a:r>
              <a:rPr lang="en-US" sz="2400">
                <a:latin typeface="Times New Roman" panose="02020603050405020304" pitchFamily="18" charset="0"/>
                <a:cs typeface="Times New Roman" panose="02020603050405020304" pitchFamily="18" charset="0"/>
              </a:rPr>
              <a:t>” để tạo component hiển thị danh sách Books từ API đã được tạo ra ở “</a:t>
            </a:r>
            <a:r>
              <a:rPr lang="en-US" sz="2400" b="1">
                <a:latin typeface="Times New Roman" panose="02020603050405020304" pitchFamily="18" charset="0"/>
                <a:cs typeface="Times New Roman" panose="02020603050405020304" pitchFamily="18" charset="0"/>
              </a:rPr>
              <a:t>my-server</a:t>
            </a:r>
            <a:r>
              <a:rPr lang="en-US" sz="2400">
                <a:latin typeface="Times New Roman" panose="02020603050405020304" pitchFamily="18" charset="0"/>
                <a:cs typeface="Times New Roman" panose="02020603050405020304" pitchFamily="18" charset="0"/>
              </a:rPr>
              <a:t>”</a:t>
            </a: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Trong thư mục classes, tạo Book.ts chứa interface IBook có cấu trúc như API cung cấp</a:t>
            </a:r>
            <a:endParaRPr lang="vi-VN"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9CE78E1-60FF-26AD-462A-C51E242DD836}"/>
              </a:ext>
            </a:extLst>
          </p:cNvPr>
          <p:cNvPicPr>
            <a:picLocks noChangeAspect="1"/>
          </p:cNvPicPr>
          <p:nvPr/>
        </p:nvPicPr>
        <p:blipFill>
          <a:blip r:embed="rId3"/>
          <a:stretch>
            <a:fillRect/>
          </a:stretch>
        </p:blipFill>
        <p:spPr>
          <a:xfrm>
            <a:off x="1567637" y="2219420"/>
            <a:ext cx="7689246" cy="3589331"/>
          </a:xfrm>
          <a:prstGeom prst="rect">
            <a:avLst/>
          </a:prstGeom>
        </p:spPr>
      </p:pic>
    </p:spTree>
    <p:extLst>
      <p:ext uri="{BB962C8B-B14F-4D97-AF65-F5344CB8AC3E}">
        <p14:creationId xmlns:p14="http://schemas.microsoft.com/office/powerpoint/2010/main" val="35304556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CB3FC66-A6A9-8899-DC88-77D2C8418F6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FDB7B42-A347-F340-954F-112F97AAD0B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7675DC2-8361-8688-EE7F-9DEDDF0C882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797E94FC-A0BF-EBF2-C5D5-5F9C8E06945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6E0AD01-DDB7-DCC2-788F-C91E70D151C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7417BA0-9785-023E-117E-07A00FD88A1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A28B1B-247F-9EF6-46A8-9F4F9BD1C0E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4585295-0C07-147A-08C0-067B9E37CA6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8E30AD4-5A29-86DF-40E4-08244A52F59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B66EB22-5884-7DC9-9FFD-B6BE6D98ADF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Trong thư mục </a:t>
            </a:r>
            <a:r>
              <a:rPr lang="en-US" sz="2400" b="1">
                <a:latin typeface="Times New Roman" panose="02020603050405020304" pitchFamily="18" charset="0"/>
                <a:cs typeface="Times New Roman" panose="02020603050405020304" pitchFamily="18" charset="0"/>
              </a:rPr>
              <a:t>services</a:t>
            </a:r>
            <a:r>
              <a:rPr lang="en-US" sz="2400">
                <a:latin typeface="Times New Roman" panose="02020603050405020304" pitchFamily="18" charset="0"/>
                <a:cs typeface="Times New Roman" panose="02020603050405020304" pitchFamily="18" charset="0"/>
              </a:rPr>
              <a:t> của </a:t>
            </a:r>
            <a:r>
              <a:rPr lang="en-US" sz="2400" b="1">
                <a:latin typeface="Times New Roman" panose="02020603050405020304" pitchFamily="18" charset="0"/>
                <a:cs typeface="Times New Roman" panose="02020603050405020304" pitchFamily="18" charset="0"/>
              </a:rPr>
              <a:t>my-app</a:t>
            </a:r>
            <a:r>
              <a:rPr lang="en-US" sz="2400">
                <a:latin typeface="Times New Roman" panose="02020603050405020304" pitchFamily="18" charset="0"/>
                <a:cs typeface="Times New Roman" panose="02020603050405020304" pitchFamily="18" charset="0"/>
              </a:rPr>
              <a:t>, tạo thêm </a:t>
            </a:r>
            <a:r>
              <a:rPr lang="en-US" sz="2400" b="1">
                <a:latin typeface="Times New Roman" panose="02020603050405020304" pitchFamily="18" charset="0"/>
                <a:cs typeface="Times New Roman" panose="02020603050405020304" pitchFamily="18" charset="0"/>
              </a:rPr>
              <a:t>BookAPIService</a:t>
            </a:r>
            <a:r>
              <a:rPr lang="en-US" sz="2400">
                <a:latin typeface="Times New Roman" panose="02020603050405020304" pitchFamily="18" charset="0"/>
                <a:cs typeface="Times New Roman" panose="02020603050405020304" pitchFamily="18" charset="0"/>
              </a:rPr>
              <a:t> Service</a:t>
            </a:r>
          </a:p>
        </p:txBody>
      </p:sp>
      <p:pic>
        <p:nvPicPr>
          <p:cNvPr id="10" name="Picture 9">
            <a:extLst>
              <a:ext uri="{FF2B5EF4-FFF2-40B4-BE49-F238E27FC236}">
                <a16:creationId xmlns:a16="http://schemas.microsoft.com/office/drawing/2014/main" id="{939A20C6-725A-5EA5-0E89-1F6D273766C0}"/>
              </a:ext>
            </a:extLst>
          </p:cNvPr>
          <p:cNvPicPr>
            <a:picLocks noChangeAspect="1"/>
          </p:cNvPicPr>
          <p:nvPr/>
        </p:nvPicPr>
        <p:blipFill>
          <a:blip r:embed="rId3"/>
          <a:stretch>
            <a:fillRect/>
          </a:stretch>
        </p:blipFill>
        <p:spPr>
          <a:xfrm>
            <a:off x="603056" y="1426252"/>
            <a:ext cx="6767146" cy="1950889"/>
          </a:xfrm>
          <a:prstGeom prst="rect">
            <a:avLst/>
          </a:prstGeom>
        </p:spPr>
      </p:pic>
      <p:pic>
        <p:nvPicPr>
          <p:cNvPr id="13" name="Picture 12">
            <a:extLst>
              <a:ext uri="{FF2B5EF4-FFF2-40B4-BE49-F238E27FC236}">
                <a16:creationId xmlns:a16="http://schemas.microsoft.com/office/drawing/2014/main" id="{3EA3ED31-01EB-AEC6-FAD5-DA0D379FBE85}"/>
              </a:ext>
            </a:extLst>
          </p:cNvPr>
          <p:cNvPicPr>
            <a:picLocks noChangeAspect="1"/>
          </p:cNvPicPr>
          <p:nvPr/>
        </p:nvPicPr>
        <p:blipFill>
          <a:blip r:embed="rId4"/>
          <a:stretch>
            <a:fillRect/>
          </a:stretch>
        </p:blipFill>
        <p:spPr>
          <a:xfrm>
            <a:off x="6520698" y="3429000"/>
            <a:ext cx="3086367" cy="2850127"/>
          </a:xfrm>
          <a:prstGeom prst="rect">
            <a:avLst/>
          </a:prstGeom>
        </p:spPr>
      </p:pic>
      <p:cxnSp>
        <p:nvCxnSpPr>
          <p:cNvPr id="15" name="Connector: Elbow 14">
            <a:extLst>
              <a:ext uri="{FF2B5EF4-FFF2-40B4-BE49-F238E27FC236}">
                <a16:creationId xmlns:a16="http://schemas.microsoft.com/office/drawing/2014/main" id="{231ED280-6CE4-D7DF-FB69-6CFDA3B55574}"/>
              </a:ext>
            </a:extLst>
          </p:cNvPr>
          <p:cNvCxnSpPr>
            <a:endCxn id="13" idx="0"/>
          </p:cNvCxnSpPr>
          <p:nvPr/>
        </p:nvCxnSpPr>
        <p:spPr>
          <a:xfrm rot="16200000" flipH="1">
            <a:off x="7061104" y="2426222"/>
            <a:ext cx="1311876" cy="693680"/>
          </a:xfrm>
          <a:prstGeom prst="bentConnector3">
            <a:avLst>
              <a:gd name="adj1" fmla="val -235"/>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797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2AB9CBB-3103-2D1E-7722-0EF592DBCCD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203A68-99DD-D51E-63E3-B81F1CA042B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85ACB5D-D1EB-64B6-3E9B-2E9DF5E06D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306C9DF0-A5FB-3217-EA43-752F9D5B91C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C9301F3-F1C1-E514-8875-747168DA36B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A265559-0AE7-8907-2A39-9E2126C48F2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517C78B-6D0D-A3BF-A688-962E86BAE6D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853FC93-B11A-0F58-160A-7F3906A5B93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A7C7226-E404-5E95-C752-1B50C5B0FA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F5B2D81-975B-4843-6FCB-65E15D94EE0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Trong thư mục </a:t>
            </a:r>
            <a:r>
              <a:rPr lang="en-US" sz="2400" b="1">
                <a:latin typeface="Times New Roman" panose="02020603050405020304" pitchFamily="18" charset="0"/>
                <a:cs typeface="Times New Roman" panose="02020603050405020304" pitchFamily="18" charset="0"/>
              </a:rPr>
              <a:t>services</a:t>
            </a:r>
            <a:r>
              <a:rPr lang="en-US" sz="2400">
                <a:latin typeface="Times New Roman" panose="02020603050405020304" pitchFamily="18" charset="0"/>
                <a:cs typeface="Times New Roman" panose="02020603050405020304" pitchFamily="18" charset="0"/>
              </a:rPr>
              <a:t> của </a:t>
            </a:r>
            <a:r>
              <a:rPr lang="en-US" sz="2400" b="1">
                <a:latin typeface="Times New Roman" panose="02020603050405020304" pitchFamily="18" charset="0"/>
                <a:cs typeface="Times New Roman" panose="02020603050405020304" pitchFamily="18" charset="0"/>
              </a:rPr>
              <a:t>my-app</a:t>
            </a:r>
            <a:r>
              <a:rPr lang="en-US" sz="2400">
                <a:latin typeface="Times New Roman" panose="02020603050405020304" pitchFamily="18" charset="0"/>
                <a:cs typeface="Times New Roman" panose="02020603050405020304" pitchFamily="18" charset="0"/>
              </a:rPr>
              <a:t>, tạo thêm </a:t>
            </a:r>
            <a:r>
              <a:rPr lang="en-US" sz="2400" b="1">
                <a:latin typeface="Times New Roman" panose="02020603050405020304" pitchFamily="18" charset="0"/>
                <a:cs typeface="Times New Roman" panose="02020603050405020304" pitchFamily="18" charset="0"/>
              </a:rPr>
              <a:t>BookAPIService</a:t>
            </a:r>
            <a:r>
              <a:rPr lang="en-US" sz="2400">
                <a:latin typeface="Times New Roman" panose="02020603050405020304" pitchFamily="18" charset="0"/>
                <a:cs typeface="Times New Roman" panose="02020603050405020304" pitchFamily="18" charset="0"/>
              </a:rPr>
              <a:t> Service</a:t>
            </a:r>
          </a:p>
        </p:txBody>
      </p:sp>
      <p:pic>
        <p:nvPicPr>
          <p:cNvPr id="11" name="Picture 10">
            <a:extLst>
              <a:ext uri="{FF2B5EF4-FFF2-40B4-BE49-F238E27FC236}">
                <a16:creationId xmlns:a16="http://schemas.microsoft.com/office/drawing/2014/main" id="{256CB467-08FF-25B2-DEA5-12369E17AD80}"/>
              </a:ext>
            </a:extLst>
          </p:cNvPr>
          <p:cNvPicPr>
            <a:picLocks noChangeAspect="1"/>
          </p:cNvPicPr>
          <p:nvPr/>
        </p:nvPicPr>
        <p:blipFill>
          <a:blip r:embed="rId3"/>
          <a:stretch>
            <a:fillRect/>
          </a:stretch>
        </p:blipFill>
        <p:spPr>
          <a:xfrm>
            <a:off x="2266140" y="1290076"/>
            <a:ext cx="6704866" cy="5087429"/>
          </a:xfrm>
          <a:prstGeom prst="rect">
            <a:avLst/>
          </a:prstGeom>
        </p:spPr>
      </p:pic>
      <p:sp>
        <p:nvSpPr>
          <p:cNvPr id="12" name="Rectangle 11">
            <a:extLst>
              <a:ext uri="{FF2B5EF4-FFF2-40B4-BE49-F238E27FC236}">
                <a16:creationId xmlns:a16="http://schemas.microsoft.com/office/drawing/2014/main" id="{3CE0C803-ED4F-6F13-4E2C-EF229948990F}"/>
              </a:ext>
            </a:extLst>
          </p:cNvPr>
          <p:cNvSpPr/>
          <p:nvPr/>
        </p:nvSpPr>
        <p:spPr>
          <a:xfrm>
            <a:off x="2382715" y="4703885"/>
            <a:ext cx="5758962" cy="9671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7726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810E2DB-3507-13FE-37DB-CCF99CFEE1E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0666569-A43A-C367-11B0-D581C6CC3EA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01BBA19-B16C-A412-83C3-37C90B9E2C0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255AB5A2-4183-13EB-0C22-5B254BDF315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7233DA3-AF8A-AE29-CAEA-5EDDC91BA4F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DE5D536-6EC2-4C99-5240-4F966E37CE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DE04CBE-9F6F-3FE9-8B3E-014355E3E08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BFA65A9-EF22-4A85-F544-A2431A6A11E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3531CD9-BA56-41FE-8DD9-0163EA92267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BA7CF04-1597-8D91-B045-50F3B0B132B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Cấu hình “proxy.conf.json”, tiếp tục bổ sung vào cuối file</a:t>
            </a:r>
          </a:p>
        </p:txBody>
      </p:sp>
      <p:pic>
        <p:nvPicPr>
          <p:cNvPr id="10" name="Picture 9">
            <a:extLst>
              <a:ext uri="{FF2B5EF4-FFF2-40B4-BE49-F238E27FC236}">
                <a16:creationId xmlns:a16="http://schemas.microsoft.com/office/drawing/2014/main" id="{63E86480-450D-70E4-9730-F3A26A134353}"/>
              </a:ext>
            </a:extLst>
          </p:cNvPr>
          <p:cNvPicPr>
            <a:picLocks noChangeAspect="1"/>
          </p:cNvPicPr>
          <p:nvPr/>
        </p:nvPicPr>
        <p:blipFill>
          <a:blip r:embed="rId3"/>
          <a:stretch>
            <a:fillRect/>
          </a:stretch>
        </p:blipFill>
        <p:spPr>
          <a:xfrm>
            <a:off x="5699639" y="1315312"/>
            <a:ext cx="6030082" cy="5375459"/>
          </a:xfrm>
          <a:prstGeom prst="rect">
            <a:avLst/>
          </a:prstGeom>
        </p:spPr>
      </p:pic>
      <p:sp>
        <p:nvSpPr>
          <p:cNvPr id="13" name="TextBox 12">
            <a:extLst>
              <a:ext uri="{FF2B5EF4-FFF2-40B4-BE49-F238E27FC236}">
                <a16:creationId xmlns:a16="http://schemas.microsoft.com/office/drawing/2014/main" id="{BEC53496-BFA9-7C65-EDB4-E28D2A0D9290}"/>
              </a:ext>
            </a:extLst>
          </p:cNvPr>
          <p:cNvSpPr txBox="1"/>
          <p:nvPr/>
        </p:nvSpPr>
        <p:spPr>
          <a:xfrm>
            <a:off x="147921" y="2209774"/>
            <a:ext cx="5857225" cy="2142638"/>
          </a:xfrm>
          <a:prstGeom prst="rect">
            <a:avLst/>
          </a:prstGeom>
          <a:noFill/>
          <a:ln>
            <a:solidFill>
              <a:srgbClr val="FF000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000000"/>
                </a:solidFill>
                <a:effectLst/>
                <a:latin typeface="Consolas" panose="020B0609020204030204" pitchFamily="49" charset="0"/>
              </a:rPr>
              <a:t>        </a:t>
            </a:r>
            <a:r>
              <a:rPr lang="en-US" sz="1800" b="0">
                <a:solidFill>
                  <a:srgbClr val="0451A5"/>
                </a:solidFill>
                <a:effectLst/>
                <a:latin typeface="Consolas" panose="020B0609020204030204" pitchFamily="49" charset="0"/>
              </a:rPr>
              <a:t>"context"</a:t>
            </a:r>
            <a:r>
              <a:rPr lang="en-US" sz="1800" b="0">
                <a:solidFill>
                  <a:srgbClr val="000000"/>
                </a:solidFill>
                <a:effectLst/>
                <a:latin typeface="Consolas" panose="020B0609020204030204" pitchFamily="49" charset="0"/>
              </a:rPr>
              <a:t>: [</a:t>
            </a:r>
            <a:r>
              <a:rPr lang="en-US" sz="1800" b="0">
                <a:solidFill>
                  <a:srgbClr val="A31515"/>
                </a:solidFill>
                <a:effectLst/>
                <a:latin typeface="Consolas" panose="020B0609020204030204" pitchFamily="49" charset="0"/>
              </a:rPr>
              <a:t>"/books"</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r>
              <a:rPr lang="en-US" sz="1800" b="0">
                <a:solidFill>
                  <a:srgbClr val="0451A5"/>
                </a:solidFill>
                <a:effectLst/>
                <a:latin typeface="Consolas" panose="020B0609020204030204" pitchFamily="49" charset="0"/>
              </a:rPr>
              <a:t>"target"</a:t>
            </a:r>
            <a:r>
              <a:rPr lang="en-US" sz="1800" b="0">
                <a:solidFill>
                  <a:srgbClr val="000000"/>
                </a:solidFill>
                <a:effectLst/>
                <a:latin typeface="Consolas" panose="020B0609020204030204" pitchFamily="49" charset="0"/>
              </a:rPr>
              <a:t>: </a:t>
            </a:r>
            <a:r>
              <a:rPr lang="en-US" sz="1800" b="0">
                <a:solidFill>
                  <a:srgbClr val="A31515"/>
                </a:solidFill>
                <a:effectLst/>
                <a:latin typeface="Consolas" panose="020B0609020204030204" pitchFamily="49" charset="0"/>
              </a:rPr>
              <a:t>"http://localhost:3000"</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r>
              <a:rPr lang="en-US" sz="1800" b="0">
                <a:solidFill>
                  <a:srgbClr val="0451A5"/>
                </a:solidFill>
                <a:effectLst/>
                <a:latin typeface="Consolas" panose="020B0609020204030204" pitchFamily="49" charset="0"/>
              </a:rPr>
              <a:t>"secure"</a:t>
            </a: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true</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r>
              <a:rPr lang="en-US" sz="1800" b="0">
                <a:solidFill>
                  <a:srgbClr val="0451A5"/>
                </a:solidFill>
                <a:effectLst/>
                <a:latin typeface="Consolas" panose="020B0609020204030204" pitchFamily="49" charset="0"/>
              </a:rPr>
              <a:t>"changeOrigin"</a:t>
            </a:r>
            <a:r>
              <a:rPr lang="en-US" sz="1800" b="0">
                <a:solidFill>
                  <a:srgbClr val="000000"/>
                </a:solidFill>
                <a:effectLst/>
                <a:latin typeface="Consolas" panose="020B0609020204030204" pitchFamily="49" charset="0"/>
              </a:rPr>
              <a:t>:</a:t>
            </a:r>
            <a:r>
              <a:rPr lang="en-US" sz="1800" b="0">
                <a:solidFill>
                  <a:srgbClr val="0000FF"/>
                </a:solidFill>
                <a:effectLst/>
                <a:latin typeface="Consolas" panose="020B0609020204030204" pitchFamily="49" charset="0"/>
              </a:rPr>
              <a:t>true</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r>
              <a:rPr lang="en-US" sz="1800" b="0">
                <a:solidFill>
                  <a:srgbClr val="0451A5"/>
                </a:solidFill>
                <a:effectLst/>
                <a:latin typeface="Consolas" panose="020B0609020204030204" pitchFamily="49" charset="0"/>
              </a:rPr>
              <a:t>"logLevel"</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"debug"</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9376737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615BA7E-61F7-87AF-70CF-7864581F62E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B14BAF1-3EE3-52E2-24B6-0E6D07FA758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B346A85-2068-C58E-26E3-428C36A02FD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C347E926-C390-DB71-4331-BDF0B698E0E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ABD97D5-D3D3-67B1-30B7-B4114AE8443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544AD2F-C116-8F73-09A3-E1000109A65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B3135FE-F9C9-A90C-F198-5549C0AB143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8DA58BA-0483-A395-6343-BB1E16F3C5D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BA92882-760D-2340-ED65-B72E2BB1751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DE2A02B-5DB0-8D23-B742-1D28905BE20C}"/>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Tạo component “BooksComponent”</a:t>
            </a:r>
          </a:p>
        </p:txBody>
      </p:sp>
      <p:pic>
        <p:nvPicPr>
          <p:cNvPr id="11" name="Picture 10">
            <a:extLst>
              <a:ext uri="{FF2B5EF4-FFF2-40B4-BE49-F238E27FC236}">
                <a16:creationId xmlns:a16="http://schemas.microsoft.com/office/drawing/2014/main" id="{4588B47D-5532-C89A-03DA-604DFE020128}"/>
              </a:ext>
            </a:extLst>
          </p:cNvPr>
          <p:cNvPicPr>
            <a:picLocks noChangeAspect="1"/>
          </p:cNvPicPr>
          <p:nvPr/>
        </p:nvPicPr>
        <p:blipFill>
          <a:blip r:embed="rId3"/>
          <a:srcRect b="13374"/>
          <a:stretch>
            <a:fillRect/>
          </a:stretch>
        </p:blipFill>
        <p:spPr>
          <a:xfrm>
            <a:off x="564686" y="1283522"/>
            <a:ext cx="3878916" cy="2145478"/>
          </a:xfrm>
          <a:prstGeom prst="rect">
            <a:avLst/>
          </a:prstGeom>
        </p:spPr>
      </p:pic>
      <p:pic>
        <p:nvPicPr>
          <p:cNvPr id="14" name="Picture 13">
            <a:extLst>
              <a:ext uri="{FF2B5EF4-FFF2-40B4-BE49-F238E27FC236}">
                <a16:creationId xmlns:a16="http://schemas.microsoft.com/office/drawing/2014/main" id="{29F27EB0-B980-BDFC-5D00-35EAD18C85A2}"/>
              </a:ext>
            </a:extLst>
          </p:cNvPr>
          <p:cNvPicPr>
            <a:picLocks noChangeAspect="1"/>
          </p:cNvPicPr>
          <p:nvPr/>
        </p:nvPicPr>
        <p:blipFill>
          <a:blip r:embed="rId4"/>
          <a:stretch>
            <a:fillRect/>
          </a:stretch>
        </p:blipFill>
        <p:spPr>
          <a:xfrm>
            <a:off x="5896577" y="3893169"/>
            <a:ext cx="5730737" cy="2484335"/>
          </a:xfrm>
          <a:prstGeom prst="rect">
            <a:avLst/>
          </a:prstGeom>
        </p:spPr>
      </p:pic>
      <p:pic>
        <p:nvPicPr>
          <p:cNvPr id="16" name="Picture 15">
            <a:extLst>
              <a:ext uri="{FF2B5EF4-FFF2-40B4-BE49-F238E27FC236}">
                <a16:creationId xmlns:a16="http://schemas.microsoft.com/office/drawing/2014/main" id="{006F7A22-D6F3-BFE1-D677-679DD10FC671}"/>
              </a:ext>
            </a:extLst>
          </p:cNvPr>
          <p:cNvPicPr>
            <a:picLocks noChangeAspect="1"/>
          </p:cNvPicPr>
          <p:nvPr/>
        </p:nvPicPr>
        <p:blipFill>
          <a:blip r:embed="rId5"/>
          <a:stretch>
            <a:fillRect/>
          </a:stretch>
        </p:blipFill>
        <p:spPr>
          <a:xfrm>
            <a:off x="6096000" y="1678022"/>
            <a:ext cx="5464013" cy="678239"/>
          </a:xfrm>
          <a:prstGeom prst="rect">
            <a:avLst/>
          </a:prstGeom>
        </p:spPr>
      </p:pic>
      <p:pic>
        <p:nvPicPr>
          <p:cNvPr id="18" name="Picture 17">
            <a:extLst>
              <a:ext uri="{FF2B5EF4-FFF2-40B4-BE49-F238E27FC236}">
                <a16:creationId xmlns:a16="http://schemas.microsoft.com/office/drawing/2014/main" id="{4FDDCA04-E883-1ED3-978C-2D3F3EE1B23E}"/>
              </a:ext>
            </a:extLst>
          </p:cNvPr>
          <p:cNvPicPr>
            <a:picLocks noChangeAspect="1"/>
          </p:cNvPicPr>
          <p:nvPr/>
        </p:nvPicPr>
        <p:blipFill>
          <a:blip r:embed="rId6"/>
          <a:srcRect b="8712"/>
          <a:stretch>
            <a:fillRect/>
          </a:stretch>
        </p:blipFill>
        <p:spPr>
          <a:xfrm>
            <a:off x="564686" y="3622641"/>
            <a:ext cx="2850127" cy="2754863"/>
          </a:xfrm>
          <a:prstGeom prst="rect">
            <a:avLst/>
          </a:prstGeom>
        </p:spPr>
      </p:pic>
      <p:cxnSp>
        <p:nvCxnSpPr>
          <p:cNvPr id="20" name="Connector: Elbow 19">
            <a:extLst>
              <a:ext uri="{FF2B5EF4-FFF2-40B4-BE49-F238E27FC236}">
                <a16:creationId xmlns:a16="http://schemas.microsoft.com/office/drawing/2014/main" id="{8ABCD3F3-1F29-D9F9-4EBD-AE951B447647}"/>
              </a:ext>
            </a:extLst>
          </p:cNvPr>
          <p:cNvCxnSpPr>
            <a:endCxn id="16" idx="2"/>
          </p:cNvCxnSpPr>
          <p:nvPr/>
        </p:nvCxnSpPr>
        <p:spPr>
          <a:xfrm flipV="1">
            <a:off x="4176346" y="2356261"/>
            <a:ext cx="4651661" cy="84413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3CAEDBA-230C-EECD-1F2C-02D340102387}"/>
              </a:ext>
            </a:extLst>
          </p:cNvPr>
          <p:cNvCxnSpPr/>
          <p:nvPr/>
        </p:nvCxnSpPr>
        <p:spPr>
          <a:xfrm>
            <a:off x="10216662" y="2356261"/>
            <a:ext cx="0" cy="15369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D3D51E2-EEF5-6FB0-D405-E767E115D91A}"/>
              </a:ext>
            </a:extLst>
          </p:cNvPr>
          <p:cNvCxnSpPr/>
          <p:nvPr/>
        </p:nvCxnSpPr>
        <p:spPr>
          <a:xfrm flipH="1">
            <a:off x="3760843" y="5222631"/>
            <a:ext cx="20038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8680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9B53094-A749-7863-EEE4-42B4EFD83D4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7D47BD8-E17D-0226-46A8-53E7F2352EE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DE76918-FB4C-17DB-5590-0A1111C634D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1AED32B1-198B-B360-C7A3-C144887450B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82AD5E9-DD63-20CD-27D6-A409456D0E2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0887550-E7C4-23D0-190E-604A6720C54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26E6025-6B7B-A67C-9E3F-B0985EBEA39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36733D9-173E-719F-B947-57D9B25E432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2BC058-C763-D449-2F32-A99FCF14B0F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8436545-C3F1-F05D-4524-08F1241B59D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books-component.ts</a:t>
            </a:r>
          </a:p>
        </p:txBody>
      </p:sp>
      <p:pic>
        <p:nvPicPr>
          <p:cNvPr id="10" name="Picture 9">
            <a:extLst>
              <a:ext uri="{FF2B5EF4-FFF2-40B4-BE49-F238E27FC236}">
                <a16:creationId xmlns:a16="http://schemas.microsoft.com/office/drawing/2014/main" id="{FB2187DF-6ABA-06E7-CE93-5AE1B878FE8D}"/>
              </a:ext>
            </a:extLst>
          </p:cNvPr>
          <p:cNvPicPr>
            <a:picLocks noChangeAspect="1"/>
          </p:cNvPicPr>
          <p:nvPr/>
        </p:nvPicPr>
        <p:blipFill>
          <a:blip r:embed="rId3"/>
          <a:srcRect/>
          <a:stretch/>
        </p:blipFill>
        <p:spPr>
          <a:xfrm>
            <a:off x="594451" y="1348206"/>
            <a:ext cx="6282225" cy="5055228"/>
          </a:xfrm>
          <a:prstGeom prst="rect">
            <a:avLst/>
          </a:prstGeom>
        </p:spPr>
      </p:pic>
    </p:spTree>
    <p:extLst>
      <p:ext uri="{BB962C8B-B14F-4D97-AF65-F5344CB8AC3E}">
        <p14:creationId xmlns:p14="http://schemas.microsoft.com/office/powerpoint/2010/main" val="13965833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96843BB-EF50-1E59-F95E-5953928B0A8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C291F63-3F3E-4122-519F-852F1C179AC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0F62DD9-1B01-73A9-ED89-7B3EE0C7899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9B32314E-AF46-68F1-AC44-C2C26FFDEC1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C0E6258-B0F8-14EF-3239-2DAB0B061F2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6355C62-1478-4D90-5792-75C7BA6CD58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4C30DAB-CB25-9FEF-9C79-CDA66446AB6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9D03E3A-D805-E995-C789-89548266309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59E7CA2-AE1E-F71F-45EB-BA1747E5695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56167BB-A6D4-150A-BF9F-CAC4FFE50EF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12: books-component.html</a:t>
            </a:r>
          </a:p>
        </p:txBody>
      </p:sp>
      <p:pic>
        <p:nvPicPr>
          <p:cNvPr id="13" name="Picture 12">
            <a:extLst>
              <a:ext uri="{FF2B5EF4-FFF2-40B4-BE49-F238E27FC236}">
                <a16:creationId xmlns:a16="http://schemas.microsoft.com/office/drawing/2014/main" id="{E09E8717-EEAF-F94C-A1BF-28F183FACFA2}"/>
              </a:ext>
            </a:extLst>
          </p:cNvPr>
          <p:cNvPicPr>
            <a:picLocks noChangeAspect="1"/>
          </p:cNvPicPr>
          <p:nvPr/>
        </p:nvPicPr>
        <p:blipFill>
          <a:blip r:embed="rId3"/>
          <a:stretch>
            <a:fillRect/>
          </a:stretch>
        </p:blipFill>
        <p:spPr>
          <a:xfrm>
            <a:off x="798907" y="1302677"/>
            <a:ext cx="7413108" cy="5076856"/>
          </a:xfrm>
          <a:prstGeom prst="rect">
            <a:avLst/>
          </a:prstGeom>
        </p:spPr>
      </p:pic>
    </p:spTree>
    <p:extLst>
      <p:ext uri="{BB962C8B-B14F-4D97-AF65-F5344CB8AC3E}">
        <p14:creationId xmlns:p14="http://schemas.microsoft.com/office/powerpoint/2010/main" val="32433718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7A27E71-5EA0-E442-82D0-CC9F0408B19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97969B-D39A-3D7D-7ADB-3DE5D7E087F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59A3B81-A07D-A9F4-4A97-0AB73D52F95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955307BA-F4EA-5812-F77E-84225A3A76A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FCD34E2-6B52-806E-0650-B437EDEF36E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45581A4-AB7F-E00F-7452-0E1495E257C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A08F4AC-AB02-8358-AF4E-424BF9B69DB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3ED2AB1-AD94-FEC5-7876-8D33BD5C810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B50DF61-EA87-8332-EB3D-78CCB87C59C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4D57C0B-F1BC-1046-6FAA-2413F2B672B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13: Cấu hình routing</a:t>
            </a:r>
          </a:p>
        </p:txBody>
      </p:sp>
      <p:pic>
        <p:nvPicPr>
          <p:cNvPr id="14" name="Picture 13">
            <a:extLst>
              <a:ext uri="{FF2B5EF4-FFF2-40B4-BE49-F238E27FC236}">
                <a16:creationId xmlns:a16="http://schemas.microsoft.com/office/drawing/2014/main" id="{B0DDC148-E369-B825-E33E-7AD600E5C784}"/>
              </a:ext>
            </a:extLst>
          </p:cNvPr>
          <p:cNvPicPr>
            <a:picLocks noChangeAspect="1"/>
          </p:cNvPicPr>
          <p:nvPr/>
        </p:nvPicPr>
        <p:blipFill>
          <a:blip r:embed="rId3"/>
          <a:srcRect/>
          <a:stretch/>
        </p:blipFill>
        <p:spPr>
          <a:xfrm>
            <a:off x="0" y="1372252"/>
            <a:ext cx="12192000" cy="4834887"/>
          </a:xfrm>
          <a:prstGeom prst="rect">
            <a:avLst/>
          </a:prstGeom>
        </p:spPr>
      </p:pic>
      <p:sp>
        <p:nvSpPr>
          <p:cNvPr id="15" name="Rectangle 14">
            <a:extLst>
              <a:ext uri="{FF2B5EF4-FFF2-40B4-BE49-F238E27FC236}">
                <a16:creationId xmlns:a16="http://schemas.microsoft.com/office/drawing/2014/main" id="{CBF003DE-84D7-3EE0-90E7-B68F1F30061E}"/>
              </a:ext>
            </a:extLst>
          </p:cNvPr>
          <p:cNvSpPr/>
          <p:nvPr/>
        </p:nvSpPr>
        <p:spPr>
          <a:xfrm>
            <a:off x="214276" y="5127997"/>
            <a:ext cx="7355901"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09886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7A7E3E6-ADF4-A72A-9CD5-8915D6A4135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9E573E-A9CD-E3FB-5E7E-1F3DAB805F1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55C38E-40D9-3C52-2F12-5A962170DEE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26CD25D0-BAA2-9496-FFE4-FC8179DDD33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BAEABF5-9AF4-6C52-1532-043B7F434E5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805D9DD-F373-E1A5-08C9-BEEFC766B18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A035D2-5950-8B20-09A8-F328BEEF79C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20D1A77-DCBC-4D61-3C1F-418AE86C7CB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64A2FEF-95A7-DE8D-B0BE-5A7C4AE4091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047E82C-7199-3EAD-9E4D-F39F8DDAF9E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14: app.html để gọi routing books</a:t>
            </a:r>
          </a:p>
        </p:txBody>
      </p:sp>
      <p:pic>
        <p:nvPicPr>
          <p:cNvPr id="11" name="Picture 10">
            <a:extLst>
              <a:ext uri="{FF2B5EF4-FFF2-40B4-BE49-F238E27FC236}">
                <a16:creationId xmlns:a16="http://schemas.microsoft.com/office/drawing/2014/main" id="{7CBA7459-BE1F-D176-1A33-4B9FFDB4B5F5}"/>
              </a:ext>
            </a:extLst>
          </p:cNvPr>
          <p:cNvPicPr>
            <a:picLocks noChangeAspect="1"/>
          </p:cNvPicPr>
          <p:nvPr/>
        </p:nvPicPr>
        <p:blipFill>
          <a:blip r:embed="rId3"/>
          <a:srcRect/>
          <a:stretch/>
        </p:blipFill>
        <p:spPr>
          <a:xfrm>
            <a:off x="1523047" y="1588455"/>
            <a:ext cx="7437765" cy="3681089"/>
          </a:xfrm>
          <a:prstGeom prst="rect">
            <a:avLst/>
          </a:prstGeom>
        </p:spPr>
      </p:pic>
    </p:spTree>
    <p:extLst>
      <p:ext uri="{BB962C8B-B14F-4D97-AF65-F5344CB8AC3E}">
        <p14:creationId xmlns:p14="http://schemas.microsoft.com/office/powerpoint/2010/main" val="42856162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89FC4D0-5517-8087-717D-C0C370EA67B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8AF60F-503C-B5FC-2539-6B4CB69C5A1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D57ADFF-27F5-71FD-7314-1D2068041F9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8AC0C879-B989-C1A6-33EC-8613F8A4857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7E447A67-35FD-A1DB-30ED-741CFFB54E9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4B60399-2045-DB9E-288F-53C9181D5D6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82C0526-B623-727B-5F0C-2FADE039315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CF49DC0-966F-D4D7-3A6F-E7A527FAA99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236DD0A-4C5A-39D0-7D51-9D6C925DAC0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2D5CD22-1C36-27A0-DB2D-9AEFACC85B7A}"/>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15: chạy ứng dụng “my-app”</a:t>
            </a:r>
          </a:p>
        </p:txBody>
      </p:sp>
      <p:pic>
        <p:nvPicPr>
          <p:cNvPr id="10" name="Picture 9">
            <a:extLst>
              <a:ext uri="{FF2B5EF4-FFF2-40B4-BE49-F238E27FC236}">
                <a16:creationId xmlns:a16="http://schemas.microsoft.com/office/drawing/2014/main" id="{D42178E6-021D-8950-7142-16ED9B31DC82}"/>
              </a:ext>
            </a:extLst>
          </p:cNvPr>
          <p:cNvPicPr>
            <a:picLocks noChangeAspect="1"/>
          </p:cNvPicPr>
          <p:nvPr/>
        </p:nvPicPr>
        <p:blipFill>
          <a:blip r:embed="rId3"/>
          <a:srcRect t="3743" b="3743"/>
          <a:stretch/>
        </p:blipFill>
        <p:spPr>
          <a:xfrm>
            <a:off x="478054" y="1319607"/>
            <a:ext cx="9457470" cy="5109756"/>
          </a:xfrm>
          <a:prstGeom prst="rect">
            <a:avLst/>
          </a:prstGeom>
        </p:spPr>
      </p:pic>
      <p:sp>
        <p:nvSpPr>
          <p:cNvPr id="12" name="TextBox 11">
            <a:extLst>
              <a:ext uri="{FF2B5EF4-FFF2-40B4-BE49-F238E27FC236}">
                <a16:creationId xmlns:a16="http://schemas.microsoft.com/office/drawing/2014/main" id="{7E2C56B5-AD4E-7B21-8D87-BC20DD6CB1B1}"/>
              </a:ext>
            </a:extLst>
          </p:cNvPr>
          <p:cNvSpPr txBox="1"/>
          <p:nvPr/>
        </p:nvSpPr>
        <p:spPr>
          <a:xfrm>
            <a:off x="5206789" y="3848556"/>
            <a:ext cx="4326826" cy="830997"/>
          </a:xfrm>
          <a:prstGeom prst="rect">
            <a:avLst/>
          </a:prstGeom>
          <a:noFill/>
        </p:spPr>
        <p:txBody>
          <a:bodyPr wrap="none" rtlCol="0">
            <a:spAutoFit/>
          </a:bodyPr>
          <a:lstStyle/>
          <a:p>
            <a:r>
              <a:rPr lang="en-US" sz="2400">
                <a:solidFill>
                  <a:srgbClr val="FF0000"/>
                </a:solidFill>
                <a:latin typeface="Times New Roman" panose="02020603050405020304" pitchFamily="18" charset="0"/>
                <a:cs typeface="Times New Roman" panose="02020603050405020304" pitchFamily="18" charset="0"/>
              </a:rPr>
              <a:t>Lưu ý phải chạy </a:t>
            </a:r>
            <a:r>
              <a:rPr lang="en-US" sz="2400" b="1">
                <a:solidFill>
                  <a:srgbClr val="FF0000"/>
                </a:solidFill>
                <a:latin typeface="Times New Roman" panose="02020603050405020304" pitchFamily="18" charset="0"/>
                <a:cs typeface="Times New Roman" panose="02020603050405020304" pitchFamily="18" charset="0"/>
              </a:rPr>
              <a:t>my-server</a:t>
            </a:r>
            <a:r>
              <a:rPr lang="en-US" sz="2400">
                <a:solidFill>
                  <a:srgbClr val="FF0000"/>
                </a:solidFill>
                <a:latin typeface="Times New Roman" panose="02020603050405020304" pitchFamily="18" charset="0"/>
                <a:cs typeface="Times New Roman" panose="02020603050405020304" pitchFamily="18" charset="0"/>
              </a:rPr>
              <a:t> trước</a:t>
            </a:r>
          </a:p>
          <a:p>
            <a:r>
              <a:rPr lang="en-US" sz="2400">
                <a:solidFill>
                  <a:srgbClr val="FF0000"/>
                </a:solidFill>
                <a:latin typeface="Times New Roman" panose="02020603050405020304" pitchFamily="18" charset="0"/>
                <a:cs typeface="Times New Roman" panose="02020603050405020304" pitchFamily="18" charset="0"/>
              </a:rPr>
              <a:t>Sau đó mới chạy </a:t>
            </a:r>
            <a:r>
              <a:rPr lang="en-US" sz="2400" b="1">
                <a:solidFill>
                  <a:srgbClr val="FF0000"/>
                </a:solidFill>
                <a:latin typeface="Times New Roman" panose="02020603050405020304" pitchFamily="18" charset="0"/>
                <a:cs typeface="Times New Roman" panose="02020603050405020304" pitchFamily="18" charset="0"/>
              </a:rPr>
              <a:t>my-app</a:t>
            </a:r>
          </a:p>
        </p:txBody>
      </p:sp>
    </p:spTree>
    <p:extLst>
      <p:ext uri="{BB962C8B-B14F-4D97-AF65-F5344CB8AC3E}">
        <p14:creationId xmlns:p14="http://schemas.microsoft.com/office/powerpoint/2010/main" val="32462453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DCBEDB6-DE30-BD01-071A-2D5EFE030C3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6F28417-6E96-B1B2-E006-A0B649A342D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4BA04C6-781E-5064-E087-FD9F5F89CC9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213BB902-9E7D-7E00-1915-16335354A4A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7480DA7E-1FA6-D6E4-F471-06547BAC513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6.7.1. Restful API – HTTP GET</a:t>
              </a:r>
              <a:r>
                <a:rPr lang="en-US" sz="2800" b="1">
                  <a:latin typeface="Times New Roman" panose="02020603050405020304" pitchFamily="18" charset="0"/>
                  <a:cs typeface="Times New Roman" panose="02020603050405020304" pitchFamily="18" charset="0"/>
                </a:rPr>
                <a:t> - Books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65A932C-EC54-24A2-6552-7F73168F77D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A67E364-18D7-AA81-C247-EEE034175B6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71DC3E6-3148-F503-FF0A-110E02AFAB2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5771479-EAD6-B240-1C37-D550A199FDC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80CC217D-C496-E37E-CB50-3F0A246B44D5}"/>
              </a:ext>
            </a:extLst>
          </p:cNvPr>
          <p:cNvPicPr>
            <a:picLocks noChangeAspect="1"/>
          </p:cNvPicPr>
          <p:nvPr/>
        </p:nvPicPr>
        <p:blipFill>
          <a:blip r:embed="rId3"/>
          <a:srcRect/>
          <a:stretch/>
        </p:blipFill>
        <p:spPr>
          <a:xfrm>
            <a:off x="568531" y="823208"/>
            <a:ext cx="9848516" cy="5588571"/>
          </a:xfrm>
          <a:prstGeom prst="rect">
            <a:avLst/>
          </a:prstGeom>
        </p:spPr>
      </p:pic>
      <p:sp>
        <p:nvSpPr>
          <p:cNvPr id="13" name="Rectangle 12">
            <a:extLst>
              <a:ext uri="{FF2B5EF4-FFF2-40B4-BE49-F238E27FC236}">
                <a16:creationId xmlns:a16="http://schemas.microsoft.com/office/drawing/2014/main" id="{63AE1ACA-821D-9270-4EF7-1F08080C34DF}"/>
              </a:ext>
            </a:extLst>
          </p:cNvPr>
          <p:cNvSpPr/>
          <p:nvPr/>
        </p:nvSpPr>
        <p:spPr>
          <a:xfrm>
            <a:off x="8106508" y="4545623"/>
            <a:ext cx="2488223" cy="10199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llout: Down Arrow 13">
            <a:extLst>
              <a:ext uri="{FF2B5EF4-FFF2-40B4-BE49-F238E27FC236}">
                <a16:creationId xmlns:a16="http://schemas.microsoft.com/office/drawing/2014/main" id="{E019508A-8748-D0FA-F175-1730C9BCD8DB}"/>
              </a:ext>
            </a:extLst>
          </p:cNvPr>
          <p:cNvSpPr/>
          <p:nvPr/>
        </p:nvSpPr>
        <p:spPr>
          <a:xfrm>
            <a:off x="7486649" y="3543299"/>
            <a:ext cx="3402623" cy="1002324"/>
          </a:xfrm>
          <a:prstGeom prst="downArrowCallou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Times New Roman" panose="02020603050405020304" pitchFamily="18" charset="0"/>
                <a:cs typeface="Times New Roman" panose="02020603050405020304" pitchFamily="18" charset="0"/>
              </a:rPr>
              <a:t>Chọn my-server hay my-app</a:t>
            </a:r>
          </a:p>
          <a:p>
            <a:pPr algn="ctr"/>
            <a:r>
              <a:rPr lang="en-US" sz="2000">
                <a:latin typeface="Times New Roman" panose="02020603050405020304" pitchFamily="18" charset="0"/>
                <a:cs typeface="Times New Roman" panose="02020603050405020304" pitchFamily="18" charset="0"/>
              </a:rPr>
              <a:t> để quan sát tương tác</a:t>
            </a:r>
          </a:p>
        </p:txBody>
      </p:sp>
    </p:spTree>
    <p:extLst>
      <p:ext uri="{BB962C8B-B14F-4D97-AF65-F5344CB8AC3E}">
        <p14:creationId xmlns:p14="http://schemas.microsoft.com/office/powerpoint/2010/main" val="21028303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948096F-A0D6-05C9-FD38-EEE65084CF9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4E2841B-79D8-C433-38ED-51B5993F3FF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0B827DA-8F7B-BFB3-9768-5CEB72FF749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187561AF-EE76-AF68-B201-A612D180514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59481F7-1C1B-4BE3-2A04-AD51611D31D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97CC2DE-57AD-889E-56D0-7A69DAD56A7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EFFEA85-60CD-1486-8B94-8DE27030852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09DD7C6-595C-68E7-BD6C-523D48D6836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DDD411A-46F1-914F-C1C6-7FDE6A329D1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939AE00-5775-5ED6-9076-846FE31CD400}"/>
              </a:ext>
            </a:extLst>
          </p:cNvPr>
          <p:cNvSpPr txBox="1"/>
          <p:nvPr/>
        </p:nvSpPr>
        <p:spPr>
          <a:xfrm>
            <a:off x="542785" y="940118"/>
            <a:ext cx="10684991" cy="3077766"/>
          </a:xfrm>
          <a:prstGeom prst="rect">
            <a:avLst/>
          </a:prstGeom>
          <a:noFill/>
        </p:spPr>
        <p:txBody>
          <a:bodyPr wrap="square">
            <a:spAutoFit/>
          </a:bodyPr>
          <a:lstStyle/>
          <a:p>
            <a:pPr marL="342900" marR="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rPr>
              <a:t>Xây dựng API lấy chi tiết thông tin một Book khi biết BookId:</a:t>
            </a:r>
            <a:endParaRPr lang="en-US" sz="2400">
              <a:effectLst/>
              <a:latin typeface="Times New Roman" panose="02020603050405020304" pitchFamily="18" charset="0"/>
              <a:ea typeface="Times New Roman" panose="02020603050405020304" pitchFamily="18" charset="0"/>
            </a:endParaRPr>
          </a:p>
          <a:p>
            <a:pPr marL="0" marR="0" indent="228600" algn="just">
              <a:spcBef>
                <a:spcPts val="600"/>
              </a:spcBef>
              <a:spcAft>
                <a:spcPts val="600"/>
              </a:spcAft>
              <a:buNone/>
            </a:pPr>
            <a:r>
              <a:rPr lang="en-US" sz="2400" u="sng">
                <a:solidFill>
                  <a:srgbClr val="0000FF"/>
                </a:solidFill>
                <a:effectLst/>
                <a:latin typeface="Times New Roman" panose="02020603050405020304" pitchFamily="18" charset="0"/>
                <a:ea typeface="Arial Unicode MS" panose="020B0604020202020204" pitchFamily="34" charset="-128"/>
                <a:hlinkClick r:id="rId3"/>
              </a:rPr>
              <a:t>http://localhost:3000/books/b1</a:t>
            </a:r>
            <a:endParaRPr lang="en-US" sz="2400">
              <a:effectLst/>
              <a:latin typeface="Times New Roman" panose="02020603050405020304" pitchFamily="18" charset="0"/>
              <a:ea typeface="Times New Roman" panose="02020603050405020304" pitchFamily="18" charset="0"/>
            </a:endParaRPr>
          </a:p>
          <a:p>
            <a:pPr marL="0" marR="0" indent="228600" algn="just">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Sẽ trả về thông tin chi tiết của Book có BookId=b1</a:t>
            </a:r>
            <a:endParaRPr lang="en-US" sz="2400">
              <a:effectLst/>
              <a:latin typeface="Times New Roman" panose="02020603050405020304" pitchFamily="18" charset="0"/>
              <a:ea typeface="Times New Roman" panose="02020603050405020304" pitchFamily="18" charset="0"/>
            </a:endParaRPr>
          </a:p>
          <a:p>
            <a:pPr marL="0" marR="0" indent="228600" algn="just">
              <a:spcBef>
                <a:spcPts val="600"/>
              </a:spcBef>
              <a:spcAft>
                <a:spcPts val="600"/>
              </a:spcAft>
              <a:buNone/>
            </a:pPr>
            <a:r>
              <a:rPr lang="en-US" sz="2400" u="sng">
                <a:solidFill>
                  <a:srgbClr val="0000FF"/>
                </a:solidFill>
                <a:effectLst/>
                <a:latin typeface="Times New Roman" panose="02020603050405020304" pitchFamily="18" charset="0"/>
                <a:ea typeface="Arial Unicode MS" panose="020B0604020202020204" pitchFamily="34" charset="-128"/>
              </a:rPr>
              <a:t>http://localhost:3000/books/b5</a:t>
            </a:r>
            <a:r>
              <a:rPr lang="en-US" sz="2400">
                <a:effectLst/>
                <a:latin typeface="Times New Roman" panose="02020603050405020304" pitchFamily="18" charset="0"/>
                <a:ea typeface="Arial Unicode MS" panose="020B0604020202020204" pitchFamily="34" charset="-128"/>
              </a:rPr>
              <a:t> </a:t>
            </a:r>
            <a:endParaRPr lang="en-US" sz="2400">
              <a:effectLst/>
              <a:latin typeface="Times New Roman" panose="02020603050405020304" pitchFamily="18" charset="0"/>
              <a:ea typeface="Times New Roman" panose="02020603050405020304" pitchFamily="18" charset="0"/>
            </a:endParaRPr>
          </a:p>
          <a:p>
            <a:pPr marL="0" marR="0" indent="228600" algn="just">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Sẽ trả về thông tin chi tiết của Book có BookId=b5</a:t>
            </a:r>
            <a:endParaRPr lang="en-US" sz="2400">
              <a:effectLst/>
              <a:latin typeface="Times New Roman" panose="02020603050405020304" pitchFamily="18" charset="0"/>
              <a:ea typeface="Times New Roman" panose="02020603050405020304" pitchFamily="18" charset="0"/>
            </a:endParaRPr>
          </a:p>
          <a:p>
            <a:pPr marL="0" marR="0" indent="228600" algn="just">
              <a:spcBef>
                <a:spcPts val="600"/>
              </a:spcBef>
              <a:spcAft>
                <a:spcPts val="600"/>
              </a:spcAft>
              <a:buNone/>
            </a:pPr>
            <a:r>
              <a:rPr lang="en-US" sz="2400">
                <a:effectLst/>
                <a:latin typeface="Times New Roman" panose="02020603050405020304" pitchFamily="18" charset="0"/>
                <a:ea typeface="Arial Unicode MS" panose="020B0604020202020204" pitchFamily="34" charset="-128"/>
              </a:rPr>
              <a:t>ví dụ khi nhập b5, thì JsonObject của Book sẽ cho ra kết quả:</a:t>
            </a:r>
            <a:endParaRPr lang="en-US" sz="2400">
              <a:effectLst/>
              <a:latin typeface="Times New Roman" panose="02020603050405020304" pitchFamily="18" charset="0"/>
              <a:ea typeface="Times New Roman" panose="02020603050405020304" pitchFamily="18" charset="0"/>
            </a:endParaRPr>
          </a:p>
        </p:txBody>
      </p:sp>
      <p:pic>
        <p:nvPicPr>
          <p:cNvPr id="12" name="Picture 11">
            <a:extLst>
              <a:ext uri="{FF2B5EF4-FFF2-40B4-BE49-F238E27FC236}">
                <a16:creationId xmlns:a16="http://schemas.microsoft.com/office/drawing/2014/main" id="{4EAA5339-FFD0-717E-EEF6-7A4AF992D46A}"/>
              </a:ext>
            </a:extLst>
          </p:cNvPr>
          <p:cNvPicPr>
            <a:picLocks noChangeAspect="1"/>
          </p:cNvPicPr>
          <p:nvPr/>
        </p:nvPicPr>
        <p:blipFill>
          <a:blip r:embed="rId4"/>
          <a:srcRect/>
          <a:stretch/>
        </p:blipFill>
        <p:spPr>
          <a:xfrm>
            <a:off x="1286646" y="4006880"/>
            <a:ext cx="5501432" cy="2266950"/>
          </a:xfrm>
          <a:prstGeom prst="rect">
            <a:avLst/>
          </a:prstGeom>
        </p:spPr>
      </p:pic>
      <p:pic>
        <p:nvPicPr>
          <p:cNvPr id="13" name="Picture 12">
            <a:extLst>
              <a:ext uri="{FF2B5EF4-FFF2-40B4-BE49-F238E27FC236}">
                <a16:creationId xmlns:a16="http://schemas.microsoft.com/office/drawing/2014/main" id="{10DD087E-F44B-E87E-3D23-EE76D23294BC}"/>
              </a:ext>
            </a:extLst>
          </p:cNvPr>
          <p:cNvPicPr>
            <a:picLocks noChangeAspect="1"/>
          </p:cNvPicPr>
          <p:nvPr/>
        </p:nvPicPr>
        <p:blipFill>
          <a:blip r:embed="rId5"/>
          <a:stretch>
            <a:fillRect/>
          </a:stretch>
        </p:blipFill>
        <p:spPr>
          <a:xfrm>
            <a:off x="9109638" y="466928"/>
            <a:ext cx="2865120" cy="3284220"/>
          </a:xfrm>
          <a:prstGeom prst="rect">
            <a:avLst/>
          </a:prstGeom>
          <a:ln>
            <a:solidFill>
              <a:schemeClr val="tx2"/>
            </a:solidFill>
          </a:ln>
        </p:spPr>
      </p:pic>
      <p:sp>
        <p:nvSpPr>
          <p:cNvPr id="14" name="TextBox 13">
            <a:extLst>
              <a:ext uri="{FF2B5EF4-FFF2-40B4-BE49-F238E27FC236}">
                <a16:creationId xmlns:a16="http://schemas.microsoft.com/office/drawing/2014/main" id="{6B41E8FB-E3EE-86D8-20B3-424C6B55678D}"/>
              </a:ext>
            </a:extLst>
          </p:cNvPr>
          <p:cNvSpPr txBox="1"/>
          <p:nvPr/>
        </p:nvSpPr>
        <p:spPr>
          <a:xfrm>
            <a:off x="9578632" y="3684461"/>
            <a:ext cx="1927131"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Angular (</a:t>
            </a:r>
            <a:r>
              <a:rPr lang="en-US" sz="2000" b="1">
                <a:solidFill>
                  <a:srgbClr val="FF0000"/>
                </a:solidFill>
                <a:latin typeface="Times New Roman" panose="02020603050405020304" pitchFamily="18" charset="0"/>
                <a:cs typeface="Times New Roman" panose="02020603050405020304" pitchFamily="18" charset="0"/>
              </a:rPr>
              <a:t>client</a:t>
            </a:r>
            <a:r>
              <a:rPr lang="en-US" sz="2000" b="1">
                <a:latin typeface="Times New Roman" panose="02020603050405020304" pitchFamily="18" charset="0"/>
                <a:cs typeface="Times New Roman" panose="02020603050405020304" pitchFamily="18" charset="0"/>
              </a:rPr>
              <a:t>)</a:t>
            </a:r>
          </a:p>
        </p:txBody>
      </p:sp>
      <p:sp>
        <p:nvSpPr>
          <p:cNvPr id="15" name="TextBox 14">
            <a:extLst>
              <a:ext uri="{FF2B5EF4-FFF2-40B4-BE49-F238E27FC236}">
                <a16:creationId xmlns:a16="http://schemas.microsoft.com/office/drawing/2014/main" id="{36607A5F-1CA5-4B67-E9BD-5794051E0C7A}"/>
              </a:ext>
            </a:extLst>
          </p:cNvPr>
          <p:cNvSpPr txBox="1"/>
          <p:nvPr/>
        </p:nvSpPr>
        <p:spPr>
          <a:xfrm>
            <a:off x="4921568" y="5873720"/>
            <a:ext cx="1813317" cy="400110"/>
          </a:xfrm>
          <a:prstGeom prst="rect">
            <a:avLst/>
          </a:prstGeom>
          <a:noFill/>
        </p:spPr>
        <p:txBody>
          <a:bodyPr wrap="none" rtlCol="0">
            <a:spAutoFit/>
          </a:bodyPr>
          <a:lstStyle/>
          <a:p>
            <a:r>
              <a:rPr lang="en-US" sz="2000" b="1">
                <a:latin typeface="Times New Roman" panose="02020603050405020304" pitchFamily="18" charset="0"/>
                <a:cs typeface="Times New Roman" panose="02020603050405020304" pitchFamily="18" charset="0"/>
              </a:rPr>
              <a:t>nodejs (</a:t>
            </a:r>
            <a:r>
              <a:rPr lang="en-US" sz="2000" b="1">
                <a:solidFill>
                  <a:srgbClr val="FF0000"/>
                </a:solidFill>
                <a:latin typeface="Times New Roman" panose="02020603050405020304" pitchFamily="18" charset="0"/>
                <a:cs typeface="Times New Roman" panose="02020603050405020304" pitchFamily="18" charset="0"/>
              </a:rPr>
              <a:t>server</a:t>
            </a:r>
            <a:r>
              <a:rPr lang="en-US" sz="2000" b="1">
                <a:latin typeface="Times New Roman" panose="02020603050405020304" pitchFamily="18" charset="0"/>
                <a:cs typeface="Times New Roman" panose="02020603050405020304" pitchFamily="18" charset="0"/>
              </a:rPr>
              <a:t>)</a:t>
            </a:r>
          </a:p>
        </p:txBody>
      </p:sp>
      <p:cxnSp>
        <p:nvCxnSpPr>
          <p:cNvPr id="17" name="Connector: Elbow 16">
            <a:extLst>
              <a:ext uri="{FF2B5EF4-FFF2-40B4-BE49-F238E27FC236}">
                <a16:creationId xmlns:a16="http://schemas.microsoft.com/office/drawing/2014/main" id="{405235AA-B9FA-0F5F-3BAF-32311BFEC75D}"/>
              </a:ext>
            </a:extLst>
          </p:cNvPr>
          <p:cNvCxnSpPr>
            <a:stCxn id="14" idx="2"/>
            <a:endCxn id="12" idx="3"/>
          </p:cNvCxnSpPr>
          <p:nvPr/>
        </p:nvCxnSpPr>
        <p:spPr>
          <a:xfrm rot="5400000">
            <a:off x="8137246" y="2735403"/>
            <a:ext cx="1055784" cy="3754120"/>
          </a:xfrm>
          <a:prstGeom prst="bentConnector2">
            <a:avLst/>
          </a:prstGeom>
          <a:ln w="381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8562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C37762-B86D-F081-170C-62804480C64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362D32F-B18B-A298-6BB8-358F039AAD6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B87DCE7-74C1-CB29-F795-3E80E068A12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204F0C0F-38E1-C9C8-A1FA-D31F96F7A92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D54D7EC-539A-8D42-3AB8-A8F19FCF835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EECD347-19F9-81DE-E273-1B32698B90F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8271182-B210-69B9-E50A-AAC4806D388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5B48856-909A-CA24-1843-0E27E83BF85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4730244-4B7D-A5B6-6498-1D06CDDFB1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CE1B4CB3-D291-AFCC-8A86-36A9277137FE}"/>
              </a:ext>
            </a:extLst>
          </p:cNvPr>
          <p:cNvSpPr txBox="1"/>
          <p:nvPr/>
        </p:nvSpPr>
        <p:spPr>
          <a:xfrm>
            <a:off x="542786" y="763004"/>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1: </a:t>
            </a:r>
            <a:r>
              <a:rPr lang="en-US" sz="2400">
                <a:latin typeface="Times New Roman" panose="02020603050405020304" pitchFamily="18" charset="0"/>
                <a:cs typeface="Times New Roman" panose="02020603050405020304" pitchFamily="18" charset="0"/>
              </a:rPr>
              <a:t>Trong “index.js” của “my-server” bổ sung lệnh sau vào cuối tập tin</a:t>
            </a: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 </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A905384-F986-EAF8-31E6-C839E7D367AD}"/>
              </a:ext>
            </a:extLst>
          </p:cNvPr>
          <p:cNvPicPr>
            <a:picLocks noChangeAspect="1"/>
          </p:cNvPicPr>
          <p:nvPr/>
        </p:nvPicPr>
        <p:blipFill>
          <a:blip r:embed="rId3"/>
          <a:srcRect t="10277"/>
          <a:stretch>
            <a:fillRect/>
          </a:stretch>
        </p:blipFill>
        <p:spPr>
          <a:xfrm>
            <a:off x="564686" y="1271464"/>
            <a:ext cx="9344769" cy="5131970"/>
          </a:xfrm>
          <a:prstGeom prst="rect">
            <a:avLst/>
          </a:prstGeom>
        </p:spPr>
      </p:pic>
      <p:sp>
        <p:nvSpPr>
          <p:cNvPr id="14" name="Rectangle 13">
            <a:extLst>
              <a:ext uri="{FF2B5EF4-FFF2-40B4-BE49-F238E27FC236}">
                <a16:creationId xmlns:a16="http://schemas.microsoft.com/office/drawing/2014/main" id="{7BC83982-5CA0-A796-49AE-7B29FDA8EB3B}"/>
              </a:ext>
            </a:extLst>
          </p:cNvPr>
          <p:cNvSpPr/>
          <p:nvPr/>
        </p:nvSpPr>
        <p:spPr>
          <a:xfrm>
            <a:off x="728132" y="3640015"/>
            <a:ext cx="4846191" cy="11781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56353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AF95070-27A9-2F39-3C77-07141E77B53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DD269CA-8E26-2992-1F2F-017E57425BB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560B1F-0305-1488-255C-A0FC7A004B1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B1632B71-E8ED-F488-5B0E-750D6D814A1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0E5A745-C0F7-CAC9-BD56-A2F5FB877B2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E10DC0A-D728-43AA-1FF2-519E1C5E811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54A8FAD-D26A-109F-FCC0-F8AC032F8C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CDB3B40-992D-B509-1E73-88D35CF3A35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44C231F-2383-3C1F-B966-32AF11B6EB8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BEACD6D7-7C7E-BBC4-A5CA-F679DECCB87D}"/>
              </a:ext>
            </a:extLst>
          </p:cNvPr>
          <p:cNvSpPr txBox="1"/>
          <p:nvPr/>
        </p:nvSpPr>
        <p:spPr>
          <a:xfrm>
            <a:off x="542786" y="763004"/>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2: </a:t>
            </a:r>
            <a:r>
              <a:rPr lang="en-US" sz="2400">
                <a:latin typeface="Times New Roman" panose="02020603050405020304" pitchFamily="18" charset="0"/>
                <a:cs typeface="Times New Roman" panose="02020603050405020304" pitchFamily="18" charset="0"/>
              </a:rPr>
              <a:t>Thử nghiệm xem API lấy chi tiết sản phẩm</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BE29520-F2ED-989B-715D-F4BB7124A15A}"/>
              </a:ext>
            </a:extLst>
          </p:cNvPr>
          <p:cNvPicPr>
            <a:picLocks noChangeAspect="1"/>
          </p:cNvPicPr>
          <p:nvPr/>
        </p:nvPicPr>
        <p:blipFill>
          <a:blip r:embed="rId3"/>
          <a:stretch>
            <a:fillRect/>
          </a:stretch>
        </p:blipFill>
        <p:spPr>
          <a:xfrm>
            <a:off x="916598" y="2019268"/>
            <a:ext cx="9315450" cy="3838575"/>
          </a:xfrm>
          <a:prstGeom prst="rect">
            <a:avLst/>
          </a:prstGeom>
        </p:spPr>
      </p:pic>
      <p:sp>
        <p:nvSpPr>
          <p:cNvPr id="12" name="TextBox 11">
            <a:extLst>
              <a:ext uri="{FF2B5EF4-FFF2-40B4-BE49-F238E27FC236}">
                <a16:creationId xmlns:a16="http://schemas.microsoft.com/office/drawing/2014/main" id="{A781599D-E8E1-9DE5-0787-3827AC68E445}"/>
              </a:ext>
            </a:extLst>
          </p:cNvPr>
          <p:cNvSpPr txBox="1"/>
          <p:nvPr/>
        </p:nvSpPr>
        <p:spPr>
          <a:xfrm>
            <a:off x="916598" y="1334524"/>
            <a:ext cx="6299688" cy="461665"/>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http://localhost:3000/books/b5</a:t>
            </a:r>
          </a:p>
        </p:txBody>
      </p:sp>
    </p:spTree>
    <p:extLst>
      <p:ext uri="{BB962C8B-B14F-4D97-AF65-F5344CB8AC3E}">
        <p14:creationId xmlns:p14="http://schemas.microsoft.com/office/powerpoint/2010/main" val="15364510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714B40B-2E1B-1E6A-1D66-762E5AB0A2A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A9490BC-7BBB-0E44-F1B4-E335651DF73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DC870EC-815A-B2CE-4985-5436BE90F60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47B7D411-5DB2-0AFD-82BE-1149AF192EFB}"/>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F302AEA-A623-E004-4158-0A697B50971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C1DBB00-1ED7-B3A7-136D-70F7BC6EB33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25931E7-FADD-B91B-F9B6-669EBE02F71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C3DB50-987E-B20D-14DA-3967C6AA03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F0C3D77-E127-9542-4145-35BC2942B9B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A6BEA4AA-034F-6FAF-B3E4-F4DFBDBB22D9}"/>
              </a:ext>
            </a:extLst>
          </p:cNvPr>
          <p:cNvSpPr txBox="1"/>
          <p:nvPr/>
        </p:nvSpPr>
        <p:spPr>
          <a:xfrm>
            <a:off x="542786" y="763004"/>
            <a:ext cx="11423545"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3: “my-app”, Bổ sung </a:t>
            </a:r>
            <a:r>
              <a:rPr lang="en-US" sz="2400" b="1">
                <a:latin typeface="Times New Roman" panose="02020603050405020304" pitchFamily="18" charset="0"/>
                <a:ea typeface="Arial Unicode MS" panose="020B0604020202020204" pitchFamily="34" charset="-128"/>
                <a:cs typeface="Times New Roman" panose="02020603050405020304" pitchFamily="18" charset="0"/>
              </a:rPr>
              <a:t>getBook(bookId:string) </a:t>
            </a:r>
            <a:r>
              <a:rPr lang="en-US" sz="2400">
                <a:latin typeface="Times New Roman" panose="02020603050405020304" pitchFamily="18" charset="0"/>
                <a:ea typeface="Arial Unicode MS" panose="020B0604020202020204" pitchFamily="34" charset="-128"/>
                <a:cs typeface="Times New Roman" panose="02020603050405020304" pitchFamily="18" charset="0"/>
              </a:rPr>
              <a:t>vào cuối </a:t>
            </a:r>
            <a:r>
              <a:rPr lang="en-US" sz="2400" b="1">
                <a:latin typeface="Times New Roman" panose="02020603050405020304" pitchFamily="18" charset="0"/>
                <a:ea typeface="Arial Unicode MS" panose="020B0604020202020204" pitchFamily="34" charset="-128"/>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book-api.service.ts”</a:t>
            </a:r>
            <a:endParaRPr lang="en-US" sz="2400" b="1">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6177DC6-BFDB-9445-AEDA-2B10898E1A08}"/>
              </a:ext>
            </a:extLst>
          </p:cNvPr>
          <p:cNvPicPr>
            <a:picLocks noChangeAspect="1"/>
          </p:cNvPicPr>
          <p:nvPr/>
        </p:nvPicPr>
        <p:blipFill>
          <a:blip r:embed="rId3"/>
          <a:stretch>
            <a:fillRect/>
          </a:stretch>
        </p:blipFill>
        <p:spPr>
          <a:xfrm>
            <a:off x="542786" y="1347475"/>
            <a:ext cx="10313377" cy="4907223"/>
          </a:xfrm>
          <a:prstGeom prst="rect">
            <a:avLst/>
          </a:prstGeom>
        </p:spPr>
      </p:pic>
    </p:spTree>
    <p:extLst>
      <p:ext uri="{BB962C8B-B14F-4D97-AF65-F5344CB8AC3E}">
        <p14:creationId xmlns:p14="http://schemas.microsoft.com/office/powerpoint/2010/main" val="8944931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02F1C41-3960-27AB-0275-56CF8CDF1BA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31E6A83-B3C0-31D6-71FC-9C73F0D5F08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5DCB210-E88A-2B00-B137-6110741345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9176A1B7-E2B4-EEE9-69F0-09D1C255E60B}"/>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CCDDF97-3E79-B327-178E-ED56ED3E606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8BBE289-FA19-FE16-9E98-7ACCDB01170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DE3311-FB7B-B862-1D6B-368F390DEDB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3CA954B-3D40-D095-46D9-ED1ED115CE9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BA07F82-B1B6-B3E7-13FE-BF2F7A6D398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58E2E1D9-5CC0-6E12-1E57-DCF1AFC5DD05}"/>
              </a:ext>
            </a:extLst>
          </p:cNvPr>
          <p:cNvSpPr txBox="1"/>
          <p:nvPr/>
        </p:nvSpPr>
        <p:spPr>
          <a:xfrm>
            <a:off x="542786" y="763004"/>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4: </a:t>
            </a:r>
            <a:r>
              <a:rPr lang="en-US" sz="2400">
                <a:latin typeface="Times New Roman" panose="02020603050405020304" pitchFamily="18" charset="0"/>
                <a:ea typeface="Arial Unicode MS" panose="020B0604020202020204" pitchFamily="34" charset="-128"/>
                <a:cs typeface="Times New Roman" panose="02020603050405020304" pitchFamily="18" charset="0"/>
              </a:rPr>
              <a:t>Tạo thêm </a:t>
            </a:r>
            <a:r>
              <a:rPr lang="en-US" sz="2400" b="1">
                <a:latin typeface="Times New Roman" panose="02020603050405020304" pitchFamily="18" charset="0"/>
                <a:ea typeface="Arial Unicode MS" panose="020B0604020202020204" pitchFamily="34" charset="-128"/>
                <a:cs typeface="Times New Roman" panose="02020603050405020304" pitchFamily="18" charset="0"/>
              </a:rPr>
              <a:t>BookDetailComponent </a:t>
            </a:r>
            <a:r>
              <a:rPr lang="en-US" sz="2400">
                <a:latin typeface="Times New Roman" panose="02020603050405020304" pitchFamily="18" charset="0"/>
                <a:ea typeface="Arial Unicode MS" panose="020B0604020202020204" pitchFamily="34" charset="-128"/>
                <a:cs typeface="Times New Roman" panose="02020603050405020304" pitchFamily="18" charset="0"/>
              </a:rPr>
              <a:t>để triệu gọi API chi tiết book</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BFD2F602-E622-6543-0FF8-B85C72FF1375}"/>
              </a:ext>
            </a:extLst>
          </p:cNvPr>
          <p:cNvPicPr>
            <a:picLocks noChangeAspect="1"/>
          </p:cNvPicPr>
          <p:nvPr/>
        </p:nvPicPr>
        <p:blipFill>
          <a:blip r:embed="rId3"/>
          <a:srcRect b="11576"/>
          <a:stretch>
            <a:fillRect/>
          </a:stretch>
        </p:blipFill>
        <p:spPr>
          <a:xfrm>
            <a:off x="599940" y="1250599"/>
            <a:ext cx="3543607" cy="1886768"/>
          </a:xfrm>
          <a:prstGeom prst="rect">
            <a:avLst/>
          </a:prstGeom>
        </p:spPr>
      </p:pic>
      <p:pic>
        <p:nvPicPr>
          <p:cNvPr id="14" name="Picture 13">
            <a:extLst>
              <a:ext uri="{FF2B5EF4-FFF2-40B4-BE49-F238E27FC236}">
                <a16:creationId xmlns:a16="http://schemas.microsoft.com/office/drawing/2014/main" id="{0B5A03CC-BD5F-62FA-076D-CC6F7711CC53}"/>
              </a:ext>
            </a:extLst>
          </p:cNvPr>
          <p:cNvPicPr>
            <a:picLocks noChangeAspect="1"/>
          </p:cNvPicPr>
          <p:nvPr/>
        </p:nvPicPr>
        <p:blipFill>
          <a:blip r:embed="rId4"/>
          <a:stretch>
            <a:fillRect/>
          </a:stretch>
        </p:blipFill>
        <p:spPr>
          <a:xfrm>
            <a:off x="5748461" y="1396089"/>
            <a:ext cx="5601185" cy="784928"/>
          </a:xfrm>
          <a:prstGeom prst="rect">
            <a:avLst/>
          </a:prstGeom>
        </p:spPr>
      </p:pic>
      <p:pic>
        <p:nvPicPr>
          <p:cNvPr id="16" name="Picture 15">
            <a:extLst>
              <a:ext uri="{FF2B5EF4-FFF2-40B4-BE49-F238E27FC236}">
                <a16:creationId xmlns:a16="http://schemas.microsoft.com/office/drawing/2014/main" id="{98F3DE0F-D243-1816-4633-C885F77E06B2}"/>
              </a:ext>
            </a:extLst>
          </p:cNvPr>
          <p:cNvPicPr>
            <a:picLocks noChangeAspect="1"/>
          </p:cNvPicPr>
          <p:nvPr/>
        </p:nvPicPr>
        <p:blipFill>
          <a:blip r:embed="rId5"/>
          <a:stretch>
            <a:fillRect/>
          </a:stretch>
        </p:blipFill>
        <p:spPr>
          <a:xfrm>
            <a:off x="4978193" y="3624960"/>
            <a:ext cx="7018628" cy="2560542"/>
          </a:xfrm>
          <a:prstGeom prst="rect">
            <a:avLst/>
          </a:prstGeom>
        </p:spPr>
      </p:pic>
      <p:pic>
        <p:nvPicPr>
          <p:cNvPr id="18" name="Picture 17">
            <a:extLst>
              <a:ext uri="{FF2B5EF4-FFF2-40B4-BE49-F238E27FC236}">
                <a16:creationId xmlns:a16="http://schemas.microsoft.com/office/drawing/2014/main" id="{20F1FBED-13F1-06DC-8B1C-A8A26AC1DBF7}"/>
              </a:ext>
            </a:extLst>
          </p:cNvPr>
          <p:cNvPicPr>
            <a:picLocks noChangeAspect="1"/>
          </p:cNvPicPr>
          <p:nvPr/>
        </p:nvPicPr>
        <p:blipFill>
          <a:blip r:embed="rId6"/>
          <a:stretch>
            <a:fillRect/>
          </a:stretch>
        </p:blipFill>
        <p:spPr>
          <a:xfrm>
            <a:off x="542786" y="3624960"/>
            <a:ext cx="3657917" cy="2804403"/>
          </a:xfrm>
          <a:prstGeom prst="rect">
            <a:avLst/>
          </a:prstGeom>
        </p:spPr>
      </p:pic>
      <p:cxnSp>
        <p:nvCxnSpPr>
          <p:cNvPr id="19" name="Connector: Elbow 18">
            <a:extLst>
              <a:ext uri="{FF2B5EF4-FFF2-40B4-BE49-F238E27FC236}">
                <a16:creationId xmlns:a16="http://schemas.microsoft.com/office/drawing/2014/main" id="{AF18A2F3-EE38-94C7-7069-C0D1E4E7BF54}"/>
              </a:ext>
            </a:extLst>
          </p:cNvPr>
          <p:cNvCxnSpPr/>
          <p:nvPr/>
        </p:nvCxnSpPr>
        <p:spPr>
          <a:xfrm flipV="1">
            <a:off x="3892727" y="2114955"/>
            <a:ext cx="4651661" cy="84413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241FE7B-2CF9-5E17-A9AC-82D24B842C15}"/>
              </a:ext>
            </a:extLst>
          </p:cNvPr>
          <p:cNvCxnSpPr/>
          <p:nvPr/>
        </p:nvCxnSpPr>
        <p:spPr>
          <a:xfrm>
            <a:off x="10260624" y="2190640"/>
            <a:ext cx="0" cy="15369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5CBAE35-A6F2-E062-4B8E-0538CFF892E1}"/>
              </a:ext>
            </a:extLst>
          </p:cNvPr>
          <p:cNvCxnSpPr/>
          <p:nvPr/>
        </p:nvCxnSpPr>
        <p:spPr>
          <a:xfrm flipH="1">
            <a:off x="2974343" y="5108331"/>
            <a:ext cx="20038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45537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378124C-6148-7478-1683-D4D7392C15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A930B0D-13E3-2182-D392-9E46432EE6C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54903FD-611D-0394-16E9-28AE40682F9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0A4EB108-268B-7DD5-7008-37B91CF7B9F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FD023C4-B84D-C5AA-1F2D-B2B7EF25F9A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2FDFA22-DF9E-656F-B20C-7BB54E67540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88F8556-2690-FA83-DA2F-D0A8EB2B402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EC72202-E336-58F0-9376-DFEAED0241C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A0032B0-B195-1EBD-66BF-00900F93DC5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80475A01-ADD2-0E43-E1DD-043F64135D58}"/>
              </a:ext>
            </a:extLst>
          </p:cNvPr>
          <p:cNvSpPr txBox="1"/>
          <p:nvPr/>
        </p:nvSpPr>
        <p:spPr>
          <a:xfrm>
            <a:off x="542786" y="763004"/>
            <a:ext cx="10684991" cy="98488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5:</a:t>
            </a:r>
          </a:p>
          <a:p>
            <a:pPr algn="just">
              <a:spcBef>
                <a:spcPts val="600"/>
              </a:spcBef>
              <a:spcAft>
                <a:spcPts val="600"/>
              </a:spcAft>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 </a:t>
            </a:r>
            <a:r>
              <a:rPr lang="en-US" sz="2400">
                <a:latin typeface="Times New Roman" panose="02020603050405020304" pitchFamily="18" charset="0"/>
                <a:ea typeface="Arial Unicode MS" panose="020B0604020202020204" pitchFamily="34" charset="-128"/>
                <a:cs typeface="Times New Roman" panose="02020603050405020304" pitchFamily="18" charset="0"/>
              </a:rPr>
              <a:t>book-detail-component.ts</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7739EAD-422A-8AF1-E5AE-1B5BB3409590}"/>
              </a:ext>
            </a:extLst>
          </p:cNvPr>
          <p:cNvPicPr>
            <a:picLocks noChangeAspect="1"/>
          </p:cNvPicPr>
          <p:nvPr/>
        </p:nvPicPr>
        <p:blipFill>
          <a:blip r:embed="rId3"/>
          <a:srcRect/>
          <a:stretch/>
        </p:blipFill>
        <p:spPr>
          <a:xfrm>
            <a:off x="4275618" y="763004"/>
            <a:ext cx="5639878" cy="5721681"/>
          </a:xfrm>
          <a:prstGeom prst="rect">
            <a:avLst/>
          </a:prstGeom>
        </p:spPr>
      </p:pic>
    </p:spTree>
    <p:extLst>
      <p:ext uri="{BB962C8B-B14F-4D97-AF65-F5344CB8AC3E}">
        <p14:creationId xmlns:p14="http://schemas.microsoft.com/office/powerpoint/2010/main" val="20639164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5380963-D9A3-0C04-8E59-C520B608221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9BFE3FE-EE86-F98E-DEF8-CE73730DE70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8F0DA15-E39D-996E-A61E-E050F5F4D2D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5BE85CF1-C1E5-FE95-8673-6A76BB02284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589CC44-EC04-68AB-3733-A68745F3048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05F3B0E-8971-1DCF-9455-ADBB6D982C4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792EEDC-3AEF-F123-157F-7403BB2030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AEA9E58-9C49-EAD3-3460-ECF28071163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6BEF5D0-2D21-2357-DEA9-8FB824C952D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E97A54A8-7BFB-7C05-D2C2-C66BD2F15006}"/>
              </a:ext>
            </a:extLst>
          </p:cNvPr>
          <p:cNvSpPr txBox="1"/>
          <p:nvPr/>
        </p:nvSpPr>
        <p:spPr>
          <a:xfrm>
            <a:off x="542786" y="763004"/>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6: </a:t>
            </a:r>
            <a:r>
              <a:rPr lang="en-US" sz="2400">
                <a:latin typeface="Times New Roman" panose="02020603050405020304" pitchFamily="18" charset="0"/>
                <a:ea typeface="Arial Unicode MS" panose="020B0604020202020204" pitchFamily="34" charset="-128"/>
                <a:cs typeface="Times New Roman" panose="02020603050405020304" pitchFamily="18" charset="0"/>
              </a:rPr>
              <a:t>book-detail-component.html</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BF6D537-4B9C-C574-307D-EA977A2B8F9B}"/>
              </a:ext>
            </a:extLst>
          </p:cNvPr>
          <p:cNvPicPr>
            <a:picLocks noChangeAspect="1"/>
          </p:cNvPicPr>
          <p:nvPr/>
        </p:nvPicPr>
        <p:blipFill>
          <a:blip r:embed="rId3"/>
          <a:srcRect/>
          <a:stretch/>
        </p:blipFill>
        <p:spPr>
          <a:xfrm>
            <a:off x="3718151" y="1224669"/>
            <a:ext cx="7885343" cy="5283904"/>
          </a:xfrm>
          <a:prstGeom prst="rect">
            <a:avLst/>
          </a:prstGeom>
        </p:spPr>
      </p:pic>
    </p:spTree>
    <p:extLst>
      <p:ext uri="{BB962C8B-B14F-4D97-AF65-F5344CB8AC3E}">
        <p14:creationId xmlns:p14="http://schemas.microsoft.com/office/powerpoint/2010/main" val="40514971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8E83C9-B0E6-2CF4-09F1-16CBDF9FCD7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987A2DB-F83E-178C-4203-570AA874EE7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1EC3000-D32E-D97A-FDA3-2DE0C16E131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grpSp>
        <p:nvGrpSpPr>
          <p:cNvPr id="2" name="Group 1">
            <a:extLst>
              <a:ext uri="{FF2B5EF4-FFF2-40B4-BE49-F238E27FC236}">
                <a16:creationId xmlns:a16="http://schemas.microsoft.com/office/drawing/2014/main" id="{A53C24B3-CD73-64B8-48BF-8238C5DD176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8566F17D-2CE6-22B2-17B7-21958B462CD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75DF2A4-D864-0F65-02D1-C7C539AF76F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D5D13A1-E4DF-E4C2-2D2B-ACC164046B1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54256A3-FC7E-0142-38FD-2EE331589F5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B8719E9-9715-EC56-A94B-6F591C0C299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BC34983E-8916-50CF-ADB2-F0E0365AB911}"/>
              </a:ext>
            </a:extLst>
          </p:cNvPr>
          <p:cNvSpPr txBox="1"/>
          <p:nvPr/>
        </p:nvSpPr>
        <p:spPr>
          <a:xfrm>
            <a:off x="542786" y="780588"/>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7: </a:t>
            </a:r>
            <a:r>
              <a:rPr lang="en-US" sz="2400">
                <a:latin typeface="Times New Roman" panose="02020603050405020304" pitchFamily="18" charset="0"/>
                <a:ea typeface="Arial Unicode MS" panose="020B0604020202020204" pitchFamily="34" charset="-128"/>
                <a:cs typeface="Times New Roman" panose="02020603050405020304" pitchFamily="18" charset="0"/>
              </a:rPr>
              <a:t>app-routing-module.ts: Thiết lập routing cho triệu gọi sách theo Id</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18D570B3-43B3-7933-CE73-38006012C2D9}"/>
              </a:ext>
            </a:extLst>
          </p:cNvPr>
          <p:cNvPicPr>
            <a:picLocks noChangeAspect="1"/>
          </p:cNvPicPr>
          <p:nvPr/>
        </p:nvPicPr>
        <p:blipFill>
          <a:blip r:embed="rId3"/>
          <a:srcRect/>
          <a:stretch/>
        </p:blipFill>
        <p:spPr>
          <a:xfrm>
            <a:off x="0" y="1343085"/>
            <a:ext cx="12192000" cy="4049030"/>
          </a:xfrm>
          <a:prstGeom prst="rect">
            <a:avLst/>
          </a:prstGeom>
        </p:spPr>
      </p:pic>
      <p:sp>
        <p:nvSpPr>
          <p:cNvPr id="15" name="Rectangle 14">
            <a:extLst>
              <a:ext uri="{FF2B5EF4-FFF2-40B4-BE49-F238E27FC236}">
                <a16:creationId xmlns:a16="http://schemas.microsoft.com/office/drawing/2014/main" id="{0347CFBA-0AA0-2579-DA90-AFCF1501C78E}"/>
              </a:ext>
            </a:extLst>
          </p:cNvPr>
          <p:cNvSpPr/>
          <p:nvPr/>
        </p:nvSpPr>
        <p:spPr>
          <a:xfrm>
            <a:off x="415252" y="4353234"/>
            <a:ext cx="8180108"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4092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AD8D17C-20EE-C92C-CF0F-77BE9E07BCC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9B1BF36-48BD-0A1A-6E4E-DF16CAEBC2D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5962298-0BDD-C5C4-93AB-A78C4376555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grpSp>
        <p:nvGrpSpPr>
          <p:cNvPr id="2" name="Group 1">
            <a:extLst>
              <a:ext uri="{FF2B5EF4-FFF2-40B4-BE49-F238E27FC236}">
                <a16:creationId xmlns:a16="http://schemas.microsoft.com/office/drawing/2014/main" id="{A43A8A63-1DE7-5A34-F877-4F91DFFFD4D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56B254C-BA92-B19A-FD83-F974852CDE1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86E1D7F-5050-6D40-5AE5-A8DF9D22284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0B924CA-3E58-90DD-EA79-E9095A824E6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708AE88-483D-B62B-F5C1-49357573450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EAFA9DE-9932-244B-3AD1-CBAAB4AC6D2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06375C83-2794-B78E-3F0C-C7E02E432EA7}"/>
              </a:ext>
            </a:extLst>
          </p:cNvPr>
          <p:cNvSpPr txBox="1"/>
          <p:nvPr/>
        </p:nvSpPr>
        <p:spPr>
          <a:xfrm>
            <a:off x="542786" y="780588"/>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9: </a:t>
            </a:r>
            <a:r>
              <a:rPr lang="en-US" sz="2400">
                <a:latin typeface="Times New Roman" panose="02020603050405020304" pitchFamily="18" charset="0"/>
                <a:ea typeface="Arial Unicode MS" panose="020B0604020202020204" pitchFamily="34" charset="-128"/>
                <a:cs typeface="Times New Roman" panose="02020603050405020304" pitchFamily="18" charset="0"/>
              </a:rPr>
              <a:t>app.html</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9CB88B9-3789-6266-47BC-E54C8CB16754}"/>
              </a:ext>
            </a:extLst>
          </p:cNvPr>
          <p:cNvPicPr>
            <a:picLocks noChangeAspect="1"/>
          </p:cNvPicPr>
          <p:nvPr/>
        </p:nvPicPr>
        <p:blipFill>
          <a:blip r:embed="rId3"/>
          <a:srcRect/>
          <a:stretch/>
        </p:blipFill>
        <p:spPr>
          <a:xfrm>
            <a:off x="1869340" y="1372863"/>
            <a:ext cx="7401759" cy="3863675"/>
          </a:xfrm>
          <a:prstGeom prst="rect">
            <a:avLst/>
          </a:prstGeom>
        </p:spPr>
      </p:pic>
    </p:spTree>
    <p:extLst>
      <p:ext uri="{BB962C8B-B14F-4D97-AF65-F5344CB8AC3E}">
        <p14:creationId xmlns:p14="http://schemas.microsoft.com/office/powerpoint/2010/main" val="4398666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826B71F-3F6F-569E-AB04-A49A39A08EB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AD87045-8EA8-67D0-AD23-EA0E73F8A6F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7A0743A-51E9-13A9-CA6E-49B99D6EC28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grpSp>
        <p:nvGrpSpPr>
          <p:cNvPr id="2" name="Group 1">
            <a:extLst>
              <a:ext uri="{FF2B5EF4-FFF2-40B4-BE49-F238E27FC236}">
                <a16:creationId xmlns:a16="http://schemas.microsoft.com/office/drawing/2014/main" id="{1B484FEB-2D09-0948-67AF-743790BD09F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F382735-5D5A-F8CD-6A84-6E86CFE5EF1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10AB3EA-BA9E-09AD-141E-2A5E6C18D0D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2158FA7-B9AB-8B17-9839-2A8183712BF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A7019EB-FCA4-50B1-28C9-E0E000818D4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061EB90-2362-FC2A-985C-ECE110252E6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2D24CFCE-D267-D56C-0517-26A0FAF04E52}"/>
              </a:ext>
            </a:extLst>
          </p:cNvPr>
          <p:cNvSpPr txBox="1"/>
          <p:nvPr/>
        </p:nvSpPr>
        <p:spPr>
          <a:xfrm>
            <a:off x="542786" y="780588"/>
            <a:ext cx="10684991"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Step 10: </a:t>
            </a:r>
            <a:r>
              <a:rPr lang="en-US" sz="2400">
                <a:latin typeface="Times New Roman" panose="02020603050405020304" pitchFamily="18" charset="0"/>
                <a:ea typeface="Arial Unicode MS" panose="020B0604020202020204" pitchFamily="34" charset="-128"/>
                <a:cs typeface="Times New Roman" panose="02020603050405020304" pitchFamily="18" charset="0"/>
              </a:rPr>
              <a:t>Chạy ứng dụng</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9612B5A-C87D-859A-5E33-187C7FF23E4E}"/>
              </a:ext>
            </a:extLst>
          </p:cNvPr>
          <p:cNvPicPr>
            <a:picLocks noChangeAspect="1"/>
          </p:cNvPicPr>
          <p:nvPr/>
        </p:nvPicPr>
        <p:blipFill>
          <a:blip r:embed="rId3"/>
          <a:srcRect/>
          <a:stretch/>
        </p:blipFill>
        <p:spPr>
          <a:xfrm>
            <a:off x="5794064" y="780588"/>
            <a:ext cx="5380994" cy="5965280"/>
          </a:xfrm>
          <a:prstGeom prst="rect">
            <a:avLst/>
          </a:prstGeom>
        </p:spPr>
      </p:pic>
      <p:pic>
        <p:nvPicPr>
          <p:cNvPr id="9" name="Picture 8">
            <a:extLst>
              <a:ext uri="{FF2B5EF4-FFF2-40B4-BE49-F238E27FC236}">
                <a16:creationId xmlns:a16="http://schemas.microsoft.com/office/drawing/2014/main" id="{3155C1D2-92BB-0B64-E7CC-967578D89341}"/>
              </a:ext>
            </a:extLst>
          </p:cNvPr>
          <p:cNvPicPr>
            <a:picLocks noChangeAspect="1"/>
          </p:cNvPicPr>
          <p:nvPr/>
        </p:nvPicPr>
        <p:blipFill>
          <a:blip r:embed="rId4"/>
          <a:stretch>
            <a:fillRect/>
          </a:stretch>
        </p:blipFill>
        <p:spPr>
          <a:xfrm>
            <a:off x="643941" y="1743751"/>
            <a:ext cx="4488569" cy="3490262"/>
          </a:xfrm>
          <a:prstGeom prst="rect">
            <a:avLst/>
          </a:prstGeom>
        </p:spPr>
      </p:pic>
    </p:spTree>
    <p:extLst>
      <p:ext uri="{BB962C8B-B14F-4D97-AF65-F5344CB8AC3E}">
        <p14:creationId xmlns:p14="http://schemas.microsoft.com/office/powerpoint/2010/main" val="18172723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5DEAC30-5E8E-E9E3-F830-C6BB369F579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81CCB8B-56D7-048F-28F7-BA12C7D3388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0A023B9-6CA6-3017-C663-541D2D5F647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grpSp>
        <p:nvGrpSpPr>
          <p:cNvPr id="2" name="Group 1">
            <a:extLst>
              <a:ext uri="{FF2B5EF4-FFF2-40B4-BE49-F238E27FC236}">
                <a16:creationId xmlns:a16="http://schemas.microsoft.com/office/drawing/2014/main" id="{FED13488-90DD-4965-6588-E4BD7E3C3339}"/>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F060AAB-9A8B-5E1B-8C97-2D7BC2B4C3F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409D4E5-6793-D136-5BDE-32B290FBAE5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F9FAC3F-568A-A63B-DCB3-0E4450F9524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2E5AB8-BAE0-3E2D-28A3-E24C98BA2D5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8F6E460-E29A-D166-7691-4C070B8E612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1919AC92-DC54-D610-CB76-8EB19DCF848A}"/>
              </a:ext>
            </a:extLst>
          </p:cNvPr>
          <p:cNvSpPr txBox="1"/>
          <p:nvPr/>
        </p:nvSpPr>
        <p:spPr>
          <a:xfrm>
            <a:off x="542786" y="780588"/>
            <a:ext cx="11214874" cy="830997"/>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Mở rộng: Giả sử ta có API lọc sản phẩm theo giá như dưới đây, vậy Angular cần thiết kế như thế nào để có thể triệu gọi sử dụng được API này?</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D28BC43-6AAE-5EAA-EABE-5C1C87AA9EB9}"/>
              </a:ext>
            </a:extLst>
          </p:cNvPr>
          <p:cNvPicPr>
            <a:picLocks noChangeAspect="1"/>
          </p:cNvPicPr>
          <p:nvPr/>
        </p:nvPicPr>
        <p:blipFill>
          <a:blip r:embed="rId3"/>
          <a:stretch>
            <a:fillRect/>
          </a:stretch>
        </p:blipFill>
        <p:spPr>
          <a:xfrm>
            <a:off x="845811" y="1611585"/>
            <a:ext cx="7316677" cy="4627202"/>
          </a:xfrm>
          <a:prstGeom prst="rect">
            <a:avLst/>
          </a:prstGeom>
        </p:spPr>
      </p:pic>
    </p:spTree>
    <p:extLst>
      <p:ext uri="{BB962C8B-B14F-4D97-AF65-F5344CB8AC3E}">
        <p14:creationId xmlns:p14="http://schemas.microsoft.com/office/powerpoint/2010/main" val="10559807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6BCB57C-D457-3A91-4850-68D69BED756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167CD36-20FC-B1CD-DA17-03E9C0CFBF5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A03128B-FA44-F599-F99C-952C8727B70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grpSp>
        <p:nvGrpSpPr>
          <p:cNvPr id="2" name="Group 1">
            <a:extLst>
              <a:ext uri="{FF2B5EF4-FFF2-40B4-BE49-F238E27FC236}">
                <a16:creationId xmlns:a16="http://schemas.microsoft.com/office/drawing/2014/main" id="{8BF5518B-5CA8-D4E6-4D33-AD6DD20075D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75692A01-04B7-0455-FF7F-AAA079E4569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D087C9E-E210-73CE-12F4-146BEDF337E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AFF88DC-6242-A7A7-8E05-A71F638F2E8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0BF27B8-C964-0847-86CC-01A80EEF22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C304530-04C6-192E-0A2B-1F61190550E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1D6AF536-A951-B052-1A54-5683BEC76B86}"/>
              </a:ext>
            </a:extLst>
          </p:cNvPr>
          <p:cNvSpPr txBox="1"/>
          <p:nvPr/>
        </p:nvSpPr>
        <p:spPr>
          <a:xfrm>
            <a:off x="542786" y="780588"/>
            <a:ext cx="11214874"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Mở rộng: </a:t>
            </a:r>
            <a:r>
              <a:rPr lang="en-US" sz="2400">
                <a:latin typeface="Times New Roman" panose="02020603050405020304" pitchFamily="18" charset="0"/>
                <a:ea typeface="Arial Unicode MS" panose="020B0604020202020204" pitchFamily="34" charset="-128"/>
                <a:cs typeface="Times New Roman" panose="02020603050405020304" pitchFamily="18" charset="0"/>
              </a:rPr>
              <a:t>Thử nghiệm </a:t>
            </a:r>
            <a:r>
              <a:rPr lang="en-US" sz="2400">
                <a:latin typeface="Times New Roman" panose="02020603050405020304" pitchFamily="18" charset="0"/>
                <a:ea typeface="Arial Unicode MS" panose="020B0604020202020204" pitchFamily="34" charset="-128"/>
                <a:cs typeface="Times New Roman" panose="02020603050405020304" pitchFamily="18" charset="0"/>
                <a:hlinkClick r:id="rId3"/>
              </a:rPr>
              <a:t>http://localhost:3000/books/filter/price?min=250&amp;max=300</a:t>
            </a:r>
            <a:r>
              <a:rPr lang="en-US" sz="2400">
                <a:latin typeface="Times New Roman" panose="02020603050405020304" pitchFamily="18" charset="0"/>
                <a:ea typeface="Arial Unicode MS" panose="020B0604020202020204" pitchFamily="34" charset="-128"/>
                <a:cs typeface="Times New Roman" panose="02020603050405020304" pitchFamily="18" charset="0"/>
              </a:rPr>
              <a:t> </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17EA8B76-B7EF-EE7A-5180-02390F12BC25}"/>
              </a:ext>
            </a:extLst>
          </p:cNvPr>
          <p:cNvPicPr>
            <a:picLocks noChangeAspect="1"/>
          </p:cNvPicPr>
          <p:nvPr/>
        </p:nvPicPr>
        <p:blipFill>
          <a:blip r:embed="rId4"/>
          <a:srcRect b="11224"/>
          <a:stretch>
            <a:fillRect/>
          </a:stretch>
        </p:blipFill>
        <p:spPr>
          <a:xfrm>
            <a:off x="913307" y="1325848"/>
            <a:ext cx="10365385" cy="5019920"/>
          </a:xfrm>
          <a:prstGeom prst="rect">
            <a:avLst/>
          </a:prstGeom>
        </p:spPr>
      </p:pic>
    </p:spTree>
    <p:extLst>
      <p:ext uri="{BB962C8B-B14F-4D97-AF65-F5344CB8AC3E}">
        <p14:creationId xmlns:p14="http://schemas.microsoft.com/office/powerpoint/2010/main" val="5480222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728AB3B-C0DF-99C9-2130-BC0FA457869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BF58DCE-B116-5737-EA43-635FD8D98F7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A22A476-B0C5-C6FF-0666-AF819A9B436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grpSp>
        <p:nvGrpSpPr>
          <p:cNvPr id="2" name="Group 1">
            <a:extLst>
              <a:ext uri="{FF2B5EF4-FFF2-40B4-BE49-F238E27FC236}">
                <a16:creationId xmlns:a16="http://schemas.microsoft.com/office/drawing/2014/main" id="{B452B2EA-465A-5524-52F9-73F4A8C59871}"/>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03744A7-4906-8465-3632-FA6F0901634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Restful API – HTTP GET</a:t>
              </a:r>
              <a:r>
                <a:rPr lang="en-US" sz="2800" b="1">
                  <a:latin typeface="Times New Roman" panose="02020603050405020304" pitchFamily="18" charset="0"/>
                  <a:cs typeface="Times New Roman" panose="02020603050405020304" pitchFamily="18" charset="0"/>
                </a:rPr>
                <a:t> a Book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848AD18-4E2B-6736-AE15-F811387F82B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B7671F-1B72-8FD3-763C-01220D68AAE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F0EE149-0632-0F28-1B4B-6D85568E999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D522430-B99B-9EF3-1C73-C31B9040513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90E755C4-7630-F406-B7B0-75217ECA7A85}"/>
              </a:ext>
            </a:extLst>
          </p:cNvPr>
          <p:cNvSpPr txBox="1"/>
          <p:nvPr/>
        </p:nvSpPr>
        <p:spPr>
          <a:xfrm>
            <a:off x="542786" y="780588"/>
            <a:ext cx="11214874" cy="461665"/>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400">
                <a:effectLst/>
                <a:latin typeface="Times New Roman" panose="02020603050405020304" pitchFamily="18" charset="0"/>
                <a:ea typeface="Arial Unicode MS" panose="020B0604020202020204" pitchFamily="34" charset="-128"/>
                <a:cs typeface="Times New Roman" panose="02020603050405020304" pitchFamily="18" charset="0"/>
              </a:rPr>
              <a:t>Mở rộng: </a:t>
            </a:r>
            <a:r>
              <a:rPr lang="en-US" sz="2400">
                <a:latin typeface="Times New Roman" panose="02020603050405020304" pitchFamily="18" charset="0"/>
                <a:ea typeface="Arial Unicode MS" panose="020B0604020202020204" pitchFamily="34" charset="-128"/>
                <a:cs typeface="Times New Roman" panose="02020603050405020304" pitchFamily="18" charset="0"/>
              </a:rPr>
              <a:t>Thử nghiệm </a:t>
            </a:r>
            <a:r>
              <a:rPr lang="en-US" sz="2400">
                <a:latin typeface="Times New Roman" panose="02020603050405020304" pitchFamily="18" charset="0"/>
                <a:ea typeface="Arial Unicode MS" panose="020B0604020202020204" pitchFamily="34" charset="-128"/>
                <a:cs typeface="Times New Roman" panose="02020603050405020304" pitchFamily="18" charset="0"/>
                <a:hlinkClick r:id="rId3"/>
              </a:rPr>
              <a:t>http://localhost:3000/books/filter/price?min=250&amp;max=300</a:t>
            </a:r>
            <a:r>
              <a:rPr lang="en-US" sz="2400">
                <a:latin typeface="Times New Roman" panose="02020603050405020304" pitchFamily="18" charset="0"/>
                <a:ea typeface="Arial Unicode MS" panose="020B0604020202020204" pitchFamily="34" charset="-128"/>
                <a:cs typeface="Times New Roman" panose="02020603050405020304" pitchFamily="18" charset="0"/>
              </a:rPr>
              <a:t> </a:t>
            </a:r>
            <a:endParaRPr lang="en-US" sz="240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87D0E5D-EBD3-57AF-05B3-D69982072B20}"/>
              </a:ext>
            </a:extLst>
          </p:cNvPr>
          <p:cNvPicPr>
            <a:picLocks noChangeAspect="1"/>
          </p:cNvPicPr>
          <p:nvPr/>
        </p:nvPicPr>
        <p:blipFill>
          <a:blip r:embed="rId4"/>
          <a:stretch>
            <a:fillRect/>
          </a:stretch>
        </p:blipFill>
        <p:spPr>
          <a:xfrm>
            <a:off x="645953" y="1301787"/>
            <a:ext cx="9615068" cy="5075717"/>
          </a:xfrm>
          <a:prstGeom prst="rect">
            <a:avLst/>
          </a:prstGeom>
        </p:spPr>
      </p:pic>
    </p:spTree>
    <p:extLst>
      <p:ext uri="{BB962C8B-B14F-4D97-AF65-F5344CB8AC3E}">
        <p14:creationId xmlns:p14="http://schemas.microsoft.com/office/powerpoint/2010/main" val="8261974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08B85E4-8632-223A-8992-49247EF5D49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95F3A72-89C3-BF1D-8B9B-3E9890C05E1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D5D6FAB-F03E-EA81-7AD3-6978853C1AC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grpSp>
        <p:nvGrpSpPr>
          <p:cNvPr id="2" name="Group 1">
            <a:extLst>
              <a:ext uri="{FF2B5EF4-FFF2-40B4-BE49-F238E27FC236}">
                <a16:creationId xmlns:a16="http://schemas.microsoft.com/office/drawing/2014/main" id="{55411A3F-7487-8640-5803-CD0AFB019A6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012B6CC-31A6-C3FB-D8C0-F2CD28727F8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264ACE5-B4AF-4408-BB4E-815E095955D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307EB9B-9D24-1531-947A-0517E79E64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7A67257-A27D-7394-5CEE-7D108330836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BD02D2E-7685-4217-9851-5FC263B829B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257570E-27C5-73D0-4B20-5EE5428E3465}"/>
              </a:ext>
            </a:extLst>
          </p:cNvPr>
          <p:cNvSpPr txBox="1"/>
          <p:nvPr/>
        </p:nvSpPr>
        <p:spPr>
          <a:xfrm>
            <a:off x="462279" y="841012"/>
            <a:ext cx="11564547" cy="1569660"/>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HTTP POST: </a:t>
            </a:r>
            <a:r>
              <a:rPr lang="en-US" sz="2400">
                <a:latin typeface="Times New Roman" panose="02020603050405020304" pitchFamily="18" charset="0"/>
                <a:cs typeface="Times New Roman" panose="02020603050405020304" pitchFamily="18" charset="0"/>
              </a:rPr>
              <a:t>Thường được dùng để </a:t>
            </a:r>
            <a:r>
              <a:rPr lang="vi-VN" sz="2400">
                <a:latin typeface="Times New Roman" panose="02020603050405020304" pitchFamily="18" charset="0"/>
                <a:cs typeface="Times New Roman" panose="02020603050405020304" pitchFamily="18" charset="0"/>
              </a:rPr>
              <a:t>thêm mới đối tượng</a:t>
            </a:r>
            <a:r>
              <a:rPr lang="en-US" sz="2400">
                <a:latin typeface="Times New Roman" panose="02020603050405020304" pitchFamily="18" charset="0"/>
                <a:cs typeface="Times New Roman" panose="02020603050405020304" pitchFamily="18" charset="0"/>
              </a:rPr>
              <a:t>, và ta không có kiểm thử trên trình duyệt được, ta sẽ dùng Postman </a:t>
            </a:r>
            <a:r>
              <a:rPr lang="en-US" sz="2400">
                <a:latin typeface="Times New Roman" panose="02020603050405020304" pitchFamily="18" charset="0"/>
                <a:cs typeface="Times New Roman" panose="02020603050405020304" pitchFamily="18" charset="0"/>
                <a:hlinkClick r:id="rId3"/>
              </a:rPr>
              <a:t>https://www.postman.com/downloads/</a:t>
            </a:r>
            <a:r>
              <a:rPr lang="en-US" sz="2400">
                <a:latin typeface="Times New Roman" panose="02020603050405020304" pitchFamily="18" charset="0"/>
                <a:cs typeface="Times New Roman" panose="02020603050405020304" pitchFamily="18" charset="0"/>
              </a:rPr>
              <a:t> để test chức năng.</a:t>
            </a: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Trong “my-server”, tiếp tục bổ sung mã lệnh sau vào cuối tập tin “index.js”</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2B56895-7A39-EECD-49EA-8588A1305876}"/>
              </a:ext>
            </a:extLst>
          </p:cNvPr>
          <p:cNvPicPr>
            <a:picLocks noChangeAspect="1"/>
          </p:cNvPicPr>
          <p:nvPr/>
        </p:nvPicPr>
        <p:blipFill>
          <a:blip r:embed="rId4"/>
          <a:stretch>
            <a:fillRect/>
          </a:stretch>
        </p:blipFill>
        <p:spPr>
          <a:xfrm>
            <a:off x="1142609" y="2514609"/>
            <a:ext cx="9007621" cy="2933954"/>
          </a:xfrm>
          <a:prstGeom prst="rect">
            <a:avLst/>
          </a:prstGeom>
        </p:spPr>
      </p:pic>
    </p:spTree>
    <p:extLst>
      <p:ext uri="{BB962C8B-B14F-4D97-AF65-F5344CB8AC3E}">
        <p14:creationId xmlns:p14="http://schemas.microsoft.com/office/powerpoint/2010/main" val="39156554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209DB5-1D9C-D3D3-DE5B-CF552951879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F205DC-FD0C-086B-78E9-411A5C0BB0F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A23E140-EA98-FCB2-0CBF-40EFEC905E8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grpSp>
        <p:nvGrpSpPr>
          <p:cNvPr id="2" name="Group 1">
            <a:extLst>
              <a:ext uri="{FF2B5EF4-FFF2-40B4-BE49-F238E27FC236}">
                <a16:creationId xmlns:a16="http://schemas.microsoft.com/office/drawing/2014/main" id="{CD2A51E2-CB05-0B1C-0240-EB4305A7307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73BCF84-208A-77A3-447A-4FEA531BC4C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369FD1-EDA9-C270-DBDF-CE310BC3552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7695E50-7272-BAC9-8AF3-29CBFC0C6D1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3372B5B-15FC-B1C6-24E2-9E944D8774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EA8E3E8-DF32-A733-B481-040F15D40D8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82A7CC4-7C53-FDD0-287C-DA7DB02959B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Dùng Postman thử nghiệm API POST sách mới</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5CC94BF-C91E-43A8-3C48-B2E25C6324BE}"/>
              </a:ext>
            </a:extLst>
          </p:cNvPr>
          <p:cNvPicPr>
            <a:picLocks noChangeAspect="1"/>
          </p:cNvPicPr>
          <p:nvPr/>
        </p:nvPicPr>
        <p:blipFill>
          <a:blip r:embed="rId3"/>
          <a:stretch>
            <a:fillRect/>
          </a:stretch>
        </p:blipFill>
        <p:spPr>
          <a:xfrm>
            <a:off x="2333625" y="1303307"/>
            <a:ext cx="7252335" cy="5126056"/>
          </a:xfrm>
          <a:prstGeom prst="rect">
            <a:avLst/>
          </a:prstGeom>
        </p:spPr>
      </p:pic>
    </p:spTree>
    <p:extLst>
      <p:ext uri="{BB962C8B-B14F-4D97-AF65-F5344CB8AC3E}">
        <p14:creationId xmlns:p14="http://schemas.microsoft.com/office/powerpoint/2010/main" val="21910097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C980852-9207-4BE5-65A2-429CE5B8FA2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0254BC6-456C-4DA6-43DB-5CF115863C7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F9D6517-85E4-78A7-F839-68F18BAA141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grpSp>
        <p:nvGrpSpPr>
          <p:cNvPr id="2" name="Group 1">
            <a:extLst>
              <a:ext uri="{FF2B5EF4-FFF2-40B4-BE49-F238E27FC236}">
                <a16:creationId xmlns:a16="http://schemas.microsoft.com/office/drawing/2014/main" id="{E8E46C6D-E88F-2D84-07B9-6A789E430FC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B8629F7-7C7A-B346-8316-EBBA94FBE380}"/>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66DFCD7-22FE-A62A-A315-251FABDB0DC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BAA8B45-11B3-75F3-8D9C-B41EB2C3165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7ABBC0A-B356-54E0-CEE3-BACB00EE38E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A95884D-9C1B-5EF8-95BF-E63B22DFAB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BF5BDE0-C341-F5E9-504A-6600F84D3DCD}"/>
              </a:ext>
            </a:extLst>
          </p:cNvPr>
          <p:cNvSpPr txBox="1"/>
          <p:nvPr/>
        </p:nvSpPr>
        <p:spPr>
          <a:xfrm>
            <a:off x="462279" y="841012"/>
            <a:ext cx="3034453" cy="1938992"/>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Tuy nhiên, ta cần truyền image lên Server, do đó ở bước 1 vẫn chưa đáp ứng được.</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2EB1028-1070-2D66-1B24-B8D03495FF00}"/>
              </a:ext>
            </a:extLst>
          </p:cNvPr>
          <p:cNvPicPr>
            <a:picLocks noChangeAspect="1"/>
          </p:cNvPicPr>
          <p:nvPr/>
        </p:nvPicPr>
        <p:blipFill>
          <a:blip r:embed="rId3"/>
          <a:stretch>
            <a:fillRect/>
          </a:stretch>
        </p:blipFill>
        <p:spPr>
          <a:xfrm>
            <a:off x="3626677" y="841012"/>
            <a:ext cx="8466263" cy="5337153"/>
          </a:xfrm>
          <a:prstGeom prst="rect">
            <a:avLst/>
          </a:prstGeom>
        </p:spPr>
      </p:pic>
      <p:sp>
        <p:nvSpPr>
          <p:cNvPr id="12" name="Rectangle 11">
            <a:extLst>
              <a:ext uri="{FF2B5EF4-FFF2-40B4-BE49-F238E27FC236}">
                <a16:creationId xmlns:a16="http://schemas.microsoft.com/office/drawing/2014/main" id="{0E5539D6-16FB-7A1C-8371-6EECB167FC82}"/>
              </a:ext>
            </a:extLst>
          </p:cNvPr>
          <p:cNvSpPr/>
          <p:nvPr/>
        </p:nvSpPr>
        <p:spPr>
          <a:xfrm>
            <a:off x="3695700" y="3352800"/>
            <a:ext cx="4419600" cy="3124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2807DA8-C43F-5E2C-8CD8-8032A28A5611}"/>
              </a:ext>
            </a:extLst>
          </p:cNvPr>
          <p:cNvSpPr/>
          <p:nvPr/>
        </p:nvSpPr>
        <p:spPr>
          <a:xfrm>
            <a:off x="3695700" y="5341620"/>
            <a:ext cx="8343900" cy="5867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7917B706-36EF-70F0-97E1-558AB68CE6E1}"/>
              </a:ext>
            </a:extLst>
          </p:cNvPr>
          <p:cNvCxnSpPr>
            <a:stCxn id="12" idx="1"/>
          </p:cNvCxnSpPr>
          <p:nvPr/>
        </p:nvCxnSpPr>
        <p:spPr>
          <a:xfrm flipH="1">
            <a:off x="3098799" y="3509010"/>
            <a:ext cx="596901" cy="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304C730-66A1-9BB6-8413-BBBA1F924F41}"/>
              </a:ext>
            </a:extLst>
          </p:cNvPr>
          <p:cNvSpPr txBox="1"/>
          <p:nvPr/>
        </p:nvSpPr>
        <p:spPr>
          <a:xfrm>
            <a:off x="1249680" y="3278177"/>
            <a:ext cx="1969124" cy="461665"/>
          </a:xfrm>
          <a:prstGeom prst="rect">
            <a:avLst/>
          </a:prstGeom>
          <a:noFill/>
          <a:ln>
            <a:solidFill>
              <a:srgbClr val="FF0000"/>
            </a:solidFill>
          </a:ln>
        </p:spPr>
        <p:txBody>
          <a:bodyPr wrap="square">
            <a:spAutoFit/>
          </a:bodyPr>
          <a:lstStyle/>
          <a:p>
            <a:pPr algn="just"/>
            <a:r>
              <a:rPr lang="en-US" sz="2400">
                <a:latin typeface="Times New Roman" panose="02020603050405020304" pitchFamily="18" charset="0"/>
                <a:cs typeface="Times New Roman" panose="02020603050405020304" pitchFamily="18" charset="0"/>
              </a:rPr>
              <a:t>Truy suất file</a:t>
            </a:r>
            <a:endParaRPr lang="vi-VN" sz="24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F18B2A5-B672-A9EE-E0B7-46AE062E3493}"/>
              </a:ext>
            </a:extLst>
          </p:cNvPr>
          <p:cNvSpPr txBox="1"/>
          <p:nvPr/>
        </p:nvSpPr>
        <p:spPr>
          <a:xfrm>
            <a:off x="1249680" y="5409902"/>
            <a:ext cx="1969124" cy="461665"/>
          </a:xfrm>
          <a:prstGeom prst="rect">
            <a:avLst/>
          </a:prstGeom>
          <a:noFill/>
          <a:ln>
            <a:solidFill>
              <a:srgbClr val="FF0000"/>
            </a:solidFill>
          </a:ln>
        </p:spPr>
        <p:txBody>
          <a:bodyPr wrap="square">
            <a:spAutoFit/>
          </a:bodyPr>
          <a:lstStyle/>
          <a:p>
            <a:pPr algn="just"/>
            <a:r>
              <a:rPr lang="en-US" sz="2400">
                <a:latin typeface="Times New Roman" panose="02020603050405020304" pitchFamily="18" charset="0"/>
                <a:cs typeface="Times New Roman" panose="02020603050405020304" pitchFamily="18" charset="0"/>
              </a:rPr>
              <a:t>Tăng payload</a:t>
            </a:r>
            <a:endParaRPr lang="vi-VN" sz="2400" dirty="0">
              <a:latin typeface="Times New Roman" panose="02020603050405020304" pitchFamily="18" charset="0"/>
              <a:cs typeface="Times New Roman" panose="02020603050405020304" pitchFamily="18" charset="0"/>
            </a:endParaRPr>
          </a:p>
        </p:txBody>
      </p:sp>
      <p:cxnSp>
        <p:nvCxnSpPr>
          <p:cNvPr id="19" name="Straight Arrow Connector 18">
            <a:extLst>
              <a:ext uri="{FF2B5EF4-FFF2-40B4-BE49-F238E27FC236}">
                <a16:creationId xmlns:a16="http://schemas.microsoft.com/office/drawing/2014/main" id="{9CC07DF4-81C3-1117-940F-F6639B02E32E}"/>
              </a:ext>
            </a:extLst>
          </p:cNvPr>
          <p:cNvCxnSpPr/>
          <p:nvPr/>
        </p:nvCxnSpPr>
        <p:spPr>
          <a:xfrm flipH="1">
            <a:off x="3171389" y="5674445"/>
            <a:ext cx="596901" cy="5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53902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796A4DB-4349-3E5F-BB6F-3B1EC591675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121E615-1089-BE13-A911-B67770460F7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46FEBD0-181A-7FB8-C7BB-0E88FBFA8B4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grpSp>
        <p:nvGrpSpPr>
          <p:cNvPr id="2" name="Group 1">
            <a:extLst>
              <a:ext uri="{FF2B5EF4-FFF2-40B4-BE49-F238E27FC236}">
                <a16:creationId xmlns:a16="http://schemas.microsoft.com/office/drawing/2014/main" id="{34BD3359-E7D6-5DD9-A6D5-DE565242751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99EEEDD-0883-2BE2-B6AC-F30CC8AC3B8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5339062-410A-A65B-0531-038F972E9FA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F483DEA-CCD3-E545-DD0D-4ABDA9AE1A6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6DDB132-B164-4F1D-3488-4D967B9A937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68FB12B-7518-31E6-3C7B-F79E709FA5C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FCF829E-BB29-5F32-A662-8A46ABE6EE67}"/>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Hiệu chỉnh HTTP POST thêm mới Book</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9CD6E07-35B8-D786-F33A-A6B45BCC7520}"/>
              </a:ext>
            </a:extLst>
          </p:cNvPr>
          <p:cNvPicPr>
            <a:picLocks noChangeAspect="1"/>
          </p:cNvPicPr>
          <p:nvPr/>
        </p:nvPicPr>
        <p:blipFill>
          <a:blip r:embed="rId3"/>
          <a:stretch>
            <a:fillRect/>
          </a:stretch>
        </p:blipFill>
        <p:spPr>
          <a:xfrm>
            <a:off x="636692" y="1314262"/>
            <a:ext cx="9265920" cy="5103516"/>
          </a:xfrm>
          <a:prstGeom prst="rect">
            <a:avLst/>
          </a:prstGeom>
        </p:spPr>
      </p:pic>
    </p:spTree>
    <p:extLst>
      <p:ext uri="{BB962C8B-B14F-4D97-AF65-F5344CB8AC3E}">
        <p14:creationId xmlns:p14="http://schemas.microsoft.com/office/powerpoint/2010/main" val="12565356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FA6FCD-BAAF-136D-186C-55FE6EAD04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95381B3-0C65-1BEA-7901-41EFA173889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896EF88-007B-2D0E-1515-3E767344EB1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grpSp>
        <p:nvGrpSpPr>
          <p:cNvPr id="2" name="Group 1">
            <a:extLst>
              <a:ext uri="{FF2B5EF4-FFF2-40B4-BE49-F238E27FC236}">
                <a16:creationId xmlns:a16="http://schemas.microsoft.com/office/drawing/2014/main" id="{186832B7-4403-614B-EC2A-3DAC6625EEF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834C346-EFE6-8C6F-50BE-01C6FB09BECA}"/>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4C64F09-9C40-4BA0-5806-22CD9A258B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C46CC85-109F-0C78-9E61-B8F1F0A1EA6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A3F9F9A-96EC-BEC5-5C35-B4F2AFBD222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E1D5044-DFF2-BA36-DFCD-FAF4F9FF7E6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E2800FD-DA33-8556-1EC8-2EE3F8080FDA}"/>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Postman test HTTP POST thêm mới Book</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60E4C37-34E2-D457-F443-6616F8563066}"/>
              </a:ext>
            </a:extLst>
          </p:cNvPr>
          <p:cNvPicPr>
            <a:picLocks noChangeAspect="1"/>
          </p:cNvPicPr>
          <p:nvPr/>
        </p:nvPicPr>
        <p:blipFill>
          <a:blip r:embed="rId3"/>
          <a:stretch>
            <a:fillRect/>
          </a:stretch>
        </p:blipFill>
        <p:spPr>
          <a:xfrm>
            <a:off x="388796" y="1270371"/>
            <a:ext cx="9822003" cy="5472259"/>
          </a:xfrm>
          <a:prstGeom prst="rect">
            <a:avLst/>
          </a:prstGeom>
        </p:spPr>
      </p:pic>
      <p:cxnSp>
        <p:nvCxnSpPr>
          <p:cNvPr id="13" name="Straight Arrow Connector 12">
            <a:extLst>
              <a:ext uri="{FF2B5EF4-FFF2-40B4-BE49-F238E27FC236}">
                <a16:creationId xmlns:a16="http://schemas.microsoft.com/office/drawing/2014/main" id="{8B4355C9-A903-DAEB-AAC8-76974D9ACA93}"/>
              </a:ext>
            </a:extLst>
          </p:cNvPr>
          <p:cNvCxnSpPr/>
          <p:nvPr/>
        </p:nvCxnSpPr>
        <p:spPr>
          <a:xfrm flipV="1">
            <a:off x="7370202" y="2514600"/>
            <a:ext cx="0" cy="4114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CD557A9-F31A-A7B2-864E-4F6940A6F5B3}"/>
              </a:ext>
            </a:extLst>
          </p:cNvPr>
          <p:cNvCxnSpPr/>
          <p:nvPr/>
        </p:nvCxnSpPr>
        <p:spPr>
          <a:xfrm flipV="1">
            <a:off x="2523882" y="2514600"/>
            <a:ext cx="0" cy="4114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C4D1658-BE30-D0F8-A63F-ABE9D0A4C80A}"/>
              </a:ext>
            </a:extLst>
          </p:cNvPr>
          <p:cNvCxnSpPr>
            <a:cxnSpLocks/>
          </p:cNvCxnSpPr>
          <p:nvPr/>
        </p:nvCxnSpPr>
        <p:spPr>
          <a:xfrm>
            <a:off x="4396740" y="4671060"/>
            <a:ext cx="0" cy="10287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93816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DC5D78C-BF76-E43E-0906-88262B55906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DBCF2EA-C1B6-0F89-A1C5-CFD1BB923C2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B1ADB34-6CCF-B908-3006-56222E4ED53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grpSp>
        <p:nvGrpSpPr>
          <p:cNvPr id="2" name="Group 1">
            <a:extLst>
              <a:ext uri="{FF2B5EF4-FFF2-40B4-BE49-F238E27FC236}">
                <a16:creationId xmlns:a16="http://schemas.microsoft.com/office/drawing/2014/main" id="{AE912D99-2B0E-64E6-4816-AD53C4CDCA1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624931B-C5A3-AAFA-004D-1056ACFA21E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D149B5B-977C-9227-1DE9-9ADFCC5C945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9A53D2-637E-D9F5-4358-9AD165C5659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5297B3D-1156-F2BB-2A35-58E979664A7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39953AF-9B33-235A-2A1B-50072FAFF9D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3921570-87E7-3BE1-5CFB-FA2A7FB68A88}"/>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my-app mở xem lại List Books, sách mới được tải ra như dưới đây </a:t>
            </a:r>
            <a:endParaRPr lang="vi-VN" sz="24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B922E17F-33C2-ACD0-4089-F13013EACB9F}"/>
              </a:ext>
            </a:extLst>
          </p:cNvPr>
          <p:cNvPicPr>
            <a:picLocks noChangeAspect="1"/>
          </p:cNvPicPr>
          <p:nvPr/>
        </p:nvPicPr>
        <p:blipFill>
          <a:blip r:embed="rId3"/>
          <a:stretch>
            <a:fillRect/>
          </a:stretch>
        </p:blipFill>
        <p:spPr>
          <a:xfrm>
            <a:off x="4282440" y="1247288"/>
            <a:ext cx="5276959" cy="5362664"/>
          </a:xfrm>
          <a:prstGeom prst="rect">
            <a:avLst/>
          </a:prstGeom>
        </p:spPr>
      </p:pic>
      <p:cxnSp>
        <p:nvCxnSpPr>
          <p:cNvPr id="18" name="Straight Arrow Connector 17">
            <a:extLst>
              <a:ext uri="{FF2B5EF4-FFF2-40B4-BE49-F238E27FC236}">
                <a16:creationId xmlns:a16="http://schemas.microsoft.com/office/drawing/2014/main" id="{EBCBD9AB-5160-4A82-78DD-A9FCE67EC5BF}"/>
              </a:ext>
            </a:extLst>
          </p:cNvPr>
          <p:cNvCxnSpPr/>
          <p:nvPr/>
        </p:nvCxnSpPr>
        <p:spPr>
          <a:xfrm>
            <a:off x="3496732" y="6202680"/>
            <a:ext cx="785708"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959941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61C4AA4-310C-E21E-CCEB-55F4E4EB590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4852ABC-52FE-83C5-DC76-A27279F4F28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83ACB64-40C3-3073-DC0A-04F2353694C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pSp>
        <p:nvGrpSpPr>
          <p:cNvPr id="2" name="Group 1">
            <a:extLst>
              <a:ext uri="{FF2B5EF4-FFF2-40B4-BE49-F238E27FC236}">
                <a16:creationId xmlns:a16="http://schemas.microsoft.com/office/drawing/2014/main" id="{98D2C3C5-3989-40E3-AAD7-4BD527C5078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4042032-7C22-D002-C078-FA51696314A1}"/>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F176781-29FD-4DC6-9F99-11A74568181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54A042C-0EB0-D9E0-0091-D2F67A484C8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78D4550-3AFA-CA44-1A9E-5081F431B1E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B026321-F5AB-47D0-4F58-618A13BECE2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82FEB05-183E-EADD-D4E3-EB4A5256022E}"/>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“my-app” triệu gọi API new Book, trong tập tin “Book.ts”, bổ sung lớp Book:</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6D22DE6-727C-99C8-8181-6BE33238CE1E}"/>
              </a:ext>
            </a:extLst>
          </p:cNvPr>
          <p:cNvPicPr>
            <a:picLocks noChangeAspect="1"/>
          </p:cNvPicPr>
          <p:nvPr/>
        </p:nvPicPr>
        <p:blipFill>
          <a:blip r:embed="rId3"/>
          <a:stretch>
            <a:fillRect/>
          </a:stretch>
        </p:blipFill>
        <p:spPr>
          <a:xfrm>
            <a:off x="3680191" y="1300812"/>
            <a:ext cx="5456190" cy="5128551"/>
          </a:xfrm>
          <a:prstGeom prst="rect">
            <a:avLst/>
          </a:prstGeom>
        </p:spPr>
      </p:pic>
    </p:spTree>
    <p:extLst>
      <p:ext uri="{BB962C8B-B14F-4D97-AF65-F5344CB8AC3E}">
        <p14:creationId xmlns:p14="http://schemas.microsoft.com/office/powerpoint/2010/main" val="262996241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48582E9-4729-85E2-2AD5-C316C9AF992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0CAEF5A-1189-73D2-9DDA-B67579A17C9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6C227E8-6F32-8F9D-DBF6-285506A159B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grpSp>
        <p:nvGrpSpPr>
          <p:cNvPr id="2" name="Group 1">
            <a:extLst>
              <a:ext uri="{FF2B5EF4-FFF2-40B4-BE49-F238E27FC236}">
                <a16:creationId xmlns:a16="http://schemas.microsoft.com/office/drawing/2014/main" id="{C5B05C50-B49C-25B7-1F28-DC55BEE6887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F699E245-C568-622B-523B-B3B46D70C09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5122E5D-267F-E24B-EB15-2BAF746F7FA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B219FEF-F6F2-052D-89D9-A1861F5ED29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9756460-2003-31EF-3968-EB7CA2BA214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8CE4562-C5F9-038A-A263-9EEE12C963A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7CF0CF4-1526-5094-7CEE-23CA492FCE2D}"/>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Trong tập tin “book-api.service.ts”, Bổ sung mã lệnh cho BookAPIService</a:t>
            </a:r>
            <a:endParaRPr lang="vi-V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9DBD3DA-2AD7-A04A-03B6-81CAE85901BA}"/>
              </a:ext>
            </a:extLst>
          </p:cNvPr>
          <p:cNvPicPr>
            <a:picLocks noChangeAspect="1"/>
          </p:cNvPicPr>
          <p:nvPr/>
        </p:nvPicPr>
        <p:blipFill>
          <a:blip r:embed="rId3"/>
          <a:stretch>
            <a:fillRect/>
          </a:stretch>
        </p:blipFill>
        <p:spPr>
          <a:xfrm>
            <a:off x="610111" y="1301610"/>
            <a:ext cx="11119610" cy="5024036"/>
          </a:xfrm>
          <a:prstGeom prst="rect">
            <a:avLst/>
          </a:prstGeom>
        </p:spPr>
      </p:pic>
    </p:spTree>
    <p:extLst>
      <p:ext uri="{BB962C8B-B14F-4D97-AF65-F5344CB8AC3E}">
        <p14:creationId xmlns:p14="http://schemas.microsoft.com/office/powerpoint/2010/main" val="24236695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A0CA472-7C3B-BEC6-5353-B718129B5DC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D24B134-FCBD-26D5-16AA-86360AE6B58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3405056-9E81-7142-0BAF-9D4B6E284E2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grpSp>
        <p:nvGrpSpPr>
          <p:cNvPr id="2" name="Group 1">
            <a:extLst>
              <a:ext uri="{FF2B5EF4-FFF2-40B4-BE49-F238E27FC236}">
                <a16:creationId xmlns:a16="http://schemas.microsoft.com/office/drawing/2014/main" id="{B072B8E2-45E7-BAB9-17F3-B3D1F1D4097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32FDA86-59D4-8B8B-2875-A7FAEEF6EFDD}"/>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F25E3BF-3D10-E2B8-B3AA-EFB01B538EF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ACD79E-6D81-39D1-2BEA-42D1C6F49D7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6CC64D5-CA70-F6C7-873E-01A81120B0B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ABCF5BD-E7DA-4F0A-48B9-415674B14C3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CEF41E5-5E83-669D-7F32-E5628D443843}"/>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Tạo thêm component </a:t>
            </a:r>
            <a:r>
              <a:rPr lang="en-US" sz="2400" b="1">
                <a:latin typeface="Times New Roman" panose="02020603050405020304" pitchFamily="18" charset="0"/>
                <a:cs typeface="Times New Roman" panose="02020603050405020304" pitchFamily="18" charset="0"/>
              </a:rPr>
              <a:t>BookNewComponent</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CF36B9C-570A-8602-54FE-E6CD40AD36C2}"/>
              </a:ext>
            </a:extLst>
          </p:cNvPr>
          <p:cNvPicPr>
            <a:picLocks noChangeAspect="1"/>
          </p:cNvPicPr>
          <p:nvPr/>
        </p:nvPicPr>
        <p:blipFill>
          <a:blip r:embed="rId3"/>
          <a:stretch>
            <a:fillRect/>
          </a:stretch>
        </p:blipFill>
        <p:spPr>
          <a:xfrm>
            <a:off x="662791" y="1354535"/>
            <a:ext cx="3444538" cy="2057578"/>
          </a:xfrm>
          <a:prstGeom prst="rect">
            <a:avLst/>
          </a:prstGeom>
        </p:spPr>
      </p:pic>
      <p:pic>
        <p:nvPicPr>
          <p:cNvPr id="13" name="Picture 12">
            <a:extLst>
              <a:ext uri="{FF2B5EF4-FFF2-40B4-BE49-F238E27FC236}">
                <a16:creationId xmlns:a16="http://schemas.microsoft.com/office/drawing/2014/main" id="{57316FD1-A027-417C-50A3-4E209C3D5F18}"/>
              </a:ext>
            </a:extLst>
          </p:cNvPr>
          <p:cNvPicPr>
            <a:picLocks noChangeAspect="1"/>
          </p:cNvPicPr>
          <p:nvPr/>
        </p:nvPicPr>
        <p:blipFill>
          <a:blip r:embed="rId4"/>
          <a:stretch>
            <a:fillRect/>
          </a:stretch>
        </p:blipFill>
        <p:spPr>
          <a:xfrm>
            <a:off x="5848121" y="1592421"/>
            <a:ext cx="5281118" cy="807790"/>
          </a:xfrm>
          <a:prstGeom prst="rect">
            <a:avLst/>
          </a:prstGeom>
        </p:spPr>
      </p:pic>
      <p:pic>
        <p:nvPicPr>
          <p:cNvPr id="15" name="Picture 14">
            <a:extLst>
              <a:ext uri="{FF2B5EF4-FFF2-40B4-BE49-F238E27FC236}">
                <a16:creationId xmlns:a16="http://schemas.microsoft.com/office/drawing/2014/main" id="{C7FB7329-C563-0E1C-E6BC-9512EBB18E10}"/>
              </a:ext>
            </a:extLst>
          </p:cNvPr>
          <p:cNvPicPr>
            <a:picLocks noChangeAspect="1"/>
          </p:cNvPicPr>
          <p:nvPr/>
        </p:nvPicPr>
        <p:blipFill>
          <a:blip r:embed="rId5"/>
          <a:stretch>
            <a:fillRect/>
          </a:stretch>
        </p:blipFill>
        <p:spPr>
          <a:xfrm>
            <a:off x="5741395" y="3754325"/>
            <a:ext cx="6332769" cy="2583404"/>
          </a:xfrm>
          <a:prstGeom prst="rect">
            <a:avLst/>
          </a:prstGeom>
        </p:spPr>
      </p:pic>
      <p:pic>
        <p:nvPicPr>
          <p:cNvPr id="19" name="Picture 18">
            <a:extLst>
              <a:ext uri="{FF2B5EF4-FFF2-40B4-BE49-F238E27FC236}">
                <a16:creationId xmlns:a16="http://schemas.microsoft.com/office/drawing/2014/main" id="{350F38F6-2546-3E89-AE80-E1D13A4811DA}"/>
              </a:ext>
            </a:extLst>
          </p:cNvPr>
          <p:cNvPicPr>
            <a:picLocks noChangeAspect="1"/>
          </p:cNvPicPr>
          <p:nvPr/>
        </p:nvPicPr>
        <p:blipFill>
          <a:blip r:embed="rId6"/>
          <a:stretch>
            <a:fillRect/>
          </a:stretch>
        </p:blipFill>
        <p:spPr>
          <a:xfrm>
            <a:off x="982858" y="3754325"/>
            <a:ext cx="2804403" cy="2377646"/>
          </a:xfrm>
          <a:prstGeom prst="rect">
            <a:avLst/>
          </a:prstGeom>
        </p:spPr>
      </p:pic>
      <p:cxnSp>
        <p:nvCxnSpPr>
          <p:cNvPr id="20" name="Connector: Elbow 19">
            <a:extLst>
              <a:ext uri="{FF2B5EF4-FFF2-40B4-BE49-F238E27FC236}">
                <a16:creationId xmlns:a16="http://schemas.microsoft.com/office/drawing/2014/main" id="{78A1786F-F5C5-E10D-24E7-ACFAE63BE396}"/>
              </a:ext>
            </a:extLst>
          </p:cNvPr>
          <p:cNvCxnSpPr/>
          <p:nvPr/>
        </p:nvCxnSpPr>
        <p:spPr>
          <a:xfrm flipV="1">
            <a:off x="4176346" y="2356261"/>
            <a:ext cx="4651661" cy="84413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2337B05-E6B7-2D15-25C8-99A63FF7EE2C}"/>
              </a:ext>
            </a:extLst>
          </p:cNvPr>
          <p:cNvCxnSpPr/>
          <p:nvPr/>
        </p:nvCxnSpPr>
        <p:spPr>
          <a:xfrm>
            <a:off x="10216662" y="2356261"/>
            <a:ext cx="0" cy="15369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7AE6C95-7A19-3E17-A8F3-F868AB7AC3B4}"/>
              </a:ext>
            </a:extLst>
          </p:cNvPr>
          <p:cNvCxnSpPr/>
          <p:nvPr/>
        </p:nvCxnSpPr>
        <p:spPr>
          <a:xfrm flipH="1">
            <a:off x="3760843" y="5222631"/>
            <a:ext cx="20038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015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8D733D7-E2EA-E0BC-9FE7-C15D5C2A5EC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229ED3B-6C4C-5CD4-C8A9-E24D5317FF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8FA76BE-03B8-F198-D37B-C45A63F92B9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grpSp>
        <p:nvGrpSpPr>
          <p:cNvPr id="2" name="Group 1">
            <a:extLst>
              <a:ext uri="{FF2B5EF4-FFF2-40B4-BE49-F238E27FC236}">
                <a16:creationId xmlns:a16="http://schemas.microsoft.com/office/drawing/2014/main" id="{44CC5667-26EC-C251-97E3-5D1CC6027FFE}"/>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ED8E557-B86C-2909-6BF1-CDC979BA42D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8880CBF-6262-34E7-1A93-46D9CBF4EF7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E00EC75-62A3-D3DF-3779-B519D22E34F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9BF2B49-37E7-1540-5EFD-F265B8980AC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409C65D-F7B7-ADA0-A272-68B3C51CBB6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713AC32-6DD6-0A68-D653-C6E0F0834FAF}"/>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a:t>
            </a:r>
            <a:r>
              <a:rPr lang="en-US" sz="2400" b="1">
                <a:latin typeface="Times New Roman" panose="02020603050405020304" pitchFamily="18" charset="0"/>
                <a:cs typeface="Times New Roman" panose="02020603050405020304" pitchFamily="18" charset="0"/>
              </a:rPr>
              <a:t>BookNewComponent.ts</a:t>
            </a:r>
            <a:endParaRPr lang="vi-VN" sz="24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34C0ED0-AC33-9A56-F07C-1D9870035B2A}"/>
              </a:ext>
            </a:extLst>
          </p:cNvPr>
          <p:cNvPicPr>
            <a:picLocks noChangeAspect="1"/>
          </p:cNvPicPr>
          <p:nvPr/>
        </p:nvPicPr>
        <p:blipFill>
          <a:blip r:embed="rId3"/>
          <a:stretch>
            <a:fillRect/>
          </a:stretch>
        </p:blipFill>
        <p:spPr>
          <a:xfrm>
            <a:off x="307502" y="1354535"/>
            <a:ext cx="11385267" cy="4077053"/>
          </a:xfrm>
          <a:prstGeom prst="rect">
            <a:avLst/>
          </a:prstGeom>
        </p:spPr>
      </p:pic>
    </p:spTree>
    <p:extLst>
      <p:ext uri="{BB962C8B-B14F-4D97-AF65-F5344CB8AC3E}">
        <p14:creationId xmlns:p14="http://schemas.microsoft.com/office/powerpoint/2010/main" val="22270247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61D0ABB-B465-3A91-0EB3-EB1352B318E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8F80E2A-220A-F3A2-D208-307F5AF7E61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410FFA0-A58F-D7A7-0617-7AFFCBABF82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grpSp>
        <p:nvGrpSpPr>
          <p:cNvPr id="2" name="Group 1">
            <a:extLst>
              <a:ext uri="{FF2B5EF4-FFF2-40B4-BE49-F238E27FC236}">
                <a16:creationId xmlns:a16="http://schemas.microsoft.com/office/drawing/2014/main" id="{4BFA5061-83A8-0D09-815C-5C098E99B29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C37CBA9-A980-614A-D607-CA7BC55150B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8ED14A5-F34F-3B17-1F93-9BEB874C225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15D6748-A2AD-86D7-2A19-04F1E7FAAA5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D49DBFD-02D9-85EB-9142-2F9EA9686E2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6800943-3801-9677-8F7C-1154CDD7FD7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55DD796-94F9-29B0-684E-F7BF4B8EB757}"/>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a:t>
            </a:r>
            <a:r>
              <a:rPr lang="en-US" sz="2400" b="1">
                <a:latin typeface="Times New Roman" panose="02020603050405020304" pitchFamily="18" charset="0"/>
                <a:cs typeface="Times New Roman" panose="02020603050405020304" pitchFamily="18" charset="0"/>
              </a:rPr>
              <a:t>BookNewComponent.ts</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BBF80A5-A6A0-808C-7D68-1BE0C4FA5EF9}"/>
              </a:ext>
            </a:extLst>
          </p:cNvPr>
          <p:cNvPicPr>
            <a:picLocks noChangeAspect="1"/>
          </p:cNvPicPr>
          <p:nvPr/>
        </p:nvPicPr>
        <p:blipFill>
          <a:blip r:embed="rId3"/>
          <a:stretch>
            <a:fillRect/>
          </a:stretch>
        </p:blipFill>
        <p:spPr>
          <a:xfrm>
            <a:off x="415252" y="1293296"/>
            <a:ext cx="9923367" cy="5129287"/>
          </a:xfrm>
          <a:prstGeom prst="rect">
            <a:avLst/>
          </a:prstGeom>
        </p:spPr>
      </p:pic>
    </p:spTree>
    <p:extLst>
      <p:ext uri="{BB962C8B-B14F-4D97-AF65-F5344CB8AC3E}">
        <p14:creationId xmlns:p14="http://schemas.microsoft.com/office/powerpoint/2010/main" val="10515652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89CE797-DD3B-52B4-2FDC-C1BDFE938B3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D77824F-F9BB-5072-E4CC-576507AC443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EBF03FE-D740-166B-2805-AF87C0FF8350}"/>
              </a:ext>
            </a:extLst>
          </p:cNvPr>
          <p:cNvSpPr txBox="1">
            <a:spLocks noGrp="1"/>
          </p:cNvSpPr>
          <p:nvPr>
            <p:ph type="sldNum" idx="12"/>
          </p:nvPr>
        </p:nvSpPr>
        <p:spPr>
          <a:xfrm>
            <a:off x="2949677" y="6377505"/>
            <a:ext cx="54705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grpSp>
        <p:nvGrpSpPr>
          <p:cNvPr id="2" name="Group 1">
            <a:extLst>
              <a:ext uri="{FF2B5EF4-FFF2-40B4-BE49-F238E27FC236}">
                <a16:creationId xmlns:a16="http://schemas.microsoft.com/office/drawing/2014/main" id="{1873DB7C-9FDC-4095-3439-779BE9CD092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AF8B590-113E-C319-570E-9376180AFE5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A7621B7-AF40-29C6-4180-929EF4C2AE7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50A0BC-64FC-3820-B30A-E3F0C70D789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415FB33-FD2C-BD02-49A3-0D7CF289675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81A7085-F2E0-08FB-A756-39AACD58F0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E6B1F25-352B-2E38-B0CC-9F3CC7375F28}"/>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10: </a:t>
            </a:r>
            <a:r>
              <a:rPr lang="en-US" sz="2400" b="1">
                <a:latin typeface="Times New Roman" panose="02020603050405020304" pitchFamily="18" charset="0"/>
                <a:cs typeface="Times New Roman" panose="02020603050405020304" pitchFamily="18" charset="0"/>
              </a:rPr>
              <a:t>BookNewComponent.ts</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0C03649-041D-BA2F-27EC-D9E6D2E42677}"/>
              </a:ext>
            </a:extLst>
          </p:cNvPr>
          <p:cNvPicPr>
            <a:picLocks noChangeAspect="1"/>
          </p:cNvPicPr>
          <p:nvPr/>
        </p:nvPicPr>
        <p:blipFill>
          <a:blip r:embed="rId3"/>
          <a:stretch>
            <a:fillRect/>
          </a:stretch>
        </p:blipFill>
        <p:spPr>
          <a:xfrm>
            <a:off x="603479" y="1302678"/>
            <a:ext cx="8039076" cy="4997944"/>
          </a:xfrm>
          <a:prstGeom prst="rect">
            <a:avLst/>
          </a:prstGeom>
        </p:spPr>
      </p:pic>
    </p:spTree>
    <p:extLst>
      <p:ext uri="{BB962C8B-B14F-4D97-AF65-F5344CB8AC3E}">
        <p14:creationId xmlns:p14="http://schemas.microsoft.com/office/powerpoint/2010/main" val="166603460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CC7F972-AEED-5B9C-380F-9ADD84EA94F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394C0CE-06D2-FCF6-AEBF-3840638A00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26D1091-81AA-7FC0-3287-8D0205ADC692}"/>
              </a:ext>
            </a:extLst>
          </p:cNvPr>
          <p:cNvSpPr txBox="1">
            <a:spLocks noGrp="1"/>
          </p:cNvSpPr>
          <p:nvPr>
            <p:ph type="sldNum" idx="12"/>
          </p:nvPr>
        </p:nvSpPr>
        <p:spPr>
          <a:xfrm>
            <a:off x="3038169" y="6377505"/>
            <a:ext cx="458564"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grpSp>
        <p:nvGrpSpPr>
          <p:cNvPr id="2" name="Group 1">
            <a:extLst>
              <a:ext uri="{FF2B5EF4-FFF2-40B4-BE49-F238E27FC236}">
                <a16:creationId xmlns:a16="http://schemas.microsoft.com/office/drawing/2014/main" id="{2CAB68C3-8957-8A8C-D72C-3E26EC6F25D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F0EA830-5B84-8F3D-CD52-8B8E2F618BA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B8B867E-949B-5ADF-A64B-25479E30F6D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68B0E59-AAF2-4631-1EC2-D17D2478084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B5AB186-8522-9BAD-6781-09B5F21D538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8248EDA-24F1-2864-9A96-082A46D1BE9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DD63EF3-5113-FF6A-912C-676A7AD321C5}"/>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a:t>
            </a:r>
            <a:r>
              <a:rPr lang="en-US" sz="2400" b="1">
                <a:latin typeface="Times New Roman" panose="02020603050405020304" pitchFamily="18" charset="0"/>
                <a:cs typeface="Times New Roman" panose="02020603050405020304" pitchFamily="18" charset="0"/>
              </a:rPr>
              <a:t>BookNewComponent.html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54EE005-B293-F34C-620C-CE0C416AFFA8}"/>
              </a:ext>
            </a:extLst>
          </p:cNvPr>
          <p:cNvPicPr>
            <a:picLocks noChangeAspect="1"/>
          </p:cNvPicPr>
          <p:nvPr/>
        </p:nvPicPr>
        <p:blipFill>
          <a:blip r:embed="rId3"/>
          <a:stretch>
            <a:fillRect/>
          </a:stretch>
        </p:blipFill>
        <p:spPr>
          <a:xfrm>
            <a:off x="97544" y="1260011"/>
            <a:ext cx="11575805" cy="5098939"/>
          </a:xfrm>
          <a:prstGeom prst="rect">
            <a:avLst/>
          </a:prstGeom>
        </p:spPr>
      </p:pic>
    </p:spTree>
    <p:extLst>
      <p:ext uri="{BB962C8B-B14F-4D97-AF65-F5344CB8AC3E}">
        <p14:creationId xmlns:p14="http://schemas.microsoft.com/office/powerpoint/2010/main" val="41308304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35E30C0-1FA8-1997-E07C-C1C731AED84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F1BCBA4-6425-C4FE-FDB8-399ECFD23AE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624E40B-1F50-43AF-314B-291BC2F6AC73}"/>
              </a:ext>
            </a:extLst>
          </p:cNvPr>
          <p:cNvSpPr txBox="1">
            <a:spLocks noGrp="1"/>
          </p:cNvSpPr>
          <p:nvPr>
            <p:ph type="sldNum" idx="12"/>
          </p:nvPr>
        </p:nvSpPr>
        <p:spPr>
          <a:xfrm>
            <a:off x="3038169" y="6377505"/>
            <a:ext cx="458564"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102</a:t>
            </a:fld>
            <a:endParaRPr/>
          </a:p>
        </p:txBody>
      </p:sp>
      <p:grpSp>
        <p:nvGrpSpPr>
          <p:cNvPr id="2" name="Group 1">
            <a:extLst>
              <a:ext uri="{FF2B5EF4-FFF2-40B4-BE49-F238E27FC236}">
                <a16:creationId xmlns:a16="http://schemas.microsoft.com/office/drawing/2014/main" id="{5496AB3E-2BC0-60F9-2FC7-9A18B3423BC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21AE350-7309-D78A-F078-B314A06D977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9B8506C-A703-2615-A2C2-ADBBCF09640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176E944-E062-71E7-672E-10349BBA751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ED94896-8E82-7AD4-BE90-BC6940CCEFE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4F5421B-3D71-4A40-038E-791110C147E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08F534C-AEAD-A331-B997-6B1B7C4C799D}"/>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a:t>
            </a:r>
            <a:r>
              <a:rPr lang="en-US" sz="2400" b="1">
                <a:latin typeface="Times New Roman" panose="02020603050405020304" pitchFamily="18" charset="0"/>
                <a:cs typeface="Times New Roman" panose="02020603050405020304" pitchFamily="18" charset="0"/>
              </a:rPr>
              <a:t>BookNewComponent.html</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7430E3C-07A5-9EB2-3AA6-57CBA3E96316}"/>
              </a:ext>
            </a:extLst>
          </p:cNvPr>
          <p:cNvPicPr>
            <a:picLocks noChangeAspect="1"/>
          </p:cNvPicPr>
          <p:nvPr/>
        </p:nvPicPr>
        <p:blipFill>
          <a:blip r:embed="rId3"/>
          <a:stretch>
            <a:fillRect/>
          </a:stretch>
        </p:blipFill>
        <p:spPr>
          <a:xfrm>
            <a:off x="90169" y="1354534"/>
            <a:ext cx="11669196" cy="5048899"/>
          </a:xfrm>
          <a:prstGeom prst="rect">
            <a:avLst/>
          </a:prstGeom>
        </p:spPr>
      </p:pic>
    </p:spTree>
    <p:extLst>
      <p:ext uri="{BB962C8B-B14F-4D97-AF65-F5344CB8AC3E}">
        <p14:creationId xmlns:p14="http://schemas.microsoft.com/office/powerpoint/2010/main" val="8549319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F4E086A-47DC-160E-94D9-1FC4511D87B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3E8D3FE-AA4A-CE97-100F-770513241EF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8D49565-B8F1-52F6-5306-170E8ECFDA87}"/>
              </a:ext>
            </a:extLst>
          </p:cNvPr>
          <p:cNvSpPr txBox="1">
            <a:spLocks noGrp="1"/>
          </p:cNvSpPr>
          <p:nvPr>
            <p:ph type="sldNum" idx="12"/>
          </p:nvPr>
        </p:nvSpPr>
        <p:spPr>
          <a:xfrm>
            <a:off x="3038169" y="6377505"/>
            <a:ext cx="458564"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grpSp>
        <p:nvGrpSpPr>
          <p:cNvPr id="2" name="Group 1">
            <a:extLst>
              <a:ext uri="{FF2B5EF4-FFF2-40B4-BE49-F238E27FC236}">
                <a16:creationId xmlns:a16="http://schemas.microsoft.com/office/drawing/2014/main" id="{A59A4FB5-7E16-DD0A-D23D-380266B40A0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ECD364E-D7A6-7941-C77D-BB09C975161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243BD8E-FA62-B0EA-4AAF-DB9E67477C4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D55C6EC-FD41-B06B-5FB9-9E1BBC988AC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F1F9335-ACD4-1897-A6FD-49129F119C7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E01E70E-1551-2A44-2F83-F826A4FF5CF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04FDC5-9398-D45B-EFC2-C74FBCAF7721}"/>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11: </a:t>
            </a:r>
            <a:r>
              <a:rPr lang="en-US" sz="2400" b="1">
                <a:latin typeface="Times New Roman" panose="02020603050405020304" pitchFamily="18" charset="0"/>
                <a:cs typeface="Times New Roman" panose="02020603050405020304" pitchFamily="18" charset="0"/>
              </a:rPr>
              <a:t>BookNewComponent.html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F99B167-5E0A-9EB5-A7E1-755ECCF424EE}"/>
              </a:ext>
            </a:extLst>
          </p:cNvPr>
          <p:cNvPicPr>
            <a:picLocks noChangeAspect="1"/>
          </p:cNvPicPr>
          <p:nvPr/>
        </p:nvPicPr>
        <p:blipFill>
          <a:blip r:embed="rId3"/>
          <a:stretch>
            <a:fillRect/>
          </a:stretch>
        </p:blipFill>
        <p:spPr>
          <a:xfrm>
            <a:off x="462279" y="1302677"/>
            <a:ext cx="8833196" cy="5117456"/>
          </a:xfrm>
          <a:prstGeom prst="rect">
            <a:avLst/>
          </a:prstGeom>
        </p:spPr>
      </p:pic>
    </p:spTree>
    <p:extLst>
      <p:ext uri="{BB962C8B-B14F-4D97-AF65-F5344CB8AC3E}">
        <p14:creationId xmlns:p14="http://schemas.microsoft.com/office/powerpoint/2010/main" val="367036019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5460794-1C65-00A5-B7B1-C400DD2E648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8EB961B-7194-7986-478E-14CC147D9DD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D0749A7-F431-E903-0494-9C85C0E6D8F6}"/>
              </a:ext>
            </a:extLst>
          </p:cNvPr>
          <p:cNvSpPr txBox="1">
            <a:spLocks noGrp="1"/>
          </p:cNvSpPr>
          <p:nvPr>
            <p:ph type="sldNum" idx="12"/>
          </p:nvPr>
        </p:nvSpPr>
        <p:spPr>
          <a:xfrm>
            <a:off x="3038169" y="6377505"/>
            <a:ext cx="458564"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104</a:t>
            </a:fld>
            <a:endParaRPr/>
          </a:p>
        </p:txBody>
      </p:sp>
      <p:grpSp>
        <p:nvGrpSpPr>
          <p:cNvPr id="2" name="Group 1">
            <a:extLst>
              <a:ext uri="{FF2B5EF4-FFF2-40B4-BE49-F238E27FC236}">
                <a16:creationId xmlns:a16="http://schemas.microsoft.com/office/drawing/2014/main" id="{99089938-9DF9-2635-8170-E5FBCF46214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0DE5673-7911-0E25-7032-B81FFF88E18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775D680-CE05-1B39-8C11-14C5B89F456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29D5CCF-9066-8717-0478-13CDCB51961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AC899AA-AEE6-07AE-F78C-464C17BA940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A412AE5-5AE4-6A1D-FB79-4998847A516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5609370-9CCA-31A1-D717-CF26A94F74E9}"/>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12: Cấu hình routing cho </a:t>
            </a:r>
            <a:r>
              <a:rPr lang="en-US" sz="2400" b="1">
                <a:latin typeface="Times New Roman" panose="02020603050405020304" pitchFamily="18" charset="0"/>
                <a:cs typeface="Times New Roman" panose="02020603050405020304" pitchFamily="18" charset="0"/>
              </a:rPr>
              <a:t>BookNewComponent</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40928D5-A887-3331-5C8A-0450009BB1BE}"/>
              </a:ext>
            </a:extLst>
          </p:cNvPr>
          <p:cNvPicPr>
            <a:picLocks noChangeAspect="1"/>
          </p:cNvPicPr>
          <p:nvPr/>
        </p:nvPicPr>
        <p:blipFill>
          <a:blip r:embed="rId3"/>
          <a:stretch>
            <a:fillRect/>
          </a:stretch>
        </p:blipFill>
        <p:spPr>
          <a:xfrm>
            <a:off x="0" y="1354535"/>
            <a:ext cx="12192000" cy="4378138"/>
          </a:xfrm>
          <a:prstGeom prst="rect">
            <a:avLst/>
          </a:prstGeom>
        </p:spPr>
      </p:pic>
    </p:spTree>
    <p:extLst>
      <p:ext uri="{BB962C8B-B14F-4D97-AF65-F5344CB8AC3E}">
        <p14:creationId xmlns:p14="http://schemas.microsoft.com/office/powerpoint/2010/main" val="350288954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15F4DE1-21E5-3A3A-B439-9616F3C32B9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F843AE7-68D0-4ADA-34AB-DAC5A6D4ADC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D439169-20B1-DA66-45B9-27A6717BB35B}"/>
              </a:ext>
            </a:extLst>
          </p:cNvPr>
          <p:cNvSpPr txBox="1">
            <a:spLocks noGrp="1"/>
          </p:cNvSpPr>
          <p:nvPr>
            <p:ph type="sldNum" idx="12"/>
          </p:nvPr>
        </p:nvSpPr>
        <p:spPr>
          <a:xfrm>
            <a:off x="3038169" y="6377505"/>
            <a:ext cx="458564"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105</a:t>
            </a:fld>
            <a:endParaRPr/>
          </a:p>
        </p:txBody>
      </p:sp>
      <p:grpSp>
        <p:nvGrpSpPr>
          <p:cNvPr id="2" name="Group 1">
            <a:extLst>
              <a:ext uri="{FF2B5EF4-FFF2-40B4-BE49-F238E27FC236}">
                <a16:creationId xmlns:a16="http://schemas.microsoft.com/office/drawing/2014/main" id="{CE4D6BDB-9CFF-0B74-A013-DB093D6A6BD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95627C3-1D85-E211-F882-699D9B18AF0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6F65EC7-0037-FBFF-E201-7B21008DF71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890D206-5D36-0166-93A2-21EA5C13B3A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91A2A0F-754D-6A40-8C35-07EE527F212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2326440-3BDF-836C-BB26-AF68C0FAEA9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00B4B55-8B90-7301-F1DF-953B4B391AC7}"/>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13: app.html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AD4AAE1-1CEF-DE11-DD1E-15D71900350E}"/>
              </a:ext>
            </a:extLst>
          </p:cNvPr>
          <p:cNvPicPr>
            <a:picLocks noChangeAspect="1"/>
          </p:cNvPicPr>
          <p:nvPr/>
        </p:nvPicPr>
        <p:blipFill>
          <a:blip r:embed="rId3"/>
          <a:stretch>
            <a:fillRect/>
          </a:stretch>
        </p:blipFill>
        <p:spPr>
          <a:xfrm>
            <a:off x="1386565" y="1406614"/>
            <a:ext cx="9182896" cy="4359018"/>
          </a:xfrm>
          <a:prstGeom prst="rect">
            <a:avLst/>
          </a:prstGeom>
        </p:spPr>
      </p:pic>
    </p:spTree>
    <p:extLst>
      <p:ext uri="{BB962C8B-B14F-4D97-AF65-F5344CB8AC3E}">
        <p14:creationId xmlns:p14="http://schemas.microsoft.com/office/powerpoint/2010/main" val="6001095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E3ED2C4-811C-B809-994D-9C73DC55B9E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604A7D7-6786-754C-C86C-5C3118D3E5D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3CEE371-30F0-373E-8F95-78AFD0698A1B}"/>
              </a:ext>
            </a:extLst>
          </p:cNvPr>
          <p:cNvSpPr txBox="1">
            <a:spLocks noGrp="1"/>
          </p:cNvSpPr>
          <p:nvPr>
            <p:ph type="sldNum" idx="12"/>
          </p:nvPr>
        </p:nvSpPr>
        <p:spPr>
          <a:xfrm>
            <a:off x="3038169" y="6377505"/>
            <a:ext cx="458564"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106</a:t>
            </a:fld>
            <a:endParaRPr/>
          </a:p>
        </p:txBody>
      </p:sp>
      <p:grpSp>
        <p:nvGrpSpPr>
          <p:cNvPr id="2" name="Group 1">
            <a:extLst>
              <a:ext uri="{FF2B5EF4-FFF2-40B4-BE49-F238E27FC236}">
                <a16:creationId xmlns:a16="http://schemas.microsoft.com/office/drawing/2014/main" id="{BAA91A47-4F15-904E-23F9-0E5A79E5EDE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9536054-F886-43EF-EA23-C0D89B8489F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Restful API – HTTP POST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70D80D5-66EB-C1B9-35D6-82437AFC0CC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1673A79-EFE4-710B-38E7-9E6667C92C8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114B31F-3814-96A5-F3C7-F1BEA5BDD7B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F157185-75FC-FED8-7FF2-A8F708AD2C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5405EF1-F18E-4B19-58F1-9EC9AF584BB3}"/>
              </a:ext>
            </a:extLst>
          </p:cNvPr>
          <p:cNvSpPr txBox="1"/>
          <p:nvPr/>
        </p:nvSpPr>
        <p:spPr>
          <a:xfrm>
            <a:off x="462279" y="841012"/>
            <a:ext cx="1144778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14: Chạy chương trình</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0B42806-A416-A1C4-0DD5-A8E110A68E5E}"/>
              </a:ext>
            </a:extLst>
          </p:cNvPr>
          <p:cNvPicPr>
            <a:picLocks noChangeAspect="1"/>
          </p:cNvPicPr>
          <p:nvPr/>
        </p:nvPicPr>
        <p:blipFill>
          <a:blip r:embed="rId3"/>
          <a:stretch>
            <a:fillRect/>
          </a:stretch>
        </p:blipFill>
        <p:spPr>
          <a:xfrm>
            <a:off x="4814541" y="780516"/>
            <a:ext cx="4720292" cy="5779551"/>
          </a:xfrm>
          <a:prstGeom prst="rect">
            <a:avLst/>
          </a:prstGeom>
        </p:spPr>
      </p:pic>
      <p:cxnSp>
        <p:nvCxnSpPr>
          <p:cNvPr id="13" name="Straight Arrow Connector 12">
            <a:extLst>
              <a:ext uri="{FF2B5EF4-FFF2-40B4-BE49-F238E27FC236}">
                <a16:creationId xmlns:a16="http://schemas.microsoft.com/office/drawing/2014/main" id="{C192A467-8012-9559-7A16-C6FB03909615}"/>
              </a:ext>
            </a:extLst>
          </p:cNvPr>
          <p:cNvCxnSpPr/>
          <p:nvPr/>
        </p:nvCxnSpPr>
        <p:spPr>
          <a:xfrm>
            <a:off x="5080819" y="3721909"/>
            <a:ext cx="0" cy="23765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56631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B0044E7-C8EB-013A-9FF4-5A6F0AFCEB3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F3EF40C-559D-60A2-98CA-DF17E524CED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12E5516-ABA6-89BE-A260-9B936874D0EC}"/>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107</a:t>
            </a:fld>
            <a:endParaRPr/>
          </a:p>
        </p:txBody>
      </p:sp>
      <p:grpSp>
        <p:nvGrpSpPr>
          <p:cNvPr id="2" name="Group 1">
            <a:extLst>
              <a:ext uri="{FF2B5EF4-FFF2-40B4-BE49-F238E27FC236}">
                <a16:creationId xmlns:a16="http://schemas.microsoft.com/office/drawing/2014/main" id="{6040F3F1-8EE0-696C-6565-987AC7115697}"/>
              </a:ext>
            </a:extLst>
          </p:cNvPr>
          <p:cNvGrpSpPr/>
          <p:nvPr/>
        </p:nvGrpSpPr>
        <p:grpSpPr>
          <a:xfrm>
            <a:off x="214276" y="229075"/>
            <a:ext cx="5293641" cy="508000"/>
            <a:chOff x="789624" y="1191463"/>
            <a:chExt cx="5293641" cy="508000"/>
          </a:xfrm>
        </p:grpSpPr>
        <p:sp>
          <p:nvSpPr>
            <p:cNvPr id="3" name="AutoShape 52">
              <a:extLst>
                <a:ext uri="{FF2B5EF4-FFF2-40B4-BE49-F238E27FC236}">
                  <a16:creationId xmlns:a16="http://schemas.microsoft.com/office/drawing/2014/main" id="{3A0F2899-A0B8-736D-AE14-B69C8515C05D}"/>
                </a:ext>
              </a:extLst>
            </p:cNvPr>
            <p:cNvSpPr>
              <a:spLocks noChangeArrowheads="1"/>
            </p:cNvSpPr>
            <p:nvPr/>
          </p:nvSpPr>
          <p:spPr bwMode="gray">
            <a:xfrm>
              <a:off x="990600" y="1191463"/>
              <a:ext cx="5092665"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0552625-A47B-4694-76BD-902BD4C034C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583002-C02A-0AC4-7FE6-D43D02FF1C8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45AB716-C729-4621-2EBB-34FB9D38FA8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283E09E-CF9B-7F32-3CDD-80B17E33EC1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B954DF8-C18B-5AEE-25DB-46C7280A5576}"/>
              </a:ext>
            </a:extLst>
          </p:cNvPr>
          <p:cNvSpPr txBox="1"/>
          <p:nvPr/>
        </p:nvSpPr>
        <p:spPr>
          <a:xfrm>
            <a:off x="462280" y="841012"/>
            <a:ext cx="4839766" cy="3785652"/>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Bây giờ ta tiến hành viết API chỉnh sửa dữ liệu (HTTP PUT) </a:t>
            </a:r>
            <a:r>
              <a:rPr lang="vi-VN" sz="2400">
                <a:latin typeface="Times New Roman" panose="02020603050405020304" pitchFamily="18" charset="0"/>
                <a:cs typeface="Times New Roman" panose="02020603050405020304" pitchFamily="18" charset="0"/>
              </a:rPr>
              <a:t>và </a:t>
            </a:r>
            <a:r>
              <a:rPr lang="vi-VN" sz="2400" dirty="0">
                <a:latin typeface="Times New Roman" panose="02020603050405020304" pitchFamily="18" charset="0"/>
                <a:cs typeface="Times New Roman" panose="02020603050405020304" pitchFamily="18" charset="0"/>
              </a:rPr>
              <a:t>triệu </a:t>
            </a:r>
            <a:r>
              <a:rPr lang="vi-VN" sz="2400">
                <a:latin typeface="Times New Roman" panose="02020603050405020304" pitchFamily="18" charset="0"/>
                <a:cs typeface="Times New Roman" panose="02020603050405020304" pitchFamily="18" charset="0"/>
              </a:rPr>
              <a:t>gọi </a:t>
            </a:r>
            <a:r>
              <a:rPr lang="en-US" sz="2400">
                <a:latin typeface="Times New Roman" panose="02020603050405020304" pitchFamily="18" charset="0"/>
                <a:cs typeface="Times New Roman" panose="02020603050405020304" pitchFamily="18" charset="0"/>
              </a:rPr>
              <a:t>API này</a:t>
            </a:r>
          </a:p>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Giao diện có 2 phần: Phần chi tiết Book, và phần Danh sách Book, nhấn vào từng dòng trong Danh sách Book sẽ hiển thị Book đó vào phần chi tiết Book, nút Update để cập nhật dữ liệu mới cho Book đang chọn.</a:t>
            </a:r>
            <a:endParaRPr lang="vi-VN" sz="24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865DF52-106F-FFD9-68D3-9B3442CB4B50}"/>
              </a:ext>
            </a:extLst>
          </p:cNvPr>
          <p:cNvPicPr>
            <a:picLocks noChangeAspect="1"/>
          </p:cNvPicPr>
          <p:nvPr/>
        </p:nvPicPr>
        <p:blipFill>
          <a:blip r:embed="rId3"/>
          <a:stretch>
            <a:fillRect/>
          </a:stretch>
        </p:blipFill>
        <p:spPr>
          <a:xfrm>
            <a:off x="5532783" y="0"/>
            <a:ext cx="6659217" cy="6858000"/>
          </a:xfrm>
          <a:prstGeom prst="rect">
            <a:avLst/>
          </a:prstGeom>
        </p:spPr>
      </p:pic>
    </p:spTree>
    <p:extLst>
      <p:ext uri="{BB962C8B-B14F-4D97-AF65-F5344CB8AC3E}">
        <p14:creationId xmlns:p14="http://schemas.microsoft.com/office/powerpoint/2010/main" val="23293120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CE9F206-8D0E-52CB-4959-094253D8881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9F68776-82A8-A2CC-E350-BC8EB4659B9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F440875-C6DD-CCDC-99EC-15572C675AD2}"/>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108</a:t>
            </a:fld>
            <a:endParaRPr/>
          </a:p>
        </p:txBody>
      </p:sp>
      <p:grpSp>
        <p:nvGrpSpPr>
          <p:cNvPr id="2" name="Group 1">
            <a:extLst>
              <a:ext uri="{FF2B5EF4-FFF2-40B4-BE49-F238E27FC236}">
                <a16:creationId xmlns:a16="http://schemas.microsoft.com/office/drawing/2014/main" id="{620B70A0-0723-E7C4-8701-C045F86D0F3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9663F15-3ECB-A95D-7490-7EAC0BFC9560}"/>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19F3848-4A18-6D0B-145B-CAC434A7354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1F13A29-24E0-7AEE-2FC0-04358EAB246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ECC0CEE-A26A-A32F-34CA-F072405549A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9B7A705-F8E6-11B4-8D6B-49B14BD9E9A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F08CADF-C85D-2A2E-F5A9-9D4BB7D9EE7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1: Bổ sung API HTTP PUT cho Book vào cuối file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trong </a:t>
            </a:r>
            <a:r>
              <a:rPr lang="en-US" sz="2400" b="1">
                <a:latin typeface="Times New Roman" panose="02020603050405020304" pitchFamily="18" charset="0"/>
                <a:cs typeface="Times New Roman" panose="02020603050405020304" pitchFamily="18" charset="0"/>
              </a:rPr>
              <a:t>my-server</a:t>
            </a:r>
            <a:endParaRPr lang="vi-VN" sz="24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AAD86A3-41D2-168F-9EDA-0537C4A274FA}"/>
              </a:ext>
            </a:extLst>
          </p:cNvPr>
          <p:cNvPicPr>
            <a:picLocks noChangeAspect="1"/>
          </p:cNvPicPr>
          <p:nvPr/>
        </p:nvPicPr>
        <p:blipFill>
          <a:blip r:embed="rId3"/>
          <a:srcRect r="685"/>
          <a:stretch>
            <a:fillRect/>
          </a:stretch>
        </p:blipFill>
        <p:spPr>
          <a:xfrm>
            <a:off x="29496" y="1310051"/>
            <a:ext cx="12108426" cy="2961826"/>
          </a:xfrm>
          <a:prstGeom prst="rect">
            <a:avLst/>
          </a:prstGeom>
        </p:spPr>
      </p:pic>
    </p:spTree>
    <p:extLst>
      <p:ext uri="{BB962C8B-B14F-4D97-AF65-F5344CB8AC3E}">
        <p14:creationId xmlns:p14="http://schemas.microsoft.com/office/powerpoint/2010/main" val="7870213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29EDFB3-9F61-1F2E-0C16-3C8B8116A75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2CBA4E7-D896-52DB-9417-6E1E5EC8886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66EE4C1-335C-D4C6-5903-770AB10EDE35}"/>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109</a:t>
            </a:fld>
            <a:endParaRPr/>
          </a:p>
        </p:txBody>
      </p:sp>
      <p:grpSp>
        <p:nvGrpSpPr>
          <p:cNvPr id="2" name="Group 1">
            <a:extLst>
              <a:ext uri="{FF2B5EF4-FFF2-40B4-BE49-F238E27FC236}">
                <a16:creationId xmlns:a16="http://schemas.microsoft.com/office/drawing/2014/main" id="{7D34614B-608D-6F6E-CC5E-2C956BD5079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9BFCC78-47CA-C87E-7A39-8FCBF295ABF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D2596C6-ED70-3388-741C-395124273E3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93DD315-A0EE-AA64-75F0-3B488FA1FE1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F09E4EE-58B5-BDCE-9340-EBEF565AE90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0C2944A-A65B-BE97-0A37-2D39B1066F7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5A14D23-6CD7-F9EA-3F72-441F54B7F77C}"/>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1: Bổ sung API HTTP PUT cho Book vào cuối file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trong </a:t>
            </a:r>
            <a:r>
              <a:rPr lang="en-US" sz="2400" b="1">
                <a:latin typeface="Times New Roman" panose="02020603050405020304" pitchFamily="18" charset="0"/>
                <a:cs typeface="Times New Roman" panose="02020603050405020304" pitchFamily="18" charset="0"/>
              </a:rPr>
              <a:t>my-server</a:t>
            </a:r>
            <a:endParaRPr lang="vi-VN" sz="24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FA057A8C-1627-CF68-7B48-57B6FBA90228}"/>
              </a:ext>
            </a:extLst>
          </p:cNvPr>
          <p:cNvPicPr>
            <a:picLocks noChangeAspect="1"/>
          </p:cNvPicPr>
          <p:nvPr/>
        </p:nvPicPr>
        <p:blipFill>
          <a:blip r:embed="rId3"/>
          <a:srcRect/>
          <a:stretch/>
        </p:blipFill>
        <p:spPr>
          <a:xfrm>
            <a:off x="348355" y="1302677"/>
            <a:ext cx="11495290" cy="4623661"/>
          </a:xfrm>
          <a:prstGeom prst="rect">
            <a:avLst/>
          </a:prstGeom>
        </p:spPr>
      </p:pic>
    </p:spTree>
    <p:extLst>
      <p:ext uri="{BB962C8B-B14F-4D97-AF65-F5344CB8AC3E}">
        <p14:creationId xmlns:p14="http://schemas.microsoft.com/office/powerpoint/2010/main" val="28432135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F271EC7-E6FA-8AB5-F8A2-62B472CF04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7DC46D7-6173-0366-6FA6-91E67FD3A74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21EDD24-E4F2-85A6-545A-4362A7AD341E}"/>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110</a:t>
            </a:fld>
            <a:endParaRPr/>
          </a:p>
        </p:txBody>
      </p:sp>
      <p:grpSp>
        <p:nvGrpSpPr>
          <p:cNvPr id="2" name="Group 1">
            <a:extLst>
              <a:ext uri="{FF2B5EF4-FFF2-40B4-BE49-F238E27FC236}">
                <a16:creationId xmlns:a16="http://schemas.microsoft.com/office/drawing/2014/main" id="{FA363E58-E9EF-58D5-8A0D-BDCA9A057F99}"/>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6076C909-9B67-B573-DE28-6D95D94E565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F1651AA-4356-7F65-6A87-9633209410D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E282674-D572-BCE7-3FEC-F80D1484BB3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959338F-6304-D6EB-A543-941382E3396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D28EF8B-7A2D-CD96-0E00-8DDA27D31D8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373102F-1F8B-D745-AF21-93B8A63E66AA}"/>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1: Bổ sung API HTTP PUT cho Book vào cuối file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trong </a:t>
            </a:r>
            <a:r>
              <a:rPr lang="en-US" sz="2400" b="1">
                <a:latin typeface="Times New Roman" panose="02020603050405020304" pitchFamily="18" charset="0"/>
                <a:cs typeface="Times New Roman" panose="02020603050405020304" pitchFamily="18" charset="0"/>
              </a:rPr>
              <a:t>my-server</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002ADA7-D487-7126-72EA-BD0D36363169}"/>
              </a:ext>
            </a:extLst>
          </p:cNvPr>
          <p:cNvPicPr>
            <a:picLocks noChangeAspect="1"/>
          </p:cNvPicPr>
          <p:nvPr/>
        </p:nvPicPr>
        <p:blipFill>
          <a:blip r:embed="rId3"/>
          <a:stretch>
            <a:fillRect/>
          </a:stretch>
        </p:blipFill>
        <p:spPr>
          <a:xfrm>
            <a:off x="66368" y="1354535"/>
            <a:ext cx="12192000" cy="2585987"/>
          </a:xfrm>
          <a:prstGeom prst="rect">
            <a:avLst/>
          </a:prstGeom>
        </p:spPr>
      </p:pic>
    </p:spTree>
    <p:extLst>
      <p:ext uri="{BB962C8B-B14F-4D97-AF65-F5344CB8AC3E}">
        <p14:creationId xmlns:p14="http://schemas.microsoft.com/office/powerpoint/2010/main" val="331760851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CC11633-8B2F-8991-FB63-1A500B8288A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4F57C24-D6B9-01D1-FC4D-0CA3239ADDA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CB36826-E68E-49D1-6881-E168167EC250}"/>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111</a:t>
            </a:fld>
            <a:endParaRPr/>
          </a:p>
        </p:txBody>
      </p:sp>
      <p:grpSp>
        <p:nvGrpSpPr>
          <p:cNvPr id="2" name="Group 1">
            <a:extLst>
              <a:ext uri="{FF2B5EF4-FFF2-40B4-BE49-F238E27FC236}">
                <a16:creationId xmlns:a16="http://schemas.microsoft.com/office/drawing/2014/main" id="{AD2E533B-16F3-4E60-77F0-B38659527CC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7B8F87B-E7CF-C416-6206-F66C2452CCC6}"/>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58FE8DB-74BD-9455-65F3-B70789E8342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AC8533D-AB3D-29A6-1A17-0D1A31C515D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9A3CBB7-B54C-2A88-E4D2-80278DFA980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7C18E0F-67B5-763E-6CED-AC29ADDD9A8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50F392E0-1A11-40F5-D096-900F171B66F2}"/>
              </a:ext>
            </a:extLst>
          </p:cNvPr>
          <p:cNvSpPr txBox="1"/>
          <p:nvPr/>
        </p:nvSpPr>
        <p:spPr>
          <a:xfrm>
            <a:off x="154858" y="744449"/>
            <a:ext cx="11802334" cy="5678478"/>
          </a:xfrm>
          <a:prstGeom prst="rect">
            <a:avLst/>
          </a:prstGeom>
          <a:noFill/>
          <a:ln>
            <a:solidFill>
              <a:srgbClr val="002060"/>
            </a:solidFill>
          </a:ln>
        </p:spPr>
        <p:txBody>
          <a:bodyPr wrap="square">
            <a:spAutoFit/>
          </a:bodyPr>
          <a:lstStyle/>
          <a:p>
            <a:pPr>
              <a:buNone/>
            </a:pPr>
            <a:r>
              <a:rPr lang="en-US" sz="1100" b="0">
                <a:solidFill>
                  <a:srgbClr val="000000"/>
                </a:solidFill>
                <a:effectLst/>
                <a:latin typeface="Consolas" panose="020B0609020204030204" pitchFamily="49" charset="0"/>
              </a:rPr>
              <a:t>app.put(</a:t>
            </a:r>
            <a:r>
              <a:rPr lang="en-US" sz="1100" b="0">
                <a:solidFill>
                  <a:srgbClr val="A31515"/>
                </a:solidFill>
                <a:effectLst/>
                <a:latin typeface="Consolas" panose="020B0609020204030204" pitchFamily="49" charset="0"/>
              </a:rPr>
              <a:t>"/books"</a:t>
            </a:r>
            <a:r>
              <a:rPr lang="en-US" sz="1100" b="0">
                <a:solidFill>
                  <a:srgbClr val="000000"/>
                </a:solidFill>
                <a:effectLst/>
                <a:latin typeface="Consolas" panose="020B0609020204030204" pitchFamily="49" charset="0"/>
              </a:rPr>
              <a:t>, cors(), (req, res) </a:t>
            </a:r>
            <a:r>
              <a:rPr lang="en-US" sz="1100" b="0">
                <a:solidFill>
                  <a:srgbClr val="0000FF"/>
                </a:solidFill>
                <a:effectLst/>
                <a:latin typeface="Consolas" panose="020B0609020204030204" pitchFamily="49" charset="0"/>
              </a:rPr>
              <a:t>=&gt;</a:t>
            </a:r>
            <a:r>
              <a:rPr lang="en-US" sz="1100" b="0">
                <a:solidFill>
                  <a:srgbClr val="000000"/>
                </a:solidFill>
                <a:effectLst/>
                <a:latin typeface="Consolas" panose="020B0609020204030204" pitchFamily="49" charset="0"/>
              </a:rPr>
              <a:t> {</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let</a:t>
            </a:r>
            <a:r>
              <a:rPr lang="en-US" sz="1100" b="0">
                <a:solidFill>
                  <a:srgbClr val="000000"/>
                </a:solidFill>
                <a:effectLst/>
                <a:latin typeface="Consolas" panose="020B0609020204030204" pitchFamily="49" charset="0"/>
              </a:rPr>
              <a:t> updatedBook = req.body;</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1. Find the index of the book to update in the array</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const</a:t>
            </a:r>
            <a:r>
              <a:rPr lang="en-US" sz="1100" b="0">
                <a:solidFill>
                  <a:srgbClr val="000000"/>
                </a:solidFill>
                <a:effectLst/>
                <a:latin typeface="Consolas" panose="020B0609020204030204" pitchFamily="49" charset="0"/>
              </a:rPr>
              <a:t> index = database.findIndex(x </a:t>
            </a:r>
            <a:r>
              <a:rPr lang="en-US" sz="1100" b="0">
                <a:solidFill>
                  <a:srgbClr val="0000FF"/>
                </a:solidFill>
                <a:effectLst/>
                <a:latin typeface="Consolas" panose="020B0609020204030204" pitchFamily="49" charset="0"/>
              </a:rPr>
              <a:t>=&gt;</a:t>
            </a:r>
            <a:r>
              <a:rPr lang="en-US" sz="1100" b="0">
                <a:solidFill>
                  <a:srgbClr val="000000"/>
                </a:solidFill>
                <a:effectLst/>
                <a:latin typeface="Consolas" panose="020B0609020204030204" pitchFamily="49" charset="0"/>
              </a:rPr>
              <a:t> x.BookId === updatedBook.BookId);</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If the book is not found, return a 404 error</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if</a:t>
            </a:r>
            <a:r>
              <a:rPr lang="en-US" sz="1100" b="0">
                <a:solidFill>
                  <a:srgbClr val="000000"/>
                </a:solidFill>
                <a:effectLst/>
                <a:latin typeface="Consolas" panose="020B0609020204030204" pitchFamily="49" charset="0"/>
              </a:rPr>
              <a:t> (index === -</a:t>
            </a:r>
            <a:r>
              <a:rPr lang="en-US" sz="1100" b="0">
                <a:solidFill>
                  <a:srgbClr val="098658"/>
                </a:solidFill>
                <a:effectLst/>
                <a:latin typeface="Consolas" panose="020B0609020204030204" pitchFamily="49" charset="0"/>
              </a:rPr>
              <a:t>1</a:t>
            </a:r>
            <a:r>
              <a:rPr lang="en-US" sz="1100" b="0">
                <a:solidFill>
                  <a:srgbClr val="000000"/>
                </a:solidFill>
                <a:effectLst/>
                <a:latin typeface="Consolas" panose="020B0609020204030204" pitchFamily="49" charset="0"/>
              </a:rPr>
              <a:t>) {</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return</a:t>
            </a:r>
            <a:r>
              <a:rPr lang="en-US" sz="1100" b="0">
                <a:solidFill>
                  <a:srgbClr val="000000"/>
                </a:solidFill>
                <a:effectLst/>
                <a:latin typeface="Consolas" panose="020B0609020204030204" pitchFamily="49" charset="0"/>
              </a:rPr>
              <a:t> res.status(</a:t>
            </a:r>
            <a:r>
              <a:rPr lang="en-US" sz="1100" b="0">
                <a:solidFill>
                  <a:srgbClr val="098658"/>
                </a:solidFill>
                <a:effectLst/>
                <a:latin typeface="Consolas" panose="020B0609020204030204" pitchFamily="49" charset="0"/>
              </a:rPr>
              <a:t>404</a:t>
            </a:r>
            <a:r>
              <a:rPr lang="en-US" sz="1100" b="0">
                <a:solidFill>
                  <a:srgbClr val="000000"/>
                </a:solidFill>
                <a:effectLst/>
                <a:latin typeface="Consolas" panose="020B0609020204030204" pitchFamily="49" charset="0"/>
              </a:rPr>
              <a:t>).send(</a:t>
            </a:r>
            <a:r>
              <a:rPr lang="en-US" sz="1100" b="0">
                <a:solidFill>
                  <a:srgbClr val="A31515"/>
                </a:solidFill>
                <a:effectLst/>
                <a:latin typeface="Consolas" panose="020B0609020204030204" pitchFamily="49" charset="0"/>
              </a:rPr>
              <a:t>"Book not found!"</a:t>
            </a:r>
            <a:r>
              <a:rPr lang="en-US" sz="1100" b="0">
                <a:solidFill>
                  <a:srgbClr val="000000"/>
                </a:solidFill>
                <a:effectLst/>
                <a:latin typeface="Consolas" panose="020B0609020204030204" pitchFamily="49" charset="0"/>
              </a:rPr>
              <a:t>);</a:t>
            </a:r>
          </a:p>
          <a:p>
            <a:pPr>
              <a:buNone/>
            </a:pPr>
            <a:r>
              <a:rPr lang="en-US" sz="1100" b="0">
                <a:solidFill>
                  <a:srgbClr val="000000"/>
                </a:solidFill>
                <a:effectLst/>
                <a:latin typeface="Consolas" panose="020B0609020204030204" pitchFamily="49" charset="0"/>
              </a:rPr>
              <a:t>    }</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2. Check if the Client sent a new image</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if</a:t>
            </a:r>
            <a:r>
              <a:rPr lang="en-US" sz="1100" b="0">
                <a:solidFill>
                  <a:srgbClr val="000000"/>
                </a:solidFill>
                <a:effectLst/>
                <a:latin typeface="Consolas" panose="020B0609020204030204" pitchFamily="49" charset="0"/>
              </a:rPr>
              <a:t> (updatedBook.ImageBase64) {</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Has new image -&gt; Overwrite the image file (like POST)</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const</a:t>
            </a:r>
            <a:r>
              <a:rPr lang="en-US" sz="1100" b="0">
                <a:solidFill>
                  <a:srgbClr val="000000"/>
                </a:solidFill>
                <a:effectLst/>
                <a:latin typeface="Consolas" panose="020B0609020204030204" pitchFamily="49" charset="0"/>
              </a:rPr>
              <a:t> base64Data = updatedBook.ImageBase64.replace(</a:t>
            </a:r>
            <a:r>
              <a:rPr lang="en-US" sz="1100" b="0">
                <a:solidFill>
                  <a:srgbClr val="811F3F"/>
                </a:solidFill>
                <a:effectLst/>
                <a:latin typeface="Consolas" panose="020B0609020204030204" pitchFamily="49" charset="0"/>
              </a:rPr>
              <a:t>/</a:t>
            </a:r>
            <a:r>
              <a:rPr lang="en-US" sz="1100" b="0">
                <a:solidFill>
                  <a:srgbClr val="0000FF"/>
                </a:solidFill>
                <a:effectLst/>
                <a:latin typeface="Consolas" panose="020B0609020204030204" pitchFamily="49" charset="0"/>
              </a:rPr>
              <a:t>^</a:t>
            </a:r>
            <a:r>
              <a:rPr lang="en-US" sz="1100" b="0">
                <a:solidFill>
                  <a:srgbClr val="811F3F"/>
                </a:solidFill>
                <a:effectLst/>
                <a:latin typeface="Consolas" panose="020B0609020204030204" pitchFamily="49" charset="0"/>
              </a:rPr>
              <a:t>data:image\/\w</a:t>
            </a:r>
            <a:r>
              <a:rPr lang="en-US" sz="1100" b="0">
                <a:solidFill>
                  <a:srgbClr val="000000"/>
                </a:solidFill>
                <a:effectLst/>
                <a:latin typeface="Consolas" panose="020B0609020204030204" pitchFamily="49" charset="0"/>
              </a:rPr>
              <a:t>+</a:t>
            </a:r>
            <a:r>
              <a:rPr lang="en-US" sz="1100" b="0">
                <a:solidFill>
                  <a:srgbClr val="811F3F"/>
                </a:solidFill>
                <a:effectLst/>
                <a:latin typeface="Consolas" panose="020B0609020204030204" pitchFamily="49" charset="0"/>
              </a:rPr>
              <a:t>;base64,/</a:t>
            </a:r>
            <a:r>
              <a:rPr lang="en-US" sz="1100" b="0">
                <a:solidFill>
                  <a:srgbClr val="000000"/>
                </a:solidFill>
                <a:effectLst/>
                <a:latin typeface="Consolas" panose="020B0609020204030204" pitchFamily="49" charset="0"/>
              </a:rPr>
              <a:t>, </a:t>
            </a:r>
            <a:r>
              <a:rPr lang="en-US" sz="1100" b="0">
                <a:solidFill>
                  <a:srgbClr val="A31515"/>
                </a:solidFill>
                <a:effectLst/>
                <a:latin typeface="Consolas" panose="020B0609020204030204" pitchFamily="49" charset="0"/>
              </a:rPr>
              <a:t>""</a:t>
            </a:r>
            <a:r>
              <a:rPr lang="en-US" sz="1100" b="0">
                <a:solidFill>
                  <a:srgbClr val="000000"/>
                </a:solidFill>
                <a:effectLst/>
                <a:latin typeface="Consolas" panose="020B0609020204030204" pitchFamily="49" charset="0"/>
              </a:rPr>
              <a:t>);</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const</a:t>
            </a:r>
            <a:r>
              <a:rPr lang="en-US" sz="1100" b="0">
                <a:solidFill>
                  <a:srgbClr val="000000"/>
                </a:solidFill>
                <a:effectLst/>
                <a:latin typeface="Consolas" panose="020B0609020204030204" pitchFamily="49" charset="0"/>
              </a:rPr>
              <a:t> fileName = </a:t>
            </a:r>
            <a:r>
              <a:rPr lang="en-US" sz="1100" b="0">
                <a:solidFill>
                  <a:srgbClr val="A31515"/>
                </a:solidFill>
                <a:effectLst/>
                <a:latin typeface="Consolas" panose="020B0609020204030204" pitchFamily="49" charset="0"/>
              </a:rPr>
              <a:t>`</a:t>
            </a:r>
            <a:r>
              <a:rPr lang="en-US" sz="1100" b="0">
                <a:solidFill>
                  <a:srgbClr val="0000FF"/>
                </a:solidFill>
                <a:effectLst/>
                <a:latin typeface="Consolas" panose="020B0609020204030204" pitchFamily="49" charset="0"/>
              </a:rPr>
              <a:t>${</a:t>
            </a:r>
            <a:r>
              <a:rPr lang="en-US" sz="1100" b="0">
                <a:solidFill>
                  <a:srgbClr val="000000"/>
                </a:solidFill>
                <a:effectLst/>
                <a:latin typeface="Consolas" panose="020B0609020204030204" pitchFamily="49" charset="0"/>
              </a:rPr>
              <a:t>updatedBook.BookId</a:t>
            </a:r>
            <a:r>
              <a:rPr lang="en-US" sz="1100" b="0">
                <a:solidFill>
                  <a:srgbClr val="0000FF"/>
                </a:solidFill>
                <a:effectLst/>
                <a:latin typeface="Consolas" panose="020B0609020204030204" pitchFamily="49" charset="0"/>
              </a:rPr>
              <a:t>}</a:t>
            </a:r>
            <a:r>
              <a:rPr lang="en-US" sz="1100" b="0">
                <a:solidFill>
                  <a:srgbClr val="A31515"/>
                </a:solidFill>
                <a:effectLst/>
                <a:latin typeface="Consolas" panose="020B0609020204030204" pitchFamily="49" charset="0"/>
              </a:rPr>
              <a:t>_</a:t>
            </a:r>
            <a:r>
              <a:rPr lang="en-US" sz="1100" b="0">
                <a:solidFill>
                  <a:srgbClr val="0000FF"/>
                </a:solidFill>
                <a:effectLst/>
                <a:latin typeface="Consolas" panose="020B0609020204030204" pitchFamily="49" charset="0"/>
              </a:rPr>
              <a:t>${</a:t>
            </a:r>
            <a:r>
              <a:rPr lang="en-US" sz="1100" b="0">
                <a:solidFill>
                  <a:srgbClr val="000000"/>
                </a:solidFill>
                <a:effectLst/>
                <a:latin typeface="Consolas" panose="020B0609020204030204" pitchFamily="49" charset="0"/>
              </a:rPr>
              <a:t>Date.now()</a:t>
            </a:r>
            <a:r>
              <a:rPr lang="en-US" sz="1100" b="0">
                <a:solidFill>
                  <a:srgbClr val="0000FF"/>
                </a:solidFill>
                <a:effectLst/>
                <a:latin typeface="Consolas" panose="020B0609020204030204" pitchFamily="49" charset="0"/>
              </a:rPr>
              <a:t>}</a:t>
            </a:r>
            <a:r>
              <a:rPr lang="en-US" sz="1100" b="0">
                <a:solidFill>
                  <a:srgbClr val="A31515"/>
                </a:solidFill>
                <a:effectLst/>
                <a:latin typeface="Consolas" panose="020B0609020204030204" pitchFamily="49" charset="0"/>
              </a:rPr>
              <a:t>.png`</a:t>
            </a:r>
            <a:r>
              <a:rPr lang="en-US" sz="1100" b="0">
                <a:solidFill>
                  <a:srgbClr val="000000"/>
                </a:solidFill>
                <a:effectLst/>
                <a:latin typeface="Consolas" panose="020B0609020204030204" pitchFamily="49" charset="0"/>
              </a:rPr>
              <a:t>;</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const</a:t>
            </a:r>
            <a:r>
              <a:rPr lang="en-US" sz="1100" b="0">
                <a:solidFill>
                  <a:srgbClr val="000000"/>
                </a:solidFill>
                <a:effectLst/>
                <a:latin typeface="Consolas" panose="020B0609020204030204" pitchFamily="49" charset="0"/>
              </a:rPr>
              <a:t> destPath = path.join(__dirname, </a:t>
            </a:r>
            <a:r>
              <a:rPr lang="en-US" sz="1100" b="0">
                <a:solidFill>
                  <a:srgbClr val="A31515"/>
                </a:solidFill>
                <a:effectLst/>
                <a:latin typeface="Consolas" panose="020B0609020204030204" pitchFamily="49" charset="0"/>
              </a:rPr>
              <a:t>'public'</a:t>
            </a:r>
            <a:r>
              <a:rPr lang="en-US" sz="1100" b="0">
                <a:solidFill>
                  <a:srgbClr val="000000"/>
                </a:solidFill>
                <a:effectLst/>
                <a:latin typeface="Consolas" panose="020B0609020204030204" pitchFamily="49" charset="0"/>
              </a:rPr>
              <a:t>, </a:t>
            </a:r>
            <a:r>
              <a:rPr lang="en-US" sz="1100" b="0">
                <a:solidFill>
                  <a:srgbClr val="A31515"/>
                </a:solidFill>
                <a:effectLst/>
                <a:latin typeface="Consolas" panose="020B0609020204030204" pitchFamily="49" charset="0"/>
              </a:rPr>
              <a:t>'images'</a:t>
            </a:r>
            <a:r>
              <a:rPr lang="en-US" sz="1100" b="0">
                <a:solidFill>
                  <a:srgbClr val="000000"/>
                </a:solidFill>
                <a:effectLst/>
                <a:latin typeface="Consolas" panose="020B0609020204030204" pitchFamily="49" charset="0"/>
              </a:rPr>
              <a:t>, fileName);        </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try</a:t>
            </a:r>
            <a:r>
              <a:rPr lang="en-US" sz="1100" b="0">
                <a:solidFill>
                  <a:srgbClr val="000000"/>
                </a:solidFill>
                <a:effectLst/>
                <a:latin typeface="Consolas" panose="020B0609020204030204" pitchFamily="49" charset="0"/>
              </a:rPr>
              <a:t> {</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This function will automatically overwrite the old .png file if it exists</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fs.writeFileSync(destPath, base64Data, </a:t>
            </a:r>
            <a:r>
              <a:rPr lang="en-US" sz="1100" b="0">
                <a:solidFill>
                  <a:srgbClr val="A31515"/>
                </a:solidFill>
                <a:effectLst/>
                <a:latin typeface="Consolas" panose="020B0609020204030204" pitchFamily="49" charset="0"/>
              </a:rPr>
              <a:t>'base64'</a:t>
            </a:r>
            <a:r>
              <a:rPr lang="en-US" sz="1100" b="0">
                <a:solidFill>
                  <a:srgbClr val="000000"/>
                </a:solidFill>
                <a:effectLst/>
                <a:latin typeface="Consolas" panose="020B0609020204030204" pitchFamily="49" charset="0"/>
              </a:rPr>
              <a:t>);</a:t>
            </a:r>
          </a:p>
          <a:p>
            <a:pPr>
              <a:buNone/>
            </a:pPr>
            <a:r>
              <a:rPr lang="en-US" sz="1100" b="0">
                <a:solidFill>
                  <a:srgbClr val="000000"/>
                </a:solidFill>
                <a:effectLst/>
                <a:latin typeface="Consolas" panose="020B0609020204030204" pitchFamily="49" charset="0"/>
              </a:rPr>
              <a:t>            updatedBook.Image = fileName;</a:t>
            </a:r>
          </a:p>
          <a:p>
            <a:pPr>
              <a:buNone/>
            </a:pPr>
            <a:r>
              <a:rPr lang="en-US" sz="1100" b="0">
                <a:solidFill>
                  <a:srgbClr val="000000"/>
                </a:solidFill>
                <a:effectLst/>
                <a:latin typeface="Consolas" panose="020B0609020204030204" pitchFamily="49" charset="0"/>
              </a:rPr>
              <a:t>        } </a:t>
            </a:r>
            <a:r>
              <a:rPr lang="en-US" sz="1100" b="0">
                <a:solidFill>
                  <a:srgbClr val="0000FF"/>
                </a:solidFill>
                <a:effectLst/>
                <a:latin typeface="Consolas" panose="020B0609020204030204" pitchFamily="49" charset="0"/>
              </a:rPr>
              <a:t>catch</a:t>
            </a:r>
            <a:r>
              <a:rPr lang="en-US" sz="1100" b="0">
                <a:solidFill>
                  <a:srgbClr val="000000"/>
                </a:solidFill>
                <a:effectLst/>
                <a:latin typeface="Consolas" panose="020B0609020204030204" pitchFamily="49" charset="0"/>
              </a:rPr>
              <a:t> (error) {</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return</a:t>
            </a:r>
            <a:r>
              <a:rPr lang="en-US" sz="1100" b="0">
                <a:solidFill>
                  <a:srgbClr val="000000"/>
                </a:solidFill>
                <a:effectLst/>
                <a:latin typeface="Consolas" panose="020B0609020204030204" pitchFamily="49" charset="0"/>
              </a:rPr>
              <a:t> res.status(</a:t>
            </a:r>
            <a:r>
              <a:rPr lang="en-US" sz="1100" b="0">
                <a:solidFill>
                  <a:srgbClr val="098658"/>
                </a:solidFill>
                <a:effectLst/>
                <a:latin typeface="Consolas" panose="020B0609020204030204" pitchFamily="49" charset="0"/>
              </a:rPr>
              <a:t>500</a:t>
            </a:r>
            <a:r>
              <a:rPr lang="en-US" sz="1100" b="0">
                <a:solidFill>
                  <a:srgbClr val="000000"/>
                </a:solidFill>
                <a:effectLst/>
                <a:latin typeface="Consolas" panose="020B0609020204030204" pitchFamily="49" charset="0"/>
              </a:rPr>
              <a:t>).send(</a:t>
            </a:r>
            <a:r>
              <a:rPr lang="en-US" sz="1100" b="0">
                <a:solidFill>
                  <a:srgbClr val="A31515"/>
                </a:solidFill>
                <a:effectLst/>
                <a:latin typeface="Consolas" panose="020B0609020204030204" pitchFamily="49" charset="0"/>
              </a:rPr>
              <a:t>"Error saving Base64 image!"</a:t>
            </a:r>
            <a:r>
              <a:rPr lang="en-US" sz="1100" b="0">
                <a:solidFill>
                  <a:srgbClr val="000000"/>
                </a:solidFill>
                <a:effectLst/>
                <a:latin typeface="Consolas" panose="020B0609020204030204" pitchFamily="49" charset="0"/>
              </a:rPr>
              <a:t>);</a:t>
            </a:r>
          </a:p>
          <a:p>
            <a:pPr>
              <a:buNone/>
            </a:pPr>
            <a:r>
              <a:rPr lang="en-US" sz="1100" b="0">
                <a:solidFill>
                  <a:srgbClr val="000000"/>
                </a:solidFill>
                <a:effectLst/>
                <a:latin typeface="Consolas" panose="020B0609020204030204" pitchFamily="49" charset="0"/>
              </a:rPr>
              <a:t>        }        </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Delete the base64 string to save memory</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delete</a:t>
            </a:r>
            <a:r>
              <a:rPr lang="en-US" sz="1100" b="0">
                <a:solidFill>
                  <a:srgbClr val="000000"/>
                </a:solidFill>
                <a:effectLst/>
                <a:latin typeface="Consolas" panose="020B0609020204030204" pitchFamily="49" charset="0"/>
              </a:rPr>
              <a:t> updatedBook.ImageBase64;</a:t>
            </a:r>
          </a:p>
          <a:p>
            <a:pPr>
              <a:buNone/>
            </a:pPr>
            <a:r>
              <a:rPr lang="en-US" sz="1100" b="0">
                <a:solidFill>
                  <a:srgbClr val="000000"/>
                </a:solidFill>
                <a:effectLst/>
                <a:latin typeface="Consolas" panose="020B0609020204030204" pitchFamily="49" charset="0"/>
              </a:rPr>
              <a:t>    } </a:t>
            </a:r>
          </a:p>
          <a:p>
            <a:pPr>
              <a:buNone/>
            </a:pPr>
            <a:r>
              <a:rPr lang="en-US" sz="1100" b="0">
                <a:solidFill>
                  <a:srgbClr val="000000"/>
                </a:solidFill>
                <a:effectLst/>
                <a:latin typeface="Consolas" panose="020B0609020204030204" pitchFamily="49" charset="0"/>
              </a:rPr>
              <a:t>    </a:t>
            </a:r>
            <a:r>
              <a:rPr lang="en-US" sz="1100" b="0">
                <a:solidFill>
                  <a:srgbClr val="0000FF"/>
                </a:solidFill>
                <a:effectLst/>
                <a:latin typeface="Consolas" panose="020B0609020204030204" pitchFamily="49" charset="0"/>
              </a:rPr>
              <a:t>else</a:t>
            </a:r>
            <a:r>
              <a:rPr lang="en-US" sz="1100" b="0">
                <a:solidFill>
                  <a:srgbClr val="000000"/>
                </a:solidFill>
                <a:effectLst/>
                <a:latin typeface="Consolas" panose="020B0609020204030204" pitchFamily="49" charset="0"/>
              </a:rPr>
              <a:t> {</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NO new image -&gt; Keep the old image name from the database</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updatedBook.Image = database[index].Image;</a:t>
            </a:r>
          </a:p>
          <a:p>
            <a:pPr>
              <a:buNone/>
            </a:pPr>
            <a:r>
              <a:rPr lang="en-US" sz="1100" b="0">
                <a:solidFill>
                  <a:srgbClr val="000000"/>
                </a:solidFill>
                <a:effectLst/>
                <a:latin typeface="Consolas" panose="020B0609020204030204" pitchFamily="49" charset="0"/>
              </a:rPr>
              <a:t>    }</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3. Overwrite the new data at the correct index</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database[index] = updatedBook;</a:t>
            </a:r>
          </a:p>
          <a:p>
            <a:pPr>
              <a:buNone/>
            </a:pPr>
            <a:r>
              <a:rPr lang="en-US" sz="1100" b="0">
                <a:solidFill>
                  <a:srgbClr val="000000"/>
                </a:solidFill>
                <a:effectLst/>
                <a:latin typeface="Consolas" panose="020B0609020204030204" pitchFamily="49" charset="0"/>
              </a:rPr>
              <a:t>    </a:t>
            </a:r>
            <a:r>
              <a:rPr lang="en-US" sz="1100" b="0">
                <a:solidFill>
                  <a:srgbClr val="008000"/>
                </a:solidFill>
                <a:effectLst/>
                <a:latin typeface="Consolas" panose="020B0609020204030204" pitchFamily="49" charset="0"/>
              </a:rPr>
              <a:t>// 4. Return the book list so Angular can update the UI</a:t>
            </a:r>
            <a:endParaRPr lang="en-US" sz="1100" b="0">
              <a:solidFill>
                <a:srgbClr val="000000"/>
              </a:solidFill>
              <a:effectLst/>
              <a:latin typeface="Consolas" panose="020B0609020204030204" pitchFamily="49" charset="0"/>
            </a:endParaRPr>
          </a:p>
          <a:p>
            <a:pPr>
              <a:buNone/>
            </a:pPr>
            <a:r>
              <a:rPr lang="en-US" sz="1100" b="0">
                <a:solidFill>
                  <a:srgbClr val="000000"/>
                </a:solidFill>
                <a:effectLst/>
                <a:latin typeface="Consolas" panose="020B0609020204030204" pitchFamily="49" charset="0"/>
              </a:rPr>
              <a:t>    res.send(database);</a:t>
            </a:r>
          </a:p>
          <a:p>
            <a:pPr>
              <a:buNone/>
            </a:pPr>
            <a:r>
              <a:rPr lang="en-US" sz="11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652158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E71D713-1F8C-F76D-A498-216090774DB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2B4FE99-07C1-D8C9-9B45-9FAC1B13FBA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2EF46F4-AE87-D621-9108-C1CA53CD8AFF}"/>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112</a:t>
            </a:fld>
            <a:endParaRPr/>
          </a:p>
        </p:txBody>
      </p:sp>
      <p:grpSp>
        <p:nvGrpSpPr>
          <p:cNvPr id="2" name="Group 1">
            <a:extLst>
              <a:ext uri="{FF2B5EF4-FFF2-40B4-BE49-F238E27FC236}">
                <a16:creationId xmlns:a16="http://schemas.microsoft.com/office/drawing/2014/main" id="{C7E42D38-CCE7-BDE8-3FE2-9F7287693C8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19AF6B7-9804-F7B3-056A-1866E02C134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0FC5792-152E-A0D2-11BB-C5D36092C39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F5D6243-5D2A-DFE6-3583-E53D20121AC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E099441-5FA5-A4A2-2FD3-E7984D82E03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F569CB4-07CB-F41A-A3DE-335902A3295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B1AC46D4-B098-E235-6C68-31EC3C9945F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2: Kiểm thử API trên Postman để đảm bảo cập nhật Book thành công</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281FF5A-C3C9-175F-E94B-33AC665BD298}"/>
              </a:ext>
            </a:extLst>
          </p:cNvPr>
          <p:cNvPicPr>
            <a:picLocks noChangeAspect="1"/>
          </p:cNvPicPr>
          <p:nvPr/>
        </p:nvPicPr>
        <p:blipFill>
          <a:blip r:embed="rId3"/>
          <a:stretch>
            <a:fillRect/>
          </a:stretch>
        </p:blipFill>
        <p:spPr>
          <a:xfrm>
            <a:off x="4059760" y="1380464"/>
            <a:ext cx="3912383" cy="4971111"/>
          </a:xfrm>
          <a:prstGeom prst="rect">
            <a:avLst/>
          </a:prstGeom>
        </p:spPr>
      </p:pic>
    </p:spTree>
    <p:extLst>
      <p:ext uri="{BB962C8B-B14F-4D97-AF65-F5344CB8AC3E}">
        <p14:creationId xmlns:p14="http://schemas.microsoft.com/office/powerpoint/2010/main" val="88888303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DBFD74A-5AAF-5E9C-8B70-C8605FB9BF8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DB787A5-CA9F-4773-9A5D-B753AAA488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EB9BCDF-0936-A245-CD58-4727B10E7719}"/>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113</a:t>
            </a:fld>
            <a:endParaRPr/>
          </a:p>
        </p:txBody>
      </p:sp>
      <p:grpSp>
        <p:nvGrpSpPr>
          <p:cNvPr id="2" name="Group 1">
            <a:extLst>
              <a:ext uri="{FF2B5EF4-FFF2-40B4-BE49-F238E27FC236}">
                <a16:creationId xmlns:a16="http://schemas.microsoft.com/office/drawing/2014/main" id="{FC5E370E-1762-8D1F-F325-BA9CF48AFB38}"/>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105CF44-ADBB-F7E2-A393-258D722AD76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8499519-7055-AAC0-4845-DBD0A8102DD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3B07270-93BE-BC34-DB31-AFC7E0EB0CC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FAB5D33-F3B5-EDA8-1415-B590547CAFE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9EC4996-4ED2-CB4C-CE03-4B6581F1818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91E77775-28E2-C3E0-CBC3-723494D2854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2: Kiểm thử API trên Postman để đảm bảo cập nhật Book thành công</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BCCD947-5A20-5345-756F-6440F8195668}"/>
              </a:ext>
            </a:extLst>
          </p:cNvPr>
          <p:cNvPicPr>
            <a:picLocks noChangeAspect="1"/>
          </p:cNvPicPr>
          <p:nvPr/>
        </p:nvPicPr>
        <p:blipFill>
          <a:blip r:embed="rId3"/>
          <a:stretch>
            <a:fillRect/>
          </a:stretch>
        </p:blipFill>
        <p:spPr>
          <a:xfrm>
            <a:off x="1989271" y="1281135"/>
            <a:ext cx="8823756" cy="5576865"/>
          </a:xfrm>
          <a:prstGeom prst="rect">
            <a:avLst/>
          </a:prstGeom>
        </p:spPr>
      </p:pic>
      <p:cxnSp>
        <p:nvCxnSpPr>
          <p:cNvPr id="13" name="Straight Arrow Connector 12">
            <a:extLst>
              <a:ext uri="{FF2B5EF4-FFF2-40B4-BE49-F238E27FC236}">
                <a16:creationId xmlns:a16="http://schemas.microsoft.com/office/drawing/2014/main" id="{F9B1ED56-CE0B-2280-C58B-E2C4B1D26610}"/>
              </a:ext>
            </a:extLst>
          </p:cNvPr>
          <p:cNvCxnSpPr/>
          <p:nvPr/>
        </p:nvCxnSpPr>
        <p:spPr>
          <a:xfrm flipV="1">
            <a:off x="3886200" y="2374490"/>
            <a:ext cx="0" cy="6636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E40258B-E6F3-ACD4-2F96-D7685DD1205A}"/>
              </a:ext>
            </a:extLst>
          </p:cNvPr>
          <p:cNvCxnSpPr/>
          <p:nvPr/>
        </p:nvCxnSpPr>
        <p:spPr>
          <a:xfrm flipV="1">
            <a:off x="8251723" y="2426110"/>
            <a:ext cx="0" cy="6636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BE36712-EFCC-62F3-75A4-C928CF7773E2}"/>
              </a:ext>
            </a:extLst>
          </p:cNvPr>
          <p:cNvCxnSpPr>
            <a:cxnSpLocks/>
          </p:cNvCxnSpPr>
          <p:nvPr/>
        </p:nvCxnSpPr>
        <p:spPr>
          <a:xfrm flipH="1">
            <a:off x="6518788" y="6172201"/>
            <a:ext cx="92177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11333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CEAD33-4E18-8CAC-1F30-A4276B40B6F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A128391-F7C9-7D7D-B8ED-D3F43F395C5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EB7FF2-9E2D-6B7C-0966-36CBB0926817}"/>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114</a:t>
            </a:fld>
            <a:endParaRPr/>
          </a:p>
        </p:txBody>
      </p:sp>
      <p:grpSp>
        <p:nvGrpSpPr>
          <p:cNvPr id="2" name="Group 1">
            <a:extLst>
              <a:ext uri="{FF2B5EF4-FFF2-40B4-BE49-F238E27FC236}">
                <a16:creationId xmlns:a16="http://schemas.microsoft.com/office/drawing/2014/main" id="{E9D8A8B6-EC55-F32B-F4E9-39D70794E153}"/>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9585E4EE-B9D6-0077-4789-78C8EDE3A475}"/>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3048FC9-9410-17DB-B85E-2AF27DDCC2C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FFAEBBF-960D-549F-8749-1A817188921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B7317AA-6C25-DF47-8C89-1847B10E9B7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480C005-B1F5-8A70-0449-B7D7797A687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7ECD9BB-4262-494F-A1FE-7D28FB216DB4}"/>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2: Kiểm thử API trên Postman để đảm bảo cập nhật Book thành công</a:t>
            </a:r>
            <a:endParaRPr lang="vi-VN" sz="2400" b="1"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74B6EE5E-B4E4-20FC-3076-71E58320F526}"/>
              </a:ext>
            </a:extLst>
          </p:cNvPr>
          <p:cNvPicPr>
            <a:picLocks noChangeAspect="1"/>
          </p:cNvPicPr>
          <p:nvPr/>
        </p:nvPicPr>
        <p:blipFill>
          <a:blip r:embed="rId3"/>
          <a:stretch>
            <a:fillRect/>
          </a:stretch>
        </p:blipFill>
        <p:spPr>
          <a:xfrm>
            <a:off x="1867887" y="1274214"/>
            <a:ext cx="8753329" cy="5131755"/>
          </a:xfrm>
          <a:prstGeom prst="rect">
            <a:avLst/>
          </a:prstGeom>
        </p:spPr>
      </p:pic>
    </p:spTree>
    <p:extLst>
      <p:ext uri="{BB962C8B-B14F-4D97-AF65-F5344CB8AC3E}">
        <p14:creationId xmlns:p14="http://schemas.microsoft.com/office/powerpoint/2010/main" val="3123973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DE3BED7-CDF1-D610-0603-044EAA084AE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4A42A6B-C16C-FE38-90D6-62D8A7F7EA1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26E33EB-5D3A-9BDB-411C-17B7A3C0A0F7}"/>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115</a:t>
            </a:fld>
            <a:endParaRPr/>
          </a:p>
        </p:txBody>
      </p:sp>
      <p:grpSp>
        <p:nvGrpSpPr>
          <p:cNvPr id="2" name="Group 1">
            <a:extLst>
              <a:ext uri="{FF2B5EF4-FFF2-40B4-BE49-F238E27FC236}">
                <a16:creationId xmlns:a16="http://schemas.microsoft.com/office/drawing/2014/main" id="{3FD466ED-E42D-CB8F-16FE-7C2C8CB9E01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2A6F669-242F-06FE-7451-395F3B37BF1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209752F-8B52-DD72-811D-E2C55544247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17F238-731D-D509-EE04-19EC62C68CA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CFD5054-1D9D-EC04-49E1-8D40F701A64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63A7F5F-94B4-3E16-5ECA-C77EAB48BA2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53096DB-180E-092E-0672-7B86EF9EEF7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3: “my-app”, </a:t>
            </a:r>
            <a:r>
              <a:rPr lang="en-US" sz="2400" b="1">
                <a:latin typeface="Times New Roman" panose="02020603050405020304" pitchFamily="18" charset="0"/>
                <a:cs typeface="Times New Roman" panose="02020603050405020304" pitchFamily="18" charset="0"/>
              </a:rPr>
              <a:t>book-apiservice.ts </a:t>
            </a:r>
            <a:r>
              <a:rPr lang="en-US" sz="2400">
                <a:latin typeface="Times New Roman" panose="02020603050405020304" pitchFamily="18" charset="0"/>
                <a:cs typeface="Times New Roman" panose="02020603050405020304" pitchFamily="18" charset="0"/>
              </a:rPr>
              <a:t>bổ sung hàm </a:t>
            </a:r>
            <a:r>
              <a:rPr lang="en-US" sz="2400" b="1">
                <a:latin typeface="Times New Roman" panose="02020603050405020304" pitchFamily="18" charset="0"/>
                <a:cs typeface="Times New Roman" panose="02020603050405020304" pitchFamily="18" charset="0"/>
              </a:rPr>
              <a:t>putBook</a:t>
            </a:r>
            <a:r>
              <a:rPr lang="en-US" sz="2400">
                <a:latin typeface="Times New Roman" panose="02020603050405020304" pitchFamily="18" charset="0"/>
                <a:cs typeface="Times New Roman" panose="02020603050405020304" pitchFamily="18" charset="0"/>
              </a:rPr>
              <a:t> để triệu gọi API</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B345583-5ACC-6E78-3547-B7B81D7ECC50}"/>
              </a:ext>
            </a:extLst>
          </p:cNvPr>
          <p:cNvPicPr>
            <a:picLocks noChangeAspect="1"/>
          </p:cNvPicPr>
          <p:nvPr/>
        </p:nvPicPr>
        <p:blipFill>
          <a:blip r:embed="rId3"/>
          <a:stretch>
            <a:fillRect/>
          </a:stretch>
        </p:blipFill>
        <p:spPr>
          <a:xfrm>
            <a:off x="388797" y="1363396"/>
            <a:ext cx="11341510" cy="4953390"/>
          </a:xfrm>
          <a:prstGeom prst="rect">
            <a:avLst/>
          </a:prstGeom>
        </p:spPr>
      </p:pic>
    </p:spTree>
    <p:extLst>
      <p:ext uri="{BB962C8B-B14F-4D97-AF65-F5344CB8AC3E}">
        <p14:creationId xmlns:p14="http://schemas.microsoft.com/office/powerpoint/2010/main" val="408477261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D07E596-19A0-0576-593C-636E1B0AA51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B7E372C-AA32-0CFE-2B2C-A9D5BEC92D5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6AA1346-4ADF-763B-EEA5-CDCB3C3D827C}"/>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116</a:t>
            </a:fld>
            <a:endParaRPr/>
          </a:p>
        </p:txBody>
      </p:sp>
      <p:grpSp>
        <p:nvGrpSpPr>
          <p:cNvPr id="2" name="Group 1">
            <a:extLst>
              <a:ext uri="{FF2B5EF4-FFF2-40B4-BE49-F238E27FC236}">
                <a16:creationId xmlns:a16="http://schemas.microsoft.com/office/drawing/2014/main" id="{6A7303B0-E668-71C9-E525-80141AF4785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F585033-B6F6-E146-5BC5-700A9CDDD01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9488756-698A-753A-9529-2E4C6CDE40E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8D94A8B-D766-772D-11DC-FF8353241F7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69E349C-8A41-8C91-3835-0FBA70F98F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79A9164-F147-29B4-E8F8-9FEF65E3A63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98C655DE-7753-B306-EDAB-FF68900530B5}"/>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4: “my-app”, Tạo </a:t>
            </a:r>
            <a:r>
              <a:rPr lang="en-US" sz="2400" b="1">
                <a:latin typeface="Times New Roman" panose="02020603050405020304" pitchFamily="18" charset="0"/>
                <a:cs typeface="Times New Roman" panose="02020603050405020304" pitchFamily="18" charset="0"/>
              </a:rPr>
              <a:t>BookUpdateComponent</a:t>
            </a:r>
            <a:r>
              <a:rPr lang="en-US" sz="2400">
                <a:latin typeface="Times New Roman" panose="02020603050405020304" pitchFamily="18" charset="0"/>
                <a:cs typeface="Times New Roman" panose="02020603050405020304" pitchFamily="18" charset="0"/>
              </a:rPr>
              <a:t>, giao diện giống như BookNewComponent.</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D5D098A-6946-BC88-FE42-5584D3BA0E34}"/>
              </a:ext>
            </a:extLst>
          </p:cNvPr>
          <p:cNvPicPr>
            <a:picLocks noChangeAspect="1"/>
          </p:cNvPicPr>
          <p:nvPr/>
        </p:nvPicPr>
        <p:blipFill>
          <a:blip r:embed="rId3"/>
          <a:stretch>
            <a:fillRect/>
          </a:stretch>
        </p:blipFill>
        <p:spPr>
          <a:xfrm>
            <a:off x="542786" y="1672009"/>
            <a:ext cx="3071126" cy="2126164"/>
          </a:xfrm>
          <a:prstGeom prst="rect">
            <a:avLst/>
          </a:prstGeom>
        </p:spPr>
      </p:pic>
      <p:pic>
        <p:nvPicPr>
          <p:cNvPr id="13" name="Picture 12">
            <a:extLst>
              <a:ext uri="{FF2B5EF4-FFF2-40B4-BE49-F238E27FC236}">
                <a16:creationId xmlns:a16="http://schemas.microsoft.com/office/drawing/2014/main" id="{A35BEFB9-68FD-CBA0-763F-3D4F0096226C}"/>
              </a:ext>
            </a:extLst>
          </p:cNvPr>
          <p:cNvPicPr>
            <a:picLocks noChangeAspect="1"/>
          </p:cNvPicPr>
          <p:nvPr/>
        </p:nvPicPr>
        <p:blipFill>
          <a:blip r:embed="rId4"/>
          <a:stretch>
            <a:fillRect/>
          </a:stretch>
        </p:blipFill>
        <p:spPr>
          <a:xfrm>
            <a:off x="5562355" y="1861559"/>
            <a:ext cx="5639289" cy="708721"/>
          </a:xfrm>
          <a:prstGeom prst="rect">
            <a:avLst/>
          </a:prstGeom>
        </p:spPr>
      </p:pic>
      <p:pic>
        <p:nvPicPr>
          <p:cNvPr id="15" name="Picture 14">
            <a:extLst>
              <a:ext uri="{FF2B5EF4-FFF2-40B4-BE49-F238E27FC236}">
                <a16:creationId xmlns:a16="http://schemas.microsoft.com/office/drawing/2014/main" id="{E5B620A1-3D41-D8A0-E509-E56DE05D2F0B}"/>
              </a:ext>
            </a:extLst>
          </p:cNvPr>
          <p:cNvPicPr>
            <a:picLocks noChangeAspect="1"/>
          </p:cNvPicPr>
          <p:nvPr/>
        </p:nvPicPr>
        <p:blipFill>
          <a:blip r:embed="rId5"/>
          <a:stretch>
            <a:fillRect/>
          </a:stretch>
        </p:blipFill>
        <p:spPr>
          <a:xfrm>
            <a:off x="4871339" y="3795587"/>
            <a:ext cx="6873836" cy="2530059"/>
          </a:xfrm>
          <a:prstGeom prst="rect">
            <a:avLst/>
          </a:prstGeom>
        </p:spPr>
      </p:pic>
      <p:pic>
        <p:nvPicPr>
          <p:cNvPr id="17" name="Picture 16">
            <a:extLst>
              <a:ext uri="{FF2B5EF4-FFF2-40B4-BE49-F238E27FC236}">
                <a16:creationId xmlns:a16="http://schemas.microsoft.com/office/drawing/2014/main" id="{7F168AA5-F479-734E-1C01-9F53941CBA62}"/>
              </a:ext>
            </a:extLst>
          </p:cNvPr>
          <p:cNvPicPr>
            <a:picLocks noChangeAspect="1"/>
          </p:cNvPicPr>
          <p:nvPr/>
        </p:nvPicPr>
        <p:blipFill>
          <a:blip r:embed="rId6"/>
          <a:stretch>
            <a:fillRect/>
          </a:stretch>
        </p:blipFill>
        <p:spPr>
          <a:xfrm>
            <a:off x="573269" y="3963241"/>
            <a:ext cx="3040643" cy="2362405"/>
          </a:xfrm>
          <a:prstGeom prst="rect">
            <a:avLst/>
          </a:prstGeom>
        </p:spPr>
      </p:pic>
      <p:cxnSp>
        <p:nvCxnSpPr>
          <p:cNvPr id="18" name="Connector: Elbow 17">
            <a:extLst>
              <a:ext uri="{FF2B5EF4-FFF2-40B4-BE49-F238E27FC236}">
                <a16:creationId xmlns:a16="http://schemas.microsoft.com/office/drawing/2014/main" id="{DB3F0D64-476C-9CD9-131A-5757647165F8}"/>
              </a:ext>
            </a:extLst>
          </p:cNvPr>
          <p:cNvCxnSpPr/>
          <p:nvPr/>
        </p:nvCxnSpPr>
        <p:spPr>
          <a:xfrm flipV="1">
            <a:off x="3496732" y="2671103"/>
            <a:ext cx="4651661" cy="84413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392E8A2-3310-4A16-F7CC-F089A51454B1}"/>
              </a:ext>
            </a:extLst>
          </p:cNvPr>
          <p:cNvCxnSpPr/>
          <p:nvPr/>
        </p:nvCxnSpPr>
        <p:spPr>
          <a:xfrm>
            <a:off x="9537048" y="2671103"/>
            <a:ext cx="0" cy="15369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9DA08C2-DD89-28CA-FAE8-A3A7F9C1EB1F}"/>
              </a:ext>
            </a:extLst>
          </p:cNvPr>
          <p:cNvCxnSpPr/>
          <p:nvPr/>
        </p:nvCxnSpPr>
        <p:spPr>
          <a:xfrm flipH="1">
            <a:off x="3098799" y="5188142"/>
            <a:ext cx="20038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98742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60414EA-B987-227D-8FB2-A739C2398A1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056CEB4-F221-D2C4-32D3-1B1F2E0FF64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A9C8126-B8E3-2964-A539-B36782CFEE5D}"/>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117</a:t>
            </a:fld>
            <a:endParaRPr/>
          </a:p>
        </p:txBody>
      </p:sp>
      <p:grpSp>
        <p:nvGrpSpPr>
          <p:cNvPr id="2" name="Group 1">
            <a:extLst>
              <a:ext uri="{FF2B5EF4-FFF2-40B4-BE49-F238E27FC236}">
                <a16:creationId xmlns:a16="http://schemas.microsoft.com/office/drawing/2014/main" id="{A5C7EEA2-BDD6-229A-23FC-694C6EC9DD45}"/>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E6AE694-8AAE-6A59-A89C-44983F22AF47}"/>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F72D9A3-DAB0-C56F-FBEB-0E6B8385E3B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4CFE341-5A4A-678D-3889-C23E4422703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1FDCF12-8643-671E-19E8-BD10D9B4416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901026B-602A-5F3B-1B3F-3E62ED403F8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D3BFFF7F-B2C6-0350-D176-C86F905E636E}"/>
              </a:ext>
            </a:extLst>
          </p:cNvPr>
          <p:cNvSpPr txBox="1"/>
          <p:nvPr/>
        </p:nvSpPr>
        <p:spPr>
          <a:xfrm>
            <a:off x="484402" y="748571"/>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BookUpdateComponent.ts</a:t>
            </a:r>
            <a:endParaRPr lang="vi-VN" sz="2400"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B17F2858-0C17-7ACD-CD52-0DA93EDF968D}"/>
              </a:ext>
            </a:extLst>
          </p:cNvPr>
          <p:cNvPicPr>
            <a:picLocks noChangeAspect="1"/>
          </p:cNvPicPr>
          <p:nvPr/>
        </p:nvPicPr>
        <p:blipFill>
          <a:blip r:embed="rId3"/>
          <a:stretch>
            <a:fillRect/>
          </a:stretch>
        </p:blipFill>
        <p:spPr>
          <a:xfrm>
            <a:off x="638151" y="1168434"/>
            <a:ext cx="8129766" cy="5235000"/>
          </a:xfrm>
          <a:prstGeom prst="rect">
            <a:avLst/>
          </a:prstGeom>
        </p:spPr>
      </p:pic>
    </p:spTree>
    <p:extLst>
      <p:ext uri="{BB962C8B-B14F-4D97-AF65-F5344CB8AC3E}">
        <p14:creationId xmlns:p14="http://schemas.microsoft.com/office/powerpoint/2010/main" val="4614434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34C3681-66F5-5515-95B0-6742A3B1D6B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C463BF3-D3F9-640E-FAF7-7A3C514626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D56C4E7-E5E7-7D5A-3E96-874F6AA9FFA1}"/>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118</a:t>
            </a:fld>
            <a:endParaRPr/>
          </a:p>
        </p:txBody>
      </p:sp>
      <p:grpSp>
        <p:nvGrpSpPr>
          <p:cNvPr id="2" name="Group 1">
            <a:extLst>
              <a:ext uri="{FF2B5EF4-FFF2-40B4-BE49-F238E27FC236}">
                <a16:creationId xmlns:a16="http://schemas.microsoft.com/office/drawing/2014/main" id="{0ED4EA23-4539-D45A-30D2-8F9F07D1D66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855FF5F-2DA1-D6AA-02C0-0E1DB3A396C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749A677-102A-40A3-03C1-B00575968DA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83F4B46-31F5-0145-D236-EECDCDBB73A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C61BE66-36E5-0AD2-BD69-7DFFE2B6692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B7A2680-3222-D2F2-1A90-FD2294D2EB2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3F37E895-81CC-74D7-D19B-A96625717BDE}"/>
              </a:ext>
            </a:extLst>
          </p:cNvPr>
          <p:cNvSpPr txBox="1"/>
          <p:nvPr/>
        </p:nvSpPr>
        <p:spPr>
          <a:xfrm>
            <a:off x="484402" y="748571"/>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BookUpdateComponent.ts</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767AB13-F1AE-F81F-5DE3-AE9242CAABAA}"/>
              </a:ext>
            </a:extLst>
          </p:cNvPr>
          <p:cNvPicPr>
            <a:picLocks noChangeAspect="1"/>
          </p:cNvPicPr>
          <p:nvPr/>
        </p:nvPicPr>
        <p:blipFill>
          <a:blip r:embed="rId3"/>
          <a:stretch>
            <a:fillRect/>
          </a:stretch>
        </p:blipFill>
        <p:spPr>
          <a:xfrm>
            <a:off x="542786" y="1176016"/>
            <a:ext cx="9762280" cy="5230983"/>
          </a:xfrm>
          <a:prstGeom prst="rect">
            <a:avLst/>
          </a:prstGeom>
        </p:spPr>
      </p:pic>
      <p:sp>
        <p:nvSpPr>
          <p:cNvPr id="11" name="Rectangle 10">
            <a:extLst>
              <a:ext uri="{FF2B5EF4-FFF2-40B4-BE49-F238E27FC236}">
                <a16:creationId xmlns:a16="http://schemas.microsoft.com/office/drawing/2014/main" id="{3E4D0037-1B4E-D429-7667-C33B5D53EB5A}"/>
              </a:ext>
            </a:extLst>
          </p:cNvPr>
          <p:cNvSpPr/>
          <p:nvPr/>
        </p:nvSpPr>
        <p:spPr>
          <a:xfrm>
            <a:off x="564686" y="2903621"/>
            <a:ext cx="7560640" cy="304800"/>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6530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E3546F3-877F-EE78-6C9B-AB9038D09A0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56F3F3B-612B-52CF-691B-F7D57BCC1C7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E84FC0B-CEC8-4BAB-92D5-EA00CCB817D5}"/>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119</a:t>
            </a:fld>
            <a:endParaRPr/>
          </a:p>
        </p:txBody>
      </p:sp>
      <p:grpSp>
        <p:nvGrpSpPr>
          <p:cNvPr id="2" name="Group 1">
            <a:extLst>
              <a:ext uri="{FF2B5EF4-FFF2-40B4-BE49-F238E27FC236}">
                <a16:creationId xmlns:a16="http://schemas.microsoft.com/office/drawing/2014/main" id="{7C51178D-3FA0-6F68-023E-14798E3CA9D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9A00360-83D7-678A-E5C1-577E39035A6C}"/>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47895F8-F0F7-F7C6-940E-EFD94A70ED6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67FF538-CF5F-50AA-087E-5172DCF104F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31CD824-E065-84A1-75C7-AA0C9F4D997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5CF22AA-C32A-70D0-E907-9A85434953C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F1760FBD-D7F3-3E9B-4149-7C7D394854BF}"/>
              </a:ext>
            </a:extLst>
          </p:cNvPr>
          <p:cNvSpPr txBox="1"/>
          <p:nvPr/>
        </p:nvSpPr>
        <p:spPr>
          <a:xfrm>
            <a:off x="484402" y="748571"/>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5: </a:t>
            </a:r>
            <a:r>
              <a:rPr lang="en-US" sz="2400" b="1">
                <a:latin typeface="Times New Roman" panose="02020603050405020304" pitchFamily="18" charset="0"/>
                <a:cs typeface="Times New Roman" panose="02020603050405020304" pitchFamily="18" charset="0"/>
              </a:rPr>
              <a:t>BookUpdateComponent.ts</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A6FA398-DD30-61E1-C2FE-8083ED2F5A97}"/>
              </a:ext>
            </a:extLst>
          </p:cNvPr>
          <p:cNvPicPr>
            <a:picLocks noChangeAspect="1"/>
          </p:cNvPicPr>
          <p:nvPr/>
        </p:nvPicPr>
        <p:blipFill>
          <a:blip r:embed="rId3"/>
          <a:stretch>
            <a:fillRect/>
          </a:stretch>
        </p:blipFill>
        <p:spPr>
          <a:xfrm>
            <a:off x="484402" y="1161822"/>
            <a:ext cx="9006185" cy="5241611"/>
          </a:xfrm>
          <a:prstGeom prst="rect">
            <a:avLst/>
          </a:prstGeom>
        </p:spPr>
      </p:pic>
    </p:spTree>
    <p:extLst>
      <p:ext uri="{BB962C8B-B14F-4D97-AF65-F5344CB8AC3E}">
        <p14:creationId xmlns:p14="http://schemas.microsoft.com/office/powerpoint/2010/main" val="132560922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61B523D-6126-3EB8-0A63-5FCF566BFCA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2C43666-DB72-EDA0-785F-89966ADFB54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D58DD31-8C7C-E1D1-22F6-0609E72DACCE}"/>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120</a:t>
            </a:fld>
            <a:endParaRPr/>
          </a:p>
        </p:txBody>
      </p:sp>
      <p:grpSp>
        <p:nvGrpSpPr>
          <p:cNvPr id="2" name="Group 1">
            <a:extLst>
              <a:ext uri="{FF2B5EF4-FFF2-40B4-BE49-F238E27FC236}">
                <a16:creationId xmlns:a16="http://schemas.microsoft.com/office/drawing/2014/main" id="{DBF16EA7-EE11-4790-3F88-9A5907D4A1B4}"/>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86C83F8-05D4-37B5-D424-4B98AB8982E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A4400EE-8158-77A6-19FD-FC6159CA766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AD2435E-3EB9-0295-08BF-C2DB4D79FC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CC98E2E-796E-55E2-3F2E-9E825BE3D39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ED22FB4-5AD0-3096-A58B-B42CBF28FFA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5C6F9410-CE1F-9AED-9542-BB11DA158996}"/>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6: </a:t>
            </a:r>
            <a:r>
              <a:rPr lang="en-US" sz="2400" b="1">
                <a:latin typeface="Times New Roman" panose="02020603050405020304" pitchFamily="18" charset="0"/>
                <a:cs typeface="Times New Roman" panose="02020603050405020304" pitchFamily="18" charset="0"/>
              </a:rPr>
              <a:t>BookUpdateComponent.html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791787B-8501-9BFF-2F8C-D256F15D785E}"/>
              </a:ext>
            </a:extLst>
          </p:cNvPr>
          <p:cNvPicPr>
            <a:picLocks noChangeAspect="1"/>
          </p:cNvPicPr>
          <p:nvPr/>
        </p:nvPicPr>
        <p:blipFill>
          <a:blip r:embed="rId3"/>
          <a:stretch>
            <a:fillRect/>
          </a:stretch>
        </p:blipFill>
        <p:spPr>
          <a:xfrm>
            <a:off x="214276" y="1297907"/>
            <a:ext cx="11503742" cy="5032511"/>
          </a:xfrm>
          <a:prstGeom prst="rect">
            <a:avLst/>
          </a:prstGeom>
        </p:spPr>
      </p:pic>
    </p:spTree>
    <p:extLst>
      <p:ext uri="{BB962C8B-B14F-4D97-AF65-F5344CB8AC3E}">
        <p14:creationId xmlns:p14="http://schemas.microsoft.com/office/powerpoint/2010/main" val="15690207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D68EDF7-9CDA-A0D1-0516-290B1AE200E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03FFFFF-9B6B-BA9E-8D07-03AFF48DEE6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54D187F-BD92-A674-165E-FA3524CB2149}"/>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121</a:t>
            </a:fld>
            <a:endParaRPr/>
          </a:p>
        </p:txBody>
      </p:sp>
      <p:grpSp>
        <p:nvGrpSpPr>
          <p:cNvPr id="2" name="Group 1">
            <a:extLst>
              <a:ext uri="{FF2B5EF4-FFF2-40B4-BE49-F238E27FC236}">
                <a16:creationId xmlns:a16="http://schemas.microsoft.com/office/drawing/2014/main" id="{7002C7E5-85AE-837E-F40B-664F1F6E7F90}"/>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3FC17DC-92B6-E2D5-0401-B129A1BA5848}"/>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F8DD4B4-B2E7-DCA6-57CC-E53798596CC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8B0BF9E-A623-8281-A0B5-D6BEACE5238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E0737C8-B900-9D5F-3283-3B3CC02B91E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7D7785D-9EF9-ACC2-57DB-FAE5906D6E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F56BD86-3232-FFB6-D5CD-3CE5E1980929}"/>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6: </a:t>
            </a:r>
            <a:r>
              <a:rPr lang="en-US" sz="2400" b="1">
                <a:latin typeface="Times New Roman" panose="02020603050405020304" pitchFamily="18" charset="0"/>
                <a:cs typeface="Times New Roman" panose="02020603050405020304" pitchFamily="18" charset="0"/>
              </a:rPr>
              <a:t>BookUpdateComponent.html</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2AB880D-9118-A223-9DFE-B865A2C8DE71}"/>
              </a:ext>
            </a:extLst>
          </p:cNvPr>
          <p:cNvPicPr>
            <a:picLocks noChangeAspect="1"/>
          </p:cNvPicPr>
          <p:nvPr/>
        </p:nvPicPr>
        <p:blipFill>
          <a:blip r:embed="rId3"/>
          <a:stretch>
            <a:fillRect/>
          </a:stretch>
        </p:blipFill>
        <p:spPr>
          <a:xfrm>
            <a:off x="234808" y="1278407"/>
            <a:ext cx="11279750" cy="5076736"/>
          </a:xfrm>
          <a:prstGeom prst="rect">
            <a:avLst/>
          </a:prstGeom>
        </p:spPr>
      </p:pic>
    </p:spTree>
    <p:extLst>
      <p:ext uri="{BB962C8B-B14F-4D97-AF65-F5344CB8AC3E}">
        <p14:creationId xmlns:p14="http://schemas.microsoft.com/office/powerpoint/2010/main" val="377039360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BE0FA6D-D7CC-0430-1A52-1138E96F27F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928F401-11FD-30A2-762E-D9BD64379D5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FC79707-1D5A-26A7-3679-5B35BA24A85C}"/>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122</a:t>
            </a:fld>
            <a:endParaRPr/>
          </a:p>
        </p:txBody>
      </p:sp>
      <p:grpSp>
        <p:nvGrpSpPr>
          <p:cNvPr id="2" name="Group 1">
            <a:extLst>
              <a:ext uri="{FF2B5EF4-FFF2-40B4-BE49-F238E27FC236}">
                <a16:creationId xmlns:a16="http://schemas.microsoft.com/office/drawing/2014/main" id="{91693869-0464-A715-91A1-006CD689F87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BB8D9C2-A508-2069-2805-8D91E367928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0EB6249-E92A-542B-6F2E-0219DA481C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3A43765-D2C7-C49C-03F5-CE7986A1CE4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8C14D81-DEC6-693F-3B28-0C327944053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0915A39-8D85-71C9-F793-4D0B5023C12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1970492C-0A53-343E-9624-295D2537494C}"/>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6: </a:t>
            </a:r>
            <a:r>
              <a:rPr lang="en-US" sz="2400" b="1">
                <a:latin typeface="Times New Roman" panose="02020603050405020304" pitchFamily="18" charset="0"/>
                <a:cs typeface="Times New Roman" panose="02020603050405020304" pitchFamily="18" charset="0"/>
              </a:rPr>
              <a:t>BookUpdateComponent.html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AC350B8-E57E-19AC-4D23-FF279FA9E2BC}"/>
              </a:ext>
            </a:extLst>
          </p:cNvPr>
          <p:cNvPicPr>
            <a:picLocks noChangeAspect="1"/>
          </p:cNvPicPr>
          <p:nvPr/>
        </p:nvPicPr>
        <p:blipFill>
          <a:blip r:embed="rId3"/>
          <a:stretch>
            <a:fillRect/>
          </a:stretch>
        </p:blipFill>
        <p:spPr>
          <a:xfrm>
            <a:off x="490946" y="1296106"/>
            <a:ext cx="8733949" cy="5081398"/>
          </a:xfrm>
          <a:prstGeom prst="rect">
            <a:avLst/>
          </a:prstGeom>
        </p:spPr>
      </p:pic>
    </p:spTree>
    <p:extLst>
      <p:ext uri="{BB962C8B-B14F-4D97-AF65-F5344CB8AC3E}">
        <p14:creationId xmlns:p14="http://schemas.microsoft.com/office/powerpoint/2010/main" val="429425596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140FD5A-E2F8-A85B-B74E-FB15742BF87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FCDF10B-47FA-16DD-0133-1904CE3F017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82C7134-F359-C9DD-B5A5-61C767BAA028}"/>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123</a:t>
            </a:fld>
            <a:endParaRPr/>
          </a:p>
        </p:txBody>
      </p:sp>
      <p:grpSp>
        <p:nvGrpSpPr>
          <p:cNvPr id="2" name="Group 1">
            <a:extLst>
              <a:ext uri="{FF2B5EF4-FFF2-40B4-BE49-F238E27FC236}">
                <a16:creationId xmlns:a16="http://schemas.microsoft.com/office/drawing/2014/main" id="{A0BC2F51-884C-5F4C-6771-E79BEB7D65B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73AE1B8-C19F-99CE-17F1-A178DEDB14B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56A529E-25D5-3347-D8C6-F68F0F5BA9C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D9F3AD5-BDA9-06A3-5022-21991D5E76E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2926CC-1981-A756-72CC-3B2414E6798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BF41D79-6A0F-89B5-46CC-B9ECFDE2362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6958F6E2-BB38-54AA-8D75-FF5E7F44FF37}"/>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7: Cấu hình Routing cho Book Update </a:t>
            </a:r>
            <a:r>
              <a:rPr lang="en-US" sz="2400" b="1">
                <a:latin typeface="Times New Roman" panose="02020603050405020304" pitchFamily="18" charset="0"/>
                <a:cs typeface="Times New Roman" panose="02020603050405020304" pitchFamily="18" charset="0"/>
              </a:rPr>
              <a:t>app-routing-module.ts</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1BCC761-A5F8-F93C-2EAE-0F805BF3513C}"/>
              </a:ext>
            </a:extLst>
          </p:cNvPr>
          <p:cNvPicPr>
            <a:picLocks noChangeAspect="1"/>
          </p:cNvPicPr>
          <p:nvPr/>
        </p:nvPicPr>
        <p:blipFill>
          <a:blip r:embed="rId3"/>
          <a:stretch>
            <a:fillRect/>
          </a:stretch>
        </p:blipFill>
        <p:spPr>
          <a:xfrm>
            <a:off x="0" y="1490006"/>
            <a:ext cx="12192000" cy="4700170"/>
          </a:xfrm>
          <a:prstGeom prst="rect">
            <a:avLst/>
          </a:prstGeom>
        </p:spPr>
      </p:pic>
      <p:sp>
        <p:nvSpPr>
          <p:cNvPr id="12" name="Rectangle 11">
            <a:extLst>
              <a:ext uri="{FF2B5EF4-FFF2-40B4-BE49-F238E27FC236}">
                <a16:creationId xmlns:a16="http://schemas.microsoft.com/office/drawing/2014/main" id="{CD49749C-9E5A-2188-3538-3E886F28EB0A}"/>
              </a:ext>
            </a:extLst>
          </p:cNvPr>
          <p:cNvSpPr/>
          <p:nvPr/>
        </p:nvSpPr>
        <p:spPr>
          <a:xfrm>
            <a:off x="234808" y="5169310"/>
            <a:ext cx="8392998"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417212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3A27BD6-AC60-DBBA-9505-BCD5F38B065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485FFD2-58A5-255F-EE10-D80F23F36D6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396D663-7624-771F-0200-355A14CD3CAB}"/>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124</a:t>
            </a:fld>
            <a:endParaRPr/>
          </a:p>
        </p:txBody>
      </p:sp>
      <p:grpSp>
        <p:nvGrpSpPr>
          <p:cNvPr id="2" name="Group 1">
            <a:extLst>
              <a:ext uri="{FF2B5EF4-FFF2-40B4-BE49-F238E27FC236}">
                <a16:creationId xmlns:a16="http://schemas.microsoft.com/office/drawing/2014/main" id="{131952DB-ED59-7CF0-5743-44BE5E2CA01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59E8653-B567-D742-5AB3-D742594DA47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A189E89-ACF4-1C7A-1130-CBC15E1EB48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3BB342C-766F-D352-06C6-51B6F0BFC21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2B93BD9-FE39-D297-A5BA-8A495C7DEF5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1F72249-780A-4E97-128A-02D6D6D4F86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304482A-F74E-35EC-491D-9D348CD340B2}"/>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8: app.html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5D014E8-5475-D1FA-DF9C-FE609E66398F}"/>
              </a:ext>
            </a:extLst>
          </p:cNvPr>
          <p:cNvPicPr>
            <a:picLocks noChangeAspect="1"/>
          </p:cNvPicPr>
          <p:nvPr/>
        </p:nvPicPr>
        <p:blipFill>
          <a:blip r:embed="rId3"/>
          <a:stretch>
            <a:fillRect/>
          </a:stretch>
        </p:blipFill>
        <p:spPr>
          <a:xfrm>
            <a:off x="2232872" y="1294572"/>
            <a:ext cx="8023360" cy="5091039"/>
          </a:xfrm>
          <a:prstGeom prst="rect">
            <a:avLst/>
          </a:prstGeom>
        </p:spPr>
      </p:pic>
    </p:spTree>
    <p:extLst>
      <p:ext uri="{BB962C8B-B14F-4D97-AF65-F5344CB8AC3E}">
        <p14:creationId xmlns:p14="http://schemas.microsoft.com/office/powerpoint/2010/main" val="21156570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B17460B-3FCF-A6A2-90AB-033D235A698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F6C91B7-44A3-2B33-87E4-3A5100CC8DD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092CC7F-57F4-01DD-162F-91605178F16A}"/>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125</a:t>
            </a:fld>
            <a:endParaRPr/>
          </a:p>
        </p:txBody>
      </p:sp>
      <p:grpSp>
        <p:nvGrpSpPr>
          <p:cNvPr id="2" name="Group 1">
            <a:extLst>
              <a:ext uri="{FF2B5EF4-FFF2-40B4-BE49-F238E27FC236}">
                <a16:creationId xmlns:a16="http://schemas.microsoft.com/office/drawing/2014/main" id="{3B972BEA-3517-750A-F9EE-E948FC771E9E}"/>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D091866C-7EE8-EA80-8F22-36B7B8F75C4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8AABA2A-2CCE-163E-F040-A1A18BCBEF9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5AE87BE-FEDF-966C-DAE7-1D8878FF36E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D1D6CEE-9498-A91F-B73D-54954E1E157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6455909-A539-B486-3C4E-96F6008651B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B3015AA7-119C-0F44-FBE9-5FDCA3A890D7}"/>
              </a:ext>
            </a:extLst>
          </p:cNvPr>
          <p:cNvSpPr txBox="1"/>
          <p:nvPr/>
        </p:nvSpPr>
        <p:spPr>
          <a:xfrm>
            <a:off x="462279" y="841012"/>
            <a:ext cx="11564547" cy="1569660"/>
          </a:xfrm>
          <a:prstGeom prst="rect">
            <a:avLst/>
          </a:prstGeom>
          <a:noFill/>
        </p:spPr>
        <p:txBody>
          <a:bodyPr wrap="square">
            <a:spAutoFit/>
          </a:bodyPr>
          <a:lstStyle/>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Step 9: Chạy ứng dụng</a:t>
            </a:r>
          </a:p>
          <a:p>
            <a:pPr algn="just"/>
            <a:r>
              <a:rPr lang="en-US" sz="2400">
                <a:latin typeface="Times New Roman" panose="02020603050405020304" pitchFamily="18" charset="0"/>
                <a:cs typeface="Times New Roman" panose="02020603050405020304" pitchFamily="18" charset="0"/>
              </a:rPr>
              <a:t>-(1) Nhấn chọn Book trong Table</a:t>
            </a:r>
          </a:p>
          <a:p>
            <a:pPr algn="just"/>
            <a:r>
              <a:rPr lang="en-US" sz="2400">
                <a:latin typeface="Times New Roman" panose="02020603050405020304" pitchFamily="18" charset="0"/>
                <a:cs typeface="Times New Roman" panose="02020603050405020304" pitchFamily="18" charset="0"/>
              </a:rPr>
              <a:t>-(2) Đổi dữ liệu, chọn hình mới</a:t>
            </a:r>
          </a:p>
          <a:p>
            <a:pPr algn="just"/>
            <a:r>
              <a:rPr lang="en-US" sz="2400">
                <a:latin typeface="Times New Roman" panose="02020603050405020304" pitchFamily="18" charset="0"/>
                <a:cs typeface="Times New Roman" panose="02020603050405020304" pitchFamily="18" charset="0"/>
              </a:rPr>
              <a:t>-(3) Nhấn submit Update</a:t>
            </a:r>
            <a:endParaRPr lang="vi-V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4E65DC3-581E-126D-6400-CBAB1EA59576}"/>
              </a:ext>
            </a:extLst>
          </p:cNvPr>
          <p:cNvPicPr>
            <a:picLocks noChangeAspect="1"/>
          </p:cNvPicPr>
          <p:nvPr/>
        </p:nvPicPr>
        <p:blipFill>
          <a:blip r:embed="rId3"/>
          <a:stretch>
            <a:fillRect/>
          </a:stretch>
        </p:blipFill>
        <p:spPr>
          <a:xfrm>
            <a:off x="4867907" y="825896"/>
            <a:ext cx="5487272" cy="5651071"/>
          </a:xfrm>
          <a:prstGeom prst="rect">
            <a:avLst/>
          </a:prstGeom>
        </p:spPr>
      </p:pic>
    </p:spTree>
    <p:extLst>
      <p:ext uri="{BB962C8B-B14F-4D97-AF65-F5344CB8AC3E}">
        <p14:creationId xmlns:p14="http://schemas.microsoft.com/office/powerpoint/2010/main" val="221173303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8290F53-F294-5464-8FED-FAA10D38DE5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21E8731-8FA3-BB65-3BC1-A4233B2B2E1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3508EE3-919D-A44A-61B1-B45F186CDEF2}"/>
              </a:ext>
            </a:extLst>
          </p:cNvPr>
          <p:cNvSpPr txBox="1">
            <a:spLocks noGrp="1"/>
          </p:cNvSpPr>
          <p:nvPr>
            <p:ph type="sldNum" idx="12"/>
          </p:nvPr>
        </p:nvSpPr>
        <p:spPr>
          <a:xfrm>
            <a:off x="3023419" y="6377505"/>
            <a:ext cx="47331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126</a:t>
            </a:fld>
            <a:endParaRPr/>
          </a:p>
        </p:txBody>
      </p:sp>
      <p:grpSp>
        <p:nvGrpSpPr>
          <p:cNvPr id="2" name="Group 1">
            <a:extLst>
              <a:ext uri="{FF2B5EF4-FFF2-40B4-BE49-F238E27FC236}">
                <a16:creationId xmlns:a16="http://schemas.microsoft.com/office/drawing/2014/main" id="{00EE6223-283B-238D-0324-84684CABD02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0BB86B1B-4DE1-3420-680D-81D64530F5D5}"/>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4</a:t>
              </a:r>
              <a:r>
                <a:rPr lang="vi-VN" sz="2800" b="1">
                  <a:latin typeface="Times New Roman" panose="02020603050405020304" pitchFamily="18" charset="0"/>
                  <a:cs typeface="Times New Roman" panose="02020603050405020304" pitchFamily="18" charset="0"/>
                </a:rPr>
                <a:t>. Restful API – HTTP PUT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2E21351-E01E-1EF0-8254-7CDDBDF2F1D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BD3F7F6-D905-7B14-0983-C61082EF4D4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C6D1EFA-08FF-A133-E587-0B3C35C0DD0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0A3C549-DDBC-2612-BAB4-95FFFAD25C3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A86CF62-A06F-C3A1-C1CA-AFD1014BEC8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Thảo luận mở rộng:</a:t>
            </a:r>
            <a:endParaRPr lang="vi-VN"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32DED55-55EF-B2E5-2FEC-19C9ACDDB110}"/>
              </a:ext>
            </a:extLst>
          </p:cNvPr>
          <p:cNvSpPr txBox="1"/>
          <p:nvPr/>
        </p:nvSpPr>
        <p:spPr>
          <a:xfrm>
            <a:off x="2500563" y="1639941"/>
            <a:ext cx="6300536" cy="2795958"/>
          </a:xfrm>
          <a:prstGeom prst="rect">
            <a:avLst/>
          </a:prstGeom>
          <a:noFill/>
        </p:spPr>
        <p:txBody>
          <a:bodyPr wrap="square">
            <a:spAutoFit/>
          </a:bodyPr>
          <a:lstStyle/>
          <a:p>
            <a:pPr algn="l">
              <a:lnSpc>
                <a:spcPct val="150000"/>
              </a:lnSpc>
              <a:buNone/>
            </a:pPr>
            <a:r>
              <a:rPr lang="en-US" sz="2400" b="0" i="0">
                <a:solidFill>
                  <a:srgbClr val="1F1F1F"/>
                </a:solidFill>
                <a:effectLst/>
                <a:latin typeface="Times New Roman" panose="02020603050405020304" pitchFamily="18" charset="0"/>
                <a:cs typeface="Times New Roman" panose="02020603050405020304" pitchFamily="18" charset="0"/>
              </a:rPr>
              <a:t>Nếu thay thế:</a:t>
            </a:r>
          </a:p>
          <a:p>
            <a:pPr algn="ctr">
              <a:lnSpc>
                <a:spcPct val="150000"/>
              </a:lnSpc>
              <a:buNone/>
            </a:pPr>
            <a:r>
              <a:rPr lang="en-US" sz="2400" b="1" i="0">
                <a:solidFill>
                  <a:srgbClr val="1F1F1F"/>
                </a:solidFill>
                <a:effectLst/>
                <a:latin typeface="Times New Roman" panose="02020603050405020304" pitchFamily="18" charset="0"/>
                <a:cs typeface="Times New Roman" panose="02020603050405020304" pitchFamily="18" charset="0"/>
              </a:rPr>
              <a:t>book=new Book();</a:t>
            </a:r>
          </a:p>
          <a:p>
            <a:pPr>
              <a:lnSpc>
                <a:spcPct val="150000"/>
              </a:lnSpc>
              <a:buNone/>
            </a:pPr>
            <a:r>
              <a:rPr lang="en-US" sz="2400">
                <a:latin typeface="Times New Roman" panose="02020603050405020304" pitchFamily="18" charset="0"/>
                <a:cs typeface="Times New Roman" panose="02020603050405020304" pitchFamily="18" charset="0"/>
              </a:rPr>
              <a:t>Thành: </a:t>
            </a:r>
          </a:p>
          <a:p>
            <a:pPr algn="ctr">
              <a:lnSpc>
                <a:spcPct val="150000"/>
              </a:lnSpc>
              <a:buNone/>
            </a:pPr>
            <a:r>
              <a:rPr lang="en-US" sz="2400" b="1">
                <a:latin typeface="Times New Roman" panose="02020603050405020304" pitchFamily="18" charset="0"/>
                <a:cs typeface="Times New Roman" panose="02020603050405020304" pitchFamily="18" charset="0"/>
              </a:rPr>
              <a:t>book=signal&lt;Book|null&gt;(null)</a:t>
            </a:r>
          </a:p>
          <a:p>
            <a:pPr>
              <a:lnSpc>
                <a:spcPct val="150000"/>
              </a:lnSpc>
            </a:pPr>
            <a:r>
              <a:rPr lang="en-US" sz="2400">
                <a:latin typeface="Times New Roman" panose="02020603050405020304" pitchFamily="18" charset="0"/>
                <a:cs typeface="Times New Roman" panose="02020603050405020304" pitchFamily="18" charset="0"/>
              </a:rPr>
              <a:t>Thì xử lý như thế nào?</a:t>
            </a:r>
          </a:p>
        </p:txBody>
      </p:sp>
    </p:spTree>
    <p:extLst>
      <p:ext uri="{BB962C8B-B14F-4D97-AF65-F5344CB8AC3E}">
        <p14:creationId xmlns:p14="http://schemas.microsoft.com/office/powerpoint/2010/main" val="8109486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F53624-650E-75EB-D25A-34CB0756222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1D17014-6D0E-7324-6682-9932E8B1850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65E9C4C-CADF-499A-38FE-4C27046AF733}"/>
              </a:ext>
            </a:extLst>
          </p:cNvPr>
          <p:cNvSpPr txBox="1">
            <a:spLocks noGrp="1"/>
          </p:cNvSpPr>
          <p:nvPr>
            <p:ph type="sldNum" idx="12"/>
          </p:nvPr>
        </p:nvSpPr>
        <p:spPr>
          <a:xfrm>
            <a:off x="3007895" y="6377505"/>
            <a:ext cx="48883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127</a:t>
            </a:fld>
            <a:endParaRPr/>
          </a:p>
        </p:txBody>
      </p:sp>
      <p:grpSp>
        <p:nvGrpSpPr>
          <p:cNvPr id="2" name="Group 1">
            <a:extLst>
              <a:ext uri="{FF2B5EF4-FFF2-40B4-BE49-F238E27FC236}">
                <a16:creationId xmlns:a16="http://schemas.microsoft.com/office/drawing/2014/main" id="{D4A85ECA-2EB3-EF41-5F69-53326A5960E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77E5ECD-C798-BF77-05BF-22AE48FA9440}"/>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FD17231-75D0-66B8-6776-431997BA30D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2BBAB3-D3B8-81EA-F22A-F64737A9A92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CBC2611-BB09-7646-F480-325DD83524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2BCA777-BC05-6776-8488-5CDCF116AC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1A83BAA-1568-B605-8235-F54BAB4F5383}"/>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Tạo </a:t>
            </a:r>
            <a:r>
              <a:rPr lang="vi-VN" sz="2400">
                <a:latin typeface="Times New Roman" panose="02020603050405020304" pitchFamily="18" charset="0"/>
                <a:cs typeface="Times New Roman" panose="02020603050405020304" pitchFamily="18" charset="0"/>
              </a:rPr>
              <a:t>Restful </a:t>
            </a:r>
            <a:r>
              <a:rPr lang="vi-VN" sz="2400" dirty="0">
                <a:latin typeface="Times New Roman" panose="02020603050405020304" pitchFamily="18" charset="0"/>
                <a:cs typeface="Times New Roman" panose="02020603050405020304" pitchFamily="18" charset="0"/>
              </a:rPr>
              <a:t>API – </a:t>
            </a:r>
            <a:r>
              <a:rPr lang="vi-VN" sz="2400">
                <a:latin typeface="Times New Roman" panose="02020603050405020304" pitchFamily="18" charset="0"/>
                <a:cs typeface="Times New Roman" panose="02020603050405020304" pitchFamily="18" charset="0"/>
              </a:rPr>
              <a:t>HTTP DELETE</a:t>
            </a:r>
            <a:r>
              <a:rPr lang="en-US" sz="2400">
                <a:latin typeface="Times New Roman" panose="02020603050405020304" pitchFamily="18" charset="0"/>
                <a:cs typeface="Times New Roman" panose="02020603050405020304" pitchFamily="18" charset="0"/>
              </a:rPr>
              <a:t> để cung cấp chức năng xóa Book</a:t>
            </a:r>
          </a:p>
        </p:txBody>
      </p:sp>
      <p:pic>
        <p:nvPicPr>
          <p:cNvPr id="12" name="Picture 11">
            <a:extLst>
              <a:ext uri="{FF2B5EF4-FFF2-40B4-BE49-F238E27FC236}">
                <a16:creationId xmlns:a16="http://schemas.microsoft.com/office/drawing/2014/main" id="{6C4B73C8-36BE-1DD7-9228-856F959873E5}"/>
              </a:ext>
            </a:extLst>
          </p:cNvPr>
          <p:cNvPicPr>
            <a:picLocks noChangeAspect="1"/>
          </p:cNvPicPr>
          <p:nvPr/>
        </p:nvPicPr>
        <p:blipFill>
          <a:blip r:embed="rId3"/>
          <a:stretch>
            <a:fillRect/>
          </a:stretch>
        </p:blipFill>
        <p:spPr>
          <a:xfrm>
            <a:off x="2799260" y="1309175"/>
            <a:ext cx="6890583" cy="5120188"/>
          </a:xfrm>
          <a:prstGeom prst="rect">
            <a:avLst/>
          </a:prstGeom>
        </p:spPr>
      </p:pic>
    </p:spTree>
    <p:extLst>
      <p:ext uri="{BB962C8B-B14F-4D97-AF65-F5344CB8AC3E}">
        <p14:creationId xmlns:p14="http://schemas.microsoft.com/office/powerpoint/2010/main" val="288027489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3A533A-1B14-A906-2AE9-48B932E50F2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05B0D03-911E-B3BB-D761-BCE8254940C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E55AB53-526C-8C56-D5FD-69F8B5BE6984}"/>
              </a:ext>
            </a:extLst>
          </p:cNvPr>
          <p:cNvSpPr txBox="1">
            <a:spLocks noGrp="1"/>
          </p:cNvSpPr>
          <p:nvPr>
            <p:ph type="sldNum" idx="12"/>
          </p:nvPr>
        </p:nvSpPr>
        <p:spPr>
          <a:xfrm>
            <a:off x="3007895" y="6377505"/>
            <a:ext cx="488837"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128</a:t>
            </a:fld>
            <a:endParaRPr/>
          </a:p>
        </p:txBody>
      </p:sp>
      <p:grpSp>
        <p:nvGrpSpPr>
          <p:cNvPr id="2" name="Group 1">
            <a:extLst>
              <a:ext uri="{FF2B5EF4-FFF2-40B4-BE49-F238E27FC236}">
                <a16:creationId xmlns:a16="http://schemas.microsoft.com/office/drawing/2014/main" id="{634DB9DF-63A1-04FA-9E0E-0BE3243053D2}"/>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1910C0CB-8932-82FA-C591-56E11AD94C6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DFF73E4-BB45-653C-04E1-81044DC22B0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A0506D0-7B3D-253E-C940-6BF7107AA00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E7F064-5A5E-6AA8-B429-35F0126A96D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8B82158-3DEA-8732-0155-F3D4D52EA3B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6FCDD85-DD54-FB26-E3C5-E4506D49D14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Tạo API trong </a:t>
            </a:r>
            <a:r>
              <a:rPr lang="en-US" sz="2400" b="1">
                <a:latin typeface="Times New Roman" panose="02020603050405020304" pitchFamily="18" charset="0"/>
                <a:cs typeface="Times New Roman" panose="02020603050405020304" pitchFamily="18" charset="0"/>
              </a:rPr>
              <a:t>index.js </a:t>
            </a:r>
            <a:r>
              <a:rPr lang="en-US" sz="2400">
                <a:latin typeface="Times New Roman" panose="02020603050405020304" pitchFamily="18" charset="0"/>
                <a:cs typeface="Times New Roman" panose="02020603050405020304" pitchFamily="18" charset="0"/>
              </a:rPr>
              <a:t>của </a:t>
            </a:r>
            <a:r>
              <a:rPr lang="en-US" sz="2400" b="1">
                <a:latin typeface="Times New Roman" panose="02020603050405020304" pitchFamily="18" charset="0"/>
                <a:cs typeface="Times New Roman" panose="02020603050405020304" pitchFamily="18" charset="0"/>
              </a:rPr>
              <a:t>my-serverr</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A5B8F3F-D2D1-9CA3-63E9-69E4875F2630}"/>
              </a:ext>
            </a:extLst>
          </p:cNvPr>
          <p:cNvPicPr>
            <a:picLocks noChangeAspect="1"/>
          </p:cNvPicPr>
          <p:nvPr/>
        </p:nvPicPr>
        <p:blipFill>
          <a:blip r:embed="rId3"/>
          <a:stretch>
            <a:fillRect/>
          </a:stretch>
        </p:blipFill>
        <p:spPr>
          <a:xfrm>
            <a:off x="1121970" y="1523279"/>
            <a:ext cx="8664691" cy="2720576"/>
          </a:xfrm>
          <a:prstGeom prst="rect">
            <a:avLst/>
          </a:prstGeom>
        </p:spPr>
      </p:pic>
    </p:spTree>
    <p:extLst>
      <p:ext uri="{BB962C8B-B14F-4D97-AF65-F5344CB8AC3E}">
        <p14:creationId xmlns:p14="http://schemas.microsoft.com/office/powerpoint/2010/main" val="417576587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604EB1C-82EA-E9EB-B680-0A2CD8E6EE3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55AE73E-A726-FC7E-E909-D8AFF1B6499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E6AEAC0-3F11-F9BA-D7D2-EFD7FBF6EE7D}"/>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129</a:t>
            </a:fld>
            <a:endParaRPr/>
          </a:p>
        </p:txBody>
      </p:sp>
      <p:grpSp>
        <p:nvGrpSpPr>
          <p:cNvPr id="2" name="Group 1">
            <a:extLst>
              <a:ext uri="{FF2B5EF4-FFF2-40B4-BE49-F238E27FC236}">
                <a16:creationId xmlns:a16="http://schemas.microsoft.com/office/drawing/2014/main" id="{16CC10F0-70D0-FE44-BCE8-C060BB1DFEC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9D8D863-FCED-A524-8CD0-D8275E890F4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34126E5-B952-041B-0F4D-29A5C05F6FE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FAF2A25-7D56-0476-3623-4598D5FB4E7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1C16C37-297F-FDD2-A26C-EBFA768FFF5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709EC39-B3BD-D640-E1AD-86A4C16B30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8E4D571-A9BE-E409-231B-11E2E5BB243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Kiểm thử API trên Postman: </a:t>
            </a:r>
            <a:r>
              <a:rPr lang="en-US" sz="2400">
                <a:latin typeface="Times New Roman" panose="02020603050405020304" pitchFamily="18" charset="0"/>
                <a:cs typeface="Times New Roman" panose="02020603050405020304" pitchFamily="18" charset="0"/>
                <a:hlinkClick r:id="rId3"/>
              </a:rPr>
              <a:t>http://localhost:3000/books/b6</a:t>
            </a:r>
            <a:r>
              <a:rPr lang="en-US" sz="2400">
                <a:latin typeface="Times New Roman" panose="02020603050405020304" pitchFamily="18" charset="0"/>
                <a:cs typeface="Times New Roman" panose="02020603050405020304" pitchFamily="18" charset="0"/>
              </a:rPr>
              <a:t> </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9007A59-8956-94B0-20B8-3D82A8464A47}"/>
              </a:ext>
            </a:extLst>
          </p:cNvPr>
          <p:cNvPicPr>
            <a:picLocks noChangeAspect="1"/>
          </p:cNvPicPr>
          <p:nvPr/>
        </p:nvPicPr>
        <p:blipFill>
          <a:blip r:embed="rId4"/>
          <a:stretch>
            <a:fillRect/>
          </a:stretch>
        </p:blipFill>
        <p:spPr>
          <a:xfrm>
            <a:off x="853484" y="1352303"/>
            <a:ext cx="8531147" cy="5390327"/>
          </a:xfrm>
          <a:prstGeom prst="rect">
            <a:avLst/>
          </a:prstGeom>
        </p:spPr>
      </p:pic>
      <p:cxnSp>
        <p:nvCxnSpPr>
          <p:cNvPr id="13" name="Straight Arrow Connector 12">
            <a:extLst>
              <a:ext uri="{FF2B5EF4-FFF2-40B4-BE49-F238E27FC236}">
                <a16:creationId xmlns:a16="http://schemas.microsoft.com/office/drawing/2014/main" id="{1454A4C3-1A3E-6FE4-9510-2AE851BE4031}"/>
              </a:ext>
            </a:extLst>
          </p:cNvPr>
          <p:cNvCxnSpPr/>
          <p:nvPr/>
        </p:nvCxnSpPr>
        <p:spPr>
          <a:xfrm flipV="1">
            <a:off x="2703095" y="2438400"/>
            <a:ext cx="0" cy="4973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3630450-B39B-908E-662E-9C1CBF02ADDD}"/>
              </a:ext>
            </a:extLst>
          </p:cNvPr>
          <p:cNvCxnSpPr/>
          <p:nvPr/>
        </p:nvCxnSpPr>
        <p:spPr>
          <a:xfrm flipV="1">
            <a:off x="6833937" y="2494547"/>
            <a:ext cx="0" cy="4973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4493CC0-7D88-C7D4-37E6-98D429003D7C}"/>
              </a:ext>
            </a:extLst>
          </p:cNvPr>
          <p:cNvCxnSpPr>
            <a:cxnSpLocks/>
          </p:cNvCxnSpPr>
          <p:nvPr/>
        </p:nvCxnSpPr>
        <p:spPr>
          <a:xfrm flipH="1">
            <a:off x="5317958" y="6176979"/>
            <a:ext cx="138764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93872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A25E3A4-069A-6822-6AE2-9567B3E553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BC7E243-3C72-AFBA-CA7E-42AC55E9EB6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976DCD0-28A7-C4EB-6128-585D5A8D8099}"/>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130</a:t>
            </a:fld>
            <a:endParaRPr/>
          </a:p>
        </p:txBody>
      </p:sp>
      <p:grpSp>
        <p:nvGrpSpPr>
          <p:cNvPr id="2" name="Group 1">
            <a:extLst>
              <a:ext uri="{FF2B5EF4-FFF2-40B4-BE49-F238E27FC236}">
                <a16:creationId xmlns:a16="http://schemas.microsoft.com/office/drawing/2014/main" id="{6C046947-33D2-4597-66BF-4A46FDAB32F9}"/>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20DA4075-A07F-2540-F902-30752879333F}"/>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39033FE-DAF0-9189-E4F2-32A639CDF1A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6FCB6CC-DE87-7985-D75E-17625358044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0F503F6-D167-578F-D339-8FD74A31AE2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FA9719-7062-FC32-C1DB-46E465B79A1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87911EA-0015-C08E-CC67-177D4B863D0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Check lại danh sách: </a:t>
            </a:r>
            <a:r>
              <a:rPr lang="en-US" sz="2400">
                <a:latin typeface="Times New Roman" panose="02020603050405020304" pitchFamily="18" charset="0"/>
                <a:cs typeface="Times New Roman" panose="02020603050405020304" pitchFamily="18" charset="0"/>
                <a:hlinkClick r:id="rId3"/>
              </a:rPr>
              <a:t>http://localhost:3000/books</a:t>
            </a:r>
            <a:r>
              <a:rPr lang="en-US" sz="2400">
                <a:latin typeface="Times New Roman" panose="02020603050405020304" pitchFamily="18" charset="0"/>
                <a:cs typeface="Times New Roman" panose="02020603050405020304" pitchFamily="18" charset="0"/>
              </a:rPr>
              <a:t> </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B14F558-CC7A-EAAD-1300-DDB2DFD85113}"/>
              </a:ext>
            </a:extLst>
          </p:cNvPr>
          <p:cNvPicPr>
            <a:picLocks noChangeAspect="1"/>
          </p:cNvPicPr>
          <p:nvPr/>
        </p:nvPicPr>
        <p:blipFill>
          <a:blip r:embed="rId4"/>
          <a:stretch>
            <a:fillRect/>
          </a:stretch>
        </p:blipFill>
        <p:spPr>
          <a:xfrm>
            <a:off x="1810353" y="1386530"/>
            <a:ext cx="7305269" cy="4939116"/>
          </a:xfrm>
          <a:prstGeom prst="rect">
            <a:avLst/>
          </a:prstGeom>
        </p:spPr>
      </p:pic>
    </p:spTree>
    <p:extLst>
      <p:ext uri="{BB962C8B-B14F-4D97-AF65-F5344CB8AC3E}">
        <p14:creationId xmlns:p14="http://schemas.microsoft.com/office/powerpoint/2010/main" val="418351344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BA54111-1A3F-2659-B001-DA9E8D66C46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3328F40-357A-0DBC-66F1-66A570DCBD7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69EAFC9-2CE2-FD74-BD27-BC79E6F0BAD2}"/>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131</a:t>
            </a:fld>
            <a:endParaRPr/>
          </a:p>
        </p:txBody>
      </p:sp>
      <p:grpSp>
        <p:nvGrpSpPr>
          <p:cNvPr id="2" name="Group 1">
            <a:extLst>
              <a:ext uri="{FF2B5EF4-FFF2-40B4-BE49-F238E27FC236}">
                <a16:creationId xmlns:a16="http://schemas.microsoft.com/office/drawing/2014/main" id="{C2B2B5A0-3C89-9383-7B83-74BBC313293D}"/>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A9552C37-C5A8-7197-D72F-51CD11EEC0B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FA5CD07-979F-AFFA-6E24-06A262795B2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176BE90-173B-8CEF-9727-54C459B6305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A1DEC92-C7AA-4253-CCDB-BDBB3E2D6EE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F3867DC-C4EA-8F73-CF98-583653BFD16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95B8EF2-7575-6711-BD6A-EA9E3410DB11}"/>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Check lại Angular book-list</a:t>
            </a:r>
            <a:endParaRPr lang="vi-VN" sz="24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2286760-34EB-0AF2-9F7D-C5C1688C5382}"/>
              </a:ext>
            </a:extLst>
          </p:cNvPr>
          <p:cNvPicPr>
            <a:picLocks noChangeAspect="1"/>
          </p:cNvPicPr>
          <p:nvPr/>
        </p:nvPicPr>
        <p:blipFill>
          <a:blip r:embed="rId3"/>
          <a:stretch>
            <a:fillRect/>
          </a:stretch>
        </p:blipFill>
        <p:spPr>
          <a:xfrm>
            <a:off x="1059069" y="1335695"/>
            <a:ext cx="7186283" cy="5067739"/>
          </a:xfrm>
          <a:prstGeom prst="rect">
            <a:avLst/>
          </a:prstGeom>
        </p:spPr>
      </p:pic>
    </p:spTree>
    <p:extLst>
      <p:ext uri="{BB962C8B-B14F-4D97-AF65-F5344CB8AC3E}">
        <p14:creationId xmlns:p14="http://schemas.microsoft.com/office/powerpoint/2010/main" val="30991786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965304A-460A-6BDE-84D5-4D66682DF6C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98007C0-6536-AA82-BFA5-C196A3A5CC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EA7BE76-C75C-6AD3-2C28-D018E8ACC0E6}"/>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132</a:t>
            </a:fld>
            <a:endParaRPr/>
          </a:p>
        </p:txBody>
      </p:sp>
      <p:grpSp>
        <p:nvGrpSpPr>
          <p:cNvPr id="2" name="Group 1">
            <a:extLst>
              <a:ext uri="{FF2B5EF4-FFF2-40B4-BE49-F238E27FC236}">
                <a16:creationId xmlns:a16="http://schemas.microsoft.com/office/drawing/2014/main" id="{FC4A84E6-E410-8D73-5B5B-A276266D2897}"/>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32F8313F-D000-C67A-344C-80605B6F97AE}"/>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9FBB449-4879-7D01-5134-604DC7B1CB0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5852D40-5EA8-5F26-12DD-AE69B58B02D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035BA68-C529-A530-D6C7-421E9CB12CC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5F4A23B-CB44-09F3-8223-E1A36AC134D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6F565CB-8333-E62E-1227-F5824118BBAE}"/>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“my-app”, bổ sung hàm triệu gọi xóa Book trong </a:t>
            </a:r>
            <a:r>
              <a:rPr lang="en-US" sz="2400" b="1">
                <a:latin typeface="Times New Roman" panose="02020603050405020304" pitchFamily="18" charset="0"/>
                <a:cs typeface="Times New Roman" panose="02020603050405020304" pitchFamily="18" charset="0"/>
              </a:rPr>
              <a:t>book-api.service.ts</a:t>
            </a:r>
            <a:endParaRPr lang="vi-VN" sz="24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4A77F0A0-4A18-14C7-B076-A0EBE4A233D5}"/>
              </a:ext>
            </a:extLst>
          </p:cNvPr>
          <p:cNvPicPr>
            <a:picLocks noChangeAspect="1"/>
          </p:cNvPicPr>
          <p:nvPr/>
        </p:nvPicPr>
        <p:blipFill>
          <a:blip r:embed="rId3"/>
          <a:stretch>
            <a:fillRect/>
          </a:stretch>
        </p:blipFill>
        <p:spPr>
          <a:xfrm>
            <a:off x="0" y="1307404"/>
            <a:ext cx="11790947" cy="5096030"/>
          </a:xfrm>
          <a:prstGeom prst="rect">
            <a:avLst/>
          </a:prstGeom>
        </p:spPr>
      </p:pic>
    </p:spTree>
    <p:extLst>
      <p:ext uri="{BB962C8B-B14F-4D97-AF65-F5344CB8AC3E}">
        <p14:creationId xmlns:p14="http://schemas.microsoft.com/office/powerpoint/2010/main" val="151256428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545737B-20FB-4CE1-2725-7E3B1A396D2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1AB1ABC-EE49-B346-D6DA-171EC81E2F7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0733603-8E52-22EA-30FA-5B1A25A937DA}"/>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133</a:t>
            </a:fld>
            <a:endParaRPr/>
          </a:p>
        </p:txBody>
      </p:sp>
      <p:grpSp>
        <p:nvGrpSpPr>
          <p:cNvPr id="2" name="Group 1">
            <a:extLst>
              <a:ext uri="{FF2B5EF4-FFF2-40B4-BE49-F238E27FC236}">
                <a16:creationId xmlns:a16="http://schemas.microsoft.com/office/drawing/2014/main" id="{85FEA0AA-B607-65FC-555C-8F09D265CE8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BA166564-C90E-A50F-103F-87D8CCD69EF4}"/>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95DDE04-6D9C-ACA5-DBFF-6A8694458B4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CC6D235-CC30-C18B-E27D-C0CD5E60C5A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2E3791-34F9-5A62-4ECA-3F7B761EFD3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4731847-48AA-982B-E146-6CC98E14A44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43EDBC8-0B39-E06C-DC3A-50C3A56622BF}"/>
              </a:ext>
            </a:extLst>
          </p:cNvPr>
          <p:cNvSpPr txBox="1"/>
          <p:nvPr/>
        </p:nvSpPr>
        <p:spPr>
          <a:xfrm>
            <a:off x="462279" y="841012"/>
            <a:ext cx="11564547" cy="830997"/>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component “</a:t>
            </a:r>
            <a:r>
              <a:rPr lang="en-US" sz="2400" b="1">
                <a:latin typeface="Times New Roman" panose="02020603050405020304" pitchFamily="18" charset="0"/>
                <a:cs typeface="Times New Roman" panose="02020603050405020304" pitchFamily="18" charset="0"/>
              </a:rPr>
              <a:t>BookDeleteComponent</a:t>
            </a:r>
            <a:r>
              <a:rPr lang="en-US" sz="2400">
                <a:latin typeface="Times New Roman" panose="02020603050405020304" pitchFamily="18" charset="0"/>
                <a:cs typeface="Times New Roman" panose="02020603050405020304" pitchFamily="18" charset="0"/>
              </a:rPr>
              <a:t>”, giao diện giống như Danh sách “</a:t>
            </a:r>
            <a:r>
              <a:rPr lang="en-US" sz="2400" b="1">
                <a:latin typeface="Times New Roman" panose="02020603050405020304" pitchFamily="18" charset="0"/>
                <a:cs typeface="Times New Roman" panose="02020603050405020304" pitchFamily="18" charset="0"/>
              </a:rPr>
              <a:t>BooksComponent</a:t>
            </a:r>
            <a:r>
              <a:rPr lang="en-US" sz="2400">
                <a:latin typeface="Times New Roman" panose="02020603050405020304" pitchFamily="18" charset="0"/>
                <a:cs typeface="Times New Roman" panose="02020603050405020304" pitchFamily="18" charset="0"/>
              </a:rPr>
              <a:t>” nhưng có bổ sung thêm cột Delete, có xác thực xóa.</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871F08F-0A48-EE06-484D-6F78045AB26D}"/>
              </a:ext>
            </a:extLst>
          </p:cNvPr>
          <p:cNvPicPr>
            <a:picLocks noChangeAspect="1"/>
          </p:cNvPicPr>
          <p:nvPr/>
        </p:nvPicPr>
        <p:blipFill>
          <a:blip r:embed="rId3"/>
          <a:stretch>
            <a:fillRect/>
          </a:stretch>
        </p:blipFill>
        <p:spPr>
          <a:xfrm>
            <a:off x="728132" y="1775946"/>
            <a:ext cx="3322608" cy="1836579"/>
          </a:xfrm>
          <a:prstGeom prst="rect">
            <a:avLst/>
          </a:prstGeom>
        </p:spPr>
      </p:pic>
      <p:pic>
        <p:nvPicPr>
          <p:cNvPr id="13" name="Picture 12">
            <a:extLst>
              <a:ext uri="{FF2B5EF4-FFF2-40B4-BE49-F238E27FC236}">
                <a16:creationId xmlns:a16="http://schemas.microsoft.com/office/drawing/2014/main" id="{4D32C7DD-35F5-2383-ECB6-DE23D8A02C23}"/>
              </a:ext>
            </a:extLst>
          </p:cNvPr>
          <p:cNvPicPr>
            <a:picLocks noChangeAspect="1"/>
          </p:cNvPicPr>
          <p:nvPr/>
        </p:nvPicPr>
        <p:blipFill>
          <a:blip r:embed="rId4"/>
          <a:stretch>
            <a:fillRect/>
          </a:stretch>
        </p:blipFill>
        <p:spPr>
          <a:xfrm>
            <a:off x="6096000" y="2031238"/>
            <a:ext cx="5692633" cy="662997"/>
          </a:xfrm>
          <a:prstGeom prst="rect">
            <a:avLst/>
          </a:prstGeom>
        </p:spPr>
      </p:pic>
      <p:pic>
        <p:nvPicPr>
          <p:cNvPr id="15" name="Picture 14">
            <a:extLst>
              <a:ext uri="{FF2B5EF4-FFF2-40B4-BE49-F238E27FC236}">
                <a16:creationId xmlns:a16="http://schemas.microsoft.com/office/drawing/2014/main" id="{213CEB9A-E44D-0FF0-D0A3-5232335A5B9C}"/>
              </a:ext>
            </a:extLst>
          </p:cNvPr>
          <p:cNvPicPr>
            <a:picLocks noChangeAspect="1"/>
          </p:cNvPicPr>
          <p:nvPr/>
        </p:nvPicPr>
        <p:blipFill>
          <a:blip r:embed="rId5"/>
          <a:stretch>
            <a:fillRect/>
          </a:stretch>
        </p:blipFill>
        <p:spPr>
          <a:xfrm>
            <a:off x="5152990" y="3919641"/>
            <a:ext cx="6873836" cy="2453853"/>
          </a:xfrm>
          <a:prstGeom prst="rect">
            <a:avLst/>
          </a:prstGeom>
        </p:spPr>
      </p:pic>
      <p:pic>
        <p:nvPicPr>
          <p:cNvPr id="17" name="Picture 16">
            <a:extLst>
              <a:ext uri="{FF2B5EF4-FFF2-40B4-BE49-F238E27FC236}">
                <a16:creationId xmlns:a16="http://schemas.microsoft.com/office/drawing/2014/main" id="{3ECBEC36-F26D-83B9-2CD6-02E0341712A5}"/>
              </a:ext>
            </a:extLst>
          </p:cNvPr>
          <p:cNvPicPr>
            <a:picLocks noChangeAspect="1"/>
          </p:cNvPicPr>
          <p:nvPr/>
        </p:nvPicPr>
        <p:blipFill>
          <a:blip r:embed="rId6"/>
          <a:stretch>
            <a:fillRect/>
          </a:stretch>
        </p:blipFill>
        <p:spPr>
          <a:xfrm>
            <a:off x="711252" y="4026331"/>
            <a:ext cx="3025402" cy="2347163"/>
          </a:xfrm>
          <a:prstGeom prst="rect">
            <a:avLst/>
          </a:prstGeom>
        </p:spPr>
      </p:pic>
      <p:cxnSp>
        <p:nvCxnSpPr>
          <p:cNvPr id="18" name="Connector: Elbow 17">
            <a:extLst>
              <a:ext uri="{FF2B5EF4-FFF2-40B4-BE49-F238E27FC236}">
                <a16:creationId xmlns:a16="http://schemas.microsoft.com/office/drawing/2014/main" id="{86153529-B08F-D309-F65B-22426B183C66}"/>
              </a:ext>
            </a:extLst>
          </p:cNvPr>
          <p:cNvCxnSpPr/>
          <p:nvPr/>
        </p:nvCxnSpPr>
        <p:spPr>
          <a:xfrm flipV="1">
            <a:off x="3736654" y="2601286"/>
            <a:ext cx="4651661" cy="844139"/>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489C7F8-D161-2D5C-9176-E77E8B5BDB92}"/>
              </a:ext>
            </a:extLst>
          </p:cNvPr>
          <p:cNvCxnSpPr/>
          <p:nvPr/>
        </p:nvCxnSpPr>
        <p:spPr>
          <a:xfrm>
            <a:off x="9537048" y="2671103"/>
            <a:ext cx="0" cy="15369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CCFA5B4-A586-A8F8-DE28-4CF0B2814B6B}"/>
              </a:ext>
            </a:extLst>
          </p:cNvPr>
          <p:cNvCxnSpPr/>
          <p:nvPr/>
        </p:nvCxnSpPr>
        <p:spPr>
          <a:xfrm flipH="1">
            <a:off x="3098799" y="5188142"/>
            <a:ext cx="20038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33570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DE7476A-0C9A-6FE7-0ACE-53C298A0D59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1AA73A8-E349-2478-DE5A-52F38384C71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BFF3E1D-0BCE-763B-2D12-2F23708320C8}"/>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134</a:t>
            </a:fld>
            <a:endParaRPr/>
          </a:p>
        </p:txBody>
      </p:sp>
      <p:grpSp>
        <p:nvGrpSpPr>
          <p:cNvPr id="2" name="Group 1">
            <a:extLst>
              <a:ext uri="{FF2B5EF4-FFF2-40B4-BE49-F238E27FC236}">
                <a16:creationId xmlns:a16="http://schemas.microsoft.com/office/drawing/2014/main" id="{7F0A2303-455E-F5D8-6C09-5B9F4D637BBF}"/>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8653688-347B-AE07-399C-5A5739C413D9}"/>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0BEEA64-6B05-50E2-BA06-0EDCB48DE62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805A0F9-315B-3AA9-E35E-5922F6349D8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8EDEC69-E223-AA6F-E766-F6F877549F8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E97B317-6CB2-DE75-78B5-0259A54AD43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B9529DD-8E2F-0257-8B32-42B3C2714518}"/>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book-delete-component.ts</a:t>
            </a:r>
            <a:endParaRPr lang="vi-VN" sz="2400" b="1"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8F8AB212-99B7-9291-A935-EC14A4F0804B}"/>
              </a:ext>
            </a:extLst>
          </p:cNvPr>
          <p:cNvPicPr>
            <a:picLocks noChangeAspect="1"/>
          </p:cNvPicPr>
          <p:nvPr/>
        </p:nvPicPr>
        <p:blipFill>
          <a:blip r:embed="rId3"/>
          <a:stretch>
            <a:fillRect/>
          </a:stretch>
        </p:blipFill>
        <p:spPr>
          <a:xfrm>
            <a:off x="564686" y="1283610"/>
            <a:ext cx="8386809" cy="5119824"/>
          </a:xfrm>
          <a:prstGeom prst="rect">
            <a:avLst/>
          </a:prstGeom>
        </p:spPr>
      </p:pic>
    </p:spTree>
    <p:extLst>
      <p:ext uri="{BB962C8B-B14F-4D97-AF65-F5344CB8AC3E}">
        <p14:creationId xmlns:p14="http://schemas.microsoft.com/office/powerpoint/2010/main" val="315003007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8D5AAC6-AB41-E521-235F-A2841A78523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1C47E2A-4A9A-1772-0284-8375FCAF430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386A4C0-BC9C-CF5A-513C-B6E9AE809BD8}"/>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135</a:t>
            </a:fld>
            <a:endParaRPr/>
          </a:p>
        </p:txBody>
      </p:sp>
      <p:grpSp>
        <p:nvGrpSpPr>
          <p:cNvPr id="2" name="Group 1">
            <a:extLst>
              <a:ext uri="{FF2B5EF4-FFF2-40B4-BE49-F238E27FC236}">
                <a16:creationId xmlns:a16="http://schemas.microsoft.com/office/drawing/2014/main" id="{40AC7A06-2E49-C4CC-F043-A14F38A699BC}"/>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E327181-E9A2-FCC7-1974-5334516B8C2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F2007E4-CF2E-618F-5DAA-5A7489220CC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F4DD6A6-2155-804E-436A-9DFEA0D2CAF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C8DE659-1679-AAFB-BF65-210C875737E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016C099-7BA7-F064-5491-8F5E57CB481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69C020C-9748-2F4C-8DBC-DCA8B19AAD7B}"/>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book-delete-component.ts</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073EC5D-6F61-5E24-EABF-2B934D66036D}"/>
              </a:ext>
            </a:extLst>
          </p:cNvPr>
          <p:cNvPicPr>
            <a:picLocks noChangeAspect="1"/>
          </p:cNvPicPr>
          <p:nvPr/>
        </p:nvPicPr>
        <p:blipFill>
          <a:blip r:embed="rId3"/>
          <a:stretch>
            <a:fillRect/>
          </a:stretch>
        </p:blipFill>
        <p:spPr>
          <a:xfrm>
            <a:off x="214276" y="1302677"/>
            <a:ext cx="10235150" cy="5126686"/>
          </a:xfrm>
          <a:prstGeom prst="rect">
            <a:avLst/>
          </a:prstGeom>
        </p:spPr>
      </p:pic>
    </p:spTree>
    <p:extLst>
      <p:ext uri="{BB962C8B-B14F-4D97-AF65-F5344CB8AC3E}">
        <p14:creationId xmlns:p14="http://schemas.microsoft.com/office/powerpoint/2010/main" val="95398953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CC47580-E3DD-D79A-E292-C7AC51998B5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C8CD480-42B8-EF86-54A6-097785DE167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4DB6A53-E624-6921-9830-AB375D134F41}"/>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136</a:t>
            </a:fld>
            <a:endParaRPr/>
          </a:p>
        </p:txBody>
      </p:sp>
      <p:grpSp>
        <p:nvGrpSpPr>
          <p:cNvPr id="2" name="Group 1">
            <a:extLst>
              <a:ext uri="{FF2B5EF4-FFF2-40B4-BE49-F238E27FC236}">
                <a16:creationId xmlns:a16="http://schemas.microsoft.com/office/drawing/2014/main" id="{BA0ADC79-9F1D-1B48-7627-46FFB2782A16}"/>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A8B6785-39E1-25E0-7CDB-603C54AB782A}"/>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46208C-A0DF-AD09-866E-8D0C7AAC253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E91D817-AC8A-B8D3-F89D-0ACEC6A873E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54EC4C9-7E88-8104-7B4A-F9BA54028C7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65009E3-3084-93AF-5924-D6227A44920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D97F7FC-8132-0E3B-E329-FD495C9232CD}"/>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book-delete-component.html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F298E60-1AFD-20AF-3F54-DED08D1C2556}"/>
              </a:ext>
            </a:extLst>
          </p:cNvPr>
          <p:cNvPicPr>
            <a:picLocks noChangeAspect="1"/>
          </p:cNvPicPr>
          <p:nvPr/>
        </p:nvPicPr>
        <p:blipFill>
          <a:blip r:embed="rId3"/>
          <a:stretch>
            <a:fillRect/>
          </a:stretch>
        </p:blipFill>
        <p:spPr>
          <a:xfrm>
            <a:off x="148552" y="1354535"/>
            <a:ext cx="12192000" cy="3514751"/>
          </a:xfrm>
          <a:prstGeom prst="rect">
            <a:avLst/>
          </a:prstGeom>
        </p:spPr>
      </p:pic>
    </p:spTree>
    <p:extLst>
      <p:ext uri="{BB962C8B-B14F-4D97-AF65-F5344CB8AC3E}">
        <p14:creationId xmlns:p14="http://schemas.microsoft.com/office/powerpoint/2010/main" val="56627612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1F2B686-9CF3-4296-F06E-976FE2C19B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20A3F46-2A27-01E1-3536-EF3E1106463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C263AF9-D8B9-A671-207C-5A60F0592E8D}"/>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137</a:t>
            </a:fld>
            <a:endParaRPr/>
          </a:p>
        </p:txBody>
      </p:sp>
      <p:grpSp>
        <p:nvGrpSpPr>
          <p:cNvPr id="2" name="Group 1">
            <a:extLst>
              <a:ext uri="{FF2B5EF4-FFF2-40B4-BE49-F238E27FC236}">
                <a16:creationId xmlns:a16="http://schemas.microsoft.com/office/drawing/2014/main" id="{F4BFE9D9-B2A4-B7CD-B666-46763C105529}"/>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CFDA95A6-DE51-2761-8B24-7A070819D15C}"/>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226C18E-9F02-1B9F-63F7-916C4A2E87C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DED17DE-9066-921D-A188-73616EEC2D8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F921B04-2C10-D982-36DE-1A8F93D1937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F822CE0-4C82-AAA0-F550-29FB452FBC8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64360F23-77EA-D368-894E-3EA8BB56EEA2}"/>
              </a:ext>
            </a:extLst>
          </p:cNvPr>
          <p:cNvPicPr>
            <a:picLocks noChangeAspect="1"/>
          </p:cNvPicPr>
          <p:nvPr/>
        </p:nvPicPr>
        <p:blipFill>
          <a:blip r:embed="rId3"/>
          <a:stretch>
            <a:fillRect/>
          </a:stretch>
        </p:blipFill>
        <p:spPr>
          <a:xfrm>
            <a:off x="214276" y="841012"/>
            <a:ext cx="11101137" cy="5470925"/>
          </a:xfrm>
          <a:prstGeom prst="rect">
            <a:avLst/>
          </a:prstGeom>
        </p:spPr>
      </p:pic>
    </p:spTree>
    <p:extLst>
      <p:ext uri="{BB962C8B-B14F-4D97-AF65-F5344CB8AC3E}">
        <p14:creationId xmlns:p14="http://schemas.microsoft.com/office/powerpoint/2010/main" val="26496481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80A8E52-F121-7638-0A1B-A7D417A2BA3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867FDA4-D3DB-22C6-5648-0B4F4C7D125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F5AAD1F-3D46-EB41-9264-1D72247D6140}"/>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138</a:t>
            </a:fld>
            <a:endParaRPr/>
          </a:p>
        </p:txBody>
      </p:sp>
      <p:grpSp>
        <p:nvGrpSpPr>
          <p:cNvPr id="2" name="Group 1">
            <a:extLst>
              <a:ext uri="{FF2B5EF4-FFF2-40B4-BE49-F238E27FC236}">
                <a16:creationId xmlns:a16="http://schemas.microsoft.com/office/drawing/2014/main" id="{23CB2F8B-84E4-0894-7886-6E1F50381ED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462C58CA-C49D-AD34-CA8B-019AF57B9963}"/>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3C72191-BE3D-D4E0-FDA2-12F9B5E1861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26F2FD7-1FDA-5172-87C5-F72A29D1ECA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D72E9C3-557D-D4A0-C5A6-770D8920B4B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AE44D76-54D5-2705-443B-01E95805A20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0552BA4-D656-AE18-EB0E-E828AB0E7AA0}"/>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Cấu hình routing</a:t>
            </a:r>
            <a:r>
              <a:rPr lang="en-US" sz="2400" b="1">
                <a:latin typeface="Times New Roman" panose="02020603050405020304" pitchFamily="18" charset="0"/>
                <a:cs typeface="Times New Roman" panose="02020603050405020304" pitchFamily="18" charset="0"/>
              </a:rPr>
              <a:t> app-routing-module.ts</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93F68E3-A331-D14A-CA55-C691A958490F}"/>
              </a:ext>
            </a:extLst>
          </p:cNvPr>
          <p:cNvPicPr>
            <a:picLocks noChangeAspect="1"/>
          </p:cNvPicPr>
          <p:nvPr/>
        </p:nvPicPr>
        <p:blipFill>
          <a:blip r:embed="rId3"/>
          <a:stretch>
            <a:fillRect/>
          </a:stretch>
        </p:blipFill>
        <p:spPr>
          <a:xfrm>
            <a:off x="0" y="1406614"/>
            <a:ext cx="12192000" cy="4783184"/>
          </a:xfrm>
          <a:prstGeom prst="rect">
            <a:avLst/>
          </a:prstGeom>
        </p:spPr>
      </p:pic>
      <p:sp>
        <p:nvSpPr>
          <p:cNvPr id="11" name="Rectangle 10">
            <a:extLst>
              <a:ext uri="{FF2B5EF4-FFF2-40B4-BE49-F238E27FC236}">
                <a16:creationId xmlns:a16="http://schemas.microsoft.com/office/drawing/2014/main" id="{D96D1A2D-9831-9BA0-2D1E-351D2FD00FFA}"/>
              </a:ext>
            </a:extLst>
          </p:cNvPr>
          <p:cNvSpPr/>
          <p:nvPr/>
        </p:nvSpPr>
        <p:spPr>
          <a:xfrm>
            <a:off x="64168" y="5165558"/>
            <a:ext cx="9216190"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242171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988CF2D-6769-F6B7-B33B-BA710780CA4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E3913F8-F16E-74ED-8B5B-7DA6E47DA2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E61BFE6-4B59-14BE-A770-E21C8B1BB0FB}"/>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139</a:t>
            </a:fld>
            <a:endParaRPr/>
          </a:p>
        </p:txBody>
      </p:sp>
      <p:grpSp>
        <p:nvGrpSpPr>
          <p:cNvPr id="2" name="Group 1">
            <a:extLst>
              <a:ext uri="{FF2B5EF4-FFF2-40B4-BE49-F238E27FC236}">
                <a16:creationId xmlns:a16="http://schemas.microsoft.com/office/drawing/2014/main" id="{2C0C6ED8-35A7-0755-19DA-87E710CEE8A9}"/>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55E30ED5-4C28-726E-BF48-2B8A7B81E67B}"/>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8945190-4AE1-38D5-5A90-EBE994B1C39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4F927B5-CACC-39CD-80E9-3826B0298D1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E1727F8-075A-B631-FB91-4B7B5FD8A87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9DD24ED-B133-26E3-76C7-3738A000234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6BFE15A-407E-C88A-4233-7EE6F4278DF5}"/>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8: app.html</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082EC0E-D4F5-3EB4-0264-A5F85491C481}"/>
              </a:ext>
            </a:extLst>
          </p:cNvPr>
          <p:cNvPicPr>
            <a:picLocks noChangeAspect="1"/>
          </p:cNvPicPr>
          <p:nvPr/>
        </p:nvPicPr>
        <p:blipFill>
          <a:blip r:embed="rId3"/>
          <a:stretch>
            <a:fillRect/>
          </a:stretch>
        </p:blipFill>
        <p:spPr>
          <a:xfrm>
            <a:off x="817777" y="1436157"/>
            <a:ext cx="8535140" cy="4427604"/>
          </a:xfrm>
          <a:prstGeom prst="rect">
            <a:avLst/>
          </a:prstGeom>
        </p:spPr>
      </p:pic>
      <p:sp>
        <p:nvSpPr>
          <p:cNvPr id="11" name="Rectangle 10">
            <a:extLst>
              <a:ext uri="{FF2B5EF4-FFF2-40B4-BE49-F238E27FC236}">
                <a16:creationId xmlns:a16="http://schemas.microsoft.com/office/drawing/2014/main" id="{58A55A7E-065F-89DD-ACBF-27F99B60AC3E}"/>
              </a:ext>
            </a:extLst>
          </p:cNvPr>
          <p:cNvSpPr/>
          <p:nvPr/>
        </p:nvSpPr>
        <p:spPr>
          <a:xfrm>
            <a:off x="1018674" y="4467726"/>
            <a:ext cx="7796463" cy="3368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435106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B42102B-7819-4F6E-8CE7-A3AF96CA590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ABA3775-A67A-3BAA-A2B2-76BA10F9CF0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A5283FE-5625-51B0-985D-CC8EBCAB892B}"/>
              </a:ext>
            </a:extLst>
          </p:cNvPr>
          <p:cNvSpPr txBox="1">
            <a:spLocks noGrp="1"/>
          </p:cNvSpPr>
          <p:nvPr>
            <p:ph type="sldNum" idx="12"/>
          </p:nvPr>
        </p:nvSpPr>
        <p:spPr>
          <a:xfrm>
            <a:off x="2991853" y="6377505"/>
            <a:ext cx="50487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140</a:t>
            </a:fld>
            <a:endParaRPr/>
          </a:p>
        </p:txBody>
      </p:sp>
      <p:grpSp>
        <p:nvGrpSpPr>
          <p:cNvPr id="2" name="Group 1">
            <a:extLst>
              <a:ext uri="{FF2B5EF4-FFF2-40B4-BE49-F238E27FC236}">
                <a16:creationId xmlns:a16="http://schemas.microsoft.com/office/drawing/2014/main" id="{00FFAF89-5482-7BC5-2B25-0BD3AED7E6FA}"/>
              </a:ext>
            </a:extLst>
          </p:cNvPr>
          <p:cNvGrpSpPr/>
          <p:nvPr/>
        </p:nvGrpSpPr>
        <p:grpSpPr>
          <a:xfrm>
            <a:off x="214276" y="229075"/>
            <a:ext cx="7155926" cy="508000"/>
            <a:chOff x="789624" y="1191463"/>
            <a:chExt cx="7155926" cy="508000"/>
          </a:xfrm>
        </p:grpSpPr>
        <p:sp>
          <p:nvSpPr>
            <p:cNvPr id="3" name="AutoShape 52">
              <a:extLst>
                <a:ext uri="{FF2B5EF4-FFF2-40B4-BE49-F238E27FC236}">
                  <a16:creationId xmlns:a16="http://schemas.microsoft.com/office/drawing/2014/main" id="{ECC1A963-6CCD-AA15-A39E-23CDCE71B7D2}"/>
                </a:ext>
              </a:extLst>
            </p:cNvPr>
            <p:cNvSpPr>
              <a:spLocks noChangeArrowheads="1"/>
            </p:cNvSpPr>
            <p:nvPr/>
          </p:nvSpPr>
          <p:spPr bwMode="gray">
            <a:xfrm>
              <a:off x="990600" y="1191463"/>
              <a:ext cx="695495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6.7.</a:t>
              </a:r>
              <a:r>
                <a:rPr lang="en-US" sz="2800" b="1">
                  <a:latin typeface="Times New Roman" panose="02020603050405020304" pitchFamily="18" charset="0"/>
                  <a:cs typeface="Times New Roman" panose="02020603050405020304" pitchFamily="18" charset="0"/>
                </a:rPr>
                <a:t>5</a:t>
              </a:r>
              <a:r>
                <a:rPr lang="vi-VN" sz="2800" b="1">
                  <a:latin typeface="Times New Roman" panose="02020603050405020304" pitchFamily="18" charset="0"/>
                  <a:cs typeface="Times New Roman" panose="02020603050405020304" pitchFamily="18" charset="0"/>
                </a:rPr>
                <a:t>. Restful API – HTTP DELETE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9C48FE2-6EC5-FF38-C5CD-0532DE63EAF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E845F1F-853C-BEBE-A069-2717FB6972B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8F87D0B-9DE1-FCFB-90D1-E693816FF1D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67B2AF4-850F-4356-E336-A037E0B56A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9ABEF7C-12D4-E133-A986-B69500CB8E09}"/>
              </a:ext>
            </a:extLst>
          </p:cNvPr>
          <p:cNvSpPr txBox="1"/>
          <p:nvPr/>
        </p:nvSpPr>
        <p:spPr>
          <a:xfrm>
            <a:off x="462279"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9: Thực thi chương trình</a:t>
            </a:r>
            <a:endParaRPr lang="vi-V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775DF34-BB56-EAA3-D190-DC97D56AF1DF}"/>
              </a:ext>
            </a:extLst>
          </p:cNvPr>
          <p:cNvPicPr>
            <a:picLocks noChangeAspect="1"/>
          </p:cNvPicPr>
          <p:nvPr/>
        </p:nvPicPr>
        <p:blipFill>
          <a:blip r:embed="rId3"/>
          <a:stretch>
            <a:fillRect/>
          </a:stretch>
        </p:blipFill>
        <p:spPr>
          <a:xfrm>
            <a:off x="586464" y="1406614"/>
            <a:ext cx="6135604" cy="4559185"/>
          </a:xfrm>
          <a:prstGeom prst="rect">
            <a:avLst/>
          </a:prstGeom>
        </p:spPr>
      </p:pic>
      <p:pic>
        <p:nvPicPr>
          <p:cNvPr id="12" name="Picture 11">
            <a:extLst>
              <a:ext uri="{FF2B5EF4-FFF2-40B4-BE49-F238E27FC236}">
                <a16:creationId xmlns:a16="http://schemas.microsoft.com/office/drawing/2014/main" id="{5F842B00-11BB-36D4-BF04-284C0D935D66}"/>
              </a:ext>
            </a:extLst>
          </p:cNvPr>
          <p:cNvPicPr>
            <a:picLocks noChangeAspect="1"/>
          </p:cNvPicPr>
          <p:nvPr/>
        </p:nvPicPr>
        <p:blipFill>
          <a:blip r:embed="rId4"/>
          <a:stretch>
            <a:fillRect/>
          </a:stretch>
        </p:blipFill>
        <p:spPr>
          <a:xfrm>
            <a:off x="7604689" y="2546710"/>
            <a:ext cx="4000847" cy="2423370"/>
          </a:xfrm>
          <a:prstGeom prst="rect">
            <a:avLst/>
          </a:prstGeom>
        </p:spPr>
      </p:pic>
      <p:sp>
        <p:nvSpPr>
          <p:cNvPr id="13" name="Arrow: Right 12">
            <a:extLst>
              <a:ext uri="{FF2B5EF4-FFF2-40B4-BE49-F238E27FC236}">
                <a16:creationId xmlns:a16="http://schemas.microsoft.com/office/drawing/2014/main" id="{86597A57-FFB1-42D9-B559-9581DB72310A}"/>
              </a:ext>
            </a:extLst>
          </p:cNvPr>
          <p:cNvSpPr/>
          <p:nvPr/>
        </p:nvSpPr>
        <p:spPr>
          <a:xfrm>
            <a:off x="6866021" y="3686206"/>
            <a:ext cx="504181" cy="324320"/>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409642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2983833" y="6377505"/>
            <a:ext cx="5129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141</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7142174" cy="508000"/>
            <a:chOff x="789624" y="1191463"/>
            <a:chExt cx="7142174"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6941199"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394165B2-0FC2-526E-AC7C-B96D7130E146}"/>
              </a:ext>
            </a:extLst>
          </p:cNvPr>
          <p:cNvSpPr txBox="1"/>
          <p:nvPr/>
        </p:nvSpPr>
        <p:spPr>
          <a:xfrm>
            <a:off x="462279" y="841012"/>
            <a:ext cx="11564547" cy="3046988"/>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7.1. Giới thiệu NoSQL: MongoDB</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7.2. Cách cài đặt và sử dụng MongoDB, MongoDB Atlass</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7.3. Cấu hình kết nối NodeJS tới MongoDB</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7.4. Restful API: CRUD MongoDB</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7.4.1. API-HTTP GET</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7.4.2. API-HTTP POST</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7.4.3. API-HTTP PUT</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7.4.4. API-HTTP DELETE</a:t>
            </a:r>
            <a:endParaRPr lang="vi-V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58999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2206</TotalTime>
  <Words>13181</Words>
  <Application>Microsoft Office PowerPoint</Application>
  <PresentationFormat>Widescreen</PresentationFormat>
  <Paragraphs>1715</Paragraphs>
  <Slides>142</Slides>
  <Notes>142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142</vt:i4>
      </vt:variant>
    </vt:vector>
  </HeadingPairs>
  <TitlesOfParts>
    <vt:vector size="153" baseType="lpstr">
      <vt:lpstr>Times New Roman</vt:lpstr>
      <vt:lpstr>Lato Black</vt:lpstr>
      <vt:lpstr>Wingdings</vt:lpstr>
      <vt:lpstr>Calibri</vt:lpstr>
      <vt:lpstr>Times</vt:lpstr>
      <vt:lpstr>Lato</vt:lpstr>
      <vt:lpstr>Cambria</vt:lpstr>
      <vt:lpstr>Georgia</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1144</cp:revision>
  <dcterms:created xsi:type="dcterms:W3CDTF">2022-12-02T04:21:00Z</dcterms:created>
  <dcterms:modified xsi:type="dcterms:W3CDTF">2026-05-03T09:13:35Z</dcterms:modified>
</cp:coreProperties>
</file>